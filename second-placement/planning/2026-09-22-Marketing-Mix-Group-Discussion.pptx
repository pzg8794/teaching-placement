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2e57ff2fb4777" /><Relationship Type="http://schemas.openxmlformats.org/officeDocument/2006/relationships/extended-properties" Target="/docProps/app.xml" Id="R0bd50e2e5c8a43f4" /><Relationship Type="http://schemas.openxmlformats.org/officeDocument/2006/relationships/officeDocument" Target="/ppt/presentation.xml" Id="R21ab98481db7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94895f25a44f6"/>
  </p:sldMasterIdLst>
  <p:notesMasterIdLst>
    <p:notesMasterId xmlns:r="http://schemas.openxmlformats.org/officeDocument/2006/relationships" r:id="Rdc66fda595cd42f7"/>
  </p:notesMasterIdLst>
  <p:sldIdLst>
    <p:sldId xmlns:r="http://schemas.openxmlformats.org/officeDocument/2006/relationships" id="256" r:id="Rcd649d94b5364923"/>
    <p:sldId xmlns:r="http://schemas.openxmlformats.org/officeDocument/2006/relationships" id="257" r:id="R469fd19ed94f4885"/>
    <p:sldId xmlns:r="http://schemas.openxmlformats.org/officeDocument/2006/relationships" id="258" r:id="R26bd8565270c452b"/>
    <p:sldId xmlns:r="http://schemas.openxmlformats.org/officeDocument/2006/relationships" id="259" r:id="Re148a0b57d2843f9"/>
    <p:sldId xmlns:r="http://schemas.openxmlformats.org/officeDocument/2006/relationships" id="260" r:id="R908e98c8e4da4b7a"/>
    <p:sldId xmlns:r="http://schemas.openxmlformats.org/officeDocument/2006/relationships" id="261" r:id="R3ddca6e93cfc43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1c4355ed404462" /><Relationship Type="http://schemas.openxmlformats.org/officeDocument/2006/relationships/slideMaster" Target="/ppt/slideMasters/slideMaster1.xml" Id="Rdce94895f25a44f6" /><Relationship Type="http://schemas.openxmlformats.org/officeDocument/2006/relationships/notesMaster" Target="/ppt/notesMasters/notesMaster1.xml" Id="Rdc66fda595cd42f7" /><Relationship Type="http://schemas.openxmlformats.org/officeDocument/2006/relationships/presProps" Target="/ppt/presProps.xml" Id="R98836ff2f1874f32" /><Relationship Type="http://schemas.openxmlformats.org/officeDocument/2006/relationships/tableStyles" Target="/ppt/tableStyles.xml" Id="R505f048a36224b4f" /><Relationship Type="http://schemas.openxmlformats.org/officeDocument/2006/relationships/slide" Target="/ppt/slides/slide1.xml" Id="Rcd649d94b5364923" /><Relationship Type="http://schemas.openxmlformats.org/officeDocument/2006/relationships/slide" Target="/ppt/slides/slide2.xml" Id="R469fd19ed94f4885" /><Relationship Type="http://schemas.openxmlformats.org/officeDocument/2006/relationships/slide" Target="/ppt/slides/slide3.xml" Id="R26bd8565270c452b" /><Relationship Type="http://schemas.openxmlformats.org/officeDocument/2006/relationships/slide" Target="/ppt/slides/slide4.xml" Id="Re148a0b57d2843f9" /><Relationship Type="http://schemas.openxmlformats.org/officeDocument/2006/relationships/slide" Target="/ppt/slides/slide5.xml" Id="R908e98c8e4da4b7a" /><Relationship Type="http://schemas.openxmlformats.org/officeDocument/2006/relationships/slide" Target="/ppt/slides/slide6.xml" Id="R3ddca6e93cfc43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1ef3017b494e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a75f7ffa754c2c" /><Relationship Type="http://schemas.openxmlformats.org/officeDocument/2006/relationships/notesMaster" Target="/ppt/notesMasters/notesMaster1.xml" Id="R84e43f68db2d43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c3ad57c67b4dd0" /><Relationship Type="http://schemas.openxmlformats.org/officeDocument/2006/relationships/notesMaster" Target="/ppt/notesMasters/notesMaster1.xml" Id="Raf0d2de74ff046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d3f6378d2b4aad" /><Relationship Type="http://schemas.openxmlformats.org/officeDocument/2006/relationships/notesMaster" Target="/ppt/notesMasters/notesMaster1.xml" Id="R73c702bd96e146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599b203fbf416b" /><Relationship Type="http://schemas.openxmlformats.org/officeDocument/2006/relationships/notesMaster" Target="/ppt/notesMasters/notesMaster1.xml" Id="R8df0f9fc54a447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344dd1f9184082" /><Relationship Type="http://schemas.openxmlformats.org/officeDocument/2006/relationships/notesMaster" Target="/ppt/notesMasters/notesMaster1.xml" Id="Rbc3973e2e6c84c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3ed522fc314023" /><Relationship Type="http://schemas.openxmlformats.org/officeDocument/2006/relationships/notesMaster" Target="/ppt/notesMasters/notesMaster1.xml" Id="Rdcead5aa41434b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Piter: Give students 15 silent seconds to look. Then ask for one-word reasons only: price, quality, convenience, style, popularity, delivery, etc.</a:t>
            </a:r>
          </a:p>
          <a:p xmlns:a="http://schemas.openxmlformats.org/drawingml/2006/main">
            <a:r>
              <a:t>Hard stop: 'Hold onto that reason. Your group will use it in a minute.'</a:t>
            </a:r>
          </a:p>
          <a:p xmlns:a="http://schemas.openxmlformats.org/drawingml/2006/main">
            <a:r>
              <a:t>SBTE discussion option: Replace the four industries with assigned industries if duplicate choices become a concern.</a:t>
            </a:r>
          </a:p>
          <a:p xmlns:a="http://schemas.openxmlformats.org/drawingml/2006/main">
            <a:r>
              <a:t>Transcript basis: 09-21 Marketing Fundamentals transcript lines 463-466 requests mixed groups and a ten-minute marketing-mix exercise.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 formation: Use preassigned mixed groups of 3-4. Do not let students self-select.</a:t>
            </a:r>
          </a:p>
          <a:p xmlns:a="http://schemas.openxmlformats.org/drawingml/2006/main">
            <a:r>
              <a:t>Say: 'Choose one industry in 30 seconds. If you cannot agree, use the first option that gets two votes.'</a:t>
            </a:r>
          </a:p>
          <a:p xmlns:a="http://schemas.openxmlformats.org/drawingml/2006/main">
            <a:r>
              <a:t>Possible change for SBTE: Assign a different industry to each group to guarantee variety and save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groups 90 seconds. Listen for a specific product, not only a company name.</a:t>
            </a:r>
          </a:p>
          <a:p xmlns:a="http://schemas.openxmlformats.org/drawingml/2006/main">
            <a:r>
              <a:t>Neutral prompt: 'Could a customer buy that exact item or service?'</a:t>
            </a:r>
          </a:p>
          <a:p xmlns:a="http://schemas.openxmlformats.org/drawingml/2006/main">
            <a:r>
              <a:t>Avoid supplying a company for them. The choice is part of the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 time: 6 minutes. Display or run a visible timer.</a:t>
            </a:r>
          </a:p>
          <a:p xmlns:a="http://schemas.openxmlformats.org/drawingml/2006/main">
            <a:r>
              <a:t>Roles for four: reader/timekeeper, recorder, reporter, participation checker. For groups of three, combine timekeeper and participation checker.</a:t>
            </a:r>
          </a:p>
          <a:p xmlns:a="http://schemas.openxmlformats.org/drawingml/2006/main">
            <a:r>
              <a:t>Circulate and ask only one prompt at a time. Watch for the common misconception that place means only a physical store; include online and distribution.</a:t>
            </a:r>
          </a:p>
          <a:p xmlns:a="http://schemas.openxmlformats.org/drawingml/2006/main">
            <a:r>
              <a:t>Content connection: The Four Ps follow the chapter discussion of product, price, place, and promotion in the 09-21 Business Fundamentals transcript around lines 48-60.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Preparation time: 2 minutes. Share-out: 30 seconds per group.</a:t>
            </a:r>
          </a:p>
          <a:p xmlns:a="http://schemas.openxmlformats.org/drawingml/2006/main">
            <a:r>
              <a:t>Hard stop: 'Finish the sentence you are on. Reporters, eyes up.'</a:t>
            </a:r>
          </a:p>
          <a:p xmlns:a="http://schemas.openxmlformats.org/drawingml/2006/main">
            <a:r>
              <a:t>If time is short, hear two groups and collect the other groups' record sheets.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Close: 'Today you built the starting point. A later lesson could turn the same choice into a fuller marketing plan.'</a:t>
            </a:r>
          </a:p>
          <a:p xmlns:a="http://schemas.openxmlformats.org/drawingml/2006/main">
            <a:r>
              <a:t>This extension reflects the user's recollection that the SBTE suggested the activity could become a later lesson. The transcript explicitly confirms the ten-minute exercise but does not preserve a more detailed extension description, so present this as a proposal for SBTE review.</a:t>
            </a:r>
          </a:p>
          <a:p xmlns:a="http://schemas.openxmlformats.org/drawingml/2006/main">
            <a:r>
              <a:t>SBTE decisions: keep student choice or assign industries; collect a paper record or verbal only; extend later into a mini marketing plan or stop after retrieval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198903e59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664f4616d64fb0" /><Relationship Type="http://schemas.openxmlformats.org/officeDocument/2006/relationships/slideLayout" Target="/ppt/slideLayouts/slideLayout1.xml" Id="R5eade869a6ca40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de869a6ca40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9b5bc1b224a73" /><Relationship Type="http://schemas.openxmlformats.org/officeDocument/2006/relationships/image" Target="/ppt/media/image.png" Id="R208e73affb8342d8" /><Relationship Type="http://schemas.openxmlformats.org/officeDocument/2006/relationships/notesSlide" Target="/ppt/notesSlides/notesSlide1.xml" Id="Rb2c1018a102242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bbe62370a4df1" /><Relationship Type="http://schemas.openxmlformats.org/officeDocument/2006/relationships/image" Target="/ppt/media/image2.png" Id="Re1945032799b431a" /><Relationship Type="http://schemas.openxmlformats.org/officeDocument/2006/relationships/image" Target="/ppt/media/image3.png" Id="R45da5cbdcfe84a8a" /><Relationship Type="http://schemas.openxmlformats.org/officeDocument/2006/relationships/image" Target="/ppt/media/image4.png" Id="R26874f7fa5774099" /><Relationship Type="http://schemas.openxmlformats.org/officeDocument/2006/relationships/image" Target="/ppt/media/image5.png" Id="Rbf488a419e624479" /><Relationship Type="http://schemas.openxmlformats.org/officeDocument/2006/relationships/notesSlide" Target="/ppt/notesSlides/notesSlide2.xml" Id="R15289b713316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799b063154581" /><Relationship Type="http://schemas.openxmlformats.org/officeDocument/2006/relationships/image" Target="/ppt/media/image6.png" Id="R3549d2f0bfa44e58" /><Relationship Type="http://schemas.openxmlformats.org/officeDocument/2006/relationships/notesSlide" Target="/ppt/notesSlides/notesSlide3.xml" Id="Re65b78e1cbff44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15bc7d0534900" /><Relationship Type="http://schemas.openxmlformats.org/officeDocument/2006/relationships/notesSlide" Target="/ppt/notesSlides/notesSlide4.xml" Id="R233b646ae71c46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2f56f9811476f" /><Relationship Type="http://schemas.openxmlformats.org/officeDocument/2006/relationships/notesSlide" Target="/ppt/notesSlides/notesSlide5.xml" Id="R2df2564330f94f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13fccc3814993" /><Relationship Type="http://schemas.openxmlformats.org/officeDocument/2006/relationships/notesSlide" Target="/ppt/notesSlides/notesSlide6.xml" Id="Rdbb44ddf3b1341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e73affb8342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710A5-4667-4D72-8BBF-F8C60CB2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33">
              <a:alpha val="8509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22D54-1639-45AC-B97E-BEA35D7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makes you choose one brand over another?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4D6C2-1776-43FA-B579-5CB89C8B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LOOK FIRST  •  THINK OF ONE REASON</a:t>
            </a:r>
          </a:p>
        </p:txBody>
      </p:sp>
    </p:spTree>
    <p:extLst>
      <p:ext uri="{BB962C8B-B14F-4D97-AF65-F5344CB8AC3E}">
        <p14:creationId xmlns:p14="http://schemas.microsoft.com/office/powerpoint/2010/main" val="353736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614BC-B138-43C5-9A65-525479CD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rPr>
              <a:t>MARKETING MIX GROUP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DCA8A-7428-4B33-AF28-0FE19BAB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Choose an industry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7EB53-5FE2-438E-B704-F65A767F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AFE0B-7DBB-4B1B-BF84-D0AE6D3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1 / 5  •  1 min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45032799b431a"/>
          <a:srcRect xmlns:a="http://schemas.openxmlformats.org/drawingml/2006/main" l="27875" t="0" r="27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19250"/>
            <a:ext cx="2324100" cy="2952750"/>
          </a:xfrm>
          <a:prstGeom xmlns:a="http://schemas.openxmlformats.org/drawingml/2006/main" prst="roundRect">
            <a:avLst>
              <a:gd name="adj" fmla="val 73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18DB8-89A1-4B7B-88D1-13144161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2324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404C5-B53C-4DF1-B2F6-6D402BE6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FOOD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a5cbdcfe84a8a"/>
          <a:srcRect xmlns:a="http://schemas.openxmlformats.org/drawingml/2006/main" l="27875" t="0" r="27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7100" y="1619250"/>
            <a:ext cx="2324100" cy="2952750"/>
          </a:xfrm>
          <a:prstGeom xmlns:a="http://schemas.openxmlformats.org/drawingml/2006/main" prst="roundRect">
            <a:avLst>
              <a:gd name="adj" fmla="val 73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5BD4E-856B-4389-9384-04CAA690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05350"/>
            <a:ext cx="2324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045D6-75B5-440C-A560-F8606CE0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053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SPORTS + STYLE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74f7fa5774099"/>
          <a:srcRect xmlns:a="http://schemas.openxmlformats.org/drawingml/2006/main" l="27828" t="0" r="278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619250"/>
            <a:ext cx="2324100" cy="2952750"/>
          </a:xfrm>
          <a:prstGeom xmlns:a="http://schemas.openxmlformats.org/drawingml/2006/main" prst="roundRect">
            <a:avLst>
              <a:gd name="adj" fmla="val 737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9CC29-E6F7-461F-A60F-8CA5CF81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2324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E8C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572EB-67E2-4901-8ACA-28AC182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GAMING + TECH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88a419e624479"/>
          <a:srcRect xmlns:a="http://schemas.openxmlformats.org/drawingml/2006/main" l="27828" t="0" r="278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1619250"/>
            <a:ext cx="2324100" cy="2952750"/>
          </a:xfrm>
          <a:prstGeom xmlns:a="http://schemas.openxmlformats.org/drawingml/2006/main" prst="roundRect">
            <a:avLst>
              <a:gd name="adj" fmla="val 7377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43BD0-CB1C-4376-9483-4533BF8C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05350"/>
            <a:ext cx="2324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3DD6D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92505-3E5D-44BA-B707-1D2A9125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053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MUSIC + ENTERTAINMENT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D2952-BC75-485C-BAEF-DA07AE1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8D4E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C8D4EE"/>
                </a:solidFill>
                <a:latin typeface="Avenir Next"/>
                <a:ea typeface="Avenir Next"/>
                <a:cs typeface="Avenir Next"/>
              </a:rPr>
              <a:t>Your group may choose another school-appropriate industry.</a:t>
            </a:r>
          </a:p>
        </p:txBody>
      </p:sp>
    </p:spTree>
    <p:extLst>
      <p:ext uri="{BB962C8B-B14F-4D97-AF65-F5344CB8AC3E}">
        <p14:creationId xmlns:p14="http://schemas.microsoft.com/office/powerpoint/2010/main" val="1496725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53705-F40A-44A5-8240-6B2730B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rPr>
              <a:t>BUILD YOUR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A7018-2472-4445-AD05-7F58C795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Name one company and one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C1DC0-6878-4386-AC9A-2F09E145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B3D7F-A365-4D9C-ADFF-42BAE45B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2 / 5  •  2 min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9d2f0bfa44e58"/>
          <a:srcRect xmlns:a="http://schemas.openxmlformats.org/drawingml/2006/main" l="17279" t="0" r="172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524000"/>
            <a:ext cx="4762500" cy="4095750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E60DC-C4EE-4788-90FB-2E311365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rPr>
              <a:t>INDUSTRY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ABB94-C4B6-428F-A718-4F4ACACF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kind of business?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49578-45DB-40E3-B403-46DCA566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COMPANY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9CFDA-0789-4D3B-8115-CA349E6A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Which business in that industry?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8691E-B628-44A7-8DAA-3FD3532C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7E459-D5F2-45B3-840F-7FE70B15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Which specific good or service?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99D65-E98A-4815-88D2-6FF7950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334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525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B49D4-3F19-4ABF-9F70-E015426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AF2FF"/>
                </a:solidFill>
                <a:latin typeface="Avenir Next"/>
                <a:ea typeface="Avenir Next"/>
                <a:cs typeface="Avenir Next"/>
              </a:rPr>
              <a:t>Write the exact three choices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83077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45646-D7F0-43A6-B650-1ABABBA3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rPr>
              <a:t>DISCUSS ALL FOUR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011EB-009A-4562-974A-9F17D6C6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Build the marketing mix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DD61F-DA69-4D91-85A7-EF3F4620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85227-9CC4-4E24-A85A-33E39D37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3 / 5  •  6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4728C-8D7D-4311-96DF-604D5065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EA5FC-23BB-4F2D-AC58-DDAA2E4F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features or benefits make customers want 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77C3E-3C91-40A2-B16F-30FC0F6C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524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D38EA-9932-4C30-B42D-F2987862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478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3D514-A240-42A9-B836-736AED81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478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B2507-D4BE-4688-90BC-53CC6547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C1BEE-CD7D-4012-AD8A-DDC9895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price seems fair, and why would customers pay 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560AA-EC21-46EB-9EAC-ED4FBC4E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8FC47-3CBE-484A-B61F-60009494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908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B6B29-8B89-4F02-B3D9-CEF4293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908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1C6F6-F79D-4DCC-B138-EB027C00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E8C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4E8CFF"/>
                </a:solidFill>
                <a:latin typeface="Avenir Next"/>
                <a:ea typeface="Avenir Next"/>
                <a:cs typeface="Avenir Next"/>
              </a:rPr>
              <a:t>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C8AAA-63EE-45B0-9CA2-69E8D5F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Where and how can customers get it?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297F2-7EE2-491B-9186-91E8E8F7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C4440-F138-4CD7-B40A-EC868C9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338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8C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E99AA-B5C9-46D2-BCC2-26441B95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338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7D91A-558D-485A-84CF-ACA8F1F8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D6D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3DD6D0"/>
                </a:solidFill>
                <a:latin typeface="Avenir Next"/>
                <a:ea typeface="Avenir Next"/>
                <a:cs typeface="Avenir Next"/>
              </a:rPr>
              <a:t>PROMOTION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B1EAF-A9E8-4538-B879-9EA0858D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will the company get students' attention?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21CE1-E01E-4D7A-A172-F054E503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83043-7780-4433-9A94-1000738D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768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D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08FD5-92A9-4F7D-95BE-5C1ED736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0768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BC52D-AA5A-4E37-AAEA-50939CD0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D4E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C8D4EE"/>
                </a:solidFill>
                <a:latin typeface="Avenir Next"/>
                <a:ea typeface="Avenir Next"/>
                <a:cs typeface="Avenir Next"/>
              </a:rPr>
              <a:t>Everyone contributes one idea. Recorder keeps the strongest idea for each P.</a:t>
            </a:r>
          </a:p>
        </p:txBody>
      </p:sp>
    </p:spTree>
    <p:extLst>
      <p:ext uri="{BB962C8B-B14F-4D97-AF65-F5344CB8AC3E}">
        <p14:creationId xmlns:p14="http://schemas.microsoft.com/office/powerpoint/2010/main" val="947344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061B8-BA47-41C2-8BF4-C7349DD7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rPr>
              <a:t>CHOOSE YOUR STRONGEST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78A27-305C-4923-BD86-88362C91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Prepare a 30-second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E93C5-59A6-462C-8BD8-BF70A549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739BB-EA16-4CF2-A45D-B960021A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4 / 5  •  2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8D439-5EA7-484A-86D4-D1E21961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1525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06C95-25D4-4428-9B70-B0115D3E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“We chose the __________ industry. Our company is __________, and our product is __________.”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08A05-0C2F-456E-948F-BBA1C75D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527685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3DD6D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D7643-6CDA-4E29-96DD-4245BA6B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ONE SMART 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A86CB-55F3-427E-A94B-FECCE09D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4629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Explain the P your group discussed best.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3C2D1-800E-471E-B393-0044C826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527685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69E84-0DD2-4B1D-9B8D-720974E0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474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ONE 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87493-4874-4530-B306-AD6C7DFA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4629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Why would your target customer care?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6775E-7FD8-4992-9B6A-3533D3DB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D4E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8D4EE"/>
                </a:solidFill>
                <a:latin typeface="Avenir Next"/>
                <a:ea typeface="Avenir Next"/>
                <a:cs typeface="Avenir Next"/>
              </a:rPr>
              <a:t>Reporter speaks. Every group member should be ready for one follow-up question.</a:t>
            </a:r>
          </a:p>
        </p:txBody>
      </p:sp>
    </p:spTree>
    <p:extLst>
      <p:ext uri="{BB962C8B-B14F-4D97-AF65-F5344CB8AC3E}">
        <p14:creationId xmlns:p14="http://schemas.microsoft.com/office/powerpoint/2010/main" val="772794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54C09-6398-4D93-B131-A7CACFA2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DD6D0"/>
                </a:solidFill>
                <a:latin typeface="Avenir Next"/>
                <a:ea typeface="Avenir Next"/>
                <a:cs typeface="Avenir Next"/>
              </a:rPr>
              <a:t>POSSIBLE NEXT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50844-63C8-4833-9148-C173CAEE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Save your group's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2D11D-8D53-4D18-933B-B4CCE1FA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52107-EFDE-44FF-A3BA-2CA02CE9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5 / 5  •  2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88A20-4D20-4DCB-8DF4-35B84A7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D6D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3DD6D0"/>
                </a:solidFill>
                <a:latin typeface="Avenir Next"/>
                <a:ea typeface="Avenir Next"/>
                <a:cs typeface="Avenir Next"/>
              </a:rPr>
              <a:t>INDUSTRY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6876F-A1F2-43C2-BB71-6E8C1771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44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D447"/>
                </a:solidFill>
                <a:latin typeface="Avenir Next"/>
                <a:ea typeface="Avenir Next"/>
                <a:cs typeface="Avenir Next"/>
              </a:rPr>
              <a:t>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7C1E0-7DFC-4614-8B72-349EE76A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D0883-718F-4494-B257-29E9BF96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1000125"/>
          </a:xfrm>
          <a:prstGeom xmlns:a="http://schemas.openxmlformats.org/drawingml/2006/main" prst="roundRect">
            <a:avLst>
              <a:gd name="adj" fmla="val 20952"/>
            </a:avLst>
          </a:prstGeom>
          <a:solidFill xmlns:a="http://schemas.openxmlformats.org/drawingml/2006/main">
            <a:srgbClr val="1525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8FF07-1109-4987-9EDF-9DCDB1B0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Keep this example. We may turn it into a mini marketing plan.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51DB0-88DE-4180-822C-9B4CFB6B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9D39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9D394"/>
                </a:solidFill>
                <a:latin typeface="Avenir Next"/>
                <a:ea typeface="Avenir Next"/>
                <a:cs typeface="Avenir Next"/>
              </a:rPr>
              <a:t>Possible extension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C080F-01DE-441D-9A4B-1D37E63A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AF2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EAF2FF"/>
                </a:solidFill>
                <a:latin typeface="Avenir Next"/>
                <a:ea typeface="Avenir Next"/>
                <a:cs typeface="Avenir Next"/>
              </a:rPr>
              <a:t>A later lesson could add a target customer, compare competitors, improve each P, and build a one-slide pitch.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26B87-663B-4774-8F9B-A19A56AB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15000"/>
            <a:ext cx="6667500" cy="514350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29AF1-EC5E-43B7-8F38-CED08EB7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1828"/>
                </a:solidFill>
                <a:latin typeface="Avenir Next"/>
                <a:ea typeface="Avenir Next"/>
                <a:cs typeface="Avenir Next"/>
              </a:rPr>
              <a:t>TODAY'S STOP: choices + discussion + short pitch</a:t>
            </a:r>
          </a:p>
        </p:txBody>
      </p:sp>
    </p:spTree>
    <p:extLst>
      <p:ext uri="{BB962C8B-B14F-4D97-AF65-F5344CB8AC3E}">
        <p14:creationId xmlns:p14="http://schemas.microsoft.com/office/powerpoint/2010/main" val="2002949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2026-09-21T16:53:08.5630000Z</dcterms:created>
  <dcterms:modified xsi:type="dcterms:W3CDTF">2026-09-21T16:53:08.5630000Z</dcterms:modified>
</coreProperties>
</file>