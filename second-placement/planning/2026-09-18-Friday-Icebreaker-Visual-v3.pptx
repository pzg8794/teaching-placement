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913b9d77994d88" /><Relationship Type="http://schemas.openxmlformats.org/officeDocument/2006/relationships/extended-properties" Target="/docProps/app.xml" Id="Rcbad479716c94e2d" /><Relationship Type="http://schemas.openxmlformats.org/officeDocument/2006/relationships/officeDocument" Target="/ppt/presentation.xml" Id="Rba161a474e9649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797a779b7847c2"/>
  </p:sldMasterIdLst>
  <p:notesMasterIdLst>
    <p:notesMasterId xmlns:r="http://schemas.openxmlformats.org/officeDocument/2006/relationships" r:id="R9ad1819408b4478f"/>
  </p:notesMasterIdLst>
  <p:sldIdLst>
    <p:sldId xmlns:r="http://schemas.openxmlformats.org/officeDocument/2006/relationships" id="268" r:id="Rb811440eb5294b32"/>
    <p:sldId xmlns:r="http://schemas.openxmlformats.org/officeDocument/2006/relationships" id="269" r:id="Rba214a80dd7c4616"/>
    <p:sldId xmlns:r="http://schemas.openxmlformats.org/officeDocument/2006/relationships" id="270" r:id="R238238deb81d4c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9b088822a341f8" /><Relationship Type="http://schemas.openxmlformats.org/officeDocument/2006/relationships/slideMaster" Target="/ppt/slideMasters/slideMaster1.xml" Id="R60797a779b7847c2" /><Relationship Type="http://schemas.openxmlformats.org/officeDocument/2006/relationships/notesMaster" Target="/ppt/notesMasters/notesMaster1.xml" Id="R9ad1819408b4478f" /><Relationship Type="http://schemas.openxmlformats.org/officeDocument/2006/relationships/presProps" Target="/ppt/presProps.xml" Id="R737463da397a42a8" /><Relationship Type="http://schemas.openxmlformats.org/officeDocument/2006/relationships/tableStyles" Target="/ppt/tableStyles.xml" Id="R7ee6e93798014472" /><Relationship Type="http://schemas.openxmlformats.org/officeDocument/2006/relationships/slide" Target="/ppt/slides/slide13.xml" Id="Rb811440eb5294b32" /><Relationship Type="http://schemas.openxmlformats.org/officeDocument/2006/relationships/slide" Target="/ppt/slides/slide14.xml" Id="Rba214a80dd7c4616" /><Relationship Type="http://schemas.openxmlformats.org/officeDocument/2006/relationships/slide" Target="/ppt/slides/slide15.xml" Id="R238238deb81d4c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a3ac3041ee48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e227774dd84cca" /><Relationship Type="http://schemas.openxmlformats.org/officeDocument/2006/relationships/notesMaster" Target="/ppt/notesMasters/notesMaster1.xml" Id="R33ec1aefa48b49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5c21f4151d14b1c" /><Relationship Type="http://schemas.openxmlformats.org/officeDocument/2006/relationships/notesMaster" Target="/ppt/notesMasters/notesMaster1.xml" Id="Rccb58044f468486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6575d115f294d46" /><Relationship Type="http://schemas.openxmlformats.org/officeDocument/2006/relationships/notesMaster" Target="/ppt/notesMasters/notesMaster1.xml" Id="R21851dcb3e294f19" /></Relationship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FRIDAY. Chapter 1 p. 4; SBTE 4. THREE-MINUTE MAXIMUM.</a:t>
            </a:r>
          </a:p>
          <a:p xmlns:a="http://schemas.openxmlformats.org/drawingml/2006/main">
            <a:r>
              <a:t>SEQUENCE: slide 13: whole scene, 20 seconds quiet noticing; slide 14: the same scene cropped into three details, 40 seconds choosing; slide 15: reveal after responses, 50 seconds checking and 50 seconds connecting to reading, 20 seconds buffer. No automatic countdown. Click-controlled appear/disappear effects.</a:t>
            </a:r>
          </a:p>
          <a:p xmlns:a="http://schemas.openxmlformats.org/drawingml/2006/main">
            <a:r>
              <a:t>SAY ON NOTICE: A fictional neighborhood street. Look for three different offerings. Notice the shoes, the haircut, and the message.</a:t>
            </a:r>
          </a:p>
          <a:p xmlns:a="http://schemas.openxmlformats.org/drawingml/2006/main">
            <a:r>
              <a:t>SAY ON CHOOSE: Which picture shows a GOOD? Read the three short labels once. Do not show the reveal before students respond.</a:t>
            </a:r>
          </a:p>
          <a:p xmlns:a="http://schemas.openxmlformats.org/drawingml/2006/main">
            <a:r>
              <a:t>FRIDAY SEPTEMBER 18: Retrieve goods, services, and ideas from Chapter 1 page 4. After this three-minute opener, resume the actual section stopping point and SBTE agenda. Do not skip outstanding reading or assume sections are aligned.</a:t>
            </a:r>
          </a:p>
          <a:p xmlns:a="http://schemas.openxmlformats.org/drawingml/2006/main">
            <a:r>
              <a:t>CLOSE: Different offerings. Different ways to meet a need.</a:t>
            </a:r>
          </a:p>
          <a:p xmlns:a="http://schemas.openxmlformats.org/drawingml/2006/main">
            <a:r>
              <a:t>READING TRANSITION: Check p. 4, then follow today’s class agenda. Resume the actual section stopping point, not the calendar alone.</a:t>
            </a:r>
          </a:p>
          <a:p xmlns:a="http://schemas.openxmlformats.org/drawingml/2006/main">
            <a:r>
              <a:t>ACCESS: Describe the scene without telling students the answer. Accept pointing, fingers, writing or a quiet response. No personal purchases, visits or financial disclosures required. SBTE takes attendance, scans responses and adds at most one clarification.</a:t>
            </a:r>
          </a:p>
          <a:p xmlns:a="http://schemas.openxmlformats.org/drawingml/2006/main">
            <a:r>
              <a:t>VISUAL SOURCE: Built-in image generation; fictional people and settings, not actual Eastridge students or facilities. Whole image first, exact source crops second, focused crop at reveal. Assets: ../assets/2026-09-21-to-25-visual-v3/whole-scenes/friday.png.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CLICK CUES: The whole scene and main question appear immediately. Give students a few seconds to notice. Click once for the supporting scenario text, then advance when ready.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FRIDAY. Chapter 1 p. 4; SBTE 4. THREE-MINUTE MAXIMUM.</a:t>
            </a:r>
          </a:p>
          <a:p xmlns:a="http://schemas.openxmlformats.org/drawingml/2006/main">
            <a:r>
              <a:t>SEQUENCE: slide 13: whole scene, 20 seconds quiet noticing; slide 14: the same scene cropped into three details, 40 seconds choosing; slide 15: reveal after responses, 50 seconds checking and 50 seconds connecting to reading, 20 seconds buffer. No automatic countdown. Click-controlled appear/disappear effects.</a:t>
            </a:r>
          </a:p>
          <a:p xmlns:a="http://schemas.openxmlformats.org/drawingml/2006/main">
            <a:r>
              <a:t>SAY ON NOTICE: A fictional neighborhood street. Look for three different offerings. Notice the shoes, the haircut, and the message.</a:t>
            </a:r>
          </a:p>
          <a:p xmlns:a="http://schemas.openxmlformats.org/drawingml/2006/main">
            <a:r>
              <a:t>SAY ON CHOOSE: Which picture shows a GOOD? Read the three short labels once. Do not show the reveal before students respond.</a:t>
            </a:r>
          </a:p>
          <a:p xmlns:a="http://schemas.openxmlformats.org/drawingml/2006/main">
            <a:r>
              <a:t>FRIDAY SEPTEMBER 18: Retrieve goods, services, and ideas from Chapter 1 page 4. After this three-minute opener, resume the actual section stopping point and SBTE agenda. Do not skip outstanding reading or assume sections are aligned.</a:t>
            </a:r>
          </a:p>
          <a:p xmlns:a="http://schemas.openxmlformats.org/drawingml/2006/main">
            <a:r>
              <a:t>CLOSE: Different offerings. Different ways to meet a need.</a:t>
            </a:r>
          </a:p>
          <a:p xmlns:a="http://schemas.openxmlformats.org/drawingml/2006/main">
            <a:r>
              <a:t>READING TRANSITION: Check p. 4, then follow today’s class agenda. Resume the actual section stopping point, not the calendar alone.</a:t>
            </a:r>
          </a:p>
          <a:p xmlns:a="http://schemas.openxmlformats.org/drawingml/2006/main">
            <a:r>
              <a:t>ACCESS: Describe the scene without telling students the answer. Accept pointing, fingers, writing or a quiet response. No personal purchases, visits or financial disclosures required. SBTE takes attendance, scans responses and adds at most one clarification.</a:t>
            </a:r>
          </a:p>
          <a:p xmlns:a="http://schemas.openxmlformats.org/drawingml/2006/main">
            <a:r>
              <a:t>VISUAL SOURCE: Built-in image generation; fictional people and settings, not actual Eastridge students or facilities. Whole image first, exact source crops second, focused crop at reveal. Assets: ../assets/2026-09-21-to-25-visual-v3/whole-scenes/friday.png.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CLICK CUES: Six clicks: picture 1, its label, replace with picture 2, its label, replace with picture 3, its label. Pause briefly on each picture. Invite a tentative choice as each appears; students may revise it. Read each label aloud. Use Back to revisit an earlier picture if needed. The next click advances to CHECK + CONNECT; do not advance until responses are collected.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FRIDAY. Chapter 1 p. 4; SBTE 4. THREE-MINUTE MAXIMUM.</a:t>
            </a:r>
          </a:p>
          <a:p xmlns:a="http://schemas.openxmlformats.org/drawingml/2006/main">
            <a:r>
              <a:t>SEQUENCE: slide 13: whole scene, 20 seconds quiet noticing; slide 14: the same scene cropped into three details, 40 seconds choosing; slide 15: reveal after responses, 50 seconds checking and 50 seconds connecting to reading, 20 seconds buffer. No automatic countdown. Click-controlled appear/disappear effects.</a:t>
            </a:r>
          </a:p>
          <a:p xmlns:a="http://schemas.openxmlformats.org/drawingml/2006/main">
            <a:r>
              <a:t>SAY ON NOTICE: A fictional neighborhood street. Look for three different offerings. Notice the shoes, the haircut, and the message.</a:t>
            </a:r>
          </a:p>
          <a:p xmlns:a="http://schemas.openxmlformats.org/drawingml/2006/main">
            <a:r>
              <a:t>SAY ON CHOOSE: Which picture shows a GOOD? Read the three short labels once. Do not show the reveal before students respond.</a:t>
            </a:r>
          </a:p>
          <a:p xmlns:a="http://schemas.openxmlformats.org/drawingml/2006/main">
            <a:r>
              <a:t>FRIDAY SEPTEMBER 18: Retrieve goods, services, and ideas from Chapter 1 page 4. After this three-minute opener, resume the actual section stopping point and SBTE agenda. Do not skip outstanding reading or assume sections are aligned.</a:t>
            </a:r>
          </a:p>
          <a:p xmlns:a="http://schemas.openxmlformats.org/drawingml/2006/main">
            <a:r>
              <a:t>CLOSE: Different offerings. Different ways to meet a need.</a:t>
            </a:r>
          </a:p>
          <a:p xmlns:a="http://schemas.openxmlformats.org/drawingml/2006/main">
            <a:r>
              <a:t>READING TRANSITION: Check p. 4, then follow today’s class agenda. Resume the actual section stopping point, not the calendar alone.</a:t>
            </a:r>
          </a:p>
          <a:p xmlns:a="http://schemas.openxmlformats.org/drawingml/2006/main">
            <a:r>
              <a:t>ACCESS: Describe the scene without telling students the answer. Accept pointing, fingers, writing or a quiet response. No personal purchases, visits or financial disclosures required. SBTE takes attendance, scans responses and adds at most one clarification.</a:t>
            </a:r>
          </a:p>
          <a:p xmlns:a="http://schemas.openxmlformats.org/drawingml/2006/main">
            <a:r>
              <a:t>VISUAL SOURCE: Built-in image generation; fictional people and settings, not actual Eastridge students or facilities. Whole image first, exact source crops second, focused crop at reveal. Assets: ../assets/2026-09-21-to-25-visual-v3/whole-scenes/friday.png.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CLICK CUES: The focused image appears first. Click 1 reveals the answer and academic term. Click 2 reveals the reading cue and explanation. Click 3 reveals the one-line closer. Keep the full opener within three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7af2d18f9047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cc91e1dfc24b6a" /><Relationship Type="http://schemas.openxmlformats.org/officeDocument/2006/relationships/slideLayout" Target="/ppt/slideLayouts/slideLayout1.xml" Id="Rbc3d58f636254c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3d58f636254c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f3380e20f4e58" /><Relationship Type="http://schemas.openxmlformats.org/officeDocument/2006/relationships/image" Target="/ppt/media/image5.png" Id="Rb1b94b93456945ef" /><Relationship Type="http://schemas.openxmlformats.org/officeDocument/2006/relationships/notesSlide" Target="/ppt/notesSlides/notesSlide13.xml" Id="R20e291612779491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0df71192f4568" /><Relationship Type="http://schemas.openxmlformats.org/officeDocument/2006/relationships/image" Target="/ppt/media/image17.jpeg" Id="R751851a90f8e44ce" /><Relationship Type="http://schemas.openxmlformats.org/officeDocument/2006/relationships/image" Target="/ppt/media/image18.jpeg" Id="R78f91dc8231b40d8" /><Relationship Type="http://schemas.openxmlformats.org/officeDocument/2006/relationships/image" Target="/ppt/media/image19.jpeg" Id="Rf031fad39f004e4c" /><Relationship Type="http://schemas.openxmlformats.org/officeDocument/2006/relationships/notesSlide" Target="/ppt/notesSlides/notesSlide14.xml" Id="Rf7ed33f7429340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623a8f5514fcb" /><Relationship Type="http://schemas.openxmlformats.org/officeDocument/2006/relationships/image" Target="/ppt/media/image20.jpeg" Id="Re5eb8d5529a5476a" /><Relationship Type="http://schemas.openxmlformats.org/officeDocument/2006/relationships/notesSlide" Target="/ppt/notesSlides/notesSlide15.xml" Id="R6757c9d879404704" /></Relationships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3A3E5E-9626-4E5C-B080-83F643BF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F873E-03F7-4FFF-A072-817F9991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FRIDAY · NOTICE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0EE93-8E5D-454E-8ED4-E4F106C6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3:00 TOTAL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AC87E-282D-4284-BA2F-0661B1D3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What is being offered here?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9EDE5-099B-42EA-A1C6-8654E934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A fictional neighborhood street. Look for three different offerings.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70EA20-36CC-4ECB-A771-00B012D2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07E80-D391-46BC-8513-D62367B7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Notice the shoes, the haircut, and the message.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306D5C-5CA5-4881-A7B0-D0A71335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p. 4; SBTE 4     LOOK QUIETLY · 20 seconds     1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b94b93456945ef"/>
          <a:stretch xmlns:a="http://schemas.openxmlformats.org/drawingml/2006/main"/>
        </p:blipFill>
        <p:spPr>
          <a:xfrm xmlns:a="http://schemas.openxmlformats.org/drawingml/2006/main">
            <a:off x="609600" y="1905000"/>
            <a:ext cx="10972800" cy="3657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70091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45488-52F2-40B4-96D7-2EC89C42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BF0E1-75A6-4DBE-A3AA-DFF4F9DD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FRIDAY · CHOOSE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D9920-57C9-4349-9C5F-9E74DDC8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CHOOSE · 0:40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C3461-BCB6-430D-A4D8-18B8BD09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Which picture shows a GOOD?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38B3C-EECA-46CA-8688-EFFB77E1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Show its number. Then listen for the next category.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1851a90f8e44ce"/>
          <a:stretch xmlns:a="http://schemas.openxmlformats.org/drawingml/2006/main"/>
        </p:blipFill>
        <p:spPr>
          <a:xfrm xmlns:a="http://schemas.openxmlformats.org/drawingml/2006/main">
            <a:off x="609600" y="2333625"/>
            <a:ext cx="3409950" cy="2333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C28D6-48C2-479B-9903-CF78DB15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340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1  Sneakers for sale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91dc8231b40d8"/>
          <a:stretch xmlns:a="http://schemas.openxmlformats.org/drawingml/2006/main"/>
        </p:blipFill>
        <p:spPr>
          <a:xfrm xmlns:a="http://schemas.openxmlformats.org/drawingml/2006/main">
            <a:off x="4391025" y="2714625"/>
            <a:ext cx="3409950" cy="2333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F9A42-2402-47F6-99E5-161818A7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095875"/>
            <a:ext cx="340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2  A paid haircut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31fad39f004e4c"/>
          <a:stretch xmlns:a="http://schemas.openxmlformats.org/drawingml/2006/main"/>
        </p:blipFill>
        <p:spPr>
          <a:xfrm xmlns:a="http://schemas.openxmlformats.org/drawingml/2006/main">
            <a:off x="8172450" y="2333625"/>
            <a:ext cx="3409950" cy="23336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EC038-6968-4122-8EB7-789F8966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14875"/>
            <a:ext cx="340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3  “Keep our community clean”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D713B-5E4E-4DA1-8604-EC71D697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0CE4D-28FF-4325-AFBE-DE86DFB2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One question at a time. Point, show fingers, or write a number.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F663A5-5501-4426-AA64-7B9FED97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p. 4 · SBTE 4     Point to the clue that supports your answer.     2</a:t>
            </a:r>
          </a:p>
        </p:txBody>
      </p:sp>
    </p:spTree>
    <p:extLst>
      <p:ext uri="{BB962C8B-B14F-4D97-AF65-F5344CB8AC3E}">
        <p14:creationId xmlns:p14="http://schemas.microsoft.com/office/powerpoint/2010/main" val="5641937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852EA6-10D2-4A22-AADC-CBA068CE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B2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F77CE-EF48-4240-A46C-E7D70114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A7B"/>
                </a:solidFill>
                <a:latin typeface="Arial"/>
                <a:ea typeface="Arial"/>
                <a:cs typeface="Arial"/>
              </a:rPr>
              <a:t>FRIDAY · CHECK + CONNECT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89A5D-B53F-4CCF-8643-4C41DDF3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REVEAL · 1:40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4D266-1F9C-4846-834E-82F22EA8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1  Good     2  Service     3  Idea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D28AD-37F4-4F5E-8A04-7A371A9F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GOODS, SERVICES, AND IDEAS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b8d5529a5476a"/>
          <a:stretch xmlns:a="http://schemas.openxmlformats.org/drawingml/2006/main"/>
        </p:blipFill>
        <p:spPr>
          <a:xfrm xmlns:a="http://schemas.openxmlformats.org/drawingml/2006/main">
            <a:off x="998376" y="2333625"/>
            <a:ext cx="4175449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4ADCB-B2A6-4AB4-A291-6F1E1263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5334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Check p. 4, then follow today’s class agenda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9D5B0-C434-4B77-8798-DF140C78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8075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34D"/>
                </a:solidFill>
                <a:latin typeface="Arial"/>
                <a:ea typeface="Arial"/>
                <a:cs typeface="Arial"/>
              </a:rPr>
              <a:t>Good: tangible item. Service: paid task. Idea: thought or opinion.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70013-A92B-4A90-B01D-530C7DC0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9ADFF-9E67-4DCC-94FD-30CC72A6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733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34D"/>
                </a:solidFill>
                <a:latin typeface="Arial"/>
                <a:ea typeface="Arial"/>
                <a:cs typeface="Arial"/>
              </a:rPr>
              <a:t>Different offerings. Different ways to meet a need.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7C0E2-172A-4526-B389-617D2BAB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06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087A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87A7B"/>
                </a:solidFill>
                <a:latin typeface="Arial"/>
                <a:ea typeface="Arial"/>
                <a:cs typeface="Arial"/>
              </a:rPr>
              <a:t>Chapter 1 p. 4 · SBTE 4     Stop at 3:00 total.     3</a:t>
            </a:r>
          </a:p>
        </p:txBody>
      </p:sp>
    </p:spTree>
    <p:extLst>
      <p:ext uri="{BB962C8B-B14F-4D97-AF65-F5344CB8AC3E}">
        <p14:creationId xmlns:p14="http://schemas.microsoft.com/office/powerpoint/2010/main" val="97528231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2026-09-18T01:30:47.5250000Z</dcterms:created>
  <dcterms:modified xsi:type="dcterms:W3CDTF">2026-09-18T01:30:47.5250000Z</dcterms:modified>
</coreProperties>
</file>