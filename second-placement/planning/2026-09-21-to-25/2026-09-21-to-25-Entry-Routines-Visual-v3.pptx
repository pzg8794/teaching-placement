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913b9d77994d88" /><Relationship Type="http://schemas.openxmlformats.org/officeDocument/2006/relationships/extended-properties" Target="/docProps/app.xml" Id="Rcbad479716c94e2d" /><Relationship Type="http://schemas.openxmlformats.org/officeDocument/2006/relationships/officeDocument" Target="/ppt/presentation.xml" Id="Rba161a474e96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797a779b7847c2"/>
  </p:sldMasterIdLst>
  <p:notesMasterIdLst>
    <p:notesMasterId xmlns:r="http://schemas.openxmlformats.org/officeDocument/2006/relationships" r:id="R9ad1819408b4478f"/>
  </p:notesMasterIdLst>
  <p:sldIdLst>
    <p:sldId xmlns:r="http://schemas.openxmlformats.org/officeDocument/2006/relationships" id="256" r:id="R701e9439c95c4742"/>
    <p:sldId xmlns:r="http://schemas.openxmlformats.org/officeDocument/2006/relationships" id="257" r:id="R89db213cf1fe4f2a"/>
    <p:sldId xmlns:r="http://schemas.openxmlformats.org/officeDocument/2006/relationships" id="258" r:id="R3355101beac34423"/>
    <p:sldId xmlns:r="http://schemas.openxmlformats.org/officeDocument/2006/relationships" id="259" r:id="Rf0ebd0bae7de4826"/>
    <p:sldId xmlns:r="http://schemas.openxmlformats.org/officeDocument/2006/relationships" id="260" r:id="R3140d075fc11490e"/>
    <p:sldId xmlns:r="http://schemas.openxmlformats.org/officeDocument/2006/relationships" id="261" r:id="R57b3153896dd4fd1"/>
    <p:sldId xmlns:r="http://schemas.openxmlformats.org/officeDocument/2006/relationships" id="262" r:id="R995cdb521d4a48f2"/>
    <p:sldId xmlns:r="http://schemas.openxmlformats.org/officeDocument/2006/relationships" id="263" r:id="Ra1ae861a94cc46ba"/>
    <p:sldId xmlns:r="http://schemas.openxmlformats.org/officeDocument/2006/relationships" id="264" r:id="R6dfef500d6984ca4"/>
    <p:sldId xmlns:r="http://schemas.openxmlformats.org/officeDocument/2006/relationships" id="265" r:id="Rf95dfbb4f2f14135"/>
    <p:sldId xmlns:r="http://schemas.openxmlformats.org/officeDocument/2006/relationships" id="266" r:id="R33f6e54748754f72"/>
    <p:sldId xmlns:r="http://schemas.openxmlformats.org/officeDocument/2006/relationships" id="267" r:id="R8168f5ad51924116"/>
    <p:sldId xmlns:r="http://schemas.openxmlformats.org/officeDocument/2006/relationships" id="268" r:id="Rb811440eb5294b32"/>
    <p:sldId xmlns:r="http://schemas.openxmlformats.org/officeDocument/2006/relationships" id="269" r:id="Rba214a80dd7c4616"/>
    <p:sldId xmlns:r="http://schemas.openxmlformats.org/officeDocument/2006/relationships" id="270" r:id="R238238deb81d4ccb"/>
    <p:sldId xmlns:r="http://schemas.openxmlformats.org/officeDocument/2006/relationships" id="271" r:id="R36d0efb70acf433f"/>
    <p:sldId xmlns:r="http://schemas.openxmlformats.org/officeDocument/2006/relationships" id="272" r:id="Ra000d493fef34009"/>
    <p:sldId xmlns:r="http://schemas.openxmlformats.org/officeDocument/2006/relationships" id="273" r:id="Rdd41a0d1400749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9b088822a341f8" /><Relationship Type="http://schemas.openxmlformats.org/officeDocument/2006/relationships/slideMaster" Target="/ppt/slideMasters/slideMaster1.xml" Id="R60797a779b7847c2" /><Relationship Type="http://schemas.openxmlformats.org/officeDocument/2006/relationships/notesMaster" Target="/ppt/notesMasters/notesMaster1.xml" Id="R9ad1819408b4478f" /><Relationship Type="http://schemas.openxmlformats.org/officeDocument/2006/relationships/presProps" Target="/ppt/presProps.xml" Id="R737463da397a42a8" /><Relationship Type="http://schemas.openxmlformats.org/officeDocument/2006/relationships/tableStyles" Target="/ppt/tableStyles.xml" Id="R7ee6e93798014472" /><Relationship Type="http://schemas.openxmlformats.org/officeDocument/2006/relationships/slide" Target="/ppt/slides/slide1.xml" Id="R701e9439c95c4742" /><Relationship Type="http://schemas.openxmlformats.org/officeDocument/2006/relationships/slide" Target="/ppt/slides/slide2.xml" Id="R89db213cf1fe4f2a" /><Relationship Type="http://schemas.openxmlformats.org/officeDocument/2006/relationships/slide" Target="/ppt/slides/slide3.xml" Id="R3355101beac34423" /><Relationship Type="http://schemas.openxmlformats.org/officeDocument/2006/relationships/slide" Target="/ppt/slides/slide4.xml" Id="Rf0ebd0bae7de4826" /><Relationship Type="http://schemas.openxmlformats.org/officeDocument/2006/relationships/slide" Target="/ppt/slides/slide5.xml" Id="R3140d075fc11490e" /><Relationship Type="http://schemas.openxmlformats.org/officeDocument/2006/relationships/slide" Target="/ppt/slides/slide6.xml" Id="R57b3153896dd4fd1" /><Relationship Type="http://schemas.openxmlformats.org/officeDocument/2006/relationships/slide" Target="/ppt/slides/slide7.xml" Id="R995cdb521d4a48f2" /><Relationship Type="http://schemas.openxmlformats.org/officeDocument/2006/relationships/slide" Target="/ppt/slides/slide8.xml" Id="Ra1ae861a94cc46ba" /><Relationship Type="http://schemas.openxmlformats.org/officeDocument/2006/relationships/slide" Target="/ppt/slides/slide9.xml" Id="R6dfef500d6984ca4" /><Relationship Type="http://schemas.openxmlformats.org/officeDocument/2006/relationships/slide" Target="/ppt/slides/slide10.xml" Id="Rf95dfbb4f2f14135" /><Relationship Type="http://schemas.openxmlformats.org/officeDocument/2006/relationships/slide" Target="/ppt/slides/slide11.xml" Id="R33f6e54748754f72" /><Relationship Type="http://schemas.openxmlformats.org/officeDocument/2006/relationships/slide" Target="/ppt/slides/slide12.xml" Id="R8168f5ad51924116" /><Relationship Type="http://schemas.openxmlformats.org/officeDocument/2006/relationships/slide" Target="/ppt/slides/slide13.xml" Id="Rb811440eb5294b32" /><Relationship Type="http://schemas.openxmlformats.org/officeDocument/2006/relationships/slide" Target="/ppt/slides/slide14.xml" Id="Rba214a80dd7c4616" /><Relationship Type="http://schemas.openxmlformats.org/officeDocument/2006/relationships/slide" Target="/ppt/slides/slide15.xml" Id="R238238deb81d4ccb" /><Relationship Type="http://schemas.openxmlformats.org/officeDocument/2006/relationships/slide" Target="/ppt/slides/slide16.xml" Id="R36d0efb70acf433f" /><Relationship Type="http://schemas.openxmlformats.org/officeDocument/2006/relationships/slide" Target="/ppt/slides/slide17.xml" Id="Ra000d493fef34009" /><Relationship Type="http://schemas.openxmlformats.org/officeDocument/2006/relationships/slide" Target="/ppt/slides/slide18.xml" Id="Rdd41a0d1400749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3ac3041ee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8a528102324434" /><Relationship Type="http://schemas.openxmlformats.org/officeDocument/2006/relationships/notesMaster" Target="/ppt/notesMasters/notesMaster1.xml" Id="R5c767b8b0b76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26c3874427477a" /><Relationship Type="http://schemas.openxmlformats.org/officeDocument/2006/relationships/notesMaster" Target="/ppt/notesMasters/notesMaster1.xml" Id="R6e07be5e17d54a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228b60496342b9" /><Relationship Type="http://schemas.openxmlformats.org/officeDocument/2006/relationships/notesMaster" Target="/ppt/notesMasters/notesMaster1.xml" Id="Rcbdfcdc0bac946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eb77eaf7164257" /><Relationship Type="http://schemas.openxmlformats.org/officeDocument/2006/relationships/notesMaster" Target="/ppt/notesMasters/notesMaster1.xml" Id="Ra529bf2fe34448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ca904ef626476b" /><Relationship Type="http://schemas.openxmlformats.org/officeDocument/2006/relationships/notesMaster" Target="/ppt/notesMasters/notesMaster1.xml" Id="Ra551021233ab48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722de070934abc" /><Relationship Type="http://schemas.openxmlformats.org/officeDocument/2006/relationships/notesMaster" Target="/ppt/notesMasters/notesMaster1.xml" Id="Rb74b640563ac46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ec78a64e944208" /><Relationship Type="http://schemas.openxmlformats.org/officeDocument/2006/relationships/notesMaster" Target="/ppt/notesMasters/notesMaster1.xml" Id="R27735f57e10b46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c9ca22db8f47a0" /><Relationship Type="http://schemas.openxmlformats.org/officeDocument/2006/relationships/notesMaster" Target="/ppt/notesMasters/notesMaster1.xml" Id="R78e751e5fc7347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b22f1099ad44a9" /><Relationship Type="http://schemas.openxmlformats.org/officeDocument/2006/relationships/notesMaster" Target="/ppt/notesMasters/notesMaster1.xml" Id="R1921fd6e9a5c4b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9dbbe8218b415e" /><Relationship Type="http://schemas.openxmlformats.org/officeDocument/2006/relationships/notesMaster" Target="/ppt/notesMasters/notesMaster1.xml" Id="R0b33645d07234c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ae82d10fef4f88" /><Relationship Type="http://schemas.openxmlformats.org/officeDocument/2006/relationships/notesMaster" Target="/ppt/notesMasters/notesMaster1.xml" Id="R40f56b8632d540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dd7ce753d246bc" /><Relationship Type="http://schemas.openxmlformats.org/officeDocument/2006/relationships/notesMaster" Target="/ppt/notesMasters/notesMaster1.xml" Id="R43e5a7970bef44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e227774dd84cca" /><Relationship Type="http://schemas.openxmlformats.org/officeDocument/2006/relationships/notesMaster" Target="/ppt/notesMasters/notesMaster1.xml" Id="R33ec1aefa48b49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c21f4151d14b1c" /><Relationship Type="http://schemas.openxmlformats.org/officeDocument/2006/relationships/notesMaster" Target="/ppt/notesMasters/notesMaster1.xml" Id="Rccb58044f46848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575d115f294d46" /><Relationship Type="http://schemas.openxmlformats.org/officeDocument/2006/relationships/notesMaster" Target="/ppt/notesMasters/notesMaster1.xml" Id="R21851dcb3e294f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bca87ef0534830" /><Relationship Type="http://schemas.openxmlformats.org/officeDocument/2006/relationships/notesMaster" Target="/ppt/notesMasters/notesMaster1.xml" Id="Rdfc2aefbe0f244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d0dd55eaed46cd" /><Relationship Type="http://schemas.openxmlformats.org/officeDocument/2006/relationships/notesMaster" Target="/ppt/notesMasters/notesMaster1.xml" Id="Rc4a14251a56e42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a7207451a64eef" /><Relationship Type="http://schemas.openxmlformats.org/officeDocument/2006/relationships/notesMaster" Target="/ppt/notesMasters/notesMaster1.xml" Id="Rb4a48ad5dcdd43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MONDAY. Chapter 1 pp. 10–11; SBTE 9. THREE-MINUTE MAXIMUM.</a:t>
            </a:r>
          </a:p>
          <a:p xmlns:a="http://schemas.openxmlformats.org/drawingml/2006/main">
            <a:r>
              <a:t>SEQUENCE: slide 1: whole scene, 20 seconds quiet noticing; slide 2: the same scene cropped into three details, 40 seconds choosing; slide 3: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school-spirit shop is choosing its next hoodie. What should the shop do first? Think before choosing.</a:t>
            </a:r>
          </a:p>
          <a:p xmlns:a="http://schemas.openxmlformats.org/drawingml/2006/main">
            <a:r>
              <a:t>SAY ON CHOOSE: What should the shop do FIRST? Read the three short labels once. Do not show the reveal before students respond.</a:t>
            </a:r>
          </a:p>
          <a:p xmlns:a="http://schemas.openxmlformats.org/drawingml/2006/main">
            <a:r>
              <a:t>ANSWER AND EXPLANATION: B. Ask likely buyers about their wants and needs before selecting the next hoodie. The scene illustrates possible decisions; it does not mean all three have already happened.</a:t>
            </a:r>
          </a:p>
          <a:p xmlns:a="http://schemas.openxmlformats.org/drawingml/2006/main">
            <a:r>
              <a:t>CLOSE: Customer evidence helps a business choose.</a:t>
            </a:r>
          </a:p>
          <a:p xmlns:a="http://schemas.openxmlformats.org/drawingml/2006/main">
            <a:r>
              <a:t>READING TRANSITION: Open p. 10: “The Purpose of Marketing”.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../assets/2026-09-21-to-25-visual-v3/whole-scenes/monday.png.</a:t>
            </a:r>
          </a:p>
          <a:p xmlns:a="http://schemas.openxmlformats.org/drawingml/2006/main">
            <a:r>
              <a:t>FOLLOW-UP 1 (optional, choose at most one): What could the shop ask about the hoodie?</a:t>
            </a:r>
          </a:p>
          <a:p xmlns:a="http://schemas.openxmlformats.org/drawingml/2006/main">
            <a:r>
              <a:t>FOLLOW-UP 2: How could that answer change what it sells?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MONDAY. Chapter 1 pp. 10–11; SBTE 9. THREE-MINUTE MAXIMUM.</a:t>
            </a:r>
          </a:p>
          <a:p xmlns:a="http://schemas.openxmlformats.org/drawingml/2006/main">
            <a:r>
              <a:t>SEQUENCE: slide 1: whole scene, 20 seconds quiet noticing; slide 2: the same scene cropped into three details, 40 seconds choosing; slide 3: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school-spirit shop is choosing its next hoodie. What should the shop do first? Think before choosing.</a:t>
            </a:r>
          </a:p>
          <a:p xmlns:a="http://schemas.openxmlformats.org/drawingml/2006/main">
            <a:r>
              <a:t>SAY ON CHOOSE: What should the shop do FIRST? Read the three short labels once. Do not show the reveal before students respond.</a:t>
            </a:r>
          </a:p>
          <a:p xmlns:a="http://schemas.openxmlformats.org/drawingml/2006/main">
            <a:r>
              <a:t>ANSWER AND EXPLANATION: B. Ask likely buyers about their wants and needs before selecting the next hoodie. The scene illustrates possible decisions; it does not mean all three have already happened.</a:t>
            </a:r>
          </a:p>
          <a:p xmlns:a="http://schemas.openxmlformats.org/drawingml/2006/main">
            <a:r>
              <a:t>CLOSE: Customer evidence helps a business choose.</a:t>
            </a:r>
          </a:p>
          <a:p xmlns:a="http://schemas.openxmlformats.org/drawingml/2006/main">
            <a:r>
              <a:t>READING TRANSITION: Open p. 10: “The Purpose of Marketing”.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../assets/2026-09-21-to-25-visual-v3/whole-scenes/monday.png.</a:t>
            </a:r>
          </a:p>
          <a:p xmlns:a="http://schemas.openxmlformats.org/drawingml/2006/main">
            <a:r>
              <a:t>FOLLOW-UP 1 (optional, choose at most one): What could the shop ask about the hoodie?</a:t>
            </a:r>
          </a:p>
          <a:p xmlns:a="http://schemas.openxmlformats.org/drawingml/2006/main">
            <a:r>
              <a:t>FOLLOW-UP 2: How could that answer change what it sells?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MONDAY. Chapter 1 pp. 10–11; SBTE 9. THREE-MINUTE MAXIMUM.</a:t>
            </a:r>
          </a:p>
          <a:p xmlns:a="http://schemas.openxmlformats.org/drawingml/2006/main">
            <a:r>
              <a:t>SEQUENCE: slide 1: whole scene, 20 seconds quiet noticing; slide 2: the same scene cropped into three details, 40 seconds choosing; slide 3: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school-spirit shop is choosing its next hoodie. What should the shop do first? Think before choosing.</a:t>
            </a:r>
          </a:p>
          <a:p xmlns:a="http://schemas.openxmlformats.org/drawingml/2006/main">
            <a:r>
              <a:t>SAY ON CHOOSE: What should the shop do FIRST? Read the three short labels once. Do not show the reveal before students respond.</a:t>
            </a:r>
          </a:p>
          <a:p xmlns:a="http://schemas.openxmlformats.org/drawingml/2006/main">
            <a:r>
              <a:t>ANSWER AND EXPLANATION: B. Ask likely buyers about their wants and needs before selecting the next hoodie. The scene illustrates possible decisions; it does not mean all three have already happened.</a:t>
            </a:r>
          </a:p>
          <a:p xmlns:a="http://schemas.openxmlformats.org/drawingml/2006/main">
            <a:r>
              <a:t>CLOSE: Customer evidence helps a business choose.</a:t>
            </a:r>
          </a:p>
          <a:p xmlns:a="http://schemas.openxmlformats.org/drawingml/2006/main">
            <a:r>
              <a:t>READING TRANSITION: Open p. 10: “The Purpose of Marketing”.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../assets/2026-09-21-to-25-visual-v3/whole-scenes/monday.png.</a:t>
            </a:r>
          </a:p>
          <a:p xmlns:a="http://schemas.openxmlformats.org/drawingml/2006/main">
            <a:r>
              <a:t>FOLLOW-UP 1 (optional, choose at most one): What could the shop ask about the hoodie?</a:t>
            </a:r>
          </a:p>
          <a:p xmlns:a="http://schemas.openxmlformats.org/drawingml/2006/main">
            <a:r>
              <a:t>FOLLOW-UP 2: How could that answer change what it sells?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TUESDAY. Chapter 1 pp. 11–12; SBTE 10. THREE-MINUTE MAXIMUM.</a:t>
            </a:r>
          </a:p>
          <a:p xmlns:a="http://schemas.openxmlformats.org/drawingml/2006/main">
            <a:r>
              <a:t>SEQUENCE: slide 4: whole scene, 20 seconds quiet noticing; slide 5: the same scene cropped into three details, 40 seconds choosing; slide 6: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The club ordered popcorn early. It arrived after the game. What should the seller fix for the next game?</a:t>
            </a:r>
          </a:p>
          <a:p xmlns:a="http://schemas.openxmlformats.org/drawingml/2006/main">
            <a:r>
              <a:t>SAY ON CHOOSE: Which change solves the late-delivery problem? Read the three short labels once. Do not show the reveal before students respond.</a:t>
            </a:r>
          </a:p>
          <a:p xmlns:a="http://schemas.openxmlformats.org/drawingml/2006/main">
            <a:r>
              <a:t>ANSWER AND EXPLANATION: C. Fix delivery timing. Point to the empty cups, disappointed seller, concerned driver, departing customers and empty seats. The popcorn in the center is a picture on an unused advertisement, not food already sold. The right crop shows the problem to fix, not successful delivery.</a:t>
            </a:r>
          </a:p>
          <a:p xmlns:a="http://schemas.openxmlformats.org/drawingml/2006/main">
            <a:r>
              <a:t>CLOSE: A product must reach customers at the right time.</a:t>
            </a:r>
          </a:p>
          <a:p xmlns:a="http://schemas.openxmlformats.org/drawingml/2006/main">
            <a:r>
              <a:t>READING TRANSITION: Open pp. 11–12: “Marketing Mix”.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../assets/2026-09-21-to-25-visual-v3/whole-scenes/tuesday.png.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TUESDAY. Chapter 1 pp. 11–12; SBTE 10. THREE-MINUTE MAXIMUM.</a:t>
            </a:r>
          </a:p>
          <a:p xmlns:a="http://schemas.openxmlformats.org/drawingml/2006/main">
            <a:r>
              <a:t>SEQUENCE: slide 4: whole scene, 20 seconds quiet noticing; slide 5: the same scene cropped into three details, 40 seconds choosing; slide 6: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The club ordered popcorn early. It arrived after the game. What should the seller fix for the next game?</a:t>
            </a:r>
          </a:p>
          <a:p xmlns:a="http://schemas.openxmlformats.org/drawingml/2006/main">
            <a:r>
              <a:t>SAY ON CHOOSE: Which change solves the late-delivery problem? Read the three short labels once. Do not show the reveal before students respond.</a:t>
            </a:r>
          </a:p>
          <a:p xmlns:a="http://schemas.openxmlformats.org/drawingml/2006/main">
            <a:r>
              <a:t>ANSWER AND EXPLANATION: C. Fix delivery timing. Point to the empty cups, disappointed seller, concerned driver, departing customers and empty seats. The popcorn in the center is a picture on an unused advertisement, not food already sold. The right crop shows the problem to fix, not successful delivery.</a:t>
            </a:r>
          </a:p>
          <a:p xmlns:a="http://schemas.openxmlformats.org/drawingml/2006/main">
            <a:r>
              <a:t>CLOSE: A product must reach customers at the right time.</a:t>
            </a:r>
          </a:p>
          <a:p xmlns:a="http://schemas.openxmlformats.org/drawingml/2006/main">
            <a:r>
              <a:t>READING TRANSITION: Open pp. 11–12: “Marketing Mix”.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../assets/2026-09-21-to-25-visual-v3/whole-scenes/tuesday.png.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TUESDAY. Chapter 1 pp. 11–12; SBTE 10. THREE-MINUTE MAXIMUM.</a:t>
            </a:r>
          </a:p>
          <a:p xmlns:a="http://schemas.openxmlformats.org/drawingml/2006/main">
            <a:r>
              <a:t>SEQUENCE: slide 4: whole scene, 20 seconds quiet noticing; slide 5: the same scene cropped into three details, 40 seconds choosing; slide 6: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The club ordered popcorn early. It arrived after the game. What should the seller fix for the next game?</a:t>
            </a:r>
          </a:p>
          <a:p xmlns:a="http://schemas.openxmlformats.org/drawingml/2006/main">
            <a:r>
              <a:t>SAY ON CHOOSE: Which change solves the late-delivery problem? Read the three short labels once. Do not show the reveal before students respond.</a:t>
            </a:r>
          </a:p>
          <a:p xmlns:a="http://schemas.openxmlformats.org/drawingml/2006/main">
            <a:r>
              <a:t>ANSWER AND EXPLANATION: C. Fix delivery timing. Point to the empty cups, disappointed seller, concerned driver, departing customers and empty seats. The popcorn in the center is a picture on an unused advertisement, not food already sold. The right crop shows the problem to fix, not successful delivery.</a:t>
            </a:r>
          </a:p>
          <a:p xmlns:a="http://schemas.openxmlformats.org/drawingml/2006/main">
            <a:r>
              <a:t>CLOSE: A product must reach customers at the right time.</a:t>
            </a:r>
          </a:p>
          <a:p xmlns:a="http://schemas.openxmlformats.org/drawingml/2006/main">
            <a:r>
              <a:t>READING TRANSITION: Open pp. 11–12: “Marketing Mix”.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../assets/2026-09-21-to-25-visual-v3/whole-scenes/tuesday.png.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WEDNESDAY. Chapter 1 pp. 13–15; SBTE 11–13. THREE-MINUTE MAXIMUM.</a:t>
            </a:r>
          </a:p>
          <a:p xmlns:a="http://schemas.openxmlformats.org/drawingml/2006/main">
            <a:r>
              <a:t>SEQUENCE: slide 7: whole scene, 20 seconds quiet noticing; slide 8: the same scene cropped into three details, 40 seconds choosing; slide 9: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esports event wants players AND spectators. What could we ask to learn who is interested?</a:t>
            </a:r>
          </a:p>
          <a:p xmlns:a="http://schemas.openxmlformats.org/drawingml/2006/main">
            <a:r>
              <a:t>SAY ON CHOOSE: Which question gives useful evidence? Read the three short labels once. Do not show the reveal before students respond.</a:t>
            </a:r>
          </a:p>
          <a:p xmlns:a="http://schemas.openxmlformats.org/drawingml/2006/main">
            <a:r>
              <a:t>ANSWER AND EXPLANATION: B permits different answers. A pushes agreement; C substitutes the organizer’s preference. Not being interested is a valid answer. Do not equate visible quietness with lack of learning.</a:t>
            </a:r>
          </a:p>
          <a:p xmlns:a="http://schemas.openxmlformats.org/drawingml/2006/main">
            <a:r>
              <a:t>CLOSE: Useful questions leave room for honest answers.</a:t>
            </a:r>
          </a:p>
          <a:p xmlns:a="http://schemas.openxmlformats.org/drawingml/2006/main">
            <a:r>
              <a:t>READING TRANSITION: Open p. 13: “Marketing Functions”.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../assets/2026-09-21-to-25-visual-v3/whole-scenes/wednesday.png.</a:t>
            </a:r>
          </a:p>
          <a:p xmlns:a="http://schemas.openxmlformats.org/drawingml/2006/main">
            <a:r>
              <a:t>FOLLOW-UP 1 (optional, choose at most one): Why is “neither” a useful option?</a:t>
            </a:r>
          </a:p>
          <a:p xmlns:a="http://schemas.openxmlformats.org/drawingml/2006/main">
            <a:r>
              <a:t>FOLLOW-UP 2: How could the answer change the event?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WEDNESDAY. Chapter 1 pp. 13–15; SBTE 11–13. THREE-MINUTE MAXIMUM.</a:t>
            </a:r>
          </a:p>
          <a:p xmlns:a="http://schemas.openxmlformats.org/drawingml/2006/main">
            <a:r>
              <a:t>SEQUENCE: slide 7: whole scene, 20 seconds quiet noticing; slide 8: the same scene cropped into three details, 40 seconds choosing; slide 9: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esports event wants players AND spectators. What could we ask to learn who is interested?</a:t>
            </a:r>
          </a:p>
          <a:p xmlns:a="http://schemas.openxmlformats.org/drawingml/2006/main">
            <a:r>
              <a:t>SAY ON CHOOSE: Which question gives useful evidence? Read the three short labels once. Do not show the reveal before students respond.</a:t>
            </a:r>
          </a:p>
          <a:p xmlns:a="http://schemas.openxmlformats.org/drawingml/2006/main">
            <a:r>
              <a:t>ANSWER AND EXPLANATION: B permits different answers. A pushes agreement; C substitutes the organizer’s preference. Not being interested is a valid answer. Do not equate visible quietness with lack of learning.</a:t>
            </a:r>
          </a:p>
          <a:p xmlns:a="http://schemas.openxmlformats.org/drawingml/2006/main">
            <a:r>
              <a:t>CLOSE: Useful questions leave room for honest answers.</a:t>
            </a:r>
          </a:p>
          <a:p xmlns:a="http://schemas.openxmlformats.org/drawingml/2006/main">
            <a:r>
              <a:t>READING TRANSITION: Open p. 13: “Marketing Functions”.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../assets/2026-09-21-to-25-visual-v3/whole-scenes/wednesday.png.</a:t>
            </a:r>
          </a:p>
          <a:p xmlns:a="http://schemas.openxmlformats.org/drawingml/2006/main">
            <a:r>
              <a:t>FOLLOW-UP 1 (optional, choose at most one): Why is “neither” a useful option?</a:t>
            </a:r>
          </a:p>
          <a:p xmlns:a="http://schemas.openxmlformats.org/drawingml/2006/main">
            <a:r>
              <a:t>FOLLOW-UP 2: How could the answer change the event?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WEDNESDAY. Chapter 1 pp. 13–15; SBTE 11–13. THREE-MINUTE MAXIMUM.</a:t>
            </a:r>
          </a:p>
          <a:p xmlns:a="http://schemas.openxmlformats.org/drawingml/2006/main">
            <a:r>
              <a:t>SEQUENCE: slide 7: whole scene, 20 seconds quiet noticing; slide 8: the same scene cropped into three details, 40 seconds choosing; slide 9: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esports event wants players AND spectators. What could we ask to learn who is interested?</a:t>
            </a:r>
          </a:p>
          <a:p xmlns:a="http://schemas.openxmlformats.org/drawingml/2006/main">
            <a:r>
              <a:t>SAY ON CHOOSE: Which question gives useful evidence? Read the three short labels once. Do not show the reveal before students respond.</a:t>
            </a:r>
          </a:p>
          <a:p xmlns:a="http://schemas.openxmlformats.org/drawingml/2006/main">
            <a:r>
              <a:t>ANSWER AND EXPLANATION: B permits different answers. A pushes agreement; C substitutes the organizer’s preference. Not being interested is a valid answer. Do not equate visible quietness with lack of learning.</a:t>
            </a:r>
          </a:p>
          <a:p xmlns:a="http://schemas.openxmlformats.org/drawingml/2006/main">
            <a:r>
              <a:t>CLOSE: Useful questions leave room for honest answers.</a:t>
            </a:r>
          </a:p>
          <a:p xmlns:a="http://schemas.openxmlformats.org/drawingml/2006/main">
            <a:r>
              <a:t>READING TRANSITION: Open p. 13: “Marketing Functions”.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../assets/2026-09-21-to-25-visual-v3/whole-scenes/wednesday.png.</a:t>
            </a:r>
          </a:p>
          <a:p xmlns:a="http://schemas.openxmlformats.org/drawingml/2006/main">
            <a:r>
              <a:t>FOLLOW-UP 1 (optional, choose at most one): Why is “neither” a useful option?</a:t>
            </a:r>
          </a:p>
          <a:p xmlns:a="http://schemas.openxmlformats.org/drawingml/2006/main">
            <a:r>
              <a:t>FOLLOW-UP 2: How could the answer change the event?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THURSDAY. Chapter 1 pp. 13–15, Figure 1.4; SBTE 12–13. THREE-MINUTE MAXIMUM.</a:t>
            </a:r>
          </a:p>
          <a:p xmlns:a="http://schemas.openxmlformats.org/drawingml/2006/main">
            <a:r>
              <a:t>SEQUENCE: slide 10: whole scene, 20 seconds quiet noticing; slide 11: the same scene cropped into three details, 40 seconds choosing; slide 12: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The shop closes before school ends. The student cannot collect it. What could the shop change so pickup works?</a:t>
            </a:r>
          </a:p>
          <a:p xmlns:a="http://schemas.openxmlformats.org/drawingml/2006/main">
            <a:r>
              <a:t>SAY ON CHOOSE: Which change helps the student collect the bike? Read the three short labels once. Do not show the reveal before students respond.</a:t>
            </a:r>
          </a:p>
          <a:p xmlns:a="http://schemas.openxmlformats.org/drawingml/2006/main">
            <a:r>
              <a:t>ANSWER AND EXPLANATION: C fixes access. The right image shows a disappointed student outside the closed shop with a ready bike behind glass. The other shop activities do not solve this pickup barrier. The repaired bike does not need a second repair. This is a fictional application of arranging customer access, not a new textbook definition.</a:t>
            </a:r>
          </a:p>
          <a:p xmlns:a="http://schemas.openxmlformats.org/drawingml/2006/main">
            <a:r>
              <a:t>CLOSE: A finished repair still needs a workable pickup.</a:t>
            </a:r>
          </a:p>
          <a:p xmlns:a="http://schemas.openxmlformats.org/drawingml/2006/main">
            <a:r>
              <a:t>READING TRANSITION: Open p. 13: “Channel Management”.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../assets/2026-09-21-to-25-visual-v3/whole-scenes/thursday.png.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THURSDAY. Chapter 1 pp. 13–15, Figure 1.4; SBTE 12–13. THREE-MINUTE MAXIMUM.</a:t>
            </a:r>
          </a:p>
          <a:p xmlns:a="http://schemas.openxmlformats.org/drawingml/2006/main">
            <a:r>
              <a:t>SEQUENCE: slide 10: whole scene, 20 seconds quiet noticing; slide 11: the same scene cropped into three details, 40 seconds choosing; slide 12: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The shop closes before school ends. The student cannot collect it. What could the shop change so pickup works?</a:t>
            </a:r>
          </a:p>
          <a:p xmlns:a="http://schemas.openxmlformats.org/drawingml/2006/main">
            <a:r>
              <a:t>SAY ON CHOOSE: Which change helps the student collect the bike? Read the three short labels once. Do not show the reveal before students respond.</a:t>
            </a:r>
          </a:p>
          <a:p xmlns:a="http://schemas.openxmlformats.org/drawingml/2006/main">
            <a:r>
              <a:t>ANSWER AND EXPLANATION: C fixes access. The right image shows a disappointed student outside the closed shop with a ready bike behind glass. The other shop activities do not solve this pickup barrier. The repaired bike does not need a second repair. This is a fictional application of arranging customer access, not a new textbook definition.</a:t>
            </a:r>
          </a:p>
          <a:p xmlns:a="http://schemas.openxmlformats.org/drawingml/2006/main">
            <a:r>
              <a:t>CLOSE: A finished repair still needs a workable pickup.</a:t>
            </a:r>
          </a:p>
          <a:p xmlns:a="http://schemas.openxmlformats.org/drawingml/2006/main">
            <a:r>
              <a:t>READING TRANSITION: Open p. 13: “Channel Management”.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../assets/2026-09-21-to-25-visual-v3/whole-scenes/thursday.png.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THURSDAY. Chapter 1 pp. 13–15, Figure 1.4; SBTE 12–13. THREE-MINUTE MAXIMUM.</a:t>
            </a:r>
          </a:p>
          <a:p xmlns:a="http://schemas.openxmlformats.org/drawingml/2006/main">
            <a:r>
              <a:t>SEQUENCE: slide 10: whole scene, 20 seconds quiet noticing; slide 11: the same scene cropped into three details, 40 seconds choosing; slide 12: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The shop closes before school ends. The student cannot collect it. What could the shop change so pickup works?</a:t>
            </a:r>
          </a:p>
          <a:p xmlns:a="http://schemas.openxmlformats.org/drawingml/2006/main">
            <a:r>
              <a:t>SAY ON CHOOSE: Which change helps the student collect the bike? Read the three short labels once. Do not show the reveal before students respond.</a:t>
            </a:r>
          </a:p>
          <a:p xmlns:a="http://schemas.openxmlformats.org/drawingml/2006/main">
            <a:r>
              <a:t>ANSWER AND EXPLANATION: C fixes access. The right image shows a disappointed student outside the closed shop with a ready bike behind glass. The other shop activities do not solve this pickup barrier. The repaired bike does not need a second repair. This is a fictional application of arranging customer access, not a new textbook definition.</a:t>
            </a:r>
          </a:p>
          <a:p xmlns:a="http://schemas.openxmlformats.org/drawingml/2006/main">
            <a:r>
              <a:t>CLOSE: A finished repair still needs a workable pickup.</a:t>
            </a:r>
          </a:p>
          <a:p xmlns:a="http://schemas.openxmlformats.org/drawingml/2006/main">
            <a:r>
              <a:t>READING TRANSITION: Open p. 13: “Channel Management”.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../assets/2026-09-21-to-25-visual-v3/whole-scenes/thursday.png.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FRIDAY. Chapter 1 p. 4; SBTE 4. THREE-MINUTE MAXIMUM.</a:t>
            </a:r>
          </a:p>
          <a:p xmlns:a="http://schemas.openxmlformats.org/drawingml/2006/main">
            <a:r>
              <a:t>SEQUENCE: slide 13: whole scene, 20 seconds quiet noticing; slide 14: the same scene cropped into three details, 40 seconds choosing; slide 15: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neighborhood street. Look for three different offerings. Notice the shoes, the haircut, and the message.</a:t>
            </a:r>
          </a:p>
          <a:p xmlns:a="http://schemas.openxmlformats.org/drawingml/2006/main">
            <a:r>
              <a:t>SAY ON CHOOSE: Which picture shows a GOOD? Read the three short labels once. Do not show the reveal before students respond.</a:t>
            </a:r>
          </a:p>
          <a:p xmlns:a="http://schemas.openxmlformats.org/drawingml/2006/main">
            <a:r>
              <a:t>ANSWER AND EXPLANATION: Ask ONE category at a time: Which picture shows a good? Pause. Which shows a service? Pause. Which shows an idea? Pause. Students point, show fingers, write a number or answer quietly. Answers 1, 2, 3. Classify the environmental message, not its paper. Confirm assessment plans; omit the opener if it would coach assessed answers.</a:t>
            </a:r>
          </a:p>
          <a:p xmlns:a="http://schemas.openxmlformats.org/drawingml/2006/main">
            <a:r>
              <a:t>CLOSE: Different offerings. Different ways to meet a need.</a:t>
            </a:r>
          </a:p>
          <a:p xmlns:a="http://schemas.openxmlformats.org/drawingml/2006/main">
            <a:r>
              <a:t>READING TRANSITION: Check p. 4, then follow today’s class agenda.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../assets/2026-09-21-to-25-visual-v3/whole-scenes/friday.png.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FRIDAY. Chapter 1 p. 4; SBTE 4. THREE-MINUTE MAXIMUM.</a:t>
            </a:r>
          </a:p>
          <a:p xmlns:a="http://schemas.openxmlformats.org/drawingml/2006/main">
            <a:r>
              <a:t>SEQUENCE: slide 13: whole scene, 20 seconds quiet noticing; slide 14: the same scene cropped into three details, 40 seconds choosing; slide 15: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neighborhood street. Look for three different offerings. Notice the shoes, the haircut, and the message.</a:t>
            </a:r>
          </a:p>
          <a:p xmlns:a="http://schemas.openxmlformats.org/drawingml/2006/main">
            <a:r>
              <a:t>SAY ON CHOOSE: Which picture shows a GOOD? Read the three short labels once. Do not show the reveal before students respond.</a:t>
            </a:r>
          </a:p>
          <a:p xmlns:a="http://schemas.openxmlformats.org/drawingml/2006/main">
            <a:r>
              <a:t>ANSWER AND EXPLANATION: Ask ONE category at a time: Which picture shows a good? Pause. Which shows a service? Pause. Which shows an idea? Pause. Students point, show fingers, write a number or answer quietly. Answers 1, 2, 3. Classify the environmental message, not its paper. Confirm assessment plans; omit the opener if it would coach assessed answers.</a:t>
            </a:r>
          </a:p>
          <a:p xmlns:a="http://schemas.openxmlformats.org/drawingml/2006/main">
            <a:r>
              <a:t>CLOSE: Different offerings. Different ways to meet a need.</a:t>
            </a:r>
          </a:p>
          <a:p xmlns:a="http://schemas.openxmlformats.org/drawingml/2006/main">
            <a:r>
              <a:t>READING TRANSITION: Check p. 4, then follow today’s class agenda.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../assets/2026-09-21-to-25-visual-v3/whole-scenes/friday.png.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FRIDAY. Chapter 1 p. 4; SBTE 4. THREE-MINUTE MAXIMUM.</a:t>
            </a:r>
          </a:p>
          <a:p xmlns:a="http://schemas.openxmlformats.org/drawingml/2006/main">
            <a:r>
              <a:t>SEQUENCE: slide 13: whole scene, 20 seconds quiet noticing; slide 14: the same scene cropped into three details, 40 seconds choosing; slide 15: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A fictional neighborhood street. Look for three different offerings. Notice the shoes, the haircut, and the message.</a:t>
            </a:r>
          </a:p>
          <a:p xmlns:a="http://schemas.openxmlformats.org/drawingml/2006/main">
            <a:r>
              <a:t>SAY ON CHOOSE: Which picture shows a GOOD? Read the three short labels once. Do not show the reveal before students respond.</a:t>
            </a:r>
          </a:p>
          <a:p xmlns:a="http://schemas.openxmlformats.org/drawingml/2006/main">
            <a:r>
              <a:t>ANSWER AND EXPLANATION: Ask ONE category at a time: Which picture shows a good? Pause. Which shows a service? Pause. Which shows an idea? Pause. Students point, show fingers, write a number or answer quietly. Answers 1, 2, 3. Classify the environmental message, not its paper. Confirm assessment plans; omit the opener if it would coach assessed answers.</a:t>
            </a:r>
          </a:p>
          <a:p xmlns:a="http://schemas.openxmlformats.org/drawingml/2006/main">
            <a:r>
              <a:t>CLOSE: Different offerings. Different ways to meet a need.</a:t>
            </a:r>
          </a:p>
          <a:p xmlns:a="http://schemas.openxmlformats.org/drawingml/2006/main">
            <a:r>
              <a:t>READING TRANSITION: Check p. 4, then follow today’s class agenda.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../assets/2026-09-21-to-25-visual-v3/whole-scenes/friday.png.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MONDAY CATCH-UP. Chapter 1 pp. 7–9; SBTE 7–8. THREE-MINUTE MAXIMUM.</a:t>
            </a:r>
          </a:p>
          <a:p xmlns:a="http://schemas.openxmlformats.org/drawingml/2006/main">
            <a:r>
              <a:t>SEQUENCE: slide 16: whole scene, 20 seconds quiet noticing; slide 17: the same scene cropped into three details, 40 seconds choosing; slide 18: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Look beyond the person buying the bread. Who else might benefit, and how? Think of one possibility.</a:t>
            </a:r>
          </a:p>
          <a:p xmlns:a="http://schemas.openxmlformats.org/drawingml/2006/main">
            <a:r>
              <a:t>SAY ON CHOOSE: How could the sale affect someone else? Read the three short labels once. Do not show the reveal before students respond.</a:t>
            </a:r>
          </a:p>
          <a:p xmlns:a="http://schemas.openxmlformats.org/drawingml/2006/main">
            <a:r>
              <a:t>ANSWER AND EXPLANATION: Use slides 16–18 INSTEAD OF 1–3 only if this section still owes pp. 7–9. First let students predict how someone benefits. Slide 17 has neutral labels only; accept a plausible prediction for baker or community. Reveal on slide 18: employment and wages, taxes supporting public services. The street scene does not show or claim a direct donation to a school. Resume Financial Activities p. 7, then Ways Businesses Contribute to Society pp. 8–9.</a:t>
            </a:r>
          </a:p>
          <a:p xmlns:a="http://schemas.openxmlformats.org/drawingml/2006/main">
            <a:r>
              <a:t>CLOSE: Businesses affect more than their customers.</a:t>
            </a:r>
          </a:p>
          <a:p xmlns:a="http://schemas.openxmlformats.org/drawingml/2006/main">
            <a:r>
              <a:t>READING TRANSITION: Resume p. 7; then read “Ways Businesses…” on pp. 8–9.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../assets/2026-09-21-to-25-visual-v3/whole-scenes/catchup.png.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MONDAY CATCH-UP. Chapter 1 pp. 7–9; SBTE 7–8. THREE-MINUTE MAXIMUM.</a:t>
            </a:r>
          </a:p>
          <a:p xmlns:a="http://schemas.openxmlformats.org/drawingml/2006/main">
            <a:r>
              <a:t>SEQUENCE: slide 16: whole scene, 20 seconds quiet noticing; slide 17: the same scene cropped into three details, 40 seconds choosing; slide 18: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Look beyond the person buying the bread. Who else might benefit, and how? Think of one possibility.</a:t>
            </a:r>
          </a:p>
          <a:p xmlns:a="http://schemas.openxmlformats.org/drawingml/2006/main">
            <a:r>
              <a:t>SAY ON CHOOSE: How could the sale affect someone else? Read the three short labels once. Do not show the reveal before students respond.</a:t>
            </a:r>
          </a:p>
          <a:p xmlns:a="http://schemas.openxmlformats.org/drawingml/2006/main">
            <a:r>
              <a:t>ANSWER AND EXPLANATION: Use slides 16–18 INSTEAD OF 1–3 only if this section still owes pp. 7–9. First let students predict how someone benefits. Slide 17 has neutral labels only; accept a plausible prediction for baker or community. Reveal on slide 18: employment and wages, taxes supporting public services. The street scene does not show or claim a direct donation to a school. Resume Financial Activities p. 7, then Ways Businesses Contribute to Society pp. 8–9.</a:t>
            </a:r>
          </a:p>
          <a:p xmlns:a="http://schemas.openxmlformats.org/drawingml/2006/main">
            <a:r>
              <a:t>CLOSE: Businesses affect more than their customers.</a:t>
            </a:r>
          </a:p>
          <a:p xmlns:a="http://schemas.openxmlformats.org/drawingml/2006/main">
            <a:r>
              <a:t>READING TRANSITION: Resume p. 7; then read “Ways Businesses…” on pp. 8–9.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../assets/2026-09-21-to-25-visual-v3/whole-scenes/catchup.png.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MONDAY CATCH-UP. Chapter 1 pp. 7–9; SBTE 7–8. THREE-MINUTE MAXIMUM.</a:t>
            </a:r>
          </a:p>
          <a:p xmlns:a="http://schemas.openxmlformats.org/drawingml/2006/main">
            <a:r>
              <a:t>SEQUENCE: slide 16: whole scene, 20 seconds quiet noticing; slide 17: the same scene cropped into three details, 40 seconds choosing; slide 18: reveal after responses, 50 seconds checking and 50 seconds connecting to reading, 20 seconds buffer. No automatic countdown or animation.</a:t>
            </a:r>
          </a:p>
          <a:p xmlns:a="http://schemas.openxmlformats.org/drawingml/2006/main">
            <a:r>
              <a:t>SAY ON NOTICE: Look beyond the person buying the bread. Who else might benefit, and how? Think of one possibility.</a:t>
            </a:r>
          </a:p>
          <a:p xmlns:a="http://schemas.openxmlformats.org/drawingml/2006/main">
            <a:r>
              <a:t>SAY ON CHOOSE: How could the sale affect someone else? Read the three short labels once. Do not show the reveal before students respond.</a:t>
            </a:r>
          </a:p>
          <a:p xmlns:a="http://schemas.openxmlformats.org/drawingml/2006/main">
            <a:r>
              <a:t>ANSWER AND EXPLANATION: Use slides 16–18 INSTEAD OF 1–3 only if this section still owes pp. 7–9. First let students predict how someone benefits. Slide 17 has neutral labels only; accept a plausible prediction for baker or community. Reveal on slide 18: employment and wages, taxes supporting public services. The street scene does not show or claim a direct donation to a school. Resume Financial Activities p. 7, then Ways Businesses Contribute to Society pp. 8–9.</a:t>
            </a:r>
          </a:p>
          <a:p xmlns:a="http://schemas.openxmlformats.org/drawingml/2006/main">
            <a:r>
              <a:t>CLOSE: Businesses affect more than their customers.</a:t>
            </a:r>
          </a:p>
          <a:p xmlns:a="http://schemas.openxmlformats.org/drawingml/2006/main">
            <a:r>
              <a:t>READING TRANSITION: Resume p. 7; then read “Ways Businesses…” on pp. 8–9.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../assets/2026-09-21-to-25-visual-v3/whole-scenes/catchup.png.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af2d18f90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c91e1dfc24b6a" /><Relationship Type="http://schemas.openxmlformats.org/officeDocument/2006/relationships/slideLayout" Target="/ppt/slideLayouts/slideLayout1.xml" Id="Rbc3d58f636254c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3d58f636254c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dd5cbc04e4b5e" /><Relationship Type="http://schemas.openxmlformats.org/officeDocument/2006/relationships/image" Target="/ppt/media/image.png" Id="R75b29a6db6354722" /><Relationship Type="http://schemas.openxmlformats.org/officeDocument/2006/relationships/notesSlide" Target="/ppt/notesSlides/notesSlide1.xml" Id="R06c0fee029ca4e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4c6d6e801412c" /><Relationship Type="http://schemas.openxmlformats.org/officeDocument/2006/relationships/image" Target="/ppt/media/image.jpeg" Id="R71d78965f72b437e" /><Relationship Type="http://schemas.openxmlformats.org/officeDocument/2006/relationships/image" Target="/ppt/media/image2.jpeg" Id="R5945c8f20db2404c" /><Relationship Type="http://schemas.openxmlformats.org/officeDocument/2006/relationships/image" Target="/ppt/media/image3.jpeg" Id="R6e29a6108d774b00" /><Relationship Type="http://schemas.openxmlformats.org/officeDocument/2006/relationships/notesSlide" Target="/ppt/notesSlides/notesSlide2.xml" Id="R28a4850dd25e4d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c562bbd0648e8" /><Relationship Type="http://schemas.openxmlformats.org/officeDocument/2006/relationships/image" Target="/ppt/media/image4.jpeg" Id="Raff9162d49e84638" /><Relationship Type="http://schemas.openxmlformats.org/officeDocument/2006/relationships/notesSlide" Target="/ppt/notesSlides/notesSlide3.xml" Id="R9ec129fdb2ac4a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55775e61840fc" /><Relationship Type="http://schemas.openxmlformats.org/officeDocument/2006/relationships/image" Target="/ppt/media/image2.png" Id="R56d4b8844db34752" /><Relationship Type="http://schemas.openxmlformats.org/officeDocument/2006/relationships/notesSlide" Target="/ppt/notesSlides/notesSlide4.xml" Id="R62d83263bd8d44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a9500691545b5" /><Relationship Type="http://schemas.openxmlformats.org/officeDocument/2006/relationships/image" Target="/ppt/media/image5.jpeg" Id="R8be1b8833b4f4977" /><Relationship Type="http://schemas.openxmlformats.org/officeDocument/2006/relationships/image" Target="/ppt/media/image6.jpeg" Id="Rb2a68821ba2f4231" /><Relationship Type="http://schemas.openxmlformats.org/officeDocument/2006/relationships/image" Target="/ppt/media/image7.jpeg" Id="R7226d788f0894c6f" /><Relationship Type="http://schemas.openxmlformats.org/officeDocument/2006/relationships/notesSlide" Target="/ppt/notesSlides/notesSlide5.xml" Id="Rc13fc0a26af84e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9581e22db43db" /><Relationship Type="http://schemas.openxmlformats.org/officeDocument/2006/relationships/image" Target="/ppt/media/image8.jpeg" Id="Rff3062754ac14994" /><Relationship Type="http://schemas.openxmlformats.org/officeDocument/2006/relationships/notesSlide" Target="/ppt/notesSlides/notesSlide6.xml" Id="Ra7169e0e9ac44b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87968dc3446ab" /><Relationship Type="http://schemas.openxmlformats.org/officeDocument/2006/relationships/image" Target="/ppt/media/image3.png" Id="R4489ed8769eb4046" /><Relationship Type="http://schemas.openxmlformats.org/officeDocument/2006/relationships/notesSlide" Target="/ppt/notesSlides/notesSlide7.xml" Id="R66410ac3d87546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68bf34de346a2" /><Relationship Type="http://schemas.openxmlformats.org/officeDocument/2006/relationships/image" Target="/ppt/media/image9.jpeg" Id="R1e8773a1b7c44d1e" /><Relationship Type="http://schemas.openxmlformats.org/officeDocument/2006/relationships/image" Target="/ppt/media/image10.jpeg" Id="R5107cc152a774c7d" /><Relationship Type="http://schemas.openxmlformats.org/officeDocument/2006/relationships/image" Target="/ppt/media/image11.jpeg" Id="R7d1fe944f88e49a4" /><Relationship Type="http://schemas.openxmlformats.org/officeDocument/2006/relationships/notesSlide" Target="/ppt/notesSlides/notesSlide8.xml" Id="R1eb8fd2eceec4f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bf683e8c64137" /><Relationship Type="http://schemas.openxmlformats.org/officeDocument/2006/relationships/image" Target="/ppt/media/image12.jpeg" Id="Rec0a5221f6c644f9" /><Relationship Type="http://schemas.openxmlformats.org/officeDocument/2006/relationships/notesSlide" Target="/ppt/notesSlides/notesSlide9.xml" Id="R96d3332f5e6e44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4d76be31b47fe" /><Relationship Type="http://schemas.openxmlformats.org/officeDocument/2006/relationships/image" Target="/ppt/media/image4.png" Id="Re7f8b2dae9f246c5" /><Relationship Type="http://schemas.openxmlformats.org/officeDocument/2006/relationships/notesSlide" Target="/ppt/notesSlides/notesSlide10.xml" Id="Re4e18881909f4c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66cb398b644f0" /><Relationship Type="http://schemas.openxmlformats.org/officeDocument/2006/relationships/image" Target="/ppt/media/image13.jpeg" Id="Rb7a58d542b2b4a71" /><Relationship Type="http://schemas.openxmlformats.org/officeDocument/2006/relationships/image" Target="/ppt/media/image14.jpeg" Id="Rd768b6f563064bfe" /><Relationship Type="http://schemas.openxmlformats.org/officeDocument/2006/relationships/image" Target="/ppt/media/image15.jpeg" Id="Ra605276226bc40b1" /><Relationship Type="http://schemas.openxmlformats.org/officeDocument/2006/relationships/notesSlide" Target="/ppt/notesSlides/notesSlide11.xml" Id="Rafab65cc44be42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faf3807c64fcd" /><Relationship Type="http://schemas.openxmlformats.org/officeDocument/2006/relationships/image" Target="/ppt/media/image16.jpeg" Id="Rd8e5b315e16a4bf0" /><Relationship Type="http://schemas.openxmlformats.org/officeDocument/2006/relationships/notesSlide" Target="/ppt/notesSlides/notesSlide12.xml" Id="R15349370efc848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f3380e20f4e58" /><Relationship Type="http://schemas.openxmlformats.org/officeDocument/2006/relationships/image" Target="/ppt/media/image5.png" Id="Rb1b94b93456945ef" /><Relationship Type="http://schemas.openxmlformats.org/officeDocument/2006/relationships/notesSlide" Target="/ppt/notesSlides/notesSlide13.xml" Id="R20e29161277949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0df71192f4568" /><Relationship Type="http://schemas.openxmlformats.org/officeDocument/2006/relationships/image" Target="/ppt/media/image17.jpeg" Id="R751851a90f8e44ce" /><Relationship Type="http://schemas.openxmlformats.org/officeDocument/2006/relationships/image" Target="/ppt/media/image18.jpeg" Id="R78f91dc8231b40d8" /><Relationship Type="http://schemas.openxmlformats.org/officeDocument/2006/relationships/image" Target="/ppt/media/image19.jpeg" Id="Rf031fad39f004e4c" /><Relationship Type="http://schemas.openxmlformats.org/officeDocument/2006/relationships/notesSlide" Target="/ppt/notesSlides/notesSlide14.xml" Id="Rf7ed33f7429340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623a8f5514fcb" /><Relationship Type="http://schemas.openxmlformats.org/officeDocument/2006/relationships/image" Target="/ppt/media/image20.jpeg" Id="Re5eb8d5529a5476a" /><Relationship Type="http://schemas.openxmlformats.org/officeDocument/2006/relationships/notesSlide" Target="/ppt/notesSlides/notesSlide15.xml" Id="R6757c9d8794047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c48b88ff94dac" /><Relationship Type="http://schemas.openxmlformats.org/officeDocument/2006/relationships/image" Target="/ppt/media/image6.png" Id="R749e7b1ddeec4c29" /><Relationship Type="http://schemas.openxmlformats.org/officeDocument/2006/relationships/notesSlide" Target="/ppt/notesSlides/notesSlide16.xml" Id="Rb1d7f125063c41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3a66eb39a41d7" /><Relationship Type="http://schemas.openxmlformats.org/officeDocument/2006/relationships/image" Target="/ppt/media/image21.jpeg" Id="Rac8d3df0a0304fef" /><Relationship Type="http://schemas.openxmlformats.org/officeDocument/2006/relationships/image" Target="/ppt/media/image22.jpeg" Id="R4b967635f2534433" /><Relationship Type="http://schemas.openxmlformats.org/officeDocument/2006/relationships/image" Target="/ppt/media/image23.jpeg" Id="R4fa20d2191fb4ba4" /><Relationship Type="http://schemas.openxmlformats.org/officeDocument/2006/relationships/notesSlide" Target="/ppt/notesSlides/notesSlide17.xml" Id="Re758951d2d2a42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e7b6187e84808" /><Relationship Type="http://schemas.openxmlformats.org/officeDocument/2006/relationships/image" Target="/ppt/media/image24.jpeg" Id="Rccc351d0633844c4" /><Relationship Type="http://schemas.openxmlformats.org/officeDocument/2006/relationships/notesSlide" Target="/ppt/notesSlides/notesSlide18.xml" Id="Rf41660de6c744d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D0E93-DCE2-46C8-AC2B-B082B20D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FA99D-11B4-48BB-A570-9C6390C1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CA8D3-AF7A-49B3-A957-E4C2E58D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4B9E4-6A01-4DBE-B320-A1871A97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Would this hoodie work for everyone?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08CC8-7C4B-4640-A752-361A735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school-spirit shop is choosing its next hoodie.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EF29E-A859-4C39-9814-3C623B5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01782-847F-424F-A040-C24132E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should the shop do first? Think before choosing.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013A0-06B3-4AB3-94D3-E2FAF882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pp. 10–11; SBTE 9     LOOK QUIETLY · 20 seconds     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29a6db6354722"/>
          <a:stretch xmlns:a="http://schemas.openxmlformats.org/drawingml/2006/main"/>
        </p:blipFill>
        <p:spPr>
          <a:xfrm xmlns:a="http://schemas.openxmlformats.org/drawingml/2006/main">
            <a:off x="609600" y="1905000"/>
            <a:ext cx="10972800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47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527D3-47BE-45C3-BE6B-47746954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55FA9-14F2-4C8A-B9F1-C26E5C6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1AD2B-7016-455E-97A5-2A37F720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· 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A7F8D-FF60-424A-9A69-5D3501D0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should the shop do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69069-A752-4343-84D7-16991550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one. Point, show fingers, write, or answer quietly.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78965f72b437e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BC867-C14B-4771-A0AE-24B677F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Pick our favorite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5c8f20db2404c"/>
          <a:stretch xmlns:a="http://schemas.openxmlformats.org/drawingml/2006/main"/>
        </p:blipFill>
        <p:spPr>
          <a:xfrm xmlns:a="http://schemas.openxmlformats.org/drawingml/2006/main">
            <a:off x="4391025" y="2714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1D1E-5883-4FE6-9660-B19ADECE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95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Ask likely buyers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9a6108d774b00"/>
          <a:stretch xmlns:a="http://schemas.openxmlformats.org/drawingml/2006/main"/>
        </p:blipFill>
        <p:spPr>
          <a:xfrm xmlns:a="http://schemas.openxmlformats.org/drawingml/2006/main">
            <a:off x="817245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68DAD-2268-4ED0-90B4-4037EEF4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Order a huge batch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81F7C-DEC8-4E2E-BF9C-E52BD93B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56110-6A12-447A-ADE7-DCCC2196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first. Be ready to give one reason.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9CB5E-2AC8-478E-A6AA-057FB34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10–11 · SBTE 9     Point to the clue that supports your answer.     2</a:t>
            </a:r>
          </a:p>
        </p:txBody>
      </p:sp>
    </p:spTree>
    <p:extLst>
      <p:ext uri="{BB962C8B-B14F-4D97-AF65-F5344CB8AC3E}">
        <p14:creationId xmlns:p14="http://schemas.microsoft.com/office/powerpoint/2010/main" val="149348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4AB56-06BD-4258-8FEC-28DD4720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CCE33-A782-4027-9656-5421520A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MONDAY · CHECK +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94162-CF52-4F7F-BBB5-00399569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REVEAL · 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881AC-D485-4FE7-A735-005AC020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Ask likely buyers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DD489-EE82-46A5-A9DB-4686DDE0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MARKETING CONCEPT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9162d49e84638"/>
          <a:stretch xmlns:a="http://schemas.openxmlformats.org/drawingml/2006/main"/>
        </p:blipFill>
        <p:spPr>
          <a:xfrm xmlns:a="http://schemas.openxmlformats.org/drawingml/2006/main">
            <a:off x="998376" y="2333625"/>
            <a:ext cx="4175449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FEA51-3CE8-49AB-9D49-3BD8A31E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Open p. 10: “The Purpose of Marketing”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7F919-0355-443C-AE92-25F85DE9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needs guide company goals and profit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741B0-ED99-4826-B5D7-F738B1E1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62A44-B093-475C-94C5-7125EB0F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evidence helps a business choose.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B43A5-89B7-4D80-B058-19EFA3C0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10–11 · SBTE 9     Stop at 3:00 total.     3</a:t>
            </a:r>
          </a:p>
        </p:txBody>
      </p:sp>
    </p:spTree>
    <p:extLst>
      <p:ext uri="{BB962C8B-B14F-4D97-AF65-F5344CB8AC3E}">
        <p14:creationId xmlns:p14="http://schemas.microsoft.com/office/powerpoint/2010/main" val="1508062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6855E-45D0-43F4-9BBA-384C0A31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99BD9-85D5-45E2-AB2A-F7FDBADC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TUESDAY ·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21ACE-427E-4192-A5C0-828B2265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6E64A-BF1C-41A0-9D06-180AA23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Ordered ahead. Delivered too late.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85406-2FCD-4753-A145-268BAF31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club ordered popcorn early. It arrived after the game.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6FC5B-2D1C-498B-9C26-926EF29B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CADA6-DC22-484F-B792-74915A5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should the seller fix for the next game?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6844F-D07D-46A8-A556-6B76C815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pp. 11–12; SBTE 10     LOOK QUIETLY · 20 seconds     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4b8844db34752"/>
          <a:stretch xmlns:a="http://schemas.openxmlformats.org/drawingml/2006/main"/>
        </p:blipFill>
        <p:spPr>
          <a:xfrm xmlns:a="http://schemas.openxmlformats.org/drawingml/2006/main">
            <a:off x="609600" y="1905000"/>
            <a:ext cx="10972800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0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23B72-28A4-492D-91D1-1D9D55EE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C9D85-1DF0-4584-B739-142F0BEF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TUESDAY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F4F71-F895-4D84-B4B8-8D8D2CC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· 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8F6B3-81C9-4C72-9B80-BFEE8EE3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change solves the late-delivery problem?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38DC-824F-4628-889F-6DB8B79B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one. Point, show fingers, write, or answer quietly.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1b8833b4f4977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6C63A-C7FD-4BF6-9F81-BC10566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Change the packaging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68821ba2f4231"/>
          <a:stretch xmlns:a="http://schemas.openxmlformats.org/drawingml/2006/main"/>
        </p:blipFill>
        <p:spPr>
          <a:xfrm xmlns:a="http://schemas.openxmlformats.org/drawingml/2006/main">
            <a:off x="4391025" y="2714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64FAD-90F1-409A-8A0E-12088F97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95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Make a bigger ad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6d788f0894c6f"/>
          <a:stretch xmlns:a="http://schemas.openxmlformats.org/drawingml/2006/main"/>
        </p:blipFill>
        <p:spPr>
          <a:xfrm xmlns:a="http://schemas.openxmlformats.org/drawingml/2006/main">
            <a:off x="817245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1060F-D044-4E9F-BFE3-048AE24C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Change delivery 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4894-3F56-4207-87D2-7887180A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EADDA-61E4-4E59-B6AE-B4EDD88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first. Be ready to give one reason.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FC303-4780-44E4-8651-A58DF5F3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11–12 · SBTE 10     Point to the clue that supports your answer.     5</a:t>
            </a:r>
          </a:p>
        </p:txBody>
      </p:sp>
    </p:spTree>
    <p:extLst>
      <p:ext uri="{BB962C8B-B14F-4D97-AF65-F5344CB8AC3E}">
        <p14:creationId xmlns:p14="http://schemas.microsoft.com/office/powerpoint/2010/main" val="2140832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3C466-271F-47AF-A43E-BE365737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3A44A-8427-4CE8-A0F2-9E244C8E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TUESDAY · CHECK +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1E6B7-E3DF-4A07-826D-F35BA2B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REVEAL · 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812C2-0943-4A29-9E3F-BECD5234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Deliver before the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1677-AD67-427B-A012-522EE1D9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PLACE IN THE MARKETING MIX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062754ac14994"/>
          <a:stretch xmlns:a="http://schemas.openxmlformats.org/drawingml/2006/main"/>
        </p:blipFill>
        <p:spPr>
          <a:xfrm xmlns:a="http://schemas.openxmlformats.org/drawingml/2006/main">
            <a:off x="998376" y="2333625"/>
            <a:ext cx="4175449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F85EA-FAE5-4838-A2A9-2C5B02A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Open pp. 11–12: “Marketing Mix”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AF876-6476-41C3-ACEE-51C54309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Place includes how, where, and when a product reaches customers.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0423C-AF12-48FC-838E-C888BA23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E5407-C3E7-4382-A4DE-4CAABEC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product must reach customers at the right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DA6E1-542A-4406-B47C-D442383A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11–12 · SBTE 10     Stop at 3:00 total.     6</a:t>
            </a:r>
          </a:p>
        </p:txBody>
      </p:sp>
    </p:spTree>
    <p:extLst>
      <p:ext uri="{BB962C8B-B14F-4D97-AF65-F5344CB8AC3E}">
        <p14:creationId xmlns:p14="http://schemas.microsoft.com/office/powerpoint/2010/main" val="2123666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E1EA4-5D97-4DB2-9110-65651FF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6BB4B-F4E8-40D9-B758-25164657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WEDNESDAY ·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FEDCE-DB7E-49B9-BD71-BD96C31A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32EE8-03DC-4CB0-BA16-9E52E9DB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Would people actually come?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10F99-0556-483C-BC3E-5B00FAC1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esports event wants players AND spectators.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77A98-4395-4F01-AC49-2E0622B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60C02-64A9-4F94-A931-268195A9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could we ask to learn who is interested?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6D345-492E-4A3D-9E2E-82D4CBC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pp. 13–15; SBTE 11–13     LOOK QUIETLY · 20 seconds     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9ed8769eb4046"/>
          <a:stretch xmlns:a="http://schemas.openxmlformats.org/drawingml/2006/main"/>
        </p:blipFill>
        <p:spPr>
          <a:xfrm xmlns:a="http://schemas.openxmlformats.org/drawingml/2006/main">
            <a:off x="609600" y="1905000"/>
            <a:ext cx="10972800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53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4A0F8-2B36-4CD8-8F5D-0D88E4C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CF04D-4A43-4748-88F2-9B4A938C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WEDNESDAY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856FF-063D-4636-AD46-2C7FFD9D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· 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2973F-23A5-4C17-828B-B5752ED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question gives useful evidence?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ECE28-A3C7-4D9B-B177-924C0DC2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one. Point, show fingers, write, or answer quietly.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773a1b7c44d1e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138F8-3BCB-484A-950B-A47A8C6E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“Gaming is great, right?”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17671-6F15-49D3-8464-16FEF50C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95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“Play, watch, or neither?”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39C22-84F8-442A-93E4-F1131C57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A0B0D-8AAB-4088-AC32-4212984E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first. Be ready to give one reason.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193ED-BBBA-4F47-A093-D70797AA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11–13     Point to the clue that supports your answer.     8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7cc152a774c7d"/>
          <a:stretch xmlns:a="http://schemas.openxmlformats.org/drawingml/2006/main"/>
        </p:blipFill>
        <p:spPr>
          <a:xfrm xmlns:a="http://schemas.openxmlformats.org/drawingml/2006/main">
            <a:off x="4391025" y="2714625"/>
            <a:ext cx="3409950" cy="233362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fe944f88e49a4"/>
          <a:stretch xmlns:a="http://schemas.openxmlformats.org/drawingml/2006/main"/>
        </p:blipFill>
        <p:spPr>
          <a:xfrm xmlns:a="http://schemas.openxmlformats.org/drawingml/2006/main">
            <a:off x="817245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2D1C3-E693-4FF7-8CE0-DA13E952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“My favorite game wins?”</a:t>
            </a:r>
          </a:p>
        </p:txBody>
      </p:sp>
    </p:spTree>
    <p:extLst>
      <p:ext uri="{BB962C8B-B14F-4D97-AF65-F5344CB8AC3E}">
        <p14:creationId xmlns:p14="http://schemas.microsoft.com/office/powerpoint/2010/main" val="1956067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9FFDD-F06C-445E-B4C3-22BBEC1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32A80-4C1B-45E0-AF7B-45E434B1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WEDNESDAY · CHECK +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BF9B0-C7DC-46C9-8A72-028EA914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REVEAL · 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BD48C-8F5A-4790-9634-166C3E8B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Play, watch, or neither?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97831-EF01-409F-986A-B6399C20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MARKETING INFORMATION MANAGEMENT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a5221f6c644f9"/>
          <a:stretch xmlns:a="http://schemas.openxmlformats.org/drawingml/2006/main"/>
        </p:blipFill>
        <p:spPr>
          <a:xfrm xmlns:a="http://schemas.openxmlformats.org/drawingml/2006/main">
            <a:off x="998376" y="2333625"/>
            <a:ext cx="4175449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C804-0677-4A15-99AE-44068D63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Open p. 13: “Marketing Functions”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A0A28-5692-4B7D-8EFF-AA2D6B19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Different preferences, including no interest, give useful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7667D-E666-465D-AA6D-A9A1BCC7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0CC7E-292B-4584-98CD-6569A4DF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Useful questions leave room for honest answers.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9EECD-764E-4019-A0B9-55A966B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11–13     Stop at 3:00 total.     9</a:t>
            </a:r>
          </a:p>
        </p:txBody>
      </p:sp>
    </p:spTree>
    <p:extLst>
      <p:ext uri="{BB962C8B-B14F-4D97-AF65-F5344CB8AC3E}">
        <p14:creationId xmlns:p14="http://schemas.microsoft.com/office/powerpoint/2010/main" val="965152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7BC3F-864B-4366-BF12-BEDB8661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E8B7A-5DFA-4ED7-9959-280A2BB2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THURSDAY ·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504A3-5CFA-4B87-9DA6-F2EFC67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162F5-2D2A-4966-B9DF-C9BDECF8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Bike ready. Pickup closes too early.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54323-AB3F-419D-8F46-19094869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shop closes before school ends. The student cannot collect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1AE52-2AD3-46D3-9583-D786BCE5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3A528-6433-4358-B328-C906B601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could the shop change so pickup works?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17007-C25F-44C9-8F1E-2B8D6D46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pp. 13–15, Figure 1.4; SBTE 12–13     LOOK QUIETLY · 20 seconds     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8b2dae9f246c5"/>
          <a:stretch xmlns:a="http://schemas.openxmlformats.org/drawingml/2006/main"/>
        </p:blipFill>
        <p:spPr>
          <a:xfrm xmlns:a="http://schemas.openxmlformats.org/drawingml/2006/main">
            <a:off x="609600" y="1905000"/>
            <a:ext cx="10972800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397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DB2F3-2149-4F35-BA67-16985A9B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C4079-4B82-4E58-B036-2AA9FB9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THURSDAY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42C51-CA66-45AA-8695-B81F8893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· 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88F2F-CB08-412B-951E-0F82ADA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change helps the student collect the bike?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C727C-855B-4FDE-9399-D08B29B6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one. Point, show fingers, write, or answer quietly.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58d542b2b4a71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ACF1C-09F2-4F87-873B-616B1201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 Repair the bike again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8b6f563064bfe"/>
          <a:stretch xmlns:a="http://schemas.openxmlformats.org/drawingml/2006/main"/>
        </p:blipFill>
        <p:spPr>
          <a:xfrm xmlns:a="http://schemas.openxmlformats.org/drawingml/2006/main">
            <a:off x="4391025" y="2714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3A723-FE08-4326-92DD-B965B66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95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  Ask about bike colors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5276226bc40b1"/>
          <a:stretch xmlns:a="http://schemas.openxmlformats.org/drawingml/2006/main"/>
        </p:blipFill>
        <p:spPr>
          <a:xfrm xmlns:a="http://schemas.openxmlformats.org/drawingml/2006/main">
            <a:off x="817245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FED62-B67E-4155-B3A6-C1B61951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Change pickup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5345E-0444-4E31-BDFB-BF3E968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6B9C4-1B9B-4B83-9FC2-87110B70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first. Be ready to give one reason.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A7C90-8AD5-4720-8B04-0951AB9F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12–13     Point to the clue that supports your answer.     11</a:t>
            </a:r>
          </a:p>
        </p:txBody>
      </p:sp>
    </p:spTree>
    <p:extLst>
      <p:ext uri="{BB962C8B-B14F-4D97-AF65-F5344CB8AC3E}">
        <p14:creationId xmlns:p14="http://schemas.microsoft.com/office/powerpoint/2010/main" val="18293570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D40DD-A24C-4686-A495-9FF35794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538EE-E0D5-40AD-BD5C-718D261D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THURSDAY · CHECK +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043B1-1ABF-45C9-A357-4E0433A3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REVEAL · 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5B712-2BB3-449A-A620-884A1CC9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  Offer after-school pickup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35439-A61E-4C3E-97BD-A19965C1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CHANNEL MANAGEMENT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5b315e16a4bf0"/>
          <a:stretch xmlns:a="http://schemas.openxmlformats.org/drawingml/2006/main"/>
        </p:blipFill>
        <p:spPr>
          <a:xfrm xmlns:a="http://schemas.openxmlformats.org/drawingml/2006/main">
            <a:off x="998376" y="2333625"/>
            <a:ext cx="4175449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6367D-8969-412E-B343-92466792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Open p. 13: “Channel Management”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1F27-7647-4B78-B9BF-F805A1DC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Plan how, when, and where customers receive products.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609F2-4F69-4036-B914-36E3DFA6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C51CF-647C-45AD-BF22-F50681BA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finished repair still needs a workable pickup.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D2083-28D2-49AA-A459-25B56031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12–13     Stop at 3:00 total.     12</a:t>
            </a:r>
          </a:p>
        </p:txBody>
      </p:sp>
    </p:spTree>
    <p:extLst>
      <p:ext uri="{BB962C8B-B14F-4D97-AF65-F5344CB8AC3E}">
        <p14:creationId xmlns:p14="http://schemas.microsoft.com/office/powerpoint/2010/main" val="18594612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A3E5E-9626-4E5C-B080-83F643BF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F873E-03F7-4FFF-A072-817F9991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EE93-8E5D-454E-8ED4-E4F106C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AC87E-282D-4284-BA2F-0661B1D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is being offered here?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9EDE5-099B-42EA-A1C6-8654E934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neighborhood street. Look for three different offerings.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0EA20-36CC-4ECB-A771-00B012D2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07E80-D391-46BC-8513-D62367B7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Notice the shoes, the haircut, and the message.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06D5C-5CA5-4881-A7B0-D0A7133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p. 4; SBTE 4     LOOK QUIETLY · 20 seconds     13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94b93456945ef"/>
          <a:stretch xmlns:a="http://schemas.openxmlformats.org/drawingml/2006/main"/>
        </p:blipFill>
        <p:spPr>
          <a:xfrm xmlns:a="http://schemas.openxmlformats.org/drawingml/2006/main">
            <a:off x="609600" y="1905000"/>
            <a:ext cx="10972800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009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45488-52F2-40B4-96D7-2EC89C4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BF0E1-75A6-4DBE-A3AA-DFF4F9DD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D9920-57C9-4349-9C5F-9E74DDC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· 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C3461-BCB6-430D-A4D8-18B8BD09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picture shows a GOOD?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38B3C-EECA-46CA-8688-EFFB77E1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Show its number. Then listen for the next category.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851a90f8e44ce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C28D6-48C2-479B-9903-CF78DB1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1  Sneakers for sale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1dc8231b40d8"/>
          <a:stretch xmlns:a="http://schemas.openxmlformats.org/drawingml/2006/main"/>
        </p:blipFill>
        <p:spPr>
          <a:xfrm xmlns:a="http://schemas.openxmlformats.org/drawingml/2006/main">
            <a:off x="4391025" y="2714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F9A42-2402-47F6-99E5-161818A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95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2  A paid haircut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1fad39f004e4c"/>
          <a:stretch xmlns:a="http://schemas.openxmlformats.org/drawingml/2006/main"/>
        </p:blipFill>
        <p:spPr>
          <a:xfrm xmlns:a="http://schemas.openxmlformats.org/drawingml/2006/main">
            <a:off x="817245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EC038-6968-4122-8EB7-789F8966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  “Keep our community clean”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D713B-5E4E-4DA1-8604-EC71D69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0CE4D-28FF-4325-AFBE-DE86DFB2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One question at a time. Point, show fingers, or write a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663A5-5501-4426-AA64-7B9FED9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4; revisit pp. 10–15 · SBTE 4, 9–13     Point to the clue that supports your answer.     14</a:t>
            </a:r>
          </a:p>
        </p:txBody>
      </p:sp>
    </p:spTree>
    <p:extLst>
      <p:ext uri="{BB962C8B-B14F-4D97-AF65-F5344CB8AC3E}">
        <p14:creationId xmlns:p14="http://schemas.microsoft.com/office/powerpoint/2010/main" val="564193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52EA6-10D2-4A22-AADC-CBA068C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F77CE-EF48-4240-A46C-E7D70114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CHECK +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89A5D-B53F-4CCF-8643-4C41DDF3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REVEAL · 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4D266-1F9C-4846-834E-82F22EA8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1  Good     2  Service     3 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D28AD-37F4-4F5E-8A04-7A371A9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GOODS, SERVICES, AND IDEAS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b8d5529a5476a"/>
          <a:stretch xmlns:a="http://schemas.openxmlformats.org/drawingml/2006/main"/>
        </p:blipFill>
        <p:spPr>
          <a:xfrm xmlns:a="http://schemas.openxmlformats.org/drawingml/2006/main">
            <a:off x="998376" y="2333625"/>
            <a:ext cx="4175449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4ADCB-B2A6-4AB4-A291-6F1E126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p. 4, then follow today’s class 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9D5B0-C434-4B77-8798-DF140C7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Good: tangible item. Service: paid task. Idea: thought or opinion.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70013-A92B-4A90-B01D-530C7DC0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9ADFF-9E67-4DCC-94FD-30CC72A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Different offerings. Different ways to meet a need.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7C0E2-172A-4526-B389-617D2BAB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4; revisit pp. 10–15 · SBTE 4, 9–13     Stop at 3:00 total.     15</a:t>
            </a:r>
          </a:p>
        </p:txBody>
      </p:sp>
    </p:spTree>
    <p:extLst>
      <p:ext uri="{BB962C8B-B14F-4D97-AF65-F5344CB8AC3E}">
        <p14:creationId xmlns:p14="http://schemas.microsoft.com/office/powerpoint/2010/main" val="9752823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2C4CF-D9BC-4512-AE30-C2EC2EB3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FFB70-2CE1-4444-95CC-E1FF2EE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OPTIONAL MONDAY CATCH-UP ·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D356F-E1F1-410D-879C-B9D17B22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44460-877A-4AA5-998E-3335BA06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loaf is sold. What happens beyond the sale?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0268F-9B4A-467A-88CA-9E3E752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Look beyond the person buying the bread.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6BA70-E71D-4C65-91A9-169A3A4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D42A9-F190-4E5F-9E46-89A45931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Who else might benefit, and how? Think of one possibility.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A868D-E995-46A0-8EDB-79CB2376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pp. 7–9; SBTE 7–8     LOOK QUIETLY · 20 seconds     16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e7b1ddeec4c29"/>
          <a:stretch xmlns:a="http://schemas.openxmlformats.org/drawingml/2006/main"/>
        </p:blipFill>
        <p:spPr>
          <a:xfrm xmlns:a="http://schemas.openxmlformats.org/drawingml/2006/main">
            <a:off x="654880" y="1905000"/>
            <a:ext cx="10882240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94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FD80C-E119-48D2-AD69-47A00776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BE6E7-CA6A-489D-9AE4-AA2C741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OPTIONAL MONDAY CATCH-UP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0E25C-E1E1-44FE-B7D2-A5F25755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· 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CEF5D-D8AF-41A1-889F-F8BC2735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could the sale affect someone else?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0B7DD-F4E2-4BB3-8DF9-05092F58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someone beyond the customer. Predict one effect.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d3df0a0304fef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94475-4716-461C-B050-63491392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1  Customer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67635f2534433"/>
          <a:stretch xmlns:a="http://schemas.openxmlformats.org/drawingml/2006/main"/>
        </p:blipFill>
        <p:spPr>
          <a:xfrm xmlns:a="http://schemas.openxmlformats.org/drawingml/2006/main">
            <a:off x="4391025" y="2714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93302-5E84-4B0E-83A8-0F7F31F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95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2  Baker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20d2191fb4ba4"/>
          <a:stretch xmlns:a="http://schemas.openxmlformats.org/drawingml/2006/main"/>
        </p:blipFill>
        <p:spPr>
          <a:xfrm xmlns:a="http://schemas.openxmlformats.org/drawingml/2006/main">
            <a:off x="817245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F6E8C-372D-45FA-9A0A-A35E2E61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  Community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5BC93-D3C6-46BE-A4A2-1937CE93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6BF0D-9298-4F67-B123-72F51AE3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Say or write: “They might benefit because ___.”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84D0C-3DDC-4446-8DAD-5B93BBCC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7–9 · SBTE 7–8     Point to the clue that supports your answer.     17</a:t>
            </a:r>
          </a:p>
        </p:txBody>
      </p:sp>
    </p:spTree>
    <p:extLst>
      <p:ext uri="{BB962C8B-B14F-4D97-AF65-F5344CB8AC3E}">
        <p14:creationId xmlns:p14="http://schemas.microsoft.com/office/powerpoint/2010/main" val="1907159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E1DEF-369A-456B-B386-10C9BF4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A35E0-4834-4A3B-AA1F-02D26B79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OPTIONAL MONDAY CATCH-UP · CHECK +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37077-ED03-46E5-8FAE-237ED3F1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REVEAL · 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05696-DD23-4197-8408-EE39010A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Jobs and public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5F951-7ACC-48FE-AFD1-8EE3421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BUSINESSES AND SOCIETY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351d0633844c4"/>
          <a:stretch xmlns:a="http://schemas.openxmlformats.org/drawingml/2006/main"/>
        </p:blipFill>
        <p:spPr>
          <a:xfrm xmlns:a="http://schemas.openxmlformats.org/drawingml/2006/main">
            <a:off x="998376" y="2333625"/>
            <a:ext cx="4175449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18E8B-4F53-406A-A984-9CD77F3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Resume p. 7; then read “Ways Businesses…” on pp. 8–9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620C9-8E6F-472D-8F47-6048EC92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Employees can earn wages. Business taxes can help fund public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48F60-4078-404B-9829-D816A907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9C5EC-C185-4715-9062-7F6A586C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Businesses affect more than their customers.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2E65D-6BAD-4399-A275-3A6810DB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7–9 · SBTE 7–8     Stop at 3:00 total.     18</a:t>
            </a:r>
          </a:p>
        </p:txBody>
      </p:sp>
    </p:spTree>
    <p:extLst>
      <p:ext uri="{BB962C8B-B14F-4D97-AF65-F5344CB8AC3E}">
        <p14:creationId xmlns:p14="http://schemas.microsoft.com/office/powerpoint/2010/main" val="984429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2026-09-18T01:30:47.5250000Z</dcterms:created>
  <dcterms:modified xsi:type="dcterms:W3CDTF">2026-09-18T01:30:47.5250000Z</dcterms:modified>
</coreProperties>
</file>