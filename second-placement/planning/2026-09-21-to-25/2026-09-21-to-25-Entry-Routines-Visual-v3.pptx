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6420fb4e834cd8" /><Relationship Type="http://schemas.openxmlformats.org/officeDocument/2006/relationships/extended-properties" Target="/docProps/app.xml" Id="Rd9773b62addc4577" /><Relationship Type="http://schemas.openxmlformats.org/officeDocument/2006/relationships/officeDocument" Target="/ppt/presentation.xml" Id="R7f25a40fbc0148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f25ed7525b4cd9"/>
  </p:sldMasterIdLst>
  <p:notesMasterIdLst>
    <p:notesMasterId xmlns:r="http://schemas.openxmlformats.org/officeDocument/2006/relationships" r:id="R60407ee572bd42a4"/>
  </p:notesMasterIdLst>
  <p:sldIdLst>
    <p:sldId xmlns:r="http://schemas.openxmlformats.org/officeDocument/2006/relationships" id="256" r:id="Rc76cb4d53ca347e5"/>
    <p:sldId xmlns:r="http://schemas.openxmlformats.org/officeDocument/2006/relationships" id="257" r:id="R34dc33ad7f8c4428"/>
    <p:sldId xmlns:r="http://schemas.openxmlformats.org/officeDocument/2006/relationships" id="258" r:id="Rccecd91ea9f242ed"/>
    <p:sldId xmlns:r="http://schemas.openxmlformats.org/officeDocument/2006/relationships" id="259" r:id="Rb9e62f09cfe446e0"/>
    <p:sldId xmlns:r="http://schemas.openxmlformats.org/officeDocument/2006/relationships" id="260" r:id="Rd2a7b763aab34911"/>
    <p:sldId xmlns:r="http://schemas.openxmlformats.org/officeDocument/2006/relationships" id="261" r:id="R532111f0e5ea4220"/>
    <p:sldId xmlns:r="http://schemas.openxmlformats.org/officeDocument/2006/relationships" id="262" r:id="R54ff8ffc644b4ef3"/>
    <p:sldId xmlns:r="http://schemas.openxmlformats.org/officeDocument/2006/relationships" id="263" r:id="Ra74cfa9244c840c1"/>
    <p:sldId xmlns:r="http://schemas.openxmlformats.org/officeDocument/2006/relationships" id="264" r:id="R80614cdfa23c480c"/>
    <p:sldId xmlns:r="http://schemas.openxmlformats.org/officeDocument/2006/relationships" id="265" r:id="R5e2859f4aa164f98"/>
    <p:sldId xmlns:r="http://schemas.openxmlformats.org/officeDocument/2006/relationships" id="266" r:id="R6289569d32d747ca"/>
    <p:sldId xmlns:r="http://schemas.openxmlformats.org/officeDocument/2006/relationships" id="267" r:id="R2d8513a2d079453a"/>
    <p:sldId xmlns:r="http://schemas.openxmlformats.org/officeDocument/2006/relationships" id="268" r:id="Ra0656b75767d49d6"/>
    <p:sldId xmlns:r="http://schemas.openxmlformats.org/officeDocument/2006/relationships" id="269" r:id="R7b5789b1fce840f2"/>
    <p:sldId xmlns:r="http://schemas.openxmlformats.org/officeDocument/2006/relationships" id="270" r:id="Rc991905cbfb343c1"/>
    <p:sldId xmlns:r="http://schemas.openxmlformats.org/officeDocument/2006/relationships" id="271" r:id="R6b7134cf0248425b"/>
    <p:sldId xmlns:r="http://schemas.openxmlformats.org/officeDocument/2006/relationships" id="272" r:id="R0029b270c8b4425f"/>
    <p:sldId xmlns:r="http://schemas.openxmlformats.org/officeDocument/2006/relationships" id="273" r:id="R03c8628bf21b49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415915138a438f" /><Relationship Type="http://schemas.openxmlformats.org/officeDocument/2006/relationships/slideMaster" Target="/ppt/slideMasters/slideMaster1.xml" Id="Ra1f25ed7525b4cd9" /><Relationship Type="http://schemas.openxmlformats.org/officeDocument/2006/relationships/notesMaster" Target="/ppt/notesMasters/notesMaster1.xml" Id="R60407ee572bd42a4" /><Relationship Type="http://schemas.openxmlformats.org/officeDocument/2006/relationships/presProps" Target="/ppt/presProps.xml" Id="Rbfaff524a0594f1f" /><Relationship Type="http://schemas.openxmlformats.org/officeDocument/2006/relationships/tableStyles" Target="/ppt/tableStyles.xml" Id="Rbee0194b167e4918" /><Relationship Type="http://schemas.openxmlformats.org/officeDocument/2006/relationships/slide" Target="/ppt/slides/slide1.xml" Id="Rc76cb4d53ca347e5" /><Relationship Type="http://schemas.openxmlformats.org/officeDocument/2006/relationships/slide" Target="/ppt/slides/slide2.xml" Id="R34dc33ad7f8c4428" /><Relationship Type="http://schemas.openxmlformats.org/officeDocument/2006/relationships/slide" Target="/ppt/slides/slide3.xml" Id="Rccecd91ea9f242ed" /><Relationship Type="http://schemas.openxmlformats.org/officeDocument/2006/relationships/slide" Target="/ppt/slides/slide4.xml" Id="Rb9e62f09cfe446e0" /><Relationship Type="http://schemas.openxmlformats.org/officeDocument/2006/relationships/slide" Target="/ppt/slides/slide5.xml" Id="Rd2a7b763aab34911" /><Relationship Type="http://schemas.openxmlformats.org/officeDocument/2006/relationships/slide" Target="/ppt/slides/slide6.xml" Id="R532111f0e5ea4220" /><Relationship Type="http://schemas.openxmlformats.org/officeDocument/2006/relationships/slide" Target="/ppt/slides/slide7.xml" Id="R54ff8ffc644b4ef3" /><Relationship Type="http://schemas.openxmlformats.org/officeDocument/2006/relationships/slide" Target="/ppt/slides/slide8.xml" Id="Ra74cfa9244c840c1" /><Relationship Type="http://schemas.openxmlformats.org/officeDocument/2006/relationships/slide" Target="/ppt/slides/slide9.xml" Id="R80614cdfa23c480c" /><Relationship Type="http://schemas.openxmlformats.org/officeDocument/2006/relationships/slide" Target="/ppt/slides/slide10.xml" Id="R5e2859f4aa164f98" /><Relationship Type="http://schemas.openxmlformats.org/officeDocument/2006/relationships/slide" Target="/ppt/slides/slide11.xml" Id="R6289569d32d747ca" /><Relationship Type="http://schemas.openxmlformats.org/officeDocument/2006/relationships/slide" Target="/ppt/slides/slide12.xml" Id="R2d8513a2d079453a" /><Relationship Type="http://schemas.openxmlformats.org/officeDocument/2006/relationships/slide" Target="/ppt/slides/slide13.xml" Id="Ra0656b75767d49d6" /><Relationship Type="http://schemas.openxmlformats.org/officeDocument/2006/relationships/slide" Target="/ppt/slides/slide14.xml" Id="R7b5789b1fce840f2" /><Relationship Type="http://schemas.openxmlformats.org/officeDocument/2006/relationships/slide" Target="/ppt/slides/slide15.xml" Id="Rc991905cbfb343c1" /><Relationship Type="http://schemas.openxmlformats.org/officeDocument/2006/relationships/slide" Target="/ppt/slides/slide16.xml" Id="R6b7134cf0248425b" /><Relationship Type="http://schemas.openxmlformats.org/officeDocument/2006/relationships/slide" Target="/ppt/slides/slide17.xml" Id="R0029b270c8b4425f" /><Relationship Type="http://schemas.openxmlformats.org/officeDocument/2006/relationships/slide" Target="/ppt/slides/slide18.xml" Id="R03c8628bf21b49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38d2ee5bcf47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123d6cd60a4677" /><Relationship Type="http://schemas.openxmlformats.org/officeDocument/2006/relationships/notesMaster" Target="/ppt/notesMasters/notesMaster1.xml" Id="Rd8c4e0f27a5443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a7a02e8ac04e22" /><Relationship Type="http://schemas.openxmlformats.org/officeDocument/2006/relationships/notesMaster" Target="/ppt/notesMasters/notesMaster1.xml" Id="R248df5cdce824e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95a9963a744f77" /><Relationship Type="http://schemas.openxmlformats.org/officeDocument/2006/relationships/notesMaster" Target="/ppt/notesMasters/notesMaster1.xml" Id="R0342ddddbbbd46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77749447e64836" /><Relationship Type="http://schemas.openxmlformats.org/officeDocument/2006/relationships/notesMaster" Target="/ppt/notesMasters/notesMaster1.xml" Id="R42a8d05f36824b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ab3522c2c564ff6" /><Relationship Type="http://schemas.openxmlformats.org/officeDocument/2006/relationships/notesMaster" Target="/ppt/notesMasters/notesMaster1.xml" Id="R155d60dfb49c4f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ca47de92bc4fa0" /><Relationship Type="http://schemas.openxmlformats.org/officeDocument/2006/relationships/notesMaster" Target="/ppt/notesMasters/notesMaster1.xml" Id="Raa25d59eb8304c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c2b04f965841af" /><Relationship Type="http://schemas.openxmlformats.org/officeDocument/2006/relationships/notesMaster" Target="/ppt/notesMasters/notesMaster1.xml" Id="Rf8f230bcd2064f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370dff9178495f" /><Relationship Type="http://schemas.openxmlformats.org/officeDocument/2006/relationships/notesMaster" Target="/ppt/notesMasters/notesMaster1.xml" Id="Raeb6587b44e04a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63f7ab00df441d" /><Relationship Type="http://schemas.openxmlformats.org/officeDocument/2006/relationships/notesMaster" Target="/ppt/notesMasters/notesMaster1.xml" Id="Rf85b2780ca19465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bd242efaf44947" /><Relationship Type="http://schemas.openxmlformats.org/officeDocument/2006/relationships/notesMaster" Target="/ppt/notesMasters/notesMaster1.xml" Id="R9efca277a3fe45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0c9e4015c24ce6" /><Relationship Type="http://schemas.openxmlformats.org/officeDocument/2006/relationships/notesMaster" Target="/ppt/notesMasters/notesMaster1.xml" Id="R75ce773ff9ee4a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5468e3e9954765" /><Relationship Type="http://schemas.openxmlformats.org/officeDocument/2006/relationships/notesMaster" Target="/ppt/notesMasters/notesMaster1.xml" Id="R3127df5a9ba3455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9eb9f357e41415b" /><Relationship Type="http://schemas.openxmlformats.org/officeDocument/2006/relationships/notesMaster" Target="/ppt/notesMasters/notesMaster1.xml" Id="Rf141e322e65240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e11fc2a4524639" /><Relationship Type="http://schemas.openxmlformats.org/officeDocument/2006/relationships/notesMaster" Target="/ppt/notesMasters/notesMaster1.xml" Id="R9db4f9ad6ef54c4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a700f3dfd4425e" /><Relationship Type="http://schemas.openxmlformats.org/officeDocument/2006/relationships/notesMaster" Target="/ppt/notesMasters/notesMaster1.xml" Id="Rae7a069133364d0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04dff3af8b74fee" /><Relationship Type="http://schemas.openxmlformats.org/officeDocument/2006/relationships/notesMaster" Target="/ppt/notesMasters/notesMaster1.xml" Id="Rbb26667a84fb4e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9a40248d7884cb1" /><Relationship Type="http://schemas.openxmlformats.org/officeDocument/2006/relationships/notesMaster" Target="/ppt/notesMasters/notesMaster1.xml" Id="Rd379be4c62764e5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ce13dda5bd40df" /><Relationship Type="http://schemas.openxmlformats.org/officeDocument/2006/relationships/notesMaster" Target="/ppt/notesMasters/notesMaster1.xml" Id="R5541b719286e4b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MAIN · only after pp. 7–9 / slide 8. SOURCE: Chapter 1 pp. 10–11 · SBTE 9. Printed textbook pages, not PDF viewer count. Total opener 3:00; 20s look, 40s choose, 50s check, 50s bridge, 20s buffer. Timer is teacher-controlled; on-slide times are static cues. Keep this fictional. The Sep. 17 announcements mention a school merchandise store and a freshman survey, but this is not an actual offer or event. If Friday reading is incomplete, use the Monday catch-up route at the END of this deck instead. Do not run both openers.</a:t>
            </a:r>
          </a:p>
          <a:p xmlns:a="http://schemas.openxmlformats.org/drawingml/2006/main">
            <a:r>
              <a:t>EXPECTED: B. Research customer wants and needs before committing to a product. Ask about fit, comfort, use, or style rather than personal income.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HARD STOP: “We have our choice. Hold the extra examples; the reading gives us the model.”</a:t>
            </a:r>
          </a:p>
          <a:p xmlns:a="http://schemas.openxmlformats.org/drawingml/2006/main">
            <a:r>
              <a:t>TRANSITION: “Our hoodie choice gives us a reason to read page 10: how does the marketing concept guide the decision?”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What must a business understand before deciding what to offer?</a:t>
            </a:r>
          </a:p>
          <a:p xmlns:a="http://schemas.openxmlformats.org/drawingml/2006/main">
            <a:r>
              <a:t>KEY: Customer wants and needs, together with company goals and profits.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MAIN · only after pp. 7–9 / slide 8. SOURCE: Chapter 1 pp. 10–11 · SBTE 9. Printed textbook pages, not PDF viewer count. Total opener 3:00; 20s look, 40s choose, 50s check, 50s bridge, 20s buffer. Timer is teacher-controlled; on-slide times are static cues. Keep this fictional. The Sep. 17 announcements mention a school merchandise store and a freshman survey, but this is not an actual offer or event. If Friday reading is incomplete, use the Monday catch-up route at the END of this deck instead. Do not run both openers.</a:t>
            </a:r>
          </a:p>
          <a:p xmlns:a="http://schemas.openxmlformats.org/drawingml/2006/main">
            <a:r>
              <a:t>EXPECTED: B. Research customer wants and needs before committing to a product. Ask about fit, comfort, use, or style rather than personal income.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HARD STOP: “We have our choice. Hold the extra examples; the reading gives us the model.”</a:t>
            </a:r>
          </a:p>
          <a:p xmlns:a="http://schemas.openxmlformats.org/drawingml/2006/main">
            <a:r>
              <a:t>TRANSITION: “Our hoodie choice gives us a reason to read page 10: how does the marketing concept guide the decision?”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What must a business understand before deciding what to offer?</a:t>
            </a:r>
          </a:p>
          <a:p xmlns:a="http://schemas.openxmlformats.org/drawingml/2006/main">
            <a:r>
              <a:t>KEY: Customer wants and needs, together with company goals and profits.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MONDAY, Sep. 21–25 2026. MAIN · only after pp. 7–9 / slide 8. SOURCE: Chapter 1 pp. 10–11 · SBTE 9. Printed textbook pages, not PDF viewer count. Total opener 3:00; 20s look, 40s choose, 50s check, 50s bridge, 20s buffer. Timer is teacher-controlled; on-slide times are static cues. Keep this fictional. The Sep. 17 announcements mention a school merchandise store and a freshman survey, but this is not an actual offer or event. If Friday reading is incomplete, use the Monday catch-up route at the END of this deck instead. Do not run both openers.</a:t>
            </a:r>
          </a:p>
          <a:p xmlns:a="http://schemas.openxmlformats.org/drawingml/2006/main">
            <a:r>
              <a:t>EXPECTED: B. Research customer wants and needs before committing to a product. Ask about fit, comfort, use, or style rather than personal income.</a:t>
            </a:r>
          </a:p>
          <a:p xmlns:a="http://schemas.openxmlformats.org/drawingml/2006/main">
            <a:r>
              <a:t>FOLLOW-UP 1 (optional, choose at most one): What could the shop ask about the hoodie?</a:t>
            </a:r>
          </a:p>
          <a:p xmlns:a="http://schemas.openxmlformats.org/drawingml/2006/main">
            <a:r>
              <a:t>FOLLOW-UP 2: How could that answer change what it sells?</a:t>
            </a:r>
          </a:p>
          <a:p xmlns:a="http://schemas.openxmlformats.org/drawingml/2006/main">
            <a:r>
              <a:t>HARD STOP: “We have our choice. Hold the extra examples; the reading gives us the model.”</a:t>
            </a:r>
          </a:p>
          <a:p xmlns:a="http://schemas.openxmlformats.org/drawingml/2006/main">
            <a:r>
              <a:t>TRANSITION: “Our hoodie choice gives us a reason to read page 10: how does the marketing concept guide the decision?”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What must a business understand before deciding what to offer?</a:t>
            </a:r>
          </a:p>
          <a:p xmlns:a="http://schemas.openxmlformats.org/drawingml/2006/main">
            <a:r>
              <a:t>KEY: Customer wants and needs, together with company goals and profits.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TUESDAY, Sep. 21–25 2026. PREVIEW · no prior 4 Ps knowledge needed. SOURCE: Chapter 1 pp. 11–12 · SBTE 10. Printed textbook pages, not PDF viewer count. Total opener 3:00; 20s look, 40s choose, 50s check, 50s bridge, 20s buffer. Timer is teacher-controlled; on-slide times are static cues. Preview through an everyday problem, then reveal the term. Do not quiz students on untaught P labels. Fictional delivery; no real school shipping promise. Terms to Know deadline is 9 AM today, not necessarily before this section meets.</a:t>
            </a:r>
          </a:p>
          <a:p xmlns:a="http://schemas.openxmlformats.org/drawingml/2006/main">
            <a:r>
              <a:t>EXPECTED: C. The missed event is a delivery/distribution problem. A better ad or new package would not fix the stated problem.</a:t>
            </a:r>
          </a:p>
          <a:p xmlns:a="http://schemas.openxmlformats.org/drawingml/2006/main">
            <a:r>
              <a:t>FOLLOW-UP 1 (optional, choose at most one): Could a great product still disappoint a customer? How?</a:t>
            </a:r>
          </a:p>
          <a:p xmlns:a="http://schemas.openxmlformats.org/drawingml/2006/main">
            <a:r>
              <a:t>FOLLOW-UP 2: Which detail tells you delivery is the issue?</a:t>
            </a:r>
          </a:p>
          <a:p xmlns:a="http://schemas.openxmlformats.org/drawingml/2006/main">
            <a:r>
              <a:t>HARD STOP: “Lock in your choice. Let’s name the concept and go to the reading.”</a:t>
            </a:r>
          </a:p>
          <a:p xmlns:a="http://schemas.openxmlformats.org/drawingml/2006/main">
            <a:r>
              <a:t>TRANSITION: “Keep that late popcorn order in mind. Pages 11–12 explain all four decisions in the marketing mix.”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A popcorn order is advertised well but arrives too late. Which P needs attention, and why?</a:t>
            </a:r>
          </a:p>
          <a:p xmlns:a="http://schemas.openxmlformats.org/drawingml/2006/main">
            <a:r>
              <a:t>KEY: Place; distribution did not deliver it when needed.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Packaged popcorn arrives after a fictional school event. Options: change packaging, make a bigger ad, or deliver before the event. C addresses Place. This is not Monday’s merchandise choice. Explain that no actual food sale is planned.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TUESDAY, Sep. 21–25 2026. PREVIEW · no prior 4 Ps knowledge needed. SOURCE: Chapter 1 pp. 11–12 · SBTE 10. Printed textbook pages, not PDF viewer count. Total opener 3:00; 20s look, 40s choose, 50s check, 50s bridge, 20s buffer. Timer is teacher-controlled; on-slide times are static cues. Preview through an everyday problem, then reveal the term. Do not quiz students on untaught P labels. Fictional delivery; no real school shipping promise. Terms to Know deadline is 9 AM today, not necessarily before this section meets.</a:t>
            </a:r>
          </a:p>
          <a:p xmlns:a="http://schemas.openxmlformats.org/drawingml/2006/main">
            <a:r>
              <a:t>EXPECTED: C. The missed event is a delivery/distribution problem. A better ad or new package would not fix the stated problem.</a:t>
            </a:r>
          </a:p>
          <a:p xmlns:a="http://schemas.openxmlformats.org/drawingml/2006/main">
            <a:r>
              <a:t>FOLLOW-UP 1 (optional, choose at most one): Could a great product still disappoint a customer? How?</a:t>
            </a:r>
          </a:p>
          <a:p xmlns:a="http://schemas.openxmlformats.org/drawingml/2006/main">
            <a:r>
              <a:t>FOLLOW-UP 2: Which detail tells you delivery is the issue?</a:t>
            </a:r>
          </a:p>
          <a:p xmlns:a="http://schemas.openxmlformats.org/drawingml/2006/main">
            <a:r>
              <a:t>HARD STOP: “Lock in your choice. Let’s name the concept and go to the reading.”</a:t>
            </a:r>
          </a:p>
          <a:p xmlns:a="http://schemas.openxmlformats.org/drawingml/2006/main">
            <a:r>
              <a:t>TRANSITION: “Keep that late popcorn order in mind. Pages 11–12 explain all four decisions in the marketing mix.”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A popcorn order is advertised well but arrives too late. Which P needs attention, and why?</a:t>
            </a:r>
          </a:p>
          <a:p xmlns:a="http://schemas.openxmlformats.org/drawingml/2006/main">
            <a:r>
              <a:t>KEY: Place; distribution did not deliver it when needed.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Packaged popcorn arrives after a fictional school event. Options: change packaging, make a bigger ad, or deliver before the event. C addresses Place. This is not Monday’s merchandise choice. Explain that no actual food sale is planned.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TUESDAY, Sep. 21–25 2026. PREVIEW · no prior 4 Ps knowledge needed. SOURCE: Chapter 1 pp. 11–12 · SBTE 10. Printed textbook pages, not PDF viewer count. Total opener 3:00; 20s look, 40s choose, 50s check, 50s bridge, 20s buffer. Timer is teacher-controlled; on-slide times are static cues. Preview through an everyday problem, then reveal the term. Do not quiz students on untaught P labels. Fictional delivery; no real school shipping promise. Terms to Know deadline is 9 AM today, not necessarily before this section meets.</a:t>
            </a:r>
          </a:p>
          <a:p xmlns:a="http://schemas.openxmlformats.org/drawingml/2006/main">
            <a:r>
              <a:t>EXPECTED: C. The missed event is a delivery/distribution problem. A better ad or new package would not fix the stated problem.</a:t>
            </a:r>
          </a:p>
          <a:p xmlns:a="http://schemas.openxmlformats.org/drawingml/2006/main">
            <a:r>
              <a:t>FOLLOW-UP 1 (optional, choose at most one): Could a great product still disappoint a customer? How?</a:t>
            </a:r>
          </a:p>
          <a:p xmlns:a="http://schemas.openxmlformats.org/drawingml/2006/main">
            <a:r>
              <a:t>FOLLOW-UP 2: Which detail tells you delivery is the issue?</a:t>
            </a:r>
          </a:p>
          <a:p xmlns:a="http://schemas.openxmlformats.org/drawingml/2006/main">
            <a:r>
              <a:t>HARD STOP: “Lock in your choice. Let’s name the concept and go to the reading.”</a:t>
            </a:r>
          </a:p>
          <a:p xmlns:a="http://schemas.openxmlformats.org/drawingml/2006/main">
            <a:r>
              <a:t>TRANSITION: “Keep that late popcorn order in mind. Pages 11–12 explain all four decisions in the marketing mix.”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A popcorn order is advertised well but arrives too late. Which P needs attention, and why?</a:t>
            </a:r>
          </a:p>
          <a:p xmlns:a="http://schemas.openxmlformats.org/drawingml/2006/main">
            <a:r>
              <a:t>KEY: Place; distribution did not deliver it when needed.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Packaged popcorn arrives after a fictional school event. Options: change packaging, make a bigger ad, or deliver before the event. C addresses Place. This is not Monday’s merchandise choice. Explain that no actual food sale is planned.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WEDNESDAY, Sep. 21–25 2026. PREVIEW · research before an esports event. SOURCE: Chapter 1 pp. 13–15 · SBTE 11–13. Printed textbook pages, not PDF viewer count. Total opener 3:00; 20s look, 40s choose, 50s check, 50s bridge, 20s buffer. Timer is teacher-controlled; on-slide times are static cues. The Sep. 17 announcements mention esports, which supplies school context. This invented event is not a claim about school plans. No need to be a gamer. Apply the routine only once this section reaches marketing functions. Review deadline is 9 AM today.</a:t>
            </a:r>
          </a:p>
          <a:p xmlns:a="http://schemas.openxmlformats.org/drawingml/2006/main">
            <a:r>
              <a:t>EXPECTED: B. It permits several preferences rather than assuming everyone likes gaming. Responses are fictional, not collected personal data. MIM includes qualitative and quantitative evidence.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HARD STOP: “One useful question is enough. Now find the academic name in the text.”</a:t>
            </a:r>
          </a:p>
          <a:p xmlns:a="http://schemas.openxmlformats.org/drawingml/2006/main">
            <a:r>
              <a:t>TRANSITION: “Page 13 names this work marketing information management; then we will read how all seven functions work together.”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Which function gathers evidence about what customers want?</a:t>
            </a:r>
          </a:p>
          <a:p xmlns:a="http://schemas.openxmlformats.org/drawingml/2006/main">
            <a:r>
              <a:t>KEY: Marketing information management, also called market research.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VISUAL CUES: A shows a leading question, B listens to players, spectators and someone not interested, C substitutes the organizer’s favorite. Ask students to choose the question, using the paired scene for meaning. B leaves room for honest answers. Source: fictional generated triptych; Chapter 1 pp. 13–15 and SBTE slides 11–13.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WEDNESDAY, Sep. 21–25 2026. PREVIEW · research before an esports event. SOURCE: Chapter 1 pp. 13–15 · SBTE 11–13. Printed textbook pages, not PDF viewer count. Total opener 3:00; 20s look, 40s choose, 50s check, 50s bridge, 20s buffer. Timer is teacher-controlled; on-slide times are static cues. The Sep. 17 announcements mention esports, which supplies school context. This invented event is not a claim about school plans. No need to be a gamer. Apply the routine only once this section reaches marketing functions. Review deadline is 9 AM today.</a:t>
            </a:r>
          </a:p>
          <a:p xmlns:a="http://schemas.openxmlformats.org/drawingml/2006/main">
            <a:r>
              <a:t>EXPECTED: B. It permits several preferences rather than assuming everyone likes gaming. Responses are fictional, not collected personal data. MIM includes qualitative and quantitative evidence.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HARD STOP: “One useful question is enough. Now find the academic name in the text.”</a:t>
            </a:r>
          </a:p>
          <a:p xmlns:a="http://schemas.openxmlformats.org/drawingml/2006/main">
            <a:r>
              <a:t>TRANSITION: “Page 13 names this work marketing information management; then we will read how all seven functions work together.”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Which function gathers evidence about what customers want?</a:t>
            </a:r>
          </a:p>
          <a:p xmlns:a="http://schemas.openxmlformats.org/drawingml/2006/main">
            <a:r>
              <a:t>KEY: Marketing information management, also called market research.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VISUAL CUES: A shows a leading question, B listens to players, spectators and someone not interested, C substitutes the organizer’s favorite. Ask students to choose the question, using the paired scene for meaning. B leaves room for honest answers. Source: fictional generated triptych; Chapter 1 pp. 13–15 and SBTE slides 11–13.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WEDNESDAY, Sep. 21–25 2026. PREVIEW · research before an esports event. SOURCE: Chapter 1 pp. 13–15 · SBTE 11–13. Printed textbook pages, not PDF viewer count. Total opener 3:00; 20s look, 40s choose, 50s check, 50s bridge, 20s buffer. Timer is teacher-controlled; on-slide times are static cues. The Sep. 17 announcements mention esports, which supplies school context. This invented event is not a claim about school plans. No need to be a gamer. Apply the routine only once this section reaches marketing functions. Review deadline is 9 AM today.</a:t>
            </a:r>
          </a:p>
          <a:p xmlns:a="http://schemas.openxmlformats.org/drawingml/2006/main">
            <a:r>
              <a:t>EXPECTED: B. It permits several preferences rather than assuming everyone likes gaming. Responses are fictional, not collected personal data. MIM includes qualitative and quantitative evidence.</a:t>
            </a:r>
          </a:p>
          <a:p xmlns:a="http://schemas.openxmlformats.org/drawingml/2006/main">
            <a:r>
              <a:t>FOLLOW-UP 1 (optional, choose at most one): Why is “neither” a useful option?</a:t>
            </a:r>
          </a:p>
          <a:p xmlns:a="http://schemas.openxmlformats.org/drawingml/2006/main">
            <a:r>
              <a:t>FOLLOW-UP 2: How could the answer change the event?</a:t>
            </a:r>
          </a:p>
          <a:p xmlns:a="http://schemas.openxmlformats.org/drawingml/2006/main">
            <a:r>
              <a:t>HARD STOP: “One useful question is enough. Now find the academic name in the text.”</a:t>
            </a:r>
          </a:p>
          <a:p xmlns:a="http://schemas.openxmlformats.org/drawingml/2006/main">
            <a:r>
              <a:t>TRANSITION: “Page 13 names this work marketing information management; then we will read how all seven functions work together.”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Which function gathers evidence about what customers want?</a:t>
            </a:r>
          </a:p>
          <a:p xmlns:a="http://schemas.openxmlformats.org/drawingml/2006/main">
            <a:r>
              <a:t>KEY: Marketing information management, also called market research.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THURSDAY, Sep. 21–25 2026. APPLICATION · after the functions reading. SOURCE: Chapter 1 pp. 13–15 · SBTE 12–13. Printed textbook pages, not PDF viewer count. Total opener 3:00; 20s look, 40s choose, 50s check, 50s bridge, 20s buffer. Timer is teacher-controlled; on-slide times are static cues. If the section has not read the functions, use the plain-language choices A change the repair service, B ask preferences, C fix pickup. Reveal channel management as a preview and finish the reading before independent application.</a:t>
            </a:r>
          </a:p>
          <a:p xmlns:a="http://schemas.openxmlformats.org/drawingml/2006/main">
            <a:r>
              <a:t>EXPECTED: C for the immediate distribution problem. MIM can reveal preferred pickup times and other functions support the repair; accept this distinction rather than claiming mutually exclusive categories.</a:t>
            </a:r>
          </a:p>
          <a:p xmlns:a="http://schemas.openxmlformats.org/drawingml/2006/main">
            <a:r>
              <a:t>FOLLOW-UP 1 (optional, choose at most one): How could research help choose a better pickup time?</a:t>
            </a:r>
          </a:p>
          <a:p xmlns:a="http://schemas.openxmlformats.org/drawingml/2006/main">
            <a:r>
              <a:t>FOLLOW-UP 2: Why wouldn’t a louder advertisement fix this alone?</a:t>
            </a:r>
          </a:p>
          <a:p xmlns:a="http://schemas.openxmlformats.org/drawingml/2006/main">
            <a:r>
              <a:t>HARD STOP: “We’ve identified who organizes the handoff. Save the other fixes for our application.”</a:t>
            </a:r>
          </a:p>
          <a:p xmlns:a="http://schemas.openxmlformats.org/drawingml/2006/main">
            <a:r>
              <a:t>TRANSITION: “Page 13 explains the distribution decisions; Figure 1.4 shows how they support customer needs.”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How do channel management and place connect?</a:t>
            </a:r>
          </a:p>
          <a:p xmlns:a="http://schemas.openxmlformats.org/drawingml/2006/main">
            <a:r>
              <a:t>KEY: Channel management coordinates distribution; place is that path within the marketing mix.</a:t>
            </a:r>
          </a:p>
          <a:p xmlns:a="http://schemas.openxmlformats.org/drawingml/2006/main">
            <a:r>
              <a:t>PITER: Read the scenario once. Describe the three pictures. Give 20 seconds of quiet looking, then ask everyone for a response. Accept a private written choice. No partner transition.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A repaired bicycle needs an after-school pickup or return arrangement. C, channel management, coordinates the service handoff. A improves repair quality. B researches preferences and can inform C. Link back explicitly: Tuesday named Place, a mix decision; today names the function that organizes access. Do not treat the functions as mutually exclusive.</a:t>
            </a:r>
          </a:p>
          <a:p xmlns:a="http://schemas.openxmlformats.org/drawingml/2006/main">
            <a:r>
              <a:t>MATCHED CHECK EXAMPLE: A convenient pickup time shows channel management putting a Place decision into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THURSDAY, Sep. 21–25 2026. APPLICATION · after the functions reading. SOURCE: Chapter 1 pp. 13–15 · SBTE 12–13. Printed textbook pages, not PDF viewer count. Total opener 3:00; 20s look, 40s choose, 50s check, 50s bridge, 20s buffer. Timer is teacher-controlled; on-slide times are static cues. If the section has not read the functions, use the plain-language choices A change the repair service, B ask preferences, C fix pickup. Reveal channel management as a preview and finish the reading before independent application.</a:t>
            </a:r>
          </a:p>
          <a:p xmlns:a="http://schemas.openxmlformats.org/drawingml/2006/main">
            <a:r>
              <a:t>EXPECTED: C for the immediate distribution problem. MIM can reveal preferred pickup times and other functions support the repair; accept this distinction rather than claiming mutually exclusive categories.</a:t>
            </a:r>
          </a:p>
          <a:p xmlns:a="http://schemas.openxmlformats.org/drawingml/2006/main">
            <a:r>
              <a:t>FOLLOW-UP 1 (optional, choose at most one): How could research help choose a better pickup time?</a:t>
            </a:r>
          </a:p>
          <a:p xmlns:a="http://schemas.openxmlformats.org/drawingml/2006/main">
            <a:r>
              <a:t>FOLLOW-UP 2: Why wouldn’t a louder advertisement fix this alone?</a:t>
            </a:r>
          </a:p>
          <a:p xmlns:a="http://schemas.openxmlformats.org/drawingml/2006/main">
            <a:r>
              <a:t>HARD STOP: “We’ve identified who organizes the handoff. Save the other fixes for our application.”</a:t>
            </a:r>
          </a:p>
          <a:p xmlns:a="http://schemas.openxmlformats.org/drawingml/2006/main">
            <a:r>
              <a:t>TRANSITION: “Page 13 explains the distribution decisions; Figure 1.4 shows how they support customer needs.”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How do channel management and place connect?</a:t>
            </a:r>
          </a:p>
          <a:p xmlns:a="http://schemas.openxmlformats.org/drawingml/2006/main">
            <a:r>
              <a:t>KEY: Channel management coordinates distribution; place is that path within the marketing mix.</a:t>
            </a:r>
          </a:p>
          <a:p xmlns:a="http://schemas.openxmlformats.org/drawingml/2006/main">
            <a:r>
              <a:t>PITER: Reveal and explain one visual clue. Use only one follow-up if time remains. Pointing alone shows selection; check explanation in the later matched lesson check.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A repaired bicycle needs an after-school pickup or return arrangement. C, channel management, coordinates the service handoff. A improves repair quality. B researches preferences and can inform C. Link back explicitly: Tuesday named Place, a mix decision; today names the function that organizes access. Do not treat the functions as mutually exclusive.</a:t>
            </a:r>
          </a:p>
          <a:p xmlns:a="http://schemas.openxmlformats.org/drawingml/2006/main">
            <a:r>
              <a:t>MATCHED CHECK EXAMPLE: A convenient pickup time shows channel management putting a Place decision into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THURSDAY, Sep. 21–25 2026. APPLICATION · after the functions reading. SOURCE: Chapter 1 pp. 13–15 · SBTE 12–13. Printed textbook pages, not PDF viewer count. Total opener 3:00; 20s look, 40s choose, 50s check, 50s bridge, 20s buffer. Timer is teacher-controlled; on-slide times are static cues. If the section has not read the functions, use the plain-language choices A change the repair service, B ask preferences, C fix pickup. Reveal channel management as a preview and finish the reading before independent application.</a:t>
            </a:r>
          </a:p>
          <a:p xmlns:a="http://schemas.openxmlformats.org/drawingml/2006/main">
            <a:r>
              <a:t>EXPECTED: C for the immediate distribution problem. MIM can reveal preferred pickup times and other functions support the repair; accept this distinction rather than claiming mutually exclusive categories.</a:t>
            </a:r>
          </a:p>
          <a:p xmlns:a="http://schemas.openxmlformats.org/drawingml/2006/main">
            <a:r>
              <a:t>FOLLOW-UP 1 (optional, choose at most one): How could research help choose a better pickup time?</a:t>
            </a:r>
          </a:p>
          <a:p xmlns:a="http://schemas.openxmlformats.org/drawingml/2006/main">
            <a:r>
              <a:t>FOLLOW-UP 2: Why wouldn’t a louder advertisement fix this alone?</a:t>
            </a:r>
          </a:p>
          <a:p xmlns:a="http://schemas.openxmlformats.org/drawingml/2006/main">
            <a:r>
              <a:t>HARD STOP: “We’ve identified who organizes the handoff. Save the other fixes for our application.”</a:t>
            </a:r>
          </a:p>
          <a:p xmlns:a="http://schemas.openxmlformats.org/drawingml/2006/main">
            <a:r>
              <a:t>TRANSITION: “Page 13 explains the distribution decisions; Figure 1.4 shows how they support customer needs.”</a:t>
            </a:r>
          </a:p>
          <a:p xmlns:a="http://schemas.openxmlformats.org/drawingml/2006/main">
            <a:r>
              <a:t>SBTE: Take attendance during look/choose, scan participation discreetly, add one correction only if needed. Handoff: “Can you connect this to our notes?”</a:t>
            </a:r>
          </a:p>
          <a:p xmlns:a="http://schemas.openxmlformats.org/drawingml/2006/main">
            <a:r>
              <a:t>MATCHED CHECK: How do channel management and place connect?</a:t>
            </a:r>
          </a:p>
          <a:p xmlns:a="http://schemas.openxmlformats.org/drawingml/2006/main">
            <a:r>
              <a:t>KEY: Channel management coordinates distribution; place is that path within the marketing mix.</a:t>
            </a:r>
          </a:p>
          <a:p xmlns:a="http://schemas.openxmlformats.org/drawingml/2006/main">
            <a:r>
              <a:t>PITER: Say the one-line closer. Students locate the named heading, not an unfamiliar page number alone. End the opener, then use the appropriate notes/readings.</a:t>
            </a:r>
          </a:p>
          <a:p xmlns:a="http://schemas.openxmlformats.org/drawingml/2006/main">
            <a:r>
              <a:t>ACCESS: Read the short directions and describe the relevant visual aloud. Offer pointing, fingers, a written letter, or a quiet spoken response. Do not require eye contact, public disclosure, a phone, or speed. Keep printed response options available. No flashing, animation, or audible countdown.</a:t>
            </a:r>
          </a:p>
          <a:p xmlns:a="http://schemas.openxmlformats.org/drawingml/2006/main">
            <a:r>
              <a:t>VISUAL SOURCE: Fictional generated illustrations; not actual students, school events, products, or prices. Repeated images intentionally preserve the scenario between prediction and academic explanation.</a:t>
            </a:r>
          </a:p>
          <a:p xmlns:a="http://schemas.openxmlformats.org/drawingml/2006/main">
            <a:r>
              <a:t>SCENARIO: A repaired bicycle needs an after-school pickup or return arrangement. C, channel management, coordinates the service handoff. A improves repair quality. B researches preferences and can inform C. Link back explicitly: Tuesday named Place, a mix decision; today names the function that organizes access. Do not treat the functions as mutually exclusive.</a:t>
            </a:r>
          </a:p>
          <a:p xmlns:a="http://schemas.openxmlformats.org/drawingml/2006/main">
            <a:r>
              <a:t>MATCHED CHECK EXAMPLE: A convenient pickup time shows channel management putting a Place decision into practice.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FRIDAY: 2–3 MINUTES. Chapter 1 p. 4; SBTE slide 4. Confirm assessment plans; omit this opener if it coaches assessed content.</a:t>
            </a:r>
          </a:p>
          <a:p xmlns:a="http://schemas.openxmlformats.org/drawingml/2006/main">
            <a:r>
              <a:t>SAY: Look at the pictures. Point, show fingers, or write a number. Which picture shows a GOOD? Pause 5 seconds. Which shows a SERVICE? Pause. Which shows an IDEA? Pause. One question at a time.</a:t>
            </a:r>
          </a:p>
          <a:p xmlns:a="http://schemas.openxmlformats.org/drawingml/2006/main">
            <a:r>
              <a:t>CHECK: 1, sneakers: a tangible good. 2, haircut: a paid service. 3, keeping our community clean: an idea. Classify the message, not the paper.</a:t>
            </a:r>
          </a:p>
          <a:p xmlns:a="http://schemas.openxmlformats.org/drawingml/2006/main">
            <a:r>
              <a:t>Optional: What makes the haircut a service? OR Are we classifying the message or the paper? Choose at most one; 15 seconds.</a:t>
            </a:r>
          </a:p>
          <a:p xmlns:a="http://schemas.openxmlformats.org/drawingml/2006/main">
            <a:r>
              <a:t>STOP: Different offerings. Different ways to meet a need. Then follow the confirmed class agenda. No extra P/function task in this opener; preserve the full reading and vocabulary in the lesson.</a:t>
            </a:r>
          </a:p>
          <a:p xmlns:a="http://schemas.openxmlformats.org/drawingml/2006/main">
            <a:r>
              <a:t>SBTE: attendance and scan responses, clarify only if needed. The same pictures on question/check slides deliberately stay in place to confirm answers, not start another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FRIDAY: 2–3 MINUTES. Chapter 1 p. 4; SBTE slide 4. Confirm assessment plans; omit this opener if it coaches assessed content.</a:t>
            </a:r>
          </a:p>
          <a:p xmlns:a="http://schemas.openxmlformats.org/drawingml/2006/main">
            <a:r>
              <a:t>SAY: Look at the pictures. Point, show fingers, or write a number. Which picture shows a GOOD? Pause 5 seconds. Which shows a SERVICE? Pause. Which shows an IDEA? Pause. One question at a time.</a:t>
            </a:r>
          </a:p>
          <a:p xmlns:a="http://schemas.openxmlformats.org/drawingml/2006/main">
            <a:r>
              <a:t>CHECK: 1, sneakers: a tangible good. 2, haircut: a paid service. 3, keeping our community clean: an idea. Classify the message, not the paper.</a:t>
            </a:r>
          </a:p>
          <a:p xmlns:a="http://schemas.openxmlformats.org/drawingml/2006/main">
            <a:r>
              <a:t>Optional: What makes the haircut a service? OR Are we classifying the message or the paper? Choose at most one; 15 seconds.</a:t>
            </a:r>
          </a:p>
          <a:p xmlns:a="http://schemas.openxmlformats.org/drawingml/2006/main">
            <a:r>
              <a:t>STOP: Different offerings. Different ways to meet a need. Then follow the confirmed class agenda. No extra P/function task in this opener; preserve the full reading and vocabulary in the lesson.</a:t>
            </a:r>
          </a:p>
          <a:p xmlns:a="http://schemas.openxmlformats.org/drawingml/2006/main">
            <a:r>
              <a:t>SBTE: attendance and scan responses, clarify only if needed. The same pictures on question/check slides deliberately stay in place to confirm answers, not start another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FRIDAY: 2–3 MINUTES. Chapter 1 p. 4; SBTE slide 4. Confirm assessment plans; omit this opener if it coaches assessed content.</a:t>
            </a:r>
          </a:p>
          <a:p xmlns:a="http://schemas.openxmlformats.org/drawingml/2006/main">
            <a:r>
              <a:t>SAY: Look at the pictures. Point, show fingers, or write a number. Which picture shows a GOOD? Pause 5 seconds. Which shows a SERVICE? Pause. Which shows an IDEA? Pause. One question at a time.</a:t>
            </a:r>
          </a:p>
          <a:p xmlns:a="http://schemas.openxmlformats.org/drawingml/2006/main">
            <a:r>
              <a:t>CHECK: 1, sneakers: a tangible good. 2, haircut: a paid service. 3, keeping our community clean: an idea. Classify the message, not the paper.</a:t>
            </a:r>
          </a:p>
          <a:p xmlns:a="http://schemas.openxmlformats.org/drawingml/2006/main">
            <a:r>
              <a:t>Optional: What makes the haircut a service? OR Are we classifying the message or the paper? Choose at most one; 15 seconds.</a:t>
            </a:r>
          </a:p>
          <a:p xmlns:a="http://schemas.openxmlformats.org/drawingml/2006/main">
            <a:r>
              <a:t>STOP: Different offerings. Different ways to meet a need. Then follow the confirmed class agenda. No extra P/function task in this opener; preserve the full reading and vocabulary in the lesson.</a:t>
            </a:r>
          </a:p>
          <a:p xmlns:a="http://schemas.openxmlformats.org/drawingml/2006/main">
            <a:r>
              <a:t>SBTE: attendance and scan responses, clarify only if needed. The same pictures on question/check slides deliberately stay in place to confirm answers, not start another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MONDAY CATCH-UP: use slides 16–18 INSTEAD OF 1–3 only if the section still owes pp. 7–9. Never both. Chapter 1 pp. 7–9; SBTE 7–8.</a:t>
            </a:r>
          </a:p>
          <a:p xmlns:a="http://schemas.openxmlformats.org/drawingml/2006/main">
            <a:r>
              <a:t>SAY: The customer gets bread. Besides the customer, who else can benefit? Show 2, 3, or both. Look 20 seconds; choose 40 seconds.</a:t>
            </a:r>
          </a:p>
          <a:p xmlns:a="http://schemas.openxmlformats.org/drawingml/2006/main">
            <a:r>
              <a:t>CHECK: Both. The worker earns pay. Business taxes can help fund public services. Fictional illustration, not a claim of a direct donation to a school.</a:t>
            </a:r>
          </a:p>
          <a:p xmlns:a="http://schemas.openxmlformats.org/drawingml/2006/main">
            <a:r>
              <a:t>STOP: Keep those two effects: jobs and public services.</a:t>
            </a:r>
          </a:p>
          <a:p xmlns:a="http://schemas.openxmlformats.org/drawingml/2006/main">
            <a:r>
              <a:t>TRANSITION: Finish Financial Activities on page 7, then read Ways Businesses Contribute to Society on pages 8–9. Find employment and taxes.</a:t>
            </a:r>
          </a:p>
          <a:p xmlns:a="http://schemas.openxmlformats.org/drawingml/2006/main">
            <a:r>
              <a:t>SBTE takes attendance and resumes the actual stopping point. At most 3 minutes. Accept pointing, fingers, writing, or quiet spoken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MONDAY CATCH-UP: use slides 16–18 INSTEAD OF 1–3 only if the section still owes pp. 7–9. Never both. Chapter 1 pp. 7–9; SBTE 7–8.</a:t>
            </a:r>
          </a:p>
          <a:p xmlns:a="http://schemas.openxmlformats.org/drawingml/2006/main">
            <a:r>
              <a:t>SAY: The customer gets bread. Besides the customer, who else can benefit? Show 2, 3, or both. Look 20 seconds; choose 40 seconds.</a:t>
            </a:r>
          </a:p>
          <a:p xmlns:a="http://schemas.openxmlformats.org/drawingml/2006/main">
            <a:r>
              <a:t>CHECK: Both. The worker earns pay. Business taxes can help fund public services. Fictional illustration, not a claim of a direct donation to a school.</a:t>
            </a:r>
          </a:p>
          <a:p xmlns:a="http://schemas.openxmlformats.org/drawingml/2006/main">
            <a:r>
              <a:t>STOP: Keep those two effects: jobs and public services.</a:t>
            </a:r>
          </a:p>
          <a:p xmlns:a="http://schemas.openxmlformats.org/drawingml/2006/main">
            <a:r>
              <a:t>TRANSITION: Finish Financial Activities on page 7, then read Ways Businesses Contribute to Society on pages 8–9. Find employment and taxes.</a:t>
            </a:r>
          </a:p>
          <a:p xmlns:a="http://schemas.openxmlformats.org/drawingml/2006/main">
            <a:r>
              <a:t>SBTE takes attendance and resumes the actual stopping point. At most 3 minutes. Accept pointing, fingers, writing, or quiet spoken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MONDAY CATCH-UP: use slides 16–18 INSTEAD OF 1–3 only if the section still owes pp. 7–9. Never both. Chapter 1 pp. 7–9; SBTE 7–8.</a:t>
            </a:r>
          </a:p>
          <a:p xmlns:a="http://schemas.openxmlformats.org/drawingml/2006/main">
            <a:r>
              <a:t>SAY: The customer gets bread. Besides the customer, who else can benefit? Show 2, 3, or both. Look 20 seconds; choose 40 seconds.</a:t>
            </a:r>
          </a:p>
          <a:p xmlns:a="http://schemas.openxmlformats.org/drawingml/2006/main">
            <a:r>
              <a:t>CHECK: Both. The worker earns pay. Business taxes can help fund public services. Fictional illustration, not a claim of a direct donation to a school.</a:t>
            </a:r>
          </a:p>
          <a:p xmlns:a="http://schemas.openxmlformats.org/drawingml/2006/main">
            <a:r>
              <a:t>STOP: Keep those two effects: jobs and public services.</a:t>
            </a:r>
          </a:p>
          <a:p xmlns:a="http://schemas.openxmlformats.org/drawingml/2006/main">
            <a:r>
              <a:t>TRANSITION: Finish Financial Activities on page 7, then read Ways Businesses Contribute to Society on pages 8–9. Find employment and taxes.</a:t>
            </a:r>
          </a:p>
          <a:p xmlns:a="http://schemas.openxmlformats.org/drawingml/2006/main">
            <a:r>
              <a:t>SBTE takes attendance and resumes the actual stopping point. At most 3 minutes. Accept pointing, fingers, writing, or quiet spoken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8ef90b4ddd42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e0231c9d354b04" /><Relationship Type="http://schemas.openxmlformats.org/officeDocument/2006/relationships/slideLayout" Target="/ppt/slideLayouts/slideLayout1.xml" Id="Ra9bbabbda55a41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babbda55a41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613c2cd7247d9" /><Relationship Type="http://schemas.openxmlformats.org/officeDocument/2006/relationships/image" Target="/ppt/media/image.jpeg" Id="R6cf6b60706724637" /><Relationship Type="http://schemas.openxmlformats.org/officeDocument/2006/relationships/image" Target="/ppt/media/image2.jpeg" Id="R048ed9a052734c42" /><Relationship Type="http://schemas.openxmlformats.org/officeDocument/2006/relationships/image" Target="/ppt/media/image3.jpeg" Id="R9f9c319220674c9c" /><Relationship Type="http://schemas.openxmlformats.org/officeDocument/2006/relationships/notesSlide" Target="/ppt/notesSlides/notesSlide1.xml" Id="R43f9bbb9c88d40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c530df92184860" /><Relationship Type="http://schemas.openxmlformats.org/officeDocument/2006/relationships/image" Target="/ppt/media/image4.jpeg" Id="R0c9b8020b0b94deb" /><Relationship Type="http://schemas.openxmlformats.org/officeDocument/2006/relationships/image" Target="/ppt/media/image5.jpeg" Id="Re5f2d04696a94395" /><Relationship Type="http://schemas.openxmlformats.org/officeDocument/2006/relationships/image" Target="/ppt/media/image6.jpeg" Id="R3f6ce5f990d440b1" /><Relationship Type="http://schemas.openxmlformats.org/officeDocument/2006/relationships/notesSlide" Target="/ppt/notesSlides/notesSlide2.xml" Id="Rc0be6e4e3dfe41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0acd0b4264bf4" /><Relationship Type="http://schemas.openxmlformats.org/officeDocument/2006/relationships/image" Target="/ppt/media/image7.jpeg" Id="R0ba69026be0f4a6d" /><Relationship Type="http://schemas.openxmlformats.org/officeDocument/2006/relationships/notesSlide" Target="/ppt/notesSlides/notesSlide3.xml" Id="Rfd51d38482a042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ba3b1b91a4c56" /><Relationship Type="http://schemas.openxmlformats.org/officeDocument/2006/relationships/image" Target="/ppt/media/image8.jpeg" Id="R6eee44d9190e4010" /><Relationship Type="http://schemas.openxmlformats.org/officeDocument/2006/relationships/image" Target="/ppt/media/image9.jpeg" Id="R482e1877c0ff4790" /><Relationship Type="http://schemas.openxmlformats.org/officeDocument/2006/relationships/image" Target="/ppt/media/image10.jpeg" Id="Rc38a4182540b4d42" /><Relationship Type="http://schemas.openxmlformats.org/officeDocument/2006/relationships/notesSlide" Target="/ppt/notesSlides/notesSlide4.xml" Id="R990a603e78d342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0543328a84000" /><Relationship Type="http://schemas.openxmlformats.org/officeDocument/2006/relationships/image" Target="/ppt/media/image11.jpeg" Id="R15afd763404d4558" /><Relationship Type="http://schemas.openxmlformats.org/officeDocument/2006/relationships/image" Target="/ppt/media/image12.jpeg" Id="R39e00425bb944c45" /><Relationship Type="http://schemas.openxmlformats.org/officeDocument/2006/relationships/image" Target="/ppt/media/image13.jpeg" Id="R9bc2e2d72e8346c1" /><Relationship Type="http://schemas.openxmlformats.org/officeDocument/2006/relationships/notesSlide" Target="/ppt/notesSlides/notesSlide5.xml" Id="R3175cc90cf1441b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c83c78dac4c18" /><Relationship Type="http://schemas.openxmlformats.org/officeDocument/2006/relationships/image" Target="/ppt/media/image14.jpeg" Id="Rb91a9250622a4da7" /><Relationship Type="http://schemas.openxmlformats.org/officeDocument/2006/relationships/notesSlide" Target="/ppt/notesSlides/notesSlide6.xml" Id="R8be7fa9517a540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3cd1273d34761" /><Relationship Type="http://schemas.openxmlformats.org/officeDocument/2006/relationships/image" Target="/ppt/media/image15.jpeg" Id="R5a2cbfd3a8324861" /><Relationship Type="http://schemas.openxmlformats.org/officeDocument/2006/relationships/image" Target="/ppt/media/image16.jpeg" Id="Rf017bad760b84b88" /><Relationship Type="http://schemas.openxmlformats.org/officeDocument/2006/relationships/image" Target="/ppt/media/image17.jpeg" Id="Ra17a9434d98e463c" /><Relationship Type="http://schemas.openxmlformats.org/officeDocument/2006/relationships/notesSlide" Target="/ppt/notesSlides/notesSlide7.xml" Id="Rf9534b1946b34c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fcaeb763144cd" /><Relationship Type="http://schemas.openxmlformats.org/officeDocument/2006/relationships/image" Target="/ppt/media/image18.jpeg" Id="R014c9c240b08491f" /><Relationship Type="http://schemas.openxmlformats.org/officeDocument/2006/relationships/image" Target="/ppt/media/image19.jpeg" Id="Re2a34e5f8f0247e2" /><Relationship Type="http://schemas.openxmlformats.org/officeDocument/2006/relationships/image" Target="/ppt/media/image20.jpeg" Id="R2d6f08c1e9724874" /><Relationship Type="http://schemas.openxmlformats.org/officeDocument/2006/relationships/notesSlide" Target="/ppt/notesSlides/notesSlide8.xml" Id="Red0baeaed7bd4d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f8ead5755475e" /><Relationship Type="http://schemas.openxmlformats.org/officeDocument/2006/relationships/image" Target="/ppt/media/image21.jpeg" Id="Rab1efaa1fcdc415f" /><Relationship Type="http://schemas.openxmlformats.org/officeDocument/2006/relationships/notesSlide" Target="/ppt/notesSlides/notesSlide9.xml" Id="R61313c91691c40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e4ff67b9c40f3" /><Relationship Type="http://schemas.openxmlformats.org/officeDocument/2006/relationships/image" Target="/ppt/media/image22.jpeg" Id="R206d5ca7b9934910" /><Relationship Type="http://schemas.openxmlformats.org/officeDocument/2006/relationships/image" Target="/ppt/media/image23.jpeg" Id="Ra002ad2869134547" /><Relationship Type="http://schemas.openxmlformats.org/officeDocument/2006/relationships/image" Target="/ppt/media/image24.jpeg" Id="R987b3b310ff541ef" /><Relationship Type="http://schemas.openxmlformats.org/officeDocument/2006/relationships/notesSlide" Target="/ppt/notesSlides/notesSlide10.xml" Id="R47c289ea0f8242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db1e3e1ae8440f" /><Relationship Type="http://schemas.openxmlformats.org/officeDocument/2006/relationships/image" Target="/ppt/media/image25.jpeg" Id="R9901eaf75c8e4962" /><Relationship Type="http://schemas.openxmlformats.org/officeDocument/2006/relationships/image" Target="/ppt/media/image26.jpeg" Id="R4e0638f7620a4b41" /><Relationship Type="http://schemas.openxmlformats.org/officeDocument/2006/relationships/image" Target="/ppt/media/image27.jpeg" Id="Rd3fc59e6328a4367" /><Relationship Type="http://schemas.openxmlformats.org/officeDocument/2006/relationships/notesSlide" Target="/ppt/notesSlides/notesSlide11.xml" Id="Rda98d03fc226412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cace450024afb" /><Relationship Type="http://schemas.openxmlformats.org/officeDocument/2006/relationships/image" Target="/ppt/media/image28.jpeg" Id="R075eb0c19c75438d" /><Relationship Type="http://schemas.openxmlformats.org/officeDocument/2006/relationships/notesSlide" Target="/ppt/notesSlides/notesSlide12.xml" Id="Rd3c2e6eb53cc49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a77967d4f4830" /><Relationship Type="http://schemas.openxmlformats.org/officeDocument/2006/relationships/image" Target="/ppt/media/image29.jpeg" Id="R07e3e318f1044145" /><Relationship Type="http://schemas.openxmlformats.org/officeDocument/2006/relationships/image" Target="/ppt/media/image30.jpeg" Id="Rad2d3dd8df354e80" /><Relationship Type="http://schemas.openxmlformats.org/officeDocument/2006/relationships/image" Target="/ppt/media/image31.jpeg" Id="R296a475ba8e44bcc" /><Relationship Type="http://schemas.openxmlformats.org/officeDocument/2006/relationships/notesSlide" Target="/ppt/notesSlides/notesSlide13.xml" Id="Rca5b0f4ef133496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126b2c64b4e98" /><Relationship Type="http://schemas.openxmlformats.org/officeDocument/2006/relationships/image" Target="/ppt/media/image32.jpeg" Id="Rfaae20ea466c447b" /><Relationship Type="http://schemas.openxmlformats.org/officeDocument/2006/relationships/image" Target="/ppt/media/image33.jpeg" Id="Re676e1095ee642c3" /><Relationship Type="http://schemas.openxmlformats.org/officeDocument/2006/relationships/image" Target="/ppt/media/image34.jpeg" Id="R93a0b61c5b384e8d" /><Relationship Type="http://schemas.openxmlformats.org/officeDocument/2006/relationships/notesSlide" Target="/ppt/notesSlides/notesSlide14.xml" Id="Rffdffc6c7ea04f6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d8568282e4c41" /><Relationship Type="http://schemas.openxmlformats.org/officeDocument/2006/relationships/image" Target="/ppt/media/image35.jpeg" Id="R0580c992e3044d99" /><Relationship Type="http://schemas.openxmlformats.org/officeDocument/2006/relationships/notesSlide" Target="/ppt/notesSlides/notesSlide15.xml" Id="R75fee88d98b348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8ea3aed6544e9" /><Relationship Type="http://schemas.openxmlformats.org/officeDocument/2006/relationships/image" Target="/ppt/media/image36.jpeg" Id="R6b56bdc7f1104e9d" /><Relationship Type="http://schemas.openxmlformats.org/officeDocument/2006/relationships/image" Target="/ppt/media/image37.jpeg" Id="Rdcb13b90066b473f" /><Relationship Type="http://schemas.openxmlformats.org/officeDocument/2006/relationships/image" Target="/ppt/media/image38.jpeg" Id="R8e0b9cada6564b59" /><Relationship Type="http://schemas.openxmlformats.org/officeDocument/2006/relationships/notesSlide" Target="/ppt/notesSlides/notesSlide16.xml" Id="Rbe1ca731adef45e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737af62a64ba1" /><Relationship Type="http://schemas.openxmlformats.org/officeDocument/2006/relationships/image" Target="/ppt/media/image39.jpeg" Id="R0d19ea0ff46f4d3c" /><Relationship Type="http://schemas.openxmlformats.org/officeDocument/2006/relationships/image" Target="/ppt/media/image40.jpeg" Id="Ra1dcde0f81584510" /><Relationship Type="http://schemas.openxmlformats.org/officeDocument/2006/relationships/image" Target="/ppt/media/image41.jpeg" Id="R86e6a13518b3491d" /><Relationship Type="http://schemas.openxmlformats.org/officeDocument/2006/relationships/notesSlide" Target="/ppt/notesSlides/notesSlide17.xml" Id="Rde2474ce18db44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b03f6ffd54fab" /><Relationship Type="http://schemas.openxmlformats.org/officeDocument/2006/relationships/image" Target="/ppt/media/image42.jpeg" Id="Raba2e9bd337145b1" /><Relationship Type="http://schemas.openxmlformats.org/officeDocument/2006/relationships/notesSlide" Target="/ppt/notesSlides/notesSlide18.xml" Id="Rc0bcc4775f6248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D0E93-DCE2-46C8-AC2B-B082B20D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FA99D-11B4-48BB-A570-9C6390C1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CA8D3-AF7A-49B3-A957-E4C2E58D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4B9E4-6A01-4DBE-B320-A1871A97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Would this hoodie work for everyone?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08CC8-7C4B-4640-A752-361A7354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school-spirit shop is choosing its next hoodie.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5D749-873C-48FA-8BF0-4115C2BF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What should the shop do FIRST?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6b60706724637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20C1A-C5B3-4C5C-9F3C-25BD58CF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Pick our favorite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ed9a052734c42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A3727-0BEF-4CD5-B789-3208BFF0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Ask likely buyers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9c319220674c9c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E3006-96D7-41C7-8339-C7EC4FC1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Order a huge batch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EF29E-A859-4C39-9814-3C623B5C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01782-847F-424F-A040-C24132EC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013A0-06B3-4AB3-94D3-E2FAF882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“My choice is __ because __.”     1</a:t>
            </a:r>
          </a:p>
        </p:txBody>
      </p:sp>
    </p:spTree>
    <p:extLst>
      <p:ext uri="{BB962C8B-B14F-4D97-AF65-F5344CB8AC3E}">
        <p14:creationId xmlns:p14="http://schemas.microsoft.com/office/powerpoint/2010/main" val="15251478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527D3-47BE-45C3-BE6B-47746954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C55FA9-14F2-4C8A-B9F1-C26E5C67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61AD2B-7016-455E-97A5-2A37F720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A7F8D-FF60-424A-9A69-5D3501D0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Ask likely buyers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69069-A752-4343-84D7-16991550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MARKETING CONCEPT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9b8020b0b94deb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BC867-C14B-4771-A0AE-24B677F9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Style and comfort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2d04696a94395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31D1E-5883-4FE6-9660-B19ADECE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Evidence from customers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ce5f990d440b1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68DAD-2268-4ED0-90B4-4037EEF4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product people want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D81F7C-DEC8-4E2E-BF9C-E52BD93B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56110-6A12-447A-ADE7-DCCC2196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Customer needs guide company goals and profit decisions.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9CB5E-2AC8-478E-A6AA-057FB341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Point to the clue that supports your answer.     2</a:t>
            </a:r>
          </a:p>
        </p:txBody>
      </p:sp>
    </p:spTree>
    <p:extLst>
      <p:ext uri="{BB962C8B-B14F-4D97-AF65-F5344CB8AC3E}">
        <p14:creationId xmlns:p14="http://schemas.microsoft.com/office/powerpoint/2010/main" val="1493480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4AB56-06BD-4258-8FEC-28DD4720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3CCE33-A782-4027-9656-5421520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MONDAY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94162-CF52-4F7F-BBB5-00399569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881AC-D485-4FE7-A735-005AC020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Customer evidence helps a business choose.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DD489-EE82-46A5-A9DB-4686DDE0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69026be0f4a6d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FEA51-3CE8-49AB-9D49-3BD8A31E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10: “The Purpose of Marketing”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7F919-0355-443C-AE92-25F85DE9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customer needs, company goals, and profits.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741B0-ED99-4826-B5D7-F738B1E1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62A44-B093-475C-94C5-7125EB0F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B43A5-89B7-4D80-B058-19EFA3C0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10–11 · SBTE 9     Stop at 3:00 total.     3</a:t>
            </a:r>
          </a:p>
        </p:txBody>
      </p:sp>
    </p:spTree>
    <p:extLst>
      <p:ext uri="{BB962C8B-B14F-4D97-AF65-F5344CB8AC3E}">
        <p14:creationId xmlns:p14="http://schemas.microsoft.com/office/powerpoint/2010/main" val="15080629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E6855E-45D0-43F4-9BBA-384C0A31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99BD9-85D5-45E2-AB2A-F7FDBADC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21ACE-427E-4192-A5C0-828B2265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6E64A-BF1C-41A0-9D06-180AA23A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The snacks arrive after everyone leaves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85406-2FCD-4753-A145-268BAF31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popcorn order arrives AFTER the school event.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B02BE-C514-4115-9BC7-E5597F77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change fixes the problem?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e44d9190e4010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925E9-FD26-459A-AE66-A085C1C5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Change the packaging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e1877c0ff4790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FB46C8-81C6-4E72-BCEC-7729302F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Make a bigger ad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a4182540b4d42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CA01C4-BD7C-4ED2-A908-23843FB2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Deliver before the event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6FC5B-2D1C-498B-9C26-926EF29B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CADA6-DC22-484F-B792-74915A5A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46844F-D07D-46A8-A556-6B76C815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“My choice is __ because __.”     4</a:t>
            </a:r>
          </a:p>
        </p:txBody>
      </p:sp>
    </p:spTree>
    <p:extLst>
      <p:ext uri="{BB962C8B-B14F-4D97-AF65-F5344CB8AC3E}">
        <p14:creationId xmlns:p14="http://schemas.microsoft.com/office/powerpoint/2010/main" val="628307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23B72-28A4-492D-91D1-1D9D55EE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C9D85-1DF0-4584-B739-142F0BEF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1F4F71-F895-4D84-B4B8-8D8D2CC6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8F6B3-81C9-4C72-9B80-BFEE8EE3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Deliver before the event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6438DC-824F-4628-889F-6DB8B79B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 · ONE OF THE 4 Ps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fd763404d4558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6C63A-C7FD-4BF6-9F81-BC10566D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PRODUCT: the snack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00425bb944c45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64FAD-90F1-409A-8A0E-12088F97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PROMOTION: the message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c2e2d72e8346c1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E1060F-D044-4E9F-BFE3-048AE24C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PLACE: the route to you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2F4894-3F56-4207-87D2-7887180A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5EADDA-61E4-4E59-B6AE-B4EDD888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PLACE includes how, where, and when a product reaches you.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6FC303-4780-44E4-8651-A58DF5F3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Point to the clue that supports your answer.     5</a:t>
            </a:r>
          </a:p>
        </p:txBody>
      </p:sp>
    </p:spTree>
    <p:extLst>
      <p:ext uri="{BB962C8B-B14F-4D97-AF65-F5344CB8AC3E}">
        <p14:creationId xmlns:p14="http://schemas.microsoft.com/office/powerpoint/2010/main" val="21408325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33C466-271F-47AF-A43E-BE365737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3A44A-8427-4CE8-A0F2-9E244C8E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TUESDAY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1E6B7-E3DF-4A07-826D-F35BA2BD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812C2-0943-4A29-9E3F-BECD5234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product has to reach its customer at the right time.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B1677-AD67-427B-A012-522EE1D9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1a9250622a4da7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F85EA-FAE5-4838-A2A9-2C5B02A2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pp. 11–12: “Marketing Mix”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8AF876-6476-41C3-ACEE-51C54309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product, promotion, price, and place.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E0423C-AF12-48FC-838E-C888BA23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E5407-C3E7-4382-A4DE-4CAABECB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DA6E1-542A-4406-B47C-D442383A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11–12 · SBTE 10     Stop at 3:00 total.     6</a:t>
            </a:r>
          </a:p>
        </p:txBody>
      </p:sp>
    </p:spTree>
    <p:extLst>
      <p:ext uri="{BB962C8B-B14F-4D97-AF65-F5344CB8AC3E}">
        <p14:creationId xmlns:p14="http://schemas.microsoft.com/office/powerpoint/2010/main" val="21236666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E1EA4-5D97-4DB2-9110-65651FFA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6BB4B-F4E8-40D9-B758-25164657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FEDCE-DB7E-49B9-BD71-BD96C31A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32EE8-03DC-4CB0-BA16-9E52E9DB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Would people actually come?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10F99-0556-483C-BC3E-5B00FAC1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fictional esports event wants players AND spectators.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A4F9D-0C07-45DE-9C9C-605BBE8D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question gives the most useful evidence?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cbfd3a8324861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E9680-5698-452F-87D8-B79E6D03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“Gaming is great, right?”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2AA39-4284-4967-B8B0-77A0A2F8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“Play, watch, or neither?”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6B158-44FF-474C-B481-967F5C96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“My favorite game wins?”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77A98-4395-4F01-AC49-2E062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60C02-64A9-4F94-A931-268195A9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6D345-492E-4A3D-9E2E-82D4CBCD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“My choice is __ because __.”     7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7bad760b84b88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a9434d98e463c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535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4A0F8-2B36-4CD8-8F5D-0D88E4CE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CF04D-4A43-4748-88F2-9B4A938C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856FF-063D-4636-AD46-2C7FFD9D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2973F-23A5-4C17-828B-B5752EDF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Play, watch, or neither?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ECE28-A3C7-4D9B-B177-924C0D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MARKETING INFORMATION MANAGEMENT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4c9c240b08491f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138F8-3BCB-484A-950B-A47A8C6E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Pushes agreement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17671-6F15-49D3-8464-16FEF50C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Welcomes different answers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39C22-84F8-442A-93E4-F1131C57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A0B0D-8AAB-4088-AC32-4212984E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Market research gathers evidence about customers’ wants and needs.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193ED-BBBA-4F47-A093-D70797AA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Point to the clue that supports your answer.     8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34e5f8f0247e2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6f08c1e9724874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42D1C3-E693-4FF7-8CE0-DA13E952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Centers my preference</a:t>
            </a:r>
          </a:p>
        </p:txBody>
      </p:sp>
    </p:spTree>
    <p:extLst>
      <p:ext uri="{BB962C8B-B14F-4D97-AF65-F5344CB8AC3E}">
        <p14:creationId xmlns:p14="http://schemas.microsoft.com/office/powerpoint/2010/main" val="19560677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9FFDD-F06C-445E-B4C3-22BBEC12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32A80-4C1B-45E0-AF7B-45E434B1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WEDNESDAY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5BF9B0-C7DC-46C9-8A72-028EA914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BD48C-8F5A-4790-9634-166C3E8B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Useful questions leave room for honest answers.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97831-EF01-409F-986A-B6399C20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1efaa1fcdc415f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E9C804-0677-4A15-99AE-44068D63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13: “Marketing Functions”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A0A28-5692-4B7D-8EFF-AA2D6B19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MIM and target market. Continue through p. 15.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7667D-E666-465D-AA6D-A9A1BCC7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C0CC7E-292B-4584-98CD-6569A4DF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79EECD-764E-4019-A0B9-55A966B8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11–13     Stop at 3:00 total.     9</a:t>
            </a:r>
          </a:p>
        </p:txBody>
      </p:sp>
    </p:spTree>
    <p:extLst>
      <p:ext uri="{BB962C8B-B14F-4D97-AF65-F5344CB8AC3E}">
        <p14:creationId xmlns:p14="http://schemas.microsoft.com/office/powerpoint/2010/main" val="9651520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7BC3F-864B-4366-BF12-BEDB866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E8B7A-5DFA-4ED7-9959-280A2BB2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504A3-5CFA-4B87-9DA6-F2EFC67F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162F5-2D2A-4966-B9DF-C9BDECF8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The bike is fixed. How will it get back?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54323-AB3F-419D-8F46-19094869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repair shop needs a pickup option students can use after school.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C596A-7802-48AA-A9BC-071CA5D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function organizes the handoff?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6d5ca7b9934910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C8EC0-E0EE-48F1-886D-1858F67C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Product/service management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02ad2869134547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19B76-9C0A-493F-88FE-31D4E0AE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Marketing information management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b3b310ff541ef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F00FEA-059C-49BD-810A-F9AADE9E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Channel management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1AE52-2AD3-46D3-9583-D786BCE5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E3A528-6433-4358-B328-C906B601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17007-C25F-44C9-8F1E-2B8D6D4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“My choice is __ because __.”     10</a:t>
            </a:r>
          </a:p>
        </p:txBody>
      </p:sp>
    </p:spTree>
    <p:extLst>
      <p:ext uri="{BB962C8B-B14F-4D97-AF65-F5344CB8AC3E}">
        <p14:creationId xmlns:p14="http://schemas.microsoft.com/office/powerpoint/2010/main" val="8441397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DB2F3-2149-4F35-BA67-16985A9B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C4079-4B82-4E58-B036-2AA9FB9C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42C51-CA66-45AA-8695-B81F8893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88F2F-CB08-412B-951E-0F82ADAE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Channel management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C727C-855B-4FDE-9399-D08B29B6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CHANNEL MANAGEMENT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01eaf75c8e4962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ACF1C-09F2-4F87-873B-616B1201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 Improve the repair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638f7620a4b41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3A723-FE08-4326-92DD-B965B66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  Learn customer preferences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c59e6328a4367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FED62-B67E-4155-B3A6-C1B61951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  Arrange bike pickup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5345E-0444-4E31-BDFB-BF3E968C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D6B9C4-1B9B-4B83-9FC2-87110B70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It coordinates how, when, and where products reach customers.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6A7C90-8AD5-4720-8B04-0951AB9F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Point to the clue that supports your answer.     11</a:t>
            </a:r>
          </a:p>
        </p:txBody>
      </p:sp>
    </p:spTree>
    <p:extLst>
      <p:ext uri="{BB962C8B-B14F-4D97-AF65-F5344CB8AC3E}">
        <p14:creationId xmlns:p14="http://schemas.microsoft.com/office/powerpoint/2010/main" val="18293570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D40DD-A24C-4686-A495-9FF35794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538EE-E0D5-40AD-BD5C-718D261D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THURSDAY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D043B1-1ABF-45C9-A357-4E0433A3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5B712-2BB3-449A-A620-884A1CC9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A service needs a workable way to reach customers.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35439-A61E-4C3E-97BD-A19965C1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eb0c19c75438d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6367D-8969-412E-B343-92466792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Open p. 13: “Channel Management”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E1F27-7647-4B78-B9BF-F805A1DC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Then use Figure 1.4 on p. 15 to explain the link.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609F2-4F69-4036-B914-36E3DFA6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C51CF-647C-45AD-BF22-F50681BA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D2083-28D2-49AA-A459-25B56031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13–15 · SBTE 12–13     Stop at 3:00 total.     12</a:t>
            </a:r>
          </a:p>
        </p:txBody>
      </p:sp>
    </p:spTree>
    <p:extLst>
      <p:ext uri="{BB962C8B-B14F-4D97-AF65-F5344CB8AC3E}">
        <p14:creationId xmlns:p14="http://schemas.microsoft.com/office/powerpoint/2010/main" val="18594612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A3E5E-9626-4E5C-B080-83F643BF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4F873E-03F7-4FFF-A072-817F9991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NOTICE AND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0EE93-8E5D-454E-8ED4-E4F106C6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AC87E-282D-4284-BA2F-0661B1D3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Three scenes. Three different offerings.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99EDE5-099B-42EA-A1C6-8654E934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Imagine these offerings around Rochester. No visit needed.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5062E-27CC-486D-AB6D-E7D5B597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Which picture shows a GOOD? Show its number.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3e318f1044145"/>
          <a:stretch xmlns:a="http://schemas.openxmlformats.org/drawingml/2006/main"/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036E0D-4CAE-43DB-AD91-44E5B05B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Sneakers for sale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d3dd8df354e80"/>
          <a:stretch xmlns:a="http://schemas.openxmlformats.org/drawingml/2006/main"/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2A83F-9F14-408C-A16D-F82341BB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A paid haircut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a475ba8e44bcc"/>
          <a:stretch xmlns:a="http://schemas.openxmlformats.org/drawingml/2006/main"/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0B0E2E-CC47-4287-ADED-14BA1D94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  “Keep our community clean”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0EA20-36CC-4ECB-A771-00B012D2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07E80-D391-46BC-8513-D62367B7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06D5C-5CA5-4881-A7B0-D0A71335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“My choice is __ because __.”     13</a:t>
            </a:r>
          </a:p>
        </p:txBody>
      </p:sp>
    </p:spTree>
    <p:extLst>
      <p:ext uri="{BB962C8B-B14F-4D97-AF65-F5344CB8AC3E}">
        <p14:creationId xmlns:p14="http://schemas.microsoft.com/office/powerpoint/2010/main" val="20487009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45488-52F2-40B4-96D7-2EC89C42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BF0E1-75A6-4DBE-A3AA-DFF4F9DD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D9920-57C9-4349-9C5F-9E74DDC8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C3461-BCB6-430D-A4D8-18B8BD09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Good: 1      Service: 2      Idea: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38B3C-EECA-46CA-8688-EFFB77E1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 · SERVICE · IDEA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e20ea466c447b"/>
          <a:stretch xmlns:a="http://schemas.openxmlformats.org/drawingml/2006/main"/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C28D6-48C2-479B-9903-CF78DB15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A tangible item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6e1095ee642c3"/>
          <a:stretch xmlns:a="http://schemas.openxmlformats.org/drawingml/2006/main"/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F9A42-2402-47F6-99E5-161818A7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A task for payment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a0b61c5b384e8d"/>
          <a:stretch xmlns:a="http://schemas.openxmlformats.org/drawingml/2006/main"/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EC038-6968-4122-8EB7-789F8966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  A thought or opinion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D713B-5E4E-4DA1-8604-EC71D697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0CE4D-28FF-4325-AFBE-DE86DFB2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Good: tangible item. Service: paid task. Idea: thought or opinion.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F663A5-5501-4426-AA64-7B9FED97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Point to the clue that supports your answer.     14</a:t>
            </a:r>
          </a:p>
        </p:txBody>
      </p:sp>
    </p:spTree>
    <p:extLst>
      <p:ext uri="{BB962C8B-B14F-4D97-AF65-F5344CB8AC3E}">
        <p14:creationId xmlns:p14="http://schemas.microsoft.com/office/powerpoint/2010/main" val="564193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52EA6-10D2-4A22-AADC-CBA068CE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F77CE-EF48-4240-A46C-E7D70114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FRIDAY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89A5D-B53F-4CCF-8643-4C41DDF3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4D266-1F9C-4846-834E-82F22EA8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Every offering needs an audience.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D28AD-37F4-4F5E-8A04-7A371A9F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0c992e3044d99"/>
          <a:stretch xmlns:a="http://schemas.openxmlformats.org/drawingml/2006/main"/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A4ADCB-B2A6-4AB4-A291-6F1E1263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p. 4, then follow today’s class 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39D5B0-C434-4B77-8798-DF140C78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Good: tangible item. Service: paid task. Idea: thought or opinion.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70013-A92B-4A90-B01D-530C7DC0D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9ADFF-9E67-4DCC-94FD-30CC72A6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Different offerings. Different ways to meet a need.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7C0E2-172A-4526-B389-617D2BAB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p. 4; revisit pp. 10–15 · SBTE 4, 9–13     Stop at 3:00 total.     15</a:t>
            </a:r>
          </a:p>
        </p:txBody>
      </p:sp>
    </p:spTree>
    <p:extLst>
      <p:ext uri="{BB962C8B-B14F-4D97-AF65-F5344CB8AC3E}">
        <p14:creationId xmlns:p14="http://schemas.microsoft.com/office/powerpoint/2010/main" val="9752823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B2C4CF-D9BC-4512-AE30-C2EC2EB3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FFB70-2CE1-4444-95CC-E1FF2EE7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OPTIONAL MONDAY CATCH-UP · CHOOSE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D356F-E1F1-410D-879C-B9D17B22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3:00 TOTAL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44460-877A-4AA5-998E-3335BA06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Who benefits when a bakery sells bread?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0268F-9B4A-467A-88CA-9E3E7526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A customer, a worker, and a community.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DCFAC-3ED8-4F54-B19C-25600325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Besides the customer, who can benefit? Choose the numbers.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6bdc7f1104e9d"/>
          <a:srcRect xmlns:a="http://schemas.openxmlformats.org/drawingml/2006/main" l="0" t="18754" r="0" b="187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9E45C-8BD9-40EB-B80A-44250625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Customer buys bread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13b90066b473f"/>
          <a:srcRect xmlns:a="http://schemas.openxmlformats.org/drawingml/2006/main" l="0" t="18754" r="0" b="187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91025" y="28670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7DED5-5353-493B-B881-2566B554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673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Worker earns pay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b9cada6564b59"/>
          <a:srcRect xmlns:a="http://schemas.openxmlformats.org/drawingml/2006/main" l="0" t="18754" r="0" b="187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72450" y="2524125"/>
            <a:ext cx="3409950" cy="21431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ED61C-543E-4205-AB5D-1AFF36DB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24400"/>
            <a:ext cx="3409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  Community public services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6BA70-E71D-4C65-91A9-169A3A48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D42A9-F190-4E5F-9E46-89A45931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LOOK 20s → CHOOSE 40s     Point, show fingers, or write your choice.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8A868D-E995-46A0-8EDB-79CB237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“My choice is __ because __.”     16</a:t>
            </a:r>
          </a:p>
        </p:txBody>
      </p:sp>
    </p:spTree>
    <p:extLst>
      <p:ext uri="{BB962C8B-B14F-4D97-AF65-F5344CB8AC3E}">
        <p14:creationId xmlns:p14="http://schemas.microsoft.com/office/powerpoint/2010/main" val="4037894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FD80C-E119-48D2-AD69-47A00776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BE6E7-CA6A-489D-9AE4-AA2C741E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OPTIONAL MONDAY CATCH-UP ·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0E25C-E1E1-44FE-B7D2-A5F25755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CHECK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CEF5D-D8AF-41A1-889F-F8BC2735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Workers       3  Community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0B7DD-F4E2-4BB3-8DF9-05092F58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BUSINESSES AND SOCIETY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9ea0ff46f4d3c"/>
          <a:srcRect xmlns:a="http://schemas.openxmlformats.org/drawingml/2006/main" l="0" t="21115" r="0" b="211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94475-4716-461C-B050-63491392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1  Products meet needs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cde0f81584510"/>
          <a:srcRect xmlns:a="http://schemas.openxmlformats.org/drawingml/2006/main" l="0" t="21115" r="0" b="211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91025" y="295275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93302-5E84-4B0E-83A8-0F7F31F8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01015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2  Jobs provide income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6a13518b3491d"/>
          <a:srcRect xmlns:a="http://schemas.openxmlformats.org/drawingml/2006/main" l="0" t="21115" r="0" b="211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72450" y="2476500"/>
            <a:ext cx="3409950" cy="19812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F6E8C-372D-45FA-9A0A-A35E2E61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533900"/>
            <a:ext cx="3409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3  Taxes help fund services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5BC93-D3C6-46BE-A4A2-1937CE93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6BF0D-9298-4F67-B123-72F51AE3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 activity can support jobs and public services.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484D0C-3DDC-4446-8DAD-5B93BBCC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Point to the clue that supports your answer.     17</a:t>
            </a:r>
          </a:p>
        </p:txBody>
      </p:sp>
    </p:spTree>
    <p:extLst>
      <p:ext uri="{BB962C8B-B14F-4D97-AF65-F5344CB8AC3E}">
        <p14:creationId xmlns:p14="http://schemas.microsoft.com/office/powerpoint/2010/main" val="19071594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DE1DEF-369A-456B-B386-10C9BF40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8B21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A35E0-4834-4A3B-AA1F-02D26B79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7A7B"/>
                </a:solidFill>
                <a:latin typeface="Arial"/>
                <a:ea typeface="Arial"/>
                <a:cs typeface="Arial"/>
              </a:rPr>
              <a:t>OPTIONAL MONDAY CATCH-UP · CONNECT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E37077-ED03-46E5-8FAE-237ED3F1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CONNECT · 0:50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05696-DD23-4197-8408-EE39010A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Businesses affect more than their customers.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5F951-7ACC-48FE-AFD1-8EE34217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Keep this example in mind as you read.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2e9bd337145b1"/>
          <a:srcRect xmlns:a="http://schemas.openxmlformats.org/drawingml/2006/main" l="0" t="21318" r="0" b="213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333625"/>
            <a:ext cx="4953000" cy="285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18E8B-4F53-406A-A984-9CD77F3A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28875"/>
            <a:ext cx="5334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Resume p. 7; then read “Ways Businesses…” on pp. 8–9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620C9-8E6F-472D-8F47-6048EC92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5334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334D"/>
                </a:solidFill>
                <a:latin typeface="Arial"/>
                <a:ea typeface="Arial"/>
                <a:cs typeface="Arial"/>
              </a:rPr>
              <a:t>Find products, markets, employment, and taxes.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48F60-4078-404B-9829-D816A907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9C5EC-C185-4715-9062-7F6A586C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173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34D"/>
                </a:solidFill>
                <a:latin typeface="Arial"/>
                <a:ea typeface="Arial"/>
                <a:cs typeface="Arial"/>
              </a:rPr>
              <a:t>NEXT: Notes → required reading → vocabulary/application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2E65D-6BAD-4399-A275-3A6810DB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06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087A7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87A7B"/>
                </a:solidFill>
                <a:latin typeface="Arial"/>
                <a:ea typeface="Arial"/>
                <a:cs typeface="Arial"/>
              </a:rPr>
              <a:t>pp. 7–9 · SBTE 7–8     Stop at 3:00 total.     18</a:t>
            </a:r>
          </a:p>
        </p:txBody>
      </p:sp>
    </p:spTree>
    <p:extLst>
      <p:ext uri="{BB962C8B-B14F-4D97-AF65-F5344CB8AC3E}">
        <p14:creationId xmlns:p14="http://schemas.microsoft.com/office/powerpoint/2010/main" val="984429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2026-09-18T01:00:02.0120000Z</dcterms:created>
  <dcterms:modified xsi:type="dcterms:W3CDTF">2026-09-18T01:00:02.0120000Z</dcterms:modified>
</coreProperties>
</file>