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9e8ec07fa0424f" /><Relationship Type="http://schemas.openxmlformats.org/officeDocument/2006/relationships/extended-properties" Target="/docProps/app.xml" Id="Ra36b7eb7337042bd" /><Relationship Type="http://schemas.openxmlformats.org/officeDocument/2006/relationships/officeDocument" Target="/ppt/presentation.xml" Id="Rfcc13ffea79e44ad" /></Relationships>
</file>

<file path=ppt/presentation.xml><?xml version="1.0" encoding="utf-8"?>
<p:presentation xmlns:p="http://schemas.openxmlformats.org/presentationml/2006/main">
  <p:sldMasterIdLst>
    <p:sldMasterId xmlns:r="http://schemas.openxmlformats.org/officeDocument/2006/relationships" id="2147483648" r:id="R4413b05bbcfd4a6f"/>
  </p:sldMasterIdLst>
  <p:notesMasterIdLst>
    <p:notesMasterId xmlns:r="http://schemas.openxmlformats.org/officeDocument/2006/relationships" r:id="R33b2a8981a894d07"/>
  </p:notesMasterIdLst>
  <p:sldIdLst>
    <p:sldId xmlns:r="http://schemas.openxmlformats.org/officeDocument/2006/relationships" id="256" r:id="Rbd15f076a1104525"/>
    <p:sldId xmlns:r="http://schemas.openxmlformats.org/officeDocument/2006/relationships" id="257" r:id="R6f5dbfbc6c8442db"/>
    <p:sldId xmlns:r="http://schemas.openxmlformats.org/officeDocument/2006/relationships" id="258" r:id="Rf4a4ad9cb05b4ef0"/>
    <p:sldId xmlns:r="http://schemas.openxmlformats.org/officeDocument/2006/relationships" id="259" r:id="Ra6bcaffa0a2344f9"/>
    <p:sldId xmlns:r="http://schemas.openxmlformats.org/officeDocument/2006/relationships" id="260" r:id="R958e39cf426446c5"/>
    <p:sldId xmlns:r="http://schemas.openxmlformats.org/officeDocument/2006/relationships" id="261" r:id="Rd7fdc965e54b4b7e"/>
    <p:sldId xmlns:r="http://schemas.openxmlformats.org/officeDocument/2006/relationships" id="262" r:id="R01e889c2c34949af"/>
    <p:sldId xmlns:r="http://schemas.openxmlformats.org/officeDocument/2006/relationships" id="263" r:id="Rbfcafe4361ce481e"/>
    <p:sldId xmlns:r="http://schemas.openxmlformats.org/officeDocument/2006/relationships" id="264" r:id="Rdf23c9da34704c2e"/>
    <p:sldId xmlns:r="http://schemas.openxmlformats.org/officeDocument/2006/relationships" id="265" r:id="R7d974410be0c4b96"/>
    <p:sldId xmlns:r="http://schemas.openxmlformats.org/officeDocument/2006/relationships" id="266" r:id="Reae354e62f894633"/>
    <p:sldId xmlns:r="http://schemas.openxmlformats.org/officeDocument/2006/relationships" id="267" r:id="Rf5882ace95a242ea"/>
    <p:sldId xmlns:r="http://schemas.openxmlformats.org/officeDocument/2006/relationships" id="268" r:id="Ra551e92a1a7a4076"/>
    <p:sldId xmlns:r="http://schemas.openxmlformats.org/officeDocument/2006/relationships" id="269" r:id="R122501a48d794ea8"/>
    <p:sldId xmlns:r="http://schemas.openxmlformats.org/officeDocument/2006/relationships" id="270" r:id="Rbd7876eded86474e"/>
    <p:sldId xmlns:r="http://schemas.openxmlformats.org/officeDocument/2006/relationships" id="271" r:id="R43c765a8031b4f6c"/>
    <p:sldId xmlns:r="http://schemas.openxmlformats.org/officeDocument/2006/relationships" id="272" r:id="R46b118f64da44105"/>
    <p:sldId xmlns:r="http://schemas.openxmlformats.org/officeDocument/2006/relationships" id="273" r:id="R422fcd027f0f4b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da8a8bbd0e7437e" /><Relationship Type="http://schemas.openxmlformats.org/officeDocument/2006/relationships/slideMaster" Target="/ppt/slideMasters/slideMaster1.xml" Id="R4413b05bbcfd4a6f" /><Relationship Type="http://schemas.openxmlformats.org/officeDocument/2006/relationships/notesMaster" Target="/ppt/notesMasters/notesMaster1.xml" Id="R33b2a8981a894d07" /><Relationship Type="http://schemas.openxmlformats.org/officeDocument/2006/relationships/presProps" Target="/ppt/presProps.xml" Id="R571572009b0c4f50" /><Relationship Type="http://schemas.openxmlformats.org/officeDocument/2006/relationships/tableStyles" Target="/ppt/tableStyles.xml" Id="Re0de3c9a43114689" /><Relationship Type="http://schemas.openxmlformats.org/officeDocument/2006/relationships/slide" Target="/ppt/slides/slide1.xml" Id="Rbd15f076a1104525" /><Relationship Type="http://schemas.openxmlformats.org/officeDocument/2006/relationships/slide" Target="/ppt/slides/slide2.xml" Id="R6f5dbfbc6c8442db" /><Relationship Type="http://schemas.openxmlformats.org/officeDocument/2006/relationships/slide" Target="/ppt/slides/slide3.xml" Id="Rf4a4ad9cb05b4ef0" /><Relationship Type="http://schemas.openxmlformats.org/officeDocument/2006/relationships/slide" Target="/ppt/slides/slide4.xml" Id="Ra6bcaffa0a2344f9" /><Relationship Type="http://schemas.openxmlformats.org/officeDocument/2006/relationships/slide" Target="/ppt/slides/slide5.xml" Id="R958e39cf426446c5" /><Relationship Type="http://schemas.openxmlformats.org/officeDocument/2006/relationships/slide" Target="/ppt/slides/slide6.xml" Id="Rd7fdc965e54b4b7e" /><Relationship Type="http://schemas.openxmlformats.org/officeDocument/2006/relationships/slide" Target="/ppt/slides/slide7.xml" Id="R01e889c2c34949af" /><Relationship Type="http://schemas.openxmlformats.org/officeDocument/2006/relationships/slide" Target="/ppt/slides/slide8.xml" Id="Rbfcafe4361ce481e" /><Relationship Type="http://schemas.openxmlformats.org/officeDocument/2006/relationships/slide" Target="/ppt/slides/slide9.xml" Id="Rdf23c9da34704c2e" /><Relationship Type="http://schemas.openxmlformats.org/officeDocument/2006/relationships/slide" Target="/ppt/slides/slide10.xml" Id="R7d974410be0c4b96" /><Relationship Type="http://schemas.openxmlformats.org/officeDocument/2006/relationships/slide" Target="/ppt/slides/slide11.xml" Id="Reae354e62f894633" /><Relationship Type="http://schemas.openxmlformats.org/officeDocument/2006/relationships/slide" Target="/ppt/slides/slide12.xml" Id="Rf5882ace95a242ea" /><Relationship Type="http://schemas.openxmlformats.org/officeDocument/2006/relationships/slide" Target="/ppt/slides/slide13.xml" Id="Ra551e92a1a7a4076" /><Relationship Type="http://schemas.openxmlformats.org/officeDocument/2006/relationships/slide" Target="/ppt/slides/slide14.xml" Id="R122501a48d794ea8" /><Relationship Type="http://schemas.openxmlformats.org/officeDocument/2006/relationships/slide" Target="/ppt/slides/slide15.xml" Id="Rbd7876eded86474e" /><Relationship Type="http://schemas.openxmlformats.org/officeDocument/2006/relationships/slide" Target="/ppt/slides/slide16.xml" Id="R43c765a8031b4f6c" /><Relationship Type="http://schemas.openxmlformats.org/officeDocument/2006/relationships/slide" Target="/ppt/slides/slide17.xml" Id="R46b118f64da44105" /><Relationship Type="http://schemas.openxmlformats.org/officeDocument/2006/relationships/slide" Target="/ppt/slides/slide18.xml" Id="R422fcd027f0f4bd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ef6244c818a40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f4c0570520e40e2" /><Relationship Type="http://schemas.openxmlformats.org/officeDocument/2006/relationships/notesMaster" Target="/ppt/notesMasters/notesMaster1.xml" Id="R32f50553ef354d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32fc58f9794f478c" /><Relationship Type="http://schemas.openxmlformats.org/officeDocument/2006/relationships/notesMaster" Target="/ppt/notesMasters/notesMaster1.xml" Id="R373fc2bc09664e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3dbbceef520470d" /><Relationship Type="http://schemas.openxmlformats.org/officeDocument/2006/relationships/notesMaster" Target="/ppt/notesMasters/notesMaster1.xml" Id="Rbb5d8e155b6347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6f1c9a5f54b4d4a" /><Relationship Type="http://schemas.openxmlformats.org/officeDocument/2006/relationships/notesMaster" Target="/ppt/notesMasters/notesMaster1.xml" Id="Re4f67d9db9bd470d" /></Relationships>
</file>

<file path=ppt/notesSlides/_rels/notesSlide5.xml.rels>&#65279;<?xml version="1.0" encoding="utf-8"?><Relationships xmlns="http://schemas.openxmlformats.org/package/2006/relationships"><Relationship Type="http://schemas.openxmlformats.org/officeDocument/2006/relationships/slide" Target="/ppt/slides/slide5.xml" Id="R126415a361b14495" /><Relationship Type="http://schemas.openxmlformats.org/officeDocument/2006/relationships/notesMaster" Target="/ppt/notesMasters/notesMaster1.xml" Id="Rccd53049f5684a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b3d0947b4bc45ad" /><Relationship Type="http://schemas.openxmlformats.org/officeDocument/2006/relationships/notesMaster" Target="/ppt/notesMasters/notesMaster1.xml" Id="R5fddda866b6045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32bb9a1c37184626" /><Relationship Type="http://schemas.openxmlformats.org/officeDocument/2006/relationships/notesMaster" Target="/ppt/notesMasters/notesMaster1.xml" Id="R3bbde4efdf2348f9"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c36fe5a6264123" /><Relationship Type="http://schemas.openxmlformats.org/officeDocument/2006/relationships/notesMaster" Target="/ppt/notesMasters/notesMaster1.xml" Id="Rf94d8e0bb56c4fd8" /></Relationships>
</file>

<file path=ppt/notesSlides/_rels/notesSlide9.xml.rels>&#65279;<?xml version="1.0" encoding="utf-8"?><Relationships xmlns="http://schemas.openxmlformats.org/package/2006/relationships"><Relationship Type="http://schemas.openxmlformats.org/officeDocument/2006/relationships/slide" Target="/ppt/slides/slide9.xml" Id="R09864fe0713643ab" /><Relationship Type="http://schemas.openxmlformats.org/officeDocument/2006/relationships/notesMaster" Target="/ppt/notesMasters/notesMaster1.xml" Id="R6b7cfb68cb934d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6c84c51db8a4009" /><Relationship Type="http://schemas.openxmlformats.org/officeDocument/2006/relationships/notesMaster" Target="/ppt/notesMasters/notesMaster1.xml" Id="Rb6d8820070d54ec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02b08c6f7c4458" /><Relationship Type="http://schemas.openxmlformats.org/officeDocument/2006/relationships/notesMaster" Target="/ppt/notesMasters/notesMaster1.xml" Id="Rb0db4f14c3f04bf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4b8f5ee85e4c53" /><Relationship Type="http://schemas.openxmlformats.org/officeDocument/2006/relationships/notesMaster" Target="/ppt/notesMasters/notesMaster1.xml" Id="Rb8993b0d509647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9acdf102e34464a" /><Relationship Type="http://schemas.openxmlformats.org/officeDocument/2006/relationships/notesMaster" Target="/ppt/notesMasters/notesMaster1.xml" Id="Rc6db8a8f78dd45d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7a3c6113464d99" /><Relationship Type="http://schemas.openxmlformats.org/officeDocument/2006/relationships/notesMaster" Target="/ppt/notesMasters/notesMaster1.xml" Id="R5f135a5df55243a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d85d2cf709c4aec" /><Relationship Type="http://schemas.openxmlformats.org/officeDocument/2006/relationships/notesMaster" Target="/ppt/notesMasters/notesMaster1.xml" Id="Rbeb59792ff6d4f7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73a8722b4e14473" /><Relationship Type="http://schemas.openxmlformats.org/officeDocument/2006/relationships/notesMaster" Target="/ppt/notesMasters/notesMaster1.xml" Id="Reaed0108b5cc4d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c45a9aa7c684a9a" /><Relationship Type="http://schemas.openxmlformats.org/officeDocument/2006/relationships/notesMaster" Target="/ppt/notesMasters/notesMaster1.xml" Id="Rc57fc608fdd544a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42ae5e6553a460b" /><Relationship Type="http://schemas.openxmlformats.org/officeDocument/2006/relationships/notesMaster" Target="/ppt/notesMasters/notesMaster1.xml" Id="R1e6bb6dc350e48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MONDAY, Sep. 21–25 2026. MAIN · only after pp. 7–9 / slide 8. SOURCE: Chapter 1 pp. 10–11 · SBTE 9. Printed textbook pages, not PDF viewer count. Total opener 3:00; 20s look, 40s choose, 50s check, 50s bridge, 20s buffer. Timer is teacher-controlled; on-slide times are static cues. Keep this fictional. The Sep. 17 announcements mention a school merchandise store and a freshman survey, but this is not an actual offer or event. If Friday reading is incomplete, use the Monday catch-up route at the END of this deck instead. Do not run both openers.</a:t>
            </a:r>
          </a:p>
          <a:p xmlns:a="http://schemas.openxmlformats.org/drawingml/2006/main">
            <a:r>
              <a:t>EXPECTED: B. Research customer wants and needs before committing to a product. Ask about fit, comfort, use, or style rather than personal income.</a:t>
            </a:r>
          </a:p>
          <a:p xmlns:a="http://schemas.openxmlformats.org/drawingml/2006/main">
            <a:r>
              <a:t>FOLLOW-UP 1 (optional, choose at most one): What could the shop ask about the hoodie?</a:t>
            </a:r>
          </a:p>
          <a:p xmlns:a="http://schemas.openxmlformats.org/drawingml/2006/main">
            <a:r>
              <a:t>FOLLOW-UP 2: How could that answer change what it sells?</a:t>
            </a:r>
          </a:p>
          <a:p xmlns:a="http://schemas.openxmlformats.org/drawingml/2006/main">
            <a:r>
              <a:t>HARD STOP: “We have our choice. Hold the extra examples; the reading gives us the model.”</a:t>
            </a:r>
          </a:p>
          <a:p xmlns:a="http://schemas.openxmlformats.org/drawingml/2006/main">
            <a:r>
              <a:t>TRANSITION: “Our hoodie choice gives us a reason to read page 10: how does the marketing concept guide the decision?”</a:t>
            </a:r>
          </a:p>
          <a:p xmlns:a="http://schemas.openxmlformats.org/drawingml/2006/main">
            <a:r>
              <a:t>SBTE: Take attendance during look/choose, scan participation discreetly, add one correction only if needed. Handoff: “Can you connect this to our notes?”</a:t>
            </a:r>
          </a:p>
          <a:p xmlns:a="http://schemas.openxmlformats.org/drawingml/2006/main">
            <a:r>
              <a:t>MATCHED CHECK: What must a business understand before deciding what to offer?</a:t>
            </a:r>
          </a:p>
          <a:p xmlns:a="http://schemas.openxmlformats.org/drawingml/2006/main">
            <a:r>
              <a:t>KEY: Customer wants and needs, together with company goals and profits.</a:t>
            </a:r>
          </a:p>
          <a:p xmlns:a="http://schemas.openxmlformats.org/drawingml/2006/main">
            <a:r>
              <a:t>PITER: Read the scenario once. Describe the three pictures. Give 20 seconds of quiet looking, then ask everyone for a response. Accept a private written choice. No partner transition.</a:t>
            </a:r>
          </a:p>
          <a:p xmlns:a="http://schemas.openxmlformats.org/drawingml/2006/main">
            <a:r>
              <a:t>ACCESS: Read the short directions and describe the relevant visual aloud. Offer pointing, fingers, a written letter, or a quiet spoken response. Do not require eye contact, public disclosure, a phone, or speed. Keep printed response options available. No flashing, animation, or audible countdown.</a:t>
            </a:r>
          </a:p>
          <a:p xmlns:a="http://schemas.openxmlformats.org/drawingml/2006/main">
            <a:r>
              <a:t>VISUAL SOURCE: Fictional generated illustrations; not actual students, school events, products, or prices. Repeated images intentionally preserve the scenario between prediction and academic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MONDAY, Sep. 21–25 2026. MAIN · only after pp. 7–9 / slide 8. SOURCE: Chapter 1 pp. 10–11 · SBTE 9. Printed textbook pages, not PDF viewer count. Total opener 3:00; 20s look, 40s choose, 50s check, 50s bridge, 20s buffer. Timer is teacher-controlled; on-slide times are static cues. Keep this fictional. The Sep. 17 announcements mention a school merchandise store and a freshman survey, but this is not an actual offer or event. If Friday reading is incomplete, use the Monday catch-up route at the END of this deck instead. Do not run both openers.</a:t>
            </a:r>
          </a:p>
          <a:p xmlns:a="http://schemas.openxmlformats.org/drawingml/2006/main">
            <a:r>
              <a:t>EXPECTED: B. Research customer wants and needs before committing to a product. Ask about fit, comfort, use, or style rather than personal income.</a:t>
            </a:r>
          </a:p>
          <a:p xmlns:a="http://schemas.openxmlformats.org/drawingml/2006/main">
            <a:r>
              <a:t>FOLLOW-UP 1 (optional, choose at most one): What could the shop ask about the hoodie?</a:t>
            </a:r>
          </a:p>
          <a:p xmlns:a="http://schemas.openxmlformats.org/drawingml/2006/main">
            <a:r>
              <a:t>FOLLOW-UP 2: How could that answer change what it sells?</a:t>
            </a:r>
          </a:p>
          <a:p xmlns:a="http://schemas.openxmlformats.org/drawingml/2006/main">
            <a:r>
              <a:t>HARD STOP: “We have our choice. Hold the extra examples; the reading gives us the model.”</a:t>
            </a:r>
          </a:p>
          <a:p xmlns:a="http://schemas.openxmlformats.org/drawingml/2006/main">
            <a:r>
              <a:t>TRANSITION: “Our hoodie choice gives us a reason to read page 10: how does the marketing concept guide the decision?”</a:t>
            </a:r>
          </a:p>
          <a:p xmlns:a="http://schemas.openxmlformats.org/drawingml/2006/main">
            <a:r>
              <a:t>SBTE: Take attendance during look/choose, scan participation discreetly, add one correction only if needed. Handoff: “Can you connect this to our notes?”</a:t>
            </a:r>
          </a:p>
          <a:p xmlns:a="http://schemas.openxmlformats.org/drawingml/2006/main">
            <a:r>
              <a:t>MATCHED CHECK: What must a business understand before deciding what to offer?</a:t>
            </a:r>
          </a:p>
          <a:p xmlns:a="http://schemas.openxmlformats.org/drawingml/2006/main">
            <a:r>
              <a:t>KEY: Customer wants and needs, together with company goals and profits.</a:t>
            </a:r>
          </a:p>
          <a:p xmlns:a="http://schemas.openxmlformats.org/drawingml/2006/main">
            <a:r>
              <a:t>PITER: Reveal and explain one visual clue. Use only one follow-up if time remains. Pointing alone shows selection; check explanation in the later matched lesson check.</a:t>
            </a:r>
          </a:p>
          <a:p xmlns:a="http://schemas.openxmlformats.org/drawingml/2006/main">
            <a:r>
              <a:t>ACCESS: Read the short directions and describe the relevant visual aloud. Offer pointing, fingers, a written letter, or a quiet spoken response. Do not require eye contact, public disclosure, a phone, or speed. Keep printed response options available. No flashing, animation, or audible countdown.</a:t>
            </a:r>
          </a:p>
          <a:p xmlns:a="http://schemas.openxmlformats.org/drawingml/2006/main">
            <a:r>
              <a:t>VISUAL SOURCE: Fictional generated illustrations; not actual students, school events, products, or prices. Repeated images intentionally preserve the scenario between prediction and academic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MONDAY, Sep. 21–25 2026. MAIN · only after pp. 7–9 / slide 8. SOURCE: Chapter 1 pp. 10–11 · SBTE 9. Printed textbook pages, not PDF viewer count. Total opener 3:00; 20s look, 40s choose, 50s check, 50s bridge, 20s buffer. Timer is teacher-controlled; on-slide times are static cues. Keep this fictional. The Sep. 17 announcements mention a school merchandise store and a freshman survey, but this is not an actual offer or event. If Friday reading is incomplete, use the Monday catch-up route at the END of this deck instead. Do not run both openers.</a:t>
            </a:r>
          </a:p>
          <a:p xmlns:a="http://schemas.openxmlformats.org/drawingml/2006/main">
            <a:r>
              <a:t>EXPECTED: B. Research customer wants and needs before committing to a product. Ask about fit, comfort, use, or style rather than personal income.</a:t>
            </a:r>
          </a:p>
          <a:p xmlns:a="http://schemas.openxmlformats.org/drawingml/2006/main">
            <a:r>
              <a:t>FOLLOW-UP 1 (optional, choose at most one): What could the shop ask about the hoodie?</a:t>
            </a:r>
          </a:p>
          <a:p xmlns:a="http://schemas.openxmlformats.org/drawingml/2006/main">
            <a:r>
              <a:t>FOLLOW-UP 2: How could that answer change what it sells?</a:t>
            </a:r>
          </a:p>
          <a:p xmlns:a="http://schemas.openxmlformats.org/drawingml/2006/main">
            <a:r>
              <a:t>HARD STOP: “We have our choice. Hold the extra examples; the reading gives us the model.”</a:t>
            </a:r>
          </a:p>
          <a:p xmlns:a="http://schemas.openxmlformats.org/drawingml/2006/main">
            <a:r>
              <a:t>TRANSITION: “Our hoodie choice gives us a reason to read page 10: how does the marketing concept guide the decision?”</a:t>
            </a:r>
          </a:p>
          <a:p xmlns:a="http://schemas.openxmlformats.org/drawingml/2006/main">
            <a:r>
              <a:t>SBTE: Take attendance during look/choose, scan participation discreetly, add one correction only if needed. Handoff: “Can you connect this to our notes?”</a:t>
            </a:r>
          </a:p>
          <a:p xmlns:a="http://schemas.openxmlformats.org/drawingml/2006/main">
            <a:r>
              <a:t>MATCHED CHECK: What must a business understand before deciding what to offer?</a:t>
            </a:r>
          </a:p>
          <a:p xmlns:a="http://schemas.openxmlformats.org/drawingml/2006/main">
            <a:r>
              <a:t>KEY: Customer wants and needs, together with company goals and profits.</a:t>
            </a:r>
          </a:p>
          <a:p xmlns:a="http://schemas.openxmlformats.org/drawingml/2006/main">
            <a:r>
              <a:t>PITER: Say the one-line closer. Students locate the named heading, not an unfamiliar page number alone. End the opener, then use the appropriate notes/readings.</a:t>
            </a:r>
          </a:p>
          <a:p xmlns:a="http://schemas.openxmlformats.org/drawingml/2006/main">
            <a:r>
              <a:t>ACCESS: Read the short directions and describe the relevant visual aloud. Offer pointing, fingers, a written letter, or a quiet spoken response. Do not require eye contact, public disclosure, a phone, or speed. Keep printed response options available. No flashing, animation, or audible countdown.</a:t>
            </a:r>
          </a:p>
          <a:p xmlns:a="http://schemas.openxmlformats.org/drawingml/2006/main">
            <a:r>
              <a:t>VISUAL SOURCE: Fictional generated illustrations; not actual students, school events, products, or prices. Repeated images intentionally preserve the scenario between prediction and academic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TUESDAY — 3 MINUTES MAX. Chapter 1 pp. 11–12, Marketing Mix; SBTE 10.</a:t>
            </a:r>
          </a:p>
          <a:p xmlns:a="http://schemas.openxmlformats.org/drawingml/2006/main">
            <a:r>
              <a:t>SAY: The school club ordered popcorn ahead of time, but the seller delivered it after the game. For the next game, should the seller change the packaging, make a bigger ad, or deliver before the game? Point, say C, or write C. Wait 10 seconds after reading choices.</a:t>
            </a:r>
          </a:p>
          <a:p xmlns:a="http://schemas.openxmlformats.org/drawingml/2006/main">
            <a:r>
              <a:t>CHECK: C. The problem is getting the product to customers when they need it. In the marketing mix, that is PLACE. New packaging and a bigger ad do not fix a late delivery. The delivery picture illustrates the late arrival, not a successful on-time delivery.</a:t>
            </a:r>
          </a:p>
          <a:p xmlns:a="http://schemas.openxmlformats.org/drawingml/2006/main">
            <a:r>
              <a:t>OPTIONAL: Would new packaging fix the timing? OR Why does the delivery time matter? Choose one only, 15 seconds.</a:t>
            </a:r>
          </a:p>
          <a:p xmlns:a="http://schemas.openxmlformats.org/drawingml/2006/main">
            <a:r>
              <a:t>STOP: A product has to reach its customer at the right time.</a:t>
            </a:r>
          </a:p>
          <a:p xmlns:a="http://schemas.openxmlformats.org/drawingml/2006/main">
            <a:r>
              <a:t>TRANSITION: Open Marketing Mix on pages 11–12. Find place, alongside product, promotion, and price. SBTE resumes notes. 20s look, 40s choose, 50s check, 50s bridge, 20s buffer. Fictional example; no personal purchase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TUESDAY — 3 MINUTES MAX. Chapter 1 pp. 11–12, Marketing Mix; SBTE 10.</a:t>
            </a:r>
          </a:p>
          <a:p xmlns:a="http://schemas.openxmlformats.org/drawingml/2006/main">
            <a:r>
              <a:t>SAY: The school club ordered popcorn ahead of time, but the seller delivered it after the game. For the next game, should the seller change the packaging, make a bigger ad, or deliver before the game? Point, say C, or write C. Wait 10 seconds after reading choices.</a:t>
            </a:r>
          </a:p>
          <a:p xmlns:a="http://schemas.openxmlformats.org/drawingml/2006/main">
            <a:r>
              <a:t>CHECK: C. The problem is getting the product to customers when they need it. In the marketing mix, that is PLACE. New packaging and a bigger ad do not fix a late delivery. The delivery picture illustrates the late arrival, not a successful on-time delivery.</a:t>
            </a:r>
          </a:p>
          <a:p xmlns:a="http://schemas.openxmlformats.org/drawingml/2006/main">
            <a:r>
              <a:t>OPTIONAL: Would new packaging fix the timing? OR Why does the delivery time matter? Choose one only, 15 seconds.</a:t>
            </a:r>
          </a:p>
          <a:p xmlns:a="http://schemas.openxmlformats.org/drawingml/2006/main">
            <a:r>
              <a:t>STOP: A product has to reach its customer at the right time.</a:t>
            </a:r>
          </a:p>
          <a:p xmlns:a="http://schemas.openxmlformats.org/drawingml/2006/main">
            <a:r>
              <a:t>TRANSITION: Open Marketing Mix on pages 11–12. Find place, alongside product, promotion, and price. SBTE resumes notes. 20s look, 40s choose, 50s check, 50s bridge, 20s buffer. Fictional example; no personal purchase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TUESDAY — 3 MINUTES MAX. Chapter 1 pp. 11–12, Marketing Mix; SBTE 10.</a:t>
            </a:r>
          </a:p>
          <a:p xmlns:a="http://schemas.openxmlformats.org/drawingml/2006/main">
            <a:r>
              <a:t>SAY: The school club ordered popcorn ahead of time, but the seller delivered it after the game. For the next game, should the seller change the packaging, make a bigger ad, or deliver before the game? Point, say C, or write C. Wait 10 seconds after reading choices.</a:t>
            </a:r>
          </a:p>
          <a:p xmlns:a="http://schemas.openxmlformats.org/drawingml/2006/main">
            <a:r>
              <a:t>CHECK: C. The problem is getting the product to customers when they need it. In the marketing mix, that is PLACE. New packaging and a bigger ad do not fix a late delivery. The delivery picture illustrates the late arrival, not a successful on-time delivery.</a:t>
            </a:r>
          </a:p>
          <a:p xmlns:a="http://schemas.openxmlformats.org/drawingml/2006/main">
            <a:r>
              <a:t>OPTIONAL: Would new packaging fix the timing? OR Why does the delivery time matter? Choose one only, 15 seconds.</a:t>
            </a:r>
          </a:p>
          <a:p xmlns:a="http://schemas.openxmlformats.org/drawingml/2006/main">
            <a:r>
              <a:t>STOP: A product has to reach its customer at the right time.</a:t>
            </a:r>
          </a:p>
          <a:p xmlns:a="http://schemas.openxmlformats.org/drawingml/2006/main">
            <a:r>
              <a:t>TRANSITION: Open Marketing Mix on pages 11–12. Find place, alongside product, promotion, and price. SBTE resumes notes. 20s look, 40s choose, 50s check, 50s bridge, 20s buffer. Fictional example; no personal purchase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WEDNESDAY, Sep. 21–25 2026. PREVIEW · research before an esports event. SOURCE: Chapter 1 pp. 13–15 · SBTE 11–13. Printed textbook pages, not PDF viewer count. Total opener 3:00; 20s look, 40s choose, 50s check, 50s bridge, 20s buffer. Timer is teacher-controlled; on-slide times are static cues. The Sep. 17 announcements mention esports, which supplies school context. This invented event is not a claim about school plans. No need to be a gamer. Apply the routine only once this section reaches marketing functions. Review deadline is 9 AM today.</a:t>
            </a:r>
          </a:p>
          <a:p xmlns:a="http://schemas.openxmlformats.org/drawingml/2006/main">
            <a:r>
              <a:t>EXPECTED: B. It permits several preferences rather than assuming everyone likes gaming. Responses are fictional, not collected personal data. MIM includes qualitative and quantitative evidence.</a:t>
            </a:r>
          </a:p>
          <a:p xmlns:a="http://schemas.openxmlformats.org/drawingml/2006/main">
            <a:r>
              <a:t>FOLLOW-UP 1 (optional, choose at most one): Why is “neither” a useful option?</a:t>
            </a:r>
          </a:p>
          <a:p xmlns:a="http://schemas.openxmlformats.org/drawingml/2006/main">
            <a:r>
              <a:t>FOLLOW-UP 2: How could the answer change the event?</a:t>
            </a:r>
          </a:p>
          <a:p xmlns:a="http://schemas.openxmlformats.org/drawingml/2006/main">
            <a:r>
              <a:t>HARD STOP: “One useful question is enough. Now find the academic name in the text.”</a:t>
            </a:r>
          </a:p>
          <a:p xmlns:a="http://schemas.openxmlformats.org/drawingml/2006/main">
            <a:r>
              <a:t>TRANSITION: “Page 13 names this work marketing information management; then we will read how all seven functions work together.”</a:t>
            </a:r>
          </a:p>
          <a:p xmlns:a="http://schemas.openxmlformats.org/drawingml/2006/main">
            <a:r>
              <a:t>SBTE: Take attendance during look/choose, scan participation discreetly, add one correction only if needed. Handoff: “Can you connect this to our notes?”</a:t>
            </a:r>
          </a:p>
          <a:p xmlns:a="http://schemas.openxmlformats.org/drawingml/2006/main">
            <a:r>
              <a:t>MATCHED CHECK: Which function gathers evidence about what customers want?</a:t>
            </a:r>
          </a:p>
          <a:p xmlns:a="http://schemas.openxmlformats.org/drawingml/2006/main">
            <a:r>
              <a:t>KEY: Marketing information management, also called market research.</a:t>
            </a:r>
          </a:p>
          <a:p xmlns:a="http://schemas.openxmlformats.org/drawingml/2006/main">
            <a:r>
              <a:t>PITER: Read the scenario once. Describe the three pictures. Give 20 seconds of quiet looking, then ask everyone for a response. Accept a private written choice. No partner transition.</a:t>
            </a:r>
          </a:p>
          <a:p xmlns:a="http://schemas.openxmlformats.org/drawingml/2006/main">
            <a:r>
              <a:t>ACCESS: Read the short directions and describe the relevant visual aloud. Offer pointing, fingers, a written letter, or a quiet spoken response. Do not require eye contact, public disclosure, a phone, or speed. Keep printed response options available. No flashing, animation, or audible countdown.</a:t>
            </a:r>
          </a:p>
          <a:p xmlns:a="http://schemas.openxmlformats.org/drawingml/2006/main">
            <a:r>
              <a:t>VISUAL SOURCE: Fictional generated illustrations; not actual students, school events, products, or prices. Repeated images intentionally preserve the scenario between prediction and academic explanation.</a:t>
            </a:r>
          </a:p>
          <a:p xmlns:a="http://schemas.openxmlformats.org/drawingml/2006/main">
            <a:r>
              <a:t>VISUAL CUES: A shows a leading question, B listens to players, spectators and someone not interested, C substitutes the organizer’s favorite. Ask students to choose the question, using the paired scene for meaning. B leaves room for honest answers. Source: fictional generated triptych; Chapter 1 pp. 13–15 and SBTE slides 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WEDNESDAY, Sep. 21–25 2026. PREVIEW · research before an esports event. SOURCE: Chapter 1 pp. 13–15 · SBTE 11–13. Printed textbook pages, not PDF viewer count. Total opener 3:00; 20s look, 40s choose, 50s check, 50s bridge, 20s buffer. Timer is teacher-controlled; on-slide times are static cues. The Sep. 17 announcements mention esports, which supplies school context. This invented event is not a claim about school plans. No need to be a gamer. Apply the routine only once this section reaches marketing functions. Review deadline is 9 AM today.</a:t>
            </a:r>
          </a:p>
          <a:p xmlns:a="http://schemas.openxmlformats.org/drawingml/2006/main">
            <a:r>
              <a:t>EXPECTED: B. It permits several preferences rather than assuming everyone likes gaming. Responses are fictional, not collected personal data. MIM includes qualitative and quantitative evidence.</a:t>
            </a:r>
          </a:p>
          <a:p xmlns:a="http://schemas.openxmlformats.org/drawingml/2006/main">
            <a:r>
              <a:t>FOLLOW-UP 1 (optional, choose at most one): Why is “neither” a useful option?</a:t>
            </a:r>
          </a:p>
          <a:p xmlns:a="http://schemas.openxmlformats.org/drawingml/2006/main">
            <a:r>
              <a:t>FOLLOW-UP 2: How could the answer change the event?</a:t>
            </a:r>
          </a:p>
          <a:p xmlns:a="http://schemas.openxmlformats.org/drawingml/2006/main">
            <a:r>
              <a:t>HARD STOP: “One useful question is enough. Now find the academic name in the text.”</a:t>
            </a:r>
          </a:p>
          <a:p xmlns:a="http://schemas.openxmlformats.org/drawingml/2006/main">
            <a:r>
              <a:t>TRANSITION: “Page 13 names this work marketing information management; then we will read how all seven functions work together.”</a:t>
            </a:r>
          </a:p>
          <a:p xmlns:a="http://schemas.openxmlformats.org/drawingml/2006/main">
            <a:r>
              <a:t>SBTE: Take attendance during look/choose, scan participation discreetly, add one correction only if needed. Handoff: “Can you connect this to our notes?”</a:t>
            </a:r>
          </a:p>
          <a:p xmlns:a="http://schemas.openxmlformats.org/drawingml/2006/main">
            <a:r>
              <a:t>MATCHED CHECK: Which function gathers evidence about what customers want?</a:t>
            </a:r>
          </a:p>
          <a:p xmlns:a="http://schemas.openxmlformats.org/drawingml/2006/main">
            <a:r>
              <a:t>KEY: Marketing information management, also called market research.</a:t>
            </a:r>
          </a:p>
          <a:p xmlns:a="http://schemas.openxmlformats.org/drawingml/2006/main">
            <a:r>
              <a:t>PITER: Reveal and explain one visual clue. Use only one follow-up if time remains. Pointing alone shows selection; check explanation in the later matched lesson check.</a:t>
            </a:r>
          </a:p>
          <a:p xmlns:a="http://schemas.openxmlformats.org/drawingml/2006/main">
            <a:r>
              <a:t>ACCESS: Read the short directions and describe the relevant visual aloud. Offer pointing, fingers, a written letter, or a quiet spoken response. Do not require eye contact, public disclosure, a phone, or speed. Keep printed response options available. No flashing, animation, or audible countdown.</a:t>
            </a:r>
          </a:p>
          <a:p xmlns:a="http://schemas.openxmlformats.org/drawingml/2006/main">
            <a:r>
              <a:t>VISUAL SOURCE: Fictional generated illustrations; not actual students, school events, products, or prices. Repeated images intentionally preserve the scenario between prediction and academic explanation.</a:t>
            </a:r>
          </a:p>
          <a:p xmlns:a="http://schemas.openxmlformats.org/drawingml/2006/main">
            <a:r>
              <a:t>VISUAL CUES: A shows a leading question, B listens to players, spectators and someone not interested, C substitutes the organizer’s favorite. Ask students to choose the question, using the paired scene for meaning. B leaves room for honest answers. Source: fictional generated triptych; Chapter 1 pp. 13–15 and SBTE slides 11–13.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WEDNESDAY, Sep. 21–25 2026. PREVIEW · research before an esports event. SOURCE: Chapter 1 pp. 13–15 · SBTE 11–13. Printed textbook pages, not PDF viewer count. Total opener 3:00; 20s look, 40s choose, 50s check, 50s bridge, 20s buffer. Timer is teacher-controlled; on-slide times are static cues. The Sep. 17 announcements mention esports, which supplies school context. This invented event is not a claim about school plans. No need to be a gamer. Apply the routine only once this section reaches marketing functions. Review deadline is 9 AM today.</a:t>
            </a:r>
          </a:p>
          <a:p xmlns:a="http://schemas.openxmlformats.org/drawingml/2006/main">
            <a:r>
              <a:t>EXPECTED: B. It permits several preferences rather than assuming everyone likes gaming. Responses are fictional, not collected personal data. MIM includes qualitative and quantitative evidence.</a:t>
            </a:r>
          </a:p>
          <a:p xmlns:a="http://schemas.openxmlformats.org/drawingml/2006/main">
            <a:r>
              <a:t>FOLLOW-UP 1 (optional, choose at most one): Why is “neither” a useful option?</a:t>
            </a:r>
          </a:p>
          <a:p xmlns:a="http://schemas.openxmlformats.org/drawingml/2006/main">
            <a:r>
              <a:t>FOLLOW-UP 2: How could the answer change the event?</a:t>
            </a:r>
          </a:p>
          <a:p xmlns:a="http://schemas.openxmlformats.org/drawingml/2006/main">
            <a:r>
              <a:t>HARD STOP: “One useful question is enough. Now find the academic name in the text.”</a:t>
            </a:r>
          </a:p>
          <a:p xmlns:a="http://schemas.openxmlformats.org/drawingml/2006/main">
            <a:r>
              <a:t>TRANSITION: “Page 13 names this work marketing information management; then we will read how all seven functions work together.”</a:t>
            </a:r>
          </a:p>
          <a:p xmlns:a="http://schemas.openxmlformats.org/drawingml/2006/main">
            <a:r>
              <a:t>SBTE: Take attendance during look/choose, scan participation discreetly, add one correction only if needed. Handoff: “Can you connect this to our notes?”</a:t>
            </a:r>
          </a:p>
          <a:p xmlns:a="http://schemas.openxmlformats.org/drawingml/2006/main">
            <a:r>
              <a:t>MATCHED CHECK: Which function gathers evidence about what customers want?</a:t>
            </a:r>
          </a:p>
          <a:p xmlns:a="http://schemas.openxmlformats.org/drawingml/2006/main">
            <a:r>
              <a:t>KEY: Marketing information management, also called market research.</a:t>
            </a:r>
          </a:p>
          <a:p xmlns:a="http://schemas.openxmlformats.org/drawingml/2006/main">
            <a:r>
              <a:t>PITER: Say the one-line closer. Students locate the named heading, not an unfamiliar page number alone. End the opener, then use the appropriate notes/readings.</a:t>
            </a:r>
          </a:p>
          <a:p xmlns:a="http://schemas.openxmlformats.org/drawingml/2006/main">
            <a:r>
              <a:t>ACCESS: Read the short directions and describe the relevant visual aloud. Offer pointing, fingers, a written letter, or a quiet spoken response. Do not require eye contact, public disclosure, a phone, or speed. Keep printed response options available. No flashing, animation, or audible countdown.</a:t>
            </a:r>
          </a:p>
          <a:p xmlns:a="http://schemas.openxmlformats.org/drawingml/2006/main">
            <a:r>
              <a:t>VISUAL SOURCE: Fictional generated illustrations; not actual students, school events, products, or prices. Repeated images intentionally preserve the scenario between prediction and academic explanation.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THURSDAY — 3 MINUTES MAX. Chapter 1 pp. 13–15, Channel Management and Figure 1.4; SBTE 12–13.</a:t>
            </a:r>
          </a:p>
          <a:p xmlns:a="http://schemas.openxmlformats.org/drawingml/2006/main">
            <a:r>
              <a:t>SAY: A student’s bike is ready. But the shop closes before school ends, so the student cannot pick it up. What should the shop change? Read A, B, C once. Accept point, letter, fingers for position, or a quiet answer. Wait 10 seconds.</a:t>
            </a:r>
          </a:p>
          <a:p xmlns:a="http://schemas.openxmlformats.org/drawingml/2006/main">
            <a:r>
              <a:t>CHECK: C, offer after-school pickup. The repair is already done. Asking about colors does not solve the pickup problem. Planning how, when, and where the customer receives the product connects to CHANNEL MANAGEMENT. Keep pointing to the same C image on both slides.</a:t>
            </a:r>
          </a:p>
          <a:p xmlns:a="http://schemas.openxmlformats.org/drawingml/2006/main">
            <a:r>
              <a:t>OPTIONAL: Does repairing it again fix pickup? OR What changed: the repair, or how the customer receives it? Choose one only, 15 seconds.</a:t>
            </a:r>
          </a:p>
          <a:p xmlns:a="http://schemas.openxmlformats.org/drawingml/2006/main">
            <a:r>
              <a:t>STOP: A finished repair still needs a workable pickup.</a:t>
            </a:r>
          </a:p>
          <a:p xmlns:a="http://schemas.openxmlformats.org/drawingml/2006/main">
            <a:r>
              <a:t>TRANSITION: Open Channel Management on page 13. Find how products reach customers, then connect it to Figure 1.4 on page 15. SBTE resumes the source notes. 20s look, 40s choose, 50s check, 50s bridge, 20s buffer. Keep the academic term after the concrete choice, not as a prerequisite.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THURSDAY — 3 MINUTES MAX. Chapter 1 pp. 13–15, Channel Management and Figure 1.4; SBTE 12–13.</a:t>
            </a:r>
          </a:p>
          <a:p xmlns:a="http://schemas.openxmlformats.org/drawingml/2006/main">
            <a:r>
              <a:t>SAY: A student’s bike is ready. But the shop closes before school ends, so the student cannot pick it up. What should the shop change? Read A, B, C once. Accept point, letter, fingers for position, or a quiet answer. Wait 10 seconds.</a:t>
            </a:r>
          </a:p>
          <a:p xmlns:a="http://schemas.openxmlformats.org/drawingml/2006/main">
            <a:r>
              <a:t>CHECK: C, offer after-school pickup. The repair is already done. Asking about colors does not solve the pickup problem. Planning how, when, and where the customer receives the product connects to CHANNEL MANAGEMENT. Keep pointing to the same C image on both slides.</a:t>
            </a:r>
          </a:p>
          <a:p xmlns:a="http://schemas.openxmlformats.org/drawingml/2006/main">
            <a:r>
              <a:t>OPTIONAL: Does repairing it again fix pickup? OR What changed: the repair, or how the customer receives it? Choose one only, 15 seconds.</a:t>
            </a:r>
          </a:p>
          <a:p xmlns:a="http://schemas.openxmlformats.org/drawingml/2006/main">
            <a:r>
              <a:t>STOP: A finished repair still needs a workable pickup.</a:t>
            </a:r>
          </a:p>
          <a:p xmlns:a="http://schemas.openxmlformats.org/drawingml/2006/main">
            <a:r>
              <a:t>TRANSITION: Open Channel Management on page 13. Find how products reach customers, then connect it to Figure 1.4 on page 15. SBTE resumes the source notes. 20s look, 40s choose, 50s check, 50s bridge, 20s buffer. Keep the academic term after the concrete choice, not as a prerequisite.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THURSDAY — 3 MINUTES MAX. Chapter 1 pp. 13–15, Channel Management and Figure 1.4; SBTE 12–13.</a:t>
            </a:r>
          </a:p>
          <a:p xmlns:a="http://schemas.openxmlformats.org/drawingml/2006/main">
            <a:r>
              <a:t>SAY: A student’s bike is ready. But the shop closes before school ends, so the student cannot pick it up. What should the shop change? Read A, B, C once. Accept point, letter, fingers for position, or a quiet answer. Wait 10 seconds.</a:t>
            </a:r>
          </a:p>
          <a:p xmlns:a="http://schemas.openxmlformats.org/drawingml/2006/main">
            <a:r>
              <a:t>CHECK: C, offer after-school pickup. The repair is already done. Asking about colors does not solve the pickup problem. Planning how, when, and where the customer receives the product connects to CHANNEL MANAGEMENT. Keep pointing to the same C image on both slides.</a:t>
            </a:r>
          </a:p>
          <a:p xmlns:a="http://schemas.openxmlformats.org/drawingml/2006/main">
            <a:r>
              <a:t>OPTIONAL: Does repairing it again fix pickup? OR What changed: the repair, or how the customer receives it? Choose one only, 15 seconds.</a:t>
            </a:r>
          </a:p>
          <a:p xmlns:a="http://schemas.openxmlformats.org/drawingml/2006/main">
            <a:r>
              <a:t>STOP: A finished repair still needs a workable pickup.</a:t>
            </a:r>
          </a:p>
          <a:p xmlns:a="http://schemas.openxmlformats.org/drawingml/2006/main">
            <a:r>
              <a:t>TRANSITION: Open Channel Management on page 13. Find how products reach customers, then connect it to Figure 1.4 on page 15. SBTE resumes the source notes. 20s look, 40s choose, 50s check, 50s bridge, 20s buffer. Keep the academic term after the concrete choice, not as a prerequisite.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FRIDAY: 2–3 MINUTES. Chapter 1 p. 4; SBTE slide 4. Confirm assessment plans; omit this opener if it coaches assessed content.</a:t>
            </a:r>
          </a:p>
          <a:p xmlns:a="http://schemas.openxmlformats.org/drawingml/2006/main">
            <a:r>
              <a:t>SAY: Look at the pictures. Point, show fingers, or write a number. Which picture shows a GOOD? Pause 5 seconds. Which shows a SERVICE? Pause. Which shows an IDEA? Pause. One question at a time.</a:t>
            </a:r>
          </a:p>
          <a:p xmlns:a="http://schemas.openxmlformats.org/drawingml/2006/main">
            <a:r>
              <a:t>CHECK: 1, sneakers: a tangible good. 2, haircut: a paid service. 3, keeping our community clean: an idea. Classify the message, not the paper.</a:t>
            </a:r>
          </a:p>
          <a:p xmlns:a="http://schemas.openxmlformats.org/drawingml/2006/main">
            <a:r>
              <a:t>Optional: What makes the haircut a service? OR Are we classifying the message or the paper? Choose at most one; 15 seconds.</a:t>
            </a:r>
          </a:p>
          <a:p xmlns:a="http://schemas.openxmlformats.org/drawingml/2006/main">
            <a:r>
              <a:t>STOP: Different offerings. Different ways to meet a need. Then follow the confirmed class agenda. No extra P/function task in this opener; preserve the full reading and vocabulary in the lesson.</a:t>
            </a:r>
          </a:p>
          <a:p xmlns:a="http://schemas.openxmlformats.org/drawingml/2006/main">
            <a:r>
              <a:t>SBTE: attendance and scan responses, clarify only if needed. The same pictures on question/check slides deliberately stay in place to confirm answers, not start another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FRIDAY: 2–3 MINUTES. Chapter 1 p. 4; SBTE slide 4. Confirm assessment plans; omit this opener if it coaches assessed content.</a:t>
            </a:r>
          </a:p>
          <a:p xmlns:a="http://schemas.openxmlformats.org/drawingml/2006/main">
            <a:r>
              <a:t>SAY: Look at the pictures. Point, show fingers, or write a number. Which picture shows a GOOD? Pause 5 seconds. Which shows a SERVICE? Pause. Which shows an IDEA? Pause. One question at a time.</a:t>
            </a:r>
          </a:p>
          <a:p xmlns:a="http://schemas.openxmlformats.org/drawingml/2006/main">
            <a:r>
              <a:t>CHECK: 1, sneakers: a tangible good. 2, haircut: a paid service. 3, keeping our community clean: an idea. Classify the message, not the paper.</a:t>
            </a:r>
          </a:p>
          <a:p xmlns:a="http://schemas.openxmlformats.org/drawingml/2006/main">
            <a:r>
              <a:t>Optional: What makes the haircut a service? OR Are we classifying the message or the paper? Choose at most one; 15 seconds.</a:t>
            </a:r>
          </a:p>
          <a:p xmlns:a="http://schemas.openxmlformats.org/drawingml/2006/main">
            <a:r>
              <a:t>STOP: Different offerings. Different ways to meet a need. Then follow the confirmed class agenda. No extra P/function task in this opener; preserve the full reading and vocabulary in the lesson.</a:t>
            </a:r>
          </a:p>
          <a:p xmlns:a="http://schemas.openxmlformats.org/drawingml/2006/main">
            <a:r>
              <a:t>SBTE: attendance and scan responses, clarify only if needed. The same pictures on question/check slides deliberately stay in place to confirm answers, not start another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FRIDAY: 2–3 MINUTES. Chapter 1 p. 4; SBTE slide 4. Confirm assessment plans; omit this opener if it coaches assessed content.</a:t>
            </a:r>
          </a:p>
          <a:p xmlns:a="http://schemas.openxmlformats.org/drawingml/2006/main">
            <a:r>
              <a:t>SAY: Look at the pictures. Point, show fingers, or write a number. Which picture shows a GOOD? Pause 5 seconds. Which shows a SERVICE? Pause. Which shows an IDEA? Pause. One question at a time.</a:t>
            </a:r>
          </a:p>
          <a:p xmlns:a="http://schemas.openxmlformats.org/drawingml/2006/main">
            <a:r>
              <a:t>CHECK: 1, sneakers: a tangible good. 2, haircut: a paid service. 3, keeping our community clean: an idea. Classify the message, not the paper.</a:t>
            </a:r>
          </a:p>
          <a:p xmlns:a="http://schemas.openxmlformats.org/drawingml/2006/main">
            <a:r>
              <a:t>Optional: What makes the haircut a service? OR Are we classifying the message or the paper? Choose at most one; 15 seconds.</a:t>
            </a:r>
          </a:p>
          <a:p xmlns:a="http://schemas.openxmlformats.org/drawingml/2006/main">
            <a:r>
              <a:t>STOP: Different offerings. Different ways to meet a need. Then follow the confirmed class agenda. No extra P/function task in this opener; preserve the full reading and vocabulary in the lesson.</a:t>
            </a:r>
          </a:p>
          <a:p xmlns:a="http://schemas.openxmlformats.org/drawingml/2006/main">
            <a:r>
              <a:t>SBTE: attendance and scan responses, clarify only if needed. The same pictures on question/check slides deliberately stay in place to confirm answers, not start another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MONDAY CATCH-UP: use slides 16–18 INSTEAD OF 1–3 only if the section still owes pp. 7–9. Never both. Chapter 1 pp. 7–9; SBTE 7–8.</a:t>
            </a:r>
          </a:p>
          <a:p xmlns:a="http://schemas.openxmlformats.org/drawingml/2006/main">
            <a:r>
              <a:t>SAY: The customer gets bread. Besides the customer, who else can benefit? Show 2, 3, or both. Look 20 seconds; choose 40 seconds.</a:t>
            </a:r>
          </a:p>
          <a:p xmlns:a="http://schemas.openxmlformats.org/drawingml/2006/main">
            <a:r>
              <a:t>CHECK: Both. The worker earns pay. Business taxes can help fund public services. Fictional illustration, not a claim of a direct donation to a school.</a:t>
            </a:r>
          </a:p>
          <a:p xmlns:a="http://schemas.openxmlformats.org/drawingml/2006/main">
            <a:r>
              <a:t>STOP: Keep those two effects: jobs and public services.</a:t>
            </a:r>
          </a:p>
          <a:p xmlns:a="http://schemas.openxmlformats.org/drawingml/2006/main">
            <a:r>
              <a:t>TRANSITION: Finish Financial Activities on page 7, then read Ways Businesses Contribute to Society on pages 8–9. Find employment and taxes.</a:t>
            </a:r>
          </a:p>
          <a:p xmlns:a="http://schemas.openxmlformats.org/drawingml/2006/main">
            <a:r>
              <a:t>SBTE takes attendance and resumes the actual stopping point. At most 3 minutes. Accept pointing, fingers, writing, or quiet spoken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MONDAY CATCH-UP: use slides 16–18 INSTEAD OF 1–3 only if the section still owes pp. 7–9. Never both. Chapter 1 pp. 7–9; SBTE 7–8.</a:t>
            </a:r>
          </a:p>
          <a:p xmlns:a="http://schemas.openxmlformats.org/drawingml/2006/main">
            <a:r>
              <a:t>SAY: The customer gets bread. Besides the customer, who else can benefit? Show 2, 3, or both. Look 20 seconds; choose 40 seconds.</a:t>
            </a:r>
          </a:p>
          <a:p xmlns:a="http://schemas.openxmlformats.org/drawingml/2006/main">
            <a:r>
              <a:t>CHECK: Both. The worker earns pay. Business taxes can help fund public services. Fictional illustration, not a claim of a direct donation to a school.</a:t>
            </a:r>
          </a:p>
          <a:p xmlns:a="http://schemas.openxmlformats.org/drawingml/2006/main">
            <a:r>
              <a:t>STOP: Keep those two effects: jobs and public services.</a:t>
            </a:r>
          </a:p>
          <a:p xmlns:a="http://schemas.openxmlformats.org/drawingml/2006/main">
            <a:r>
              <a:t>TRANSITION: Finish Financial Activities on page 7, then read Ways Businesses Contribute to Society on pages 8–9. Find employment and taxes.</a:t>
            </a:r>
          </a:p>
          <a:p xmlns:a="http://schemas.openxmlformats.org/drawingml/2006/main">
            <a:r>
              <a:t>SBTE takes attendance and resumes the actual stopping point. At most 3 minutes. Accept pointing, fingers, writing, or quiet spoken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OPTIONAL MONDAY CATCH-UP: use slides 16–18 INSTEAD OF 1–3 only if the section still owes pp. 7–9. Never both. Chapter 1 pp. 7–9; SBTE 7–8.</a:t>
            </a:r>
          </a:p>
          <a:p xmlns:a="http://schemas.openxmlformats.org/drawingml/2006/main">
            <a:r>
              <a:t>SAY: The customer gets bread. Besides the customer, who else can benefit? Show 2, 3, or both. Look 20 seconds; choose 40 seconds.</a:t>
            </a:r>
          </a:p>
          <a:p xmlns:a="http://schemas.openxmlformats.org/drawingml/2006/main">
            <a:r>
              <a:t>CHECK: Both. The worker earns pay. Business taxes can help fund public services. Fictional illustration, not a claim of a direct donation to a school.</a:t>
            </a:r>
          </a:p>
          <a:p xmlns:a="http://schemas.openxmlformats.org/drawingml/2006/main">
            <a:r>
              <a:t>STOP: Keep those two effects: jobs and public services.</a:t>
            </a:r>
          </a:p>
          <a:p xmlns:a="http://schemas.openxmlformats.org/drawingml/2006/main">
            <a:r>
              <a:t>TRANSITION: Finish Financial Activities on page 7, then read Ways Businesses Contribute to Society on pages 8–9. Find employment and taxes.</a:t>
            </a:r>
          </a:p>
          <a:p xmlns:a="http://schemas.openxmlformats.org/drawingml/2006/main">
            <a:r>
              <a:t>SBTE takes attendance and resumes the actual stopping point. At most 3 minutes. Accept pointing, fingers, writing, or quiet spoken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aab701c4d004dd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4c44adac9194452" /><Relationship Type="http://schemas.openxmlformats.org/officeDocument/2006/relationships/slideLayout" Target="/ppt/slideLayouts/slideLayout1.xml" Id="R7e964593632e42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e964593632e42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100599c5cd94b1c" /><Relationship Type="http://schemas.openxmlformats.org/officeDocument/2006/relationships/image" Target="/ppt/media/image.jpeg" Id="R517ef34e43f64bf2" /><Relationship Type="http://schemas.openxmlformats.org/officeDocument/2006/relationships/image" Target="/ppt/media/image2.jpeg" Id="R968b717066bf42f5" /><Relationship Type="http://schemas.openxmlformats.org/officeDocument/2006/relationships/image" Target="/ppt/media/image3.jpeg" Id="Rf8ec1bebfa6e431b" /><Relationship Type="http://schemas.openxmlformats.org/officeDocument/2006/relationships/notesSlide" Target="/ppt/notesSlides/notesSlide1.xml" Id="Rf82252a7585343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2f4848068d74c69" /><Relationship Type="http://schemas.openxmlformats.org/officeDocument/2006/relationships/image" Target="/ppt/media/image4.jpeg" Id="R91e223ea40524ca4" /><Relationship Type="http://schemas.openxmlformats.org/officeDocument/2006/relationships/image" Target="/ppt/media/image5.jpeg" Id="R0803fe68a3ae427a" /><Relationship Type="http://schemas.openxmlformats.org/officeDocument/2006/relationships/image" Target="/ppt/media/image6.jpeg" Id="R2973b147aa5d45e4" /><Relationship Type="http://schemas.openxmlformats.org/officeDocument/2006/relationships/notesSlide" Target="/ppt/notesSlides/notesSlide2.xml" Id="R4189bb4d3ac8479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542279999654471" /><Relationship Type="http://schemas.openxmlformats.org/officeDocument/2006/relationships/image" Target="/ppt/media/image7.jpeg" Id="Rb0ba9f075e234406" /><Relationship Type="http://schemas.openxmlformats.org/officeDocument/2006/relationships/notesSlide" Target="/ppt/notesSlides/notesSlide3.xml" Id="R59ae881a7f8b4dd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7d0712762c342c2" /><Relationship Type="http://schemas.openxmlformats.org/officeDocument/2006/relationships/image" Target="/ppt/media/image8.jpeg" Id="Rf76e0f14231e4597" /><Relationship Type="http://schemas.openxmlformats.org/officeDocument/2006/relationships/image" Target="/ppt/media/image9.jpeg" Id="R96a3fddc8c8c4dd1" /><Relationship Type="http://schemas.openxmlformats.org/officeDocument/2006/relationships/image" Target="/ppt/media/image10.jpeg" Id="R2e7feab1d85446c1" /><Relationship Type="http://schemas.openxmlformats.org/officeDocument/2006/relationships/notesSlide" Target="/ppt/notesSlides/notesSlide4.xml" Id="R13110fe6ba8e416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ca6f834aec845d9" /><Relationship Type="http://schemas.openxmlformats.org/officeDocument/2006/relationships/image" Target="/ppt/media/image11.jpeg" Id="Rcb2947851b184c58" /><Relationship Type="http://schemas.openxmlformats.org/officeDocument/2006/relationships/image" Target="/ppt/media/image12.jpeg" Id="R526acd8495094902" /><Relationship Type="http://schemas.openxmlformats.org/officeDocument/2006/relationships/image" Target="/ppt/media/image13.jpeg" Id="R19e4f6dee3e34155" /><Relationship Type="http://schemas.openxmlformats.org/officeDocument/2006/relationships/notesSlide" Target="/ppt/notesSlides/notesSlide5.xml" Id="R3c87ac161dec4b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c1773235b724217" /><Relationship Type="http://schemas.openxmlformats.org/officeDocument/2006/relationships/image" Target="/ppt/media/image14.jpeg" Id="R7cb47026edd74c16" /><Relationship Type="http://schemas.openxmlformats.org/officeDocument/2006/relationships/notesSlide" Target="/ppt/notesSlides/notesSlide6.xml" Id="Rcdf14e1cb7ac4f1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665e0693c4e4b33" /><Relationship Type="http://schemas.openxmlformats.org/officeDocument/2006/relationships/image" Target="/ppt/media/image15.jpeg" Id="R439838d12e504729" /><Relationship Type="http://schemas.openxmlformats.org/officeDocument/2006/relationships/image" Target="/ppt/media/image16.jpeg" Id="R58a9b01c59e54aef" /><Relationship Type="http://schemas.openxmlformats.org/officeDocument/2006/relationships/image" Target="/ppt/media/image17.jpeg" Id="Rde4fa90a34a54af3" /><Relationship Type="http://schemas.openxmlformats.org/officeDocument/2006/relationships/notesSlide" Target="/ppt/notesSlides/notesSlide7.xml" Id="R512cf19727ba433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d81e2401a5d4c78" /><Relationship Type="http://schemas.openxmlformats.org/officeDocument/2006/relationships/image" Target="/ppt/media/image18.jpeg" Id="R4ad0362e270d4f89" /><Relationship Type="http://schemas.openxmlformats.org/officeDocument/2006/relationships/image" Target="/ppt/media/image19.jpeg" Id="R4e0d285f1a384997" /><Relationship Type="http://schemas.openxmlformats.org/officeDocument/2006/relationships/image" Target="/ppt/media/image20.jpeg" Id="Ra649ada1e7984f80" /><Relationship Type="http://schemas.openxmlformats.org/officeDocument/2006/relationships/notesSlide" Target="/ppt/notesSlides/notesSlide8.xml" Id="R22d2f5cc617648a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8026fc10a6b4bfc" /><Relationship Type="http://schemas.openxmlformats.org/officeDocument/2006/relationships/image" Target="/ppt/media/image21.jpeg" Id="R5cb4fad019b74a3d" /><Relationship Type="http://schemas.openxmlformats.org/officeDocument/2006/relationships/notesSlide" Target="/ppt/notesSlides/notesSlide9.xml" Id="Re1f2272cfff04e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beafadfb20747f2" /><Relationship Type="http://schemas.openxmlformats.org/officeDocument/2006/relationships/image" Target="/ppt/media/image22.jpeg" Id="R9594dbe718ad4035" /><Relationship Type="http://schemas.openxmlformats.org/officeDocument/2006/relationships/image" Target="/ppt/media/image23.jpeg" Id="Rf882408cf275404b" /><Relationship Type="http://schemas.openxmlformats.org/officeDocument/2006/relationships/image" Target="/ppt/media/image24.jpeg" Id="Rbf0c4c9583254623" /><Relationship Type="http://schemas.openxmlformats.org/officeDocument/2006/relationships/notesSlide" Target="/ppt/notesSlides/notesSlide10.xml" Id="R817cda73e68b4da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e6a611ee2fe44c8" /><Relationship Type="http://schemas.openxmlformats.org/officeDocument/2006/relationships/image" Target="/ppt/media/image25.jpeg" Id="R98c25c3e37a649bf" /><Relationship Type="http://schemas.openxmlformats.org/officeDocument/2006/relationships/image" Target="/ppt/media/image26.jpeg" Id="Rf2b2033a76074010" /><Relationship Type="http://schemas.openxmlformats.org/officeDocument/2006/relationships/image" Target="/ppt/media/image27.jpeg" Id="R47cbdf6c808d4ef1" /><Relationship Type="http://schemas.openxmlformats.org/officeDocument/2006/relationships/notesSlide" Target="/ppt/notesSlides/notesSlide11.xml" Id="R8732ed16130b464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2d1b50e1bf745da" /><Relationship Type="http://schemas.openxmlformats.org/officeDocument/2006/relationships/image" Target="/ppt/media/image28.jpeg" Id="Rc9252f4f173a4c42" /><Relationship Type="http://schemas.openxmlformats.org/officeDocument/2006/relationships/notesSlide" Target="/ppt/notesSlides/notesSlide12.xml" Id="Rbeca97f085da49e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132af17134744c8" /><Relationship Type="http://schemas.openxmlformats.org/officeDocument/2006/relationships/image" Target="/ppt/media/image29.jpeg" Id="Re5a45d163c0e4a71" /><Relationship Type="http://schemas.openxmlformats.org/officeDocument/2006/relationships/image" Target="/ppt/media/image30.jpeg" Id="Re6f52013d07f46a6" /><Relationship Type="http://schemas.openxmlformats.org/officeDocument/2006/relationships/image" Target="/ppt/media/image31.jpeg" Id="R32195e8e809e4a31" /><Relationship Type="http://schemas.openxmlformats.org/officeDocument/2006/relationships/notesSlide" Target="/ppt/notesSlides/notesSlide13.xml" Id="R8fed47579531422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02fbda5ed4d4a38" /><Relationship Type="http://schemas.openxmlformats.org/officeDocument/2006/relationships/image" Target="/ppt/media/image32.jpeg" Id="R55e5e61d990f443a" /><Relationship Type="http://schemas.openxmlformats.org/officeDocument/2006/relationships/image" Target="/ppt/media/image33.jpeg" Id="Ra750addeb1dd4b2b" /><Relationship Type="http://schemas.openxmlformats.org/officeDocument/2006/relationships/image" Target="/ppt/media/image34.jpeg" Id="Rf945baa1e1964f17" /><Relationship Type="http://schemas.openxmlformats.org/officeDocument/2006/relationships/notesSlide" Target="/ppt/notesSlides/notesSlide14.xml" Id="R6ea1fb0f5a05410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d14746b429d4fda" /><Relationship Type="http://schemas.openxmlformats.org/officeDocument/2006/relationships/image" Target="/ppt/media/image35.jpeg" Id="Re74846219fd24bcc" /><Relationship Type="http://schemas.openxmlformats.org/officeDocument/2006/relationships/notesSlide" Target="/ppt/notesSlides/notesSlide15.xml" Id="R54108d1fc2054b7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135fab8f6d34a4c" /><Relationship Type="http://schemas.openxmlformats.org/officeDocument/2006/relationships/image" Target="/ppt/media/image36.jpeg" Id="R7e40992869a54c9d" /><Relationship Type="http://schemas.openxmlformats.org/officeDocument/2006/relationships/image" Target="/ppt/media/image37.jpeg" Id="R217f9fc80e7a4536" /><Relationship Type="http://schemas.openxmlformats.org/officeDocument/2006/relationships/image" Target="/ppt/media/image38.jpeg" Id="R304c89fba8a34984" /><Relationship Type="http://schemas.openxmlformats.org/officeDocument/2006/relationships/notesSlide" Target="/ppt/notesSlides/notesSlide16.xml" Id="R6a74d25e6a5a4b3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80c1cf5480d4ea9" /><Relationship Type="http://schemas.openxmlformats.org/officeDocument/2006/relationships/image" Target="/ppt/media/image39.jpeg" Id="R4f8fdd97eab14997" /><Relationship Type="http://schemas.openxmlformats.org/officeDocument/2006/relationships/image" Target="/ppt/media/image40.jpeg" Id="R7f21378c5e944251" /><Relationship Type="http://schemas.openxmlformats.org/officeDocument/2006/relationships/image" Target="/ppt/media/image41.jpeg" Id="Rf3496aec3e204811" /><Relationship Type="http://schemas.openxmlformats.org/officeDocument/2006/relationships/notesSlide" Target="/ppt/notesSlides/notesSlide17.xml" Id="R3fec3e7c4c4c4c5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0c8cc1be0fe412d" /><Relationship Type="http://schemas.openxmlformats.org/officeDocument/2006/relationships/image" Target="/ppt/media/image42.jpeg" Id="Rc9f55663b8cb47e8" /><Relationship Type="http://schemas.openxmlformats.org/officeDocument/2006/relationships/notesSlide" Target="/ppt/notesSlides/notesSlide18.xml" Id="R689f176967e44a23" /></Relationships>
</file>

<file path=ppt/slides/slide1.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53D0E93-DCE2-46C8-AC2B-B082B20DD275}"/>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0AFA99D-11B4-48BB-A570-9C6390C13A73}"/>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MONDAY · NOTICE AND CHOOSE</a:t>
            </a:r>
          </a:p>
        </p:txBody>
      </p:sp>
      <p:sp>
        <p:nvSpPr>
          <p:cNvPr id="3" name="">
            <a:extLst xmlns:a="http://schemas.openxmlformats.org/drawingml/2006/main">
              <a:ext uri="{FF2B5EF4-FFF2-40B4-BE49-F238E27FC236}">
                <a16:creationId xmlns:a16="http://schemas.microsoft.com/office/drawing/2014/main" id="{CA5CA8D3-AF7A-49B3-A957-E4C2E58DA3D8}"/>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3:00 TOTAL</a:t>
            </a:r>
          </a:p>
        </p:txBody>
      </p:sp>
      <p:sp>
        <p:nvSpPr>
          <p:cNvPr id="4" name="">
            <a:extLst xmlns:a="http://schemas.openxmlformats.org/drawingml/2006/main">
              <a:ext uri="{FF2B5EF4-FFF2-40B4-BE49-F238E27FC236}">
                <a16:creationId xmlns:a16="http://schemas.microsoft.com/office/drawing/2014/main" id="{2184B9E4-6A01-4DBE-B320-A1871A979103}"/>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Would this hoodie work for everyone?</a:t>
            </a:r>
          </a:p>
        </p:txBody>
      </p:sp>
      <p:sp>
        <p:nvSpPr>
          <p:cNvPr id="5" name="">
            <a:extLst xmlns:a="http://schemas.openxmlformats.org/drawingml/2006/main">
              <a:ext uri="{FF2B5EF4-FFF2-40B4-BE49-F238E27FC236}">
                <a16:creationId xmlns:a16="http://schemas.microsoft.com/office/drawing/2014/main" id="{BB408CC8-7C4B-4640-A752-361A735412DF}"/>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A fictional school-spirit shop is choosing its next hoodie.</a:t>
            </a:r>
          </a:p>
        </p:txBody>
      </p:sp>
      <p:sp>
        <p:nvSpPr>
          <p:cNvPr id="6" name="">
            <a:extLst xmlns:a="http://schemas.openxmlformats.org/drawingml/2006/main">
              <a:ext uri="{FF2B5EF4-FFF2-40B4-BE49-F238E27FC236}">
                <a16:creationId xmlns:a16="http://schemas.microsoft.com/office/drawing/2014/main" id="{7685D749-873C-48FA-8BF0-4115C2BF3C39}"/>
              </a:ext>
            </a:extLst>
          </p:cNvPr>
          <p:cNvSpPr>
            <a:spLocks xmlns:a="http://schemas.openxmlformats.org/drawingml/2006/main" noGrp="1"/>
          </p:cNvSpPr>
          <p:nvPr/>
        </p:nvSpPr>
        <p:spPr>
          <a:xfrm xmlns:a="http://schemas.openxmlformats.org/drawingml/2006/main">
            <a:off x="609600" y="20193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1">
                <a:solidFill>
                  <a:srgbClr val="17334D"/>
                </a:solidFill>
                <a:latin typeface="Arial"/>
                <a:ea typeface="Arial"/>
                <a:cs typeface="Arial"/>
              </a:defRPr>
            </a:pPr>
            <a:r>
              <a:rPr sz="2325" b="1">
                <a:solidFill>
                  <a:srgbClr val="17334D"/>
                </a:solidFill>
                <a:latin typeface="Arial"/>
                <a:ea typeface="Arial"/>
                <a:cs typeface="Arial"/>
              </a:rPr>
              <a:t>What should the shop do FIRST?</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17ef34e43f64bf2"/>
          <a:stretch xmlns:a="http://schemas.openxmlformats.org/drawingml/2006/main"/>
        </p:blipFill>
        <p:spPr>
          <a:xfrm xmlns:a="http://schemas.openxmlformats.org/drawingml/2006/main">
            <a:off x="609600" y="2524125"/>
            <a:ext cx="3409950" cy="2143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FA20C1A-C5B3-4C5C-9F3C-25BD58CF55FD}"/>
              </a:ext>
            </a:extLst>
          </p:cNvPr>
          <p:cNvSpPr>
            <a:spLocks xmlns:a="http://schemas.openxmlformats.org/drawingml/2006/main" noGrp="1"/>
          </p:cNvSpPr>
          <p:nvPr/>
        </p:nvSpPr>
        <p:spPr>
          <a:xfrm xmlns:a="http://schemas.openxmlformats.org/drawingml/2006/main">
            <a:off x="60960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A  Pick our favorite</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68b717066bf42f5"/>
          <a:stretch xmlns:a="http://schemas.openxmlformats.org/drawingml/2006/main"/>
        </p:blipFill>
        <p:spPr>
          <a:xfrm xmlns:a="http://schemas.openxmlformats.org/drawingml/2006/main">
            <a:off x="4391025" y="2867025"/>
            <a:ext cx="3409950" cy="21431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CFEA3727-0BEF-4CD5-B789-3208BFF070F4}"/>
              </a:ext>
            </a:extLst>
          </p:cNvPr>
          <p:cNvSpPr>
            <a:spLocks xmlns:a="http://schemas.openxmlformats.org/drawingml/2006/main" noGrp="1"/>
          </p:cNvSpPr>
          <p:nvPr/>
        </p:nvSpPr>
        <p:spPr>
          <a:xfrm xmlns:a="http://schemas.openxmlformats.org/drawingml/2006/main">
            <a:off x="4391025" y="50673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B  Ask likely buyers</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f8ec1bebfa6e431b"/>
          <a:stretch xmlns:a="http://schemas.openxmlformats.org/drawingml/2006/main"/>
        </p:blipFill>
        <p:spPr>
          <a:xfrm xmlns:a="http://schemas.openxmlformats.org/drawingml/2006/main">
            <a:off x="8172450" y="2524125"/>
            <a:ext cx="3409950" cy="21431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F77E3006-96D7-41C7-8339-C7EC4FC1CA90}"/>
              </a:ext>
            </a:extLst>
          </p:cNvPr>
          <p:cNvSpPr>
            <a:spLocks xmlns:a="http://schemas.openxmlformats.org/drawingml/2006/main" noGrp="1"/>
          </p:cNvSpPr>
          <p:nvPr/>
        </p:nvSpPr>
        <p:spPr>
          <a:xfrm xmlns:a="http://schemas.openxmlformats.org/drawingml/2006/main">
            <a:off x="817245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C  Order a huge batch</a:t>
            </a:r>
          </a:p>
        </p:txBody>
      </p:sp>
      <p:sp>
        <p:nvSpPr>
          <p:cNvPr id="13" name="">
            <a:extLst xmlns:a="http://schemas.openxmlformats.org/drawingml/2006/main">
              <a:ext uri="{FF2B5EF4-FFF2-40B4-BE49-F238E27FC236}">
                <a16:creationId xmlns:a16="http://schemas.microsoft.com/office/drawing/2014/main" id="{F30EF29E-A859-4C39-9814-3C623B5C45BB}"/>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5401782-847F-424F-A040-C24132EC4823}"/>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LOOK 20s → CHOOSE 40s     Point, show fingers, or write your choice.</a:t>
            </a:r>
          </a:p>
        </p:txBody>
      </p:sp>
      <p:sp>
        <p:nvSpPr>
          <p:cNvPr id="15" name="">
            <a:extLst xmlns:a="http://schemas.openxmlformats.org/drawingml/2006/main">
              <a:ext uri="{FF2B5EF4-FFF2-40B4-BE49-F238E27FC236}">
                <a16:creationId xmlns:a16="http://schemas.microsoft.com/office/drawing/2014/main" id="{186013A0-06B3-4AB3-94D3-E2FAF882F2B4}"/>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10–11 · SBTE 9     “My choice is __ because __.”     1</a:t>
            </a:r>
          </a:p>
        </p:txBody>
      </p:sp>
    </p:spTree>
    <p:extLst>
      <p:ext uri="{BB962C8B-B14F-4D97-AF65-F5344CB8AC3E}">
        <p14:creationId xmlns:p14="http://schemas.microsoft.com/office/powerpoint/2010/main" val="1525147859"/>
      </p:ext>
    </p:extLst>
  </p:cSld>
</p:sld>
</file>

<file path=ppt/slides/slide2.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66C527D3-47BE-45C3-BE6B-47746954A691}"/>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6C55FA9-14F2-4C8A-B9F1-C26E5C670B17}"/>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MONDAY · CHECK</a:t>
            </a:r>
          </a:p>
        </p:txBody>
      </p:sp>
      <p:sp>
        <p:nvSpPr>
          <p:cNvPr id="3" name="">
            <a:extLst xmlns:a="http://schemas.openxmlformats.org/drawingml/2006/main">
              <a:ext uri="{FF2B5EF4-FFF2-40B4-BE49-F238E27FC236}">
                <a16:creationId xmlns:a16="http://schemas.microsoft.com/office/drawing/2014/main" id="{8D61AD2B-7016-455E-97A5-2A37F720FE50}"/>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CHECK · 0:50</a:t>
            </a:r>
          </a:p>
        </p:txBody>
      </p:sp>
      <p:sp>
        <p:nvSpPr>
          <p:cNvPr id="4" name="">
            <a:extLst xmlns:a="http://schemas.openxmlformats.org/drawingml/2006/main">
              <a:ext uri="{FF2B5EF4-FFF2-40B4-BE49-F238E27FC236}">
                <a16:creationId xmlns:a16="http://schemas.microsoft.com/office/drawing/2014/main" id="{A92A7F8D-FF60-424A-9A69-5D3501D080A5}"/>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B  Ask likely buyers</a:t>
            </a:r>
          </a:p>
        </p:txBody>
      </p:sp>
      <p:sp>
        <p:nvSpPr>
          <p:cNvPr id="5" name="">
            <a:extLst xmlns:a="http://schemas.openxmlformats.org/drawingml/2006/main">
              <a:ext uri="{FF2B5EF4-FFF2-40B4-BE49-F238E27FC236}">
                <a16:creationId xmlns:a16="http://schemas.microsoft.com/office/drawing/2014/main" id="{2F469069-A752-4343-84D7-169915504EF4}"/>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MARKETING CONCEPT</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1e223ea40524ca4"/>
          <a:stretch xmlns:a="http://schemas.openxmlformats.org/drawingml/2006/main"/>
        </p:blipFill>
        <p:spPr>
          <a:xfrm xmlns:a="http://schemas.openxmlformats.org/drawingml/2006/main">
            <a:off x="609600" y="2476500"/>
            <a:ext cx="3409950" cy="19812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97BC867-C14B-4771-A0AE-24B677F9D075}"/>
              </a:ext>
            </a:extLst>
          </p:cNvPr>
          <p:cNvSpPr>
            <a:spLocks xmlns:a="http://schemas.openxmlformats.org/drawingml/2006/main" noGrp="1"/>
          </p:cNvSpPr>
          <p:nvPr/>
        </p:nvSpPr>
        <p:spPr>
          <a:xfrm xmlns:a="http://schemas.openxmlformats.org/drawingml/2006/main">
            <a:off x="60960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Style and comfort</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0803fe68a3ae427a"/>
          <a:stretch xmlns:a="http://schemas.openxmlformats.org/drawingml/2006/main"/>
        </p:blipFill>
        <p:spPr>
          <a:xfrm xmlns:a="http://schemas.openxmlformats.org/drawingml/2006/main">
            <a:off x="4391025" y="2952750"/>
            <a:ext cx="3409950" cy="1981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B531D1E-5883-4FE6-9660-B19ADECEF6FF}"/>
              </a:ext>
            </a:extLst>
          </p:cNvPr>
          <p:cNvSpPr>
            <a:spLocks xmlns:a="http://schemas.openxmlformats.org/drawingml/2006/main" noGrp="1"/>
          </p:cNvSpPr>
          <p:nvPr/>
        </p:nvSpPr>
        <p:spPr>
          <a:xfrm xmlns:a="http://schemas.openxmlformats.org/drawingml/2006/main">
            <a:off x="4391025" y="501015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Evidence from customers</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2973b147aa5d45e4"/>
          <a:stretch xmlns:a="http://schemas.openxmlformats.org/drawingml/2006/main"/>
        </p:blipFill>
        <p:spPr>
          <a:xfrm xmlns:a="http://schemas.openxmlformats.org/drawingml/2006/main">
            <a:off x="8172450" y="2476500"/>
            <a:ext cx="3409950" cy="19812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73568DAD-2268-4ED0-90B4-4037EEF45789}"/>
              </a:ext>
            </a:extLst>
          </p:cNvPr>
          <p:cNvSpPr>
            <a:spLocks xmlns:a="http://schemas.openxmlformats.org/drawingml/2006/main" noGrp="1"/>
          </p:cNvSpPr>
          <p:nvPr/>
        </p:nvSpPr>
        <p:spPr>
          <a:xfrm xmlns:a="http://schemas.openxmlformats.org/drawingml/2006/main">
            <a:off x="817245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A product people want</a:t>
            </a:r>
          </a:p>
        </p:txBody>
      </p:sp>
      <p:sp>
        <p:nvSpPr>
          <p:cNvPr id="12" name="">
            <a:extLst xmlns:a="http://schemas.openxmlformats.org/drawingml/2006/main">
              <a:ext uri="{FF2B5EF4-FFF2-40B4-BE49-F238E27FC236}">
                <a16:creationId xmlns:a16="http://schemas.microsoft.com/office/drawing/2014/main" id="{BAD81F7C-DEC8-4E2E-BF9C-E52BD93B2F99}"/>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8156110-6A12-447A-ADE7-DCCC21962527}"/>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Customer needs guide company goals and profit decisions.</a:t>
            </a:r>
          </a:p>
        </p:txBody>
      </p:sp>
      <p:sp>
        <p:nvSpPr>
          <p:cNvPr id="14" name="">
            <a:extLst xmlns:a="http://schemas.openxmlformats.org/drawingml/2006/main">
              <a:ext uri="{FF2B5EF4-FFF2-40B4-BE49-F238E27FC236}">
                <a16:creationId xmlns:a16="http://schemas.microsoft.com/office/drawing/2014/main" id="{0A89CB5E-2AC8-478E-A6AA-057FB341592F}"/>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10–11 · SBTE 9     Point to the clue that supports your answer.     2</a:t>
            </a:r>
          </a:p>
        </p:txBody>
      </p:sp>
    </p:spTree>
    <p:extLst>
      <p:ext uri="{BB962C8B-B14F-4D97-AF65-F5344CB8AC3E}">
        <p14:creationId xmlns:p14="http://schemas.microsoft.com/office/powerpoint/2010/main" val="149348025"/>
      </p:ext>
    </p:extLst>
  </p:cSld>
</p:sld>
</file>

<file path=ppt/slides/slide3.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584AB56-06BD-4258-8FEC-28DD472060C2}"/>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3CCE33-A782-4027-9656-5421520AB806}"/>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MONDAY · CONNECT</a:t>
            </a:r>
          </a:p>
        </p:txBody>
      </p:sp>
      <p:sp>
        <p:nvSpPr>
          <p:cNvPr id="3" name="">
            <a:extLst xmlns:a="http://schemas.openxmlformats.org/drawingml/2006/main">
              <a:ext uri="{FF2B5EF4-FFF2-40B4-BE49-F238E27FC236}">
                <a16:creationId xmlns:a16="http://schemas.microsoft.com/office/drawing/2014/main" id="{CBC94162-CF52-4F7F-BBB5-003995693CE0}"/>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CONNECT · 0:50</a:t>
            </a:r>
          </a:p>
        </p:txBody>
      </p:sp>
      <p:sp>
        <p:nvSpPr>
          <p:cNvPr id="4" name="">
            <a:extLst xmlns:a="http://schemas.openxmlformats.org/drawingml/2006/main">
              <a:ext uri="{FF2B5EF4-FFF2-40B4-BE49-F238E27FC236}">
                <a16:creationId xmlns:a16="http://schemas.microsoft.com/office/drawing/2014/main" id="{B45881AC-D485-4FE7-A735-005AC020526D}"/>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Customer evidence helps a business choose.</a:t>
            </a:r>
          </a:p>
        </p:txBody>
      </p:sp>
      <p:sp>
        <p:nvSpPr>
          <p:cNvPr id="5" name="">
            <a:extLst xmlns:a="http://schemas.openxmlformats.org/drawingml/2006/main">
              <a:ext uri="{FF2B5EF4-FFF2-40B4-BE49-F238E27FC236}">
                <a16:creationId xmlns:a16="http://schemas.microsoft.com/office/drawing/2014/main" id="{2EFDD489-EE82-46A5-A9DB-4686DDE08EE0}"/>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Keep this example in mind as you read.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b0ba9f075e234406"/>
          <a:stretch xmlns:a="http://schemas.openxmlformats.org/drawingml/2006/main"/>
        </p:blipFill>
        <p:spPr>
          <a:xfrm xmlns:a="http://schemas.openxmlformats.org/drawingml/2006/main">
            <a:off x="609600" y="2333625"/>
            <a:ext cx="4953000" cy="2857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D3FEA51-3CE8-49AB-9D49-3BD8A31E455B}"/>
              </a:ext>
            </a:extLst>
          </p:cNvPr>
          <p:cNvSpPr>
            <a:spLocks xmlns:a="http://schemas.openxmlformats.org/drawingml/2006/main" noGrp="1"/>
          </p:cNvSpPr>
          <p:nvPr/>
        </p:nvSpPr>
        <p:spPr>
          <a:xfrm xmlns:a="http://schemas.openxmlformats.org/drawingml/2006/main">
            <a:off x="6096000" y="2428875"/>
            <a:ext cx="5334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00" b="1">
                <a:solidFill>
                  <a:srgbClr val="17334D"/>
                </a:solidFill>
                <a:latin typeface="Arial"/>
                <a:ea typeface="Arial"/>
                <a:cs typeface="Arial"/>
              </a:defRPr>
            </a:pPr>
            <a:r>
              <a:rPr sz="2700" b="1">
                <a:solidFill>
                  <a:srgbClr val="17334D"/>
                </a:solidFill>
                <a:latin typeface="Arial"/>
                <a:ea typeface="Arial"/>
                <a:cs typeface="Arial"/>
              </a:rPr>
              <a:t>Open p. 10: “The Purpose of Marketing”</a:t>
            </a:r>
          </a:p>
        </p:txBody>
      </p:sp>
      <p:sp>
        <p:nvSpPr>
          <p:cNvPr id="8" name="">
            <a:extLst xmlns:a="http://schemas.openxmlformats.org/drawingml/2006/main">
              <a:ext uri="{FF2B5EF4-FFF2-40B4-BE49-F238E27FC236}">
                <a16:creationId xmlns:a16="http://schemas.microsoft.com/office/drawing/2014/main" id="{9A47F919-0355-443C-AE92-25F85DE93908}"/>
              </a:ext>
            </a:extLst>
          </p:cNvPr>
          <p:cNvSpPr>
            <a:spLocks xmlns:a="http://schemas.openxmlformats.org/drawingml/2006/main" noGrp="1"/>
          </p:cNvSpPr>
          <p:nvPr/>
        </p:nvSpPr>
        <p:spPr>
          <a:xfrm xmlns:a="http://schemas.openxmlformats.org/drawingml/2006/main">
            <a:off x="6096000" y="3648075"/>
            <a:ext cx="5334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7334D"/>
                </a:solidFill>
                <a:latin typeface="Arial"/>
                <a:ea typeface="Arial"/>
                <a:cs typeface="Arial"/>
              </a:defRPr>
            </a:pPr>
            <a:r>
              <a:rPr sz="2325" b="0">
                <a:solidFill>
                  <a:srgbClr val="17334D"/>
                </a:solidFill>
                <a:latin typeface="Arial"/>
                <a:ea typeface="Arial"/>
                <a:cs typeface="Arial"/>
              </a:rPr>
              <a:t>Find customer needs, company goals, and profits.</a:t>
            </a:r>
          </a:p>
        </p:txBody>
      </p:sp>
      <p:sp>
        <p:nvSpPr>
          <p:cNvPr id="9" name="">
            <a:extLst xmlns:a="http://schemas.openxmlformats.org/drawingml/2006/main">
              <a:ext uri="{FF2B5EF4-FFF2-40B4-BE49-F238E27FC236}">
                <a16:creationId xmlns:a16="http://schemas.microsoft.com/office/drawing/2014/main" id="{4FC741B0-ED99-4826-B5D7-F738B1E1C8D5}"/>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E362A44-B093-475C-94C5-7125EB0F4D88}"/>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NEXT: Notes → required reading → vocabulary/application</a:t>
            </a:r>
          </a:p>
        </p:txBody>
      </p:sp>
      <p:sp>
        <p:nvSpPr>
          <p:cNvPr id="11" name="">
            <a:extLst xmlns:a="http://schemas.openxmlformats.org/drawingml/2006/main">
              <a:ext uri="{FF2B5EF4-FFF2-40B4-BE49-F238E27FC236}">
                <a16:creationId xmlns:a16="http://schemas.microsoft.com/office/drawing/2014/main" id="{70AB43A5-89B7-4D80-B058-19EFA3C0432F}"/>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10–11 · SBTE 9     Stop at 3:00 total.     3</a:t>
            </a:r>
          </a:p>
        </p:txBody>
      </p:sp>
    </p:spTree>
    <p:extLst>
      <p:ext uri="{BB962C8B-B14F-4D97-AF65-F5344CB8AC3E}">
        <p14:creationId xmlns:p14="http://schemas.microsoft.com/office/powerpoint/2010/main" val="1508062999"/>
      </p:ext>
    </p:extLst>
  </p:cSld>
</p:sld>
</file>

<file path=ppt/slides/slide4.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BE6855E-45D0-43F4-9BBA-384C0A3187F2}"/>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899BD9-85D5-45E2-AB2A-F7FDBADCE3EF}"/>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TUESDAY · NOTICE AND CHOOSE</a:t>
            </a:r>
          </a:p>
        </p:txBody>
      </p:sp>
      <p:sp>
        <p:nvSpPr>
          <p:cNvPr id="3" name="">
            <a:extLst xmlns:a="http://schemas.openxmlformats.org/drawingml/2006/main">
              <a:ext uri="{FF2B5EF4-FFF2-40B4-BE49-F238E27FC236}">
                <a16:creationId xmlns:a16="http://schemas.microsoft.com/office/drawing/2014/main" id="{7BB21ACE-427E-4192-A5C0-828B22658C70}"/>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3:00 TOTAL</a:t>
            </a:r>
          </a:p>
        </p:txBody>
      </p:sp>
      <p:sp>
        <p:nvSpPr>
          <p:cNvPr id="4" name="">
            <a:extLst xmlns:a="http://schemas.openxmlformats.org/drawingml/2006/main">
              <a:ext uri="{FF2B5EF4-FFF2-40B4-BE49-F238E27FC236}">
                <a16:creationId xmlns:a16="http://schemas.microsoft.com/office/drawing/2014/main" id="{C046E64A-BF1C-41A0-9D06-180AA23AF1DA}"/>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Ordered ahead. Delivered too late.</a:t>
            </a:r>
          </a:p>
        </p:txBody>
      </p:sp>
      <p:sp>
        <p:nvSpPr>
          <p:cNvPr id="5" name="">
            <a:extLst xmlns:a="http://schemas.openxmlformats.org/drawingml/2006/main">
              <a:ext uri="{FF2B5EF4-FFF2-40B4-BE49-F238E27FC236}">
                <a16:creationId xmlns:a16="http://schemas.microsoft.com/office/drawing/2014/main" id="{92385406-2FCD-4753-A145-268BAF31CA89}"/>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The school club ordered popcorn early. It arrived after the game.</a:t>
            </a:r>
          </a:p>
        </p:txBody>
      </p:sp>
      <p:sp>
        <p:nvSpPr>
          <p:cNvPr id="6" name="">
            <a:extLst xmlns:a="http://schemas.openxmlformats.org/drawingml/2006/main">
              <a:ext uri="{FF2B5EF4-FFF2-40B4-BE49-F238E27FC236}">
                <a16:creationId xmlns:a16="http://schemas.microsoft.com/office/drawing/2014/main" id="{C16B02BE-C514-4115-9BC7-E5597F772B52}"/>
              </a:ext>
            </a:extLst>
          </p:cNvPr>
          <p:cNvSpPr>
            <a:spLocks xmlns:a="http://schemas.openxmlformats.org/drawingml/2006/main" noGrp="1"/>
          </p:cNvSpPr>
          <p:nvPr/>
        </p:nvSpPr>
        <p:spPr>
          <a:xfrm xmlns:a="http://schemas.openxmlformats.org/drawingml/2006/main">
            <a:off x="609600" y="20193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1">
                <a:solidFill>
                  <a:srgbClr val="17334D"/>
                </a:solidFill>
                <a:latin typeface="Arial"/>
                <a:ea typeface="Arial"/>
                <a:cs typeface="Arial"/>
              </a:defRPr>
            </a:pPr>
            <a:r>
              <a:rPr sz="2325" b="1">
                <a:solidFill>
                  <a:srgbClr val="17334D"/>
                </a:solidFill>
                <a:latin typeface="Arial"/>
                <a:ea typeface="Arial"/>
                <a:cs typeface="Arial"/>
              </a:rPr>
              <a:t>What should the seller fix for the next game?</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76e0f14231e4597"/>
          <a:stretch xmlns:a="http://schemas.openxmlformats.org/drawingml/2006/main"/>
        </p:blipFill>
        <p:spPr>
          <a:xfrm xmlns:a="http://schemas.openxmlformats.org/drawingml/2006/main">
            <a:off x="609600" y="2524125"/>
            <a:ext cx="3409950" cy="2143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6B925E9-FD26-459A-AE66-A085C1C5EBF7}"/>
              </a:ext>
            </a:extLst>
          </p:cNvPr>
          <p:cNvSpPr>
            <a:spLocks xmlns:a="http://schemas.openxmlformats.org/drawingml/2006/main" noGrp="1"/>
          </p:cNvSpPr>
          <p:nvPr/>
        </p:nvSpPr>
        <p:spPr>
          <a:xfrm xmlns:a="http://schemas.openxmlformats.org/drawingml/2006/main">
            <a:off x="60960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A  Change the packaging</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6a3fddc8c8c4dd1"/>
          <a:stretch xmlns:a="http://schemas.openxmlformats.org/drawingml/2006/main"/>
        </p:blipFill>
        <p:spPr>
          <a:xfrm xmlns:a="http://schemas.openxmlformats.org/drawingml/2006/main">
            <a:off x="4391025" y="2867025"/>
            <a:ext cx="3409950" cy="21431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CFB46C8-81C6-4E72-BCEC-7729302F15E4}"/>
              </a:ext>
            </a:extLst>
          </p:cNvPr>
          <p:cNvSpPr>
            <a:spLocks xmlns:a="http://schemas.openxmlformats.org/drawingml/2006/main" noGrp="1"/>
          </p:cNvSpPr>
          <p:nvPr/>
        </p:nvSpPr>
        <p:spPr>
          <a:xfrm xmlns:a="http://schemas.openxmlformats.org/drawingml/2006/main">
            <a:off x="4391025" y="50673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B  Make a bigger ad</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2e7feab1d85446c1"/>
          <a:stretch xmlns:a="http://schemas.openxmlformats.org/drawingml/2006/main"/>
        </p:blipFill>
        <p:spPr>
          <a:xfrm xmlns:a="http://schemas.openxmlformats.org/drawingml/2006/main">
            <a:off x="8172450" y="2524125"/>
            <a:ext cx="3409950" cy="21431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1BCA01C4-BD7C-4ED2-A908-23843FB26E58}"/>
              </a:ext>
            </a:extLst>
          </p:cNvPr>
          <p:cNvSpPr>
            <a:spLocks xmlns:a="http://schemas.openxmlformats.org/drawingml/2006/main" noGrp="1"/>
          </p:cNvSpPr>
          <p:nvPr/>
        </p:nvSpPr>
        <p:spPr>
          <a:xfrm xmlns:a="http://schemas.openxmlformats.org/drawingml/2006/main">
            <a:off x="817245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C  Deliver before the game</a:t>
            </a:r>
          </a:p>
        </p:txBody>
      </p:sp>
      <p:sp>
        <p:nvSpPr>
          <p:cNvPr id="13" name="">
            <a:extLst xmlns:a="http://schemas.openxmlformats.org/drawingml/2006/main">
              <a:ext uri="{FF2B5EF4-FFF2-40B4-BE49-F238E27FC236}">
                <a16:creationId xmlns:a16="http://schemas.microsoft.com/office/drawing/2014/main" id="{A026FC5B-2D1C-498B-9C26-926EF29BB8D5}"/>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51CADA6-DC22-484F-B792-74915A5A3E3E}"/>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LOOK 20s → CHOOSE 40s     Point, show fingers, or write your choice.</a:t>
            </a:r>
          </a:p>
        </p:txBody>
      </p:sp>
      <p:sp>
        <p:nvSpPr>
          <p:cNvPr id="15" name="">
            <a:extLst xmlns:a="http://schemas.openxmlformats.org/drawingml/2006/main">
              <a:ext uri="{FF2B5EF4-FFF2-40B4-BE49-F238E27FC236}">
                <a16:creationId xmlns:a16="http://schemas.microsoft.com/office/drawing/2014/main" id="{9A46844F-D07D-46A8-A556-6B76C815761E}"/>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11–12 · SBTE 10     “My choice is __ because __.”     4</a:t>
            </a:r>
          </a:p>
        </p:txBody>
      </p:sp>
    </p:spTree>
    <p:extLst>
      <p:ext uri="{BB962C8B-B14F-4D97-AF65-F5344CB8AC3E}">
        <p14:creationId xmlns:p14="http://schemas.microsoft.com/office/powerpoint/2010/main" val="62830757"/>
      </p:ext>
    </p:extLst>
  </p:cSld>
</p:sld>
</file>

<file path=ppt/slides/slide5.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0C23B72-28A4-492D-91D1-1D9D55EEDAF2}"/>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35C9D85-1DF0-4584-B739-142F0BEFF04E}"/>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TUESDAY · CHECK</a:t>
            </a:r>
          </a:p>
        </p:txBody>
      </p:sp>
      <p:sp>
        <p:nvSpPr>
          <p:cNvPr id="3" name="">
            <a:extLst xmlns:a="http://schemas.openxmlformats.org/drawingml/2006/main">
              <a:ext uri="{FF2B5EF4-FFF2-40B4-BE49-F238E27FC236}">
                <a16:creationId xmlns:a16="http://schemas.microsoft.com/office/drawing/2014/main" id="{A71F4F71-F895-4D84-B4B8-8D8D2CC6D963}"/>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CHECK · 0:50</a:t>
            </a:r>
          </a:p>
        </p:txBody>
      </p:sp>
      <p:sp>
        <p:nvSpPr>
          <p:cNvPr id="4" name="">
            <a:extLst xmlns:a="http://schemas.openxmlformats.org/drawingml/2006/main">
              <a:ext uri="{FF2B5EF4-FFF2-40B4-BE49-F238E27FC236}">
                <a16:creationId xmlns:a16="http://schemas.microsoft.com/office/drawing/2014/main" id="{4198F6B3-81C9-4C72-9B80-BFEE8EE3274A}"/>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C  Deliver before the game</a:t>
            </a:r>
          </a:p>
        </p:txBody>
      </p:sp>
      <p:sp>
        <p:nvSpPr>
          <p:cNvPr id="5" name="">
            <a:extLst xmlns:a="http://schemas.openxmlformats.org/drawingml/2006/main">
              <a:ext uri="{FF2B5EF4-FFF2-40B4-BE49-F238E27FC236}">
                <a16:creationId xmlns:a16="http://schemas.microsoft.com/office/drawing/2014/main" id="{5C6438DC-824F-4628-889F-6DB8B79B523F}"/>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PLACE · ONE OF THE 4 Ps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cb2947851b184c58"/>
          <a:stretch xmlns:a="http://schemas.openxmlformats.org/drawingml/2006/main"/>
        </p:blipFill>
        <p:spPr>
          <a:xfrm xmlns:a="http://schemas.openxmlformats.org/drawingml/2006/main">
            <a:off x="609600" y="2476500"/>
            <a:ext cx="3409950" cy="19812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2A6C63A-C7FD-4BF6-9F81-BC10566D4723}"/>
              </a:ext>
            </a:extLst>
          </p:cNvPr>
          <p:cNvSpPr>
            <a:spLocks xmlns:a="http://schemas.openxmlformats.org/drawingml/2006/main" noGrp="1"/>
          </p:cNvSpPr>
          <p:nvPr/>
        </p:nvSpPr>
        <p:spPr>
          <a:xfrm xmlns:a="http://schemas.openxmlformats.org/drawingml/2006/main">
            <a:off x="60960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A  New packaging: product</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26acd8495094902"/>
          <a:stretch xmlns:a="http://schemas.openxmlformats.org/drawingml/2006/main"/>
        </p:blipFill>
        <p:spPr>
          <a:xfrm xmlns:a="http://schemas.openxmlformats.org/drawingml/2006/main">
            <a:off x="4391025" y="2952750"/>
            <a:ext cx="3409950" cy="1981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F064FAD-90F1-409A-8A0E-12088F977250}"/>
              </a:ext>
            </a:extLst>
          </p:cNvPr>
          <p:cNvSpPr>
            <a:spLocks xmlns:a="http://schemas.openxmlformats.org/drawingml/2006/main" noGrp="1"/>
          </p:cNvSpPr>
          <p:nvPr/>
        </p:nvSpPr>
        <p:spPr>
          <a:xfrm xmlns:a="http://schemas.openxmlformats.org/drawingml/2006/main">
            <a:off x="4391025" y="501015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B  Bigger ad: promotion</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19e4f6dee3e34155"/>
          <a:stretch xmlns:a="http://schemas.openxmlformats.org/drawingml/2006/main"/>
        </p:blipFill>
        <p:spPr>
          <a:xfrm xmlns:a="http://schemas.openxmlformats.org/drawingml/2006/main">
            <a:off x="8172450" y="2476500"/>
            <a:ext cx="3409950" cy="19812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1E1060F-D044-4E9F-BFE3-048AE24C7CB3}"/>
              </a:ext>
            </a:extLst>
          </p:cNvPr>
          <p:cNvSpPr>
            <a:spLocks xmlns:a="http://schemas.openxmlformats.org/drawingml/2006/main" noGrp="1"/>
          </p:cNvSpPr>
          <p:nvPr/>
        </p:nvSpPr>
        <p:spPr>
          <a:xfrm xmlns:a="http://schemas.openxmlformats.org/drawingml/2006/main">
            <a:off x="817245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C  Timely delivery: place</a:t>
            </a:r>
          </a:p>
        </p:txBody>
      </p:sp>
      <p:sp>
        <p:nvSpPr>
          <p:cNvPr id="12" name="">
            <a:extLst xmlns:a="http://schemas.openxmlformats.org/drawingml/2006/main">
              <a:ext uri="{FF2B5EF4-FFF2-40B4-BE49-F238E27FC236}">
                <a16:creationId xmlns:a16="http://schemas.microsoft.com/office/drawing/2014/main" id="{AD2F4894-3F56-4207-87D2-7887180A6DCC}"/>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C5EADDA-61E4-4E59-B6AE-B4EDD888D591}"/>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PLACE includes how, where, and when a product reaches you.</a:t>
            </a:r>
          </a:p>
        </p:txBody>
      </p:sp>
      <p:sp>
        <p:nvSpPr>
          <p:cNvPr id="14" name="">
            <a:extLst xmlns:a="http://schemas.openxmlformats.org/drawingml/2006/main">
              <a:ext uri="{FF2B5EF4-FFF2-40B4-BE49-F238E27FC236}">
                <a16:creationId xmlns:a16="http://schemas.microsoft.com/office/drawing/2014/main" id="{9C6FC303-4780-44E4-8651-A58DF5F3E2C9}"/>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11–12 · SBTE 10     Point to the clue that supports your answer.     5</a:t>
            </a:r>
          </a:p>
        </p:txBody>
      </p:sp>
    </p:spTree>
    <p:extLst>
      <p:ext uri="{BB962C8B-B14F-4D97-AF65-F5344CB8AC3E}">
        <p14:creationId xmlns:p14="http://schemas.microsoft.com/office/powerpoint/2010/main" val="2140832586"/>
      </p:ext>
    </p:extLst>
  </p:cSld>
</p:sld>
</file>

<file path=ppt/slides/slide6.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233C466-271F-47AF-A43E-BE3657370995}"/>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5E3A44A-8427-4CE8-A0F2-9E244C8E2E1E}"/>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TUESDAY · CONNECT</a:t>
            </a:r>
          </a:p>
        </p:txBody>
      </p:sp>
      <p:sp>
        <p:nvSpPr>
          <p:cNvPr id="3" name="">
            <a:extLst xmlns:a="http://schemas.openxmlformats.org/drawingml/2006/main">
              <a:ext uri="{FF2B5EF4-FFF2-40B4-BE49-F238E27FC236}">
                <a16:creationId xmlns:a16="http://schemas.microsoft.com/office/drawing/2014/main" id="{AAA1E6B7-E3DF-4A07-826D-F35BA2BD0FCF}"/>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CONNECT · 0:50</a:t>
            </a:r>
          </a:p>
        </p:txBody>
      </p:sp>
      <p:sp>
        <p:nvSpPr>
          <p:cNvPr id="4" name="">
            <a:extLst xmlns:a="http://schemas.openxmlformats.org/drawingml/2006/main">
              <a:ext uri="{FF2B5EF4-FFF2-40B4-BE49-F238E27FC236}">
                <a16:creationId xmlns:a16="http://schemas.microsoft.com/office/drawing/2014/main" id="{8F5812C2-0943-4A29-9E3F-BECD5234A4CC}"/>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A product has to reach its customer at the right time.</a:t>
            </a:r>
          </a:p>
        </p:txBody>
      </p:sp>
      <p:sp>
        <p:nvSpPr>
          <p:cNvPr id="5" name="">
            <a:extLst xmlns:a="http://schemas.openxmlformats.org/drawingml/2006/main">
              <a:ext uri="{FF2B5EF4-FFF2-40B4-BE49-F238E27FC236}">
                <a16:creationId xmlns:a16="http://schemas.microsoft.com/office/drawing/2014/main" id="{259B1677-AD67-427B-A012-522EE1D9762B}"/>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Keep this example in mind as you read.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cb47026edd74c16"/>
          <a:stretch xmlns:a="http://schemas.openxmlformats.org/drawingml/2006/main"/>
        </p:blipFill>
        <p:spPr>
          <a:xfrm xmlns:a="http://schemas.openxmlformats.org/drawingml/2006/main">
            <a:off x="609600" y="2333625"/>
            <a:ext cx="4953000" cy="2857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4FF85EA-FAE5-4838-A2A9-2C5B02A2E0EB}"/>
              </a:ext>
            </a:extLst>
          </p:cNvPr>
          <p:cNvSpPr>
            <a:spLocks xmlns:a="http://schemas.openxmlformats.org/drawingml/2006/main" noGrp="1"/>
          </p:cNvSpPr>
          <p:nvPr/>
        </p:nvSpPr>
        <p:spPr>
          <a:xfrm xmlns:a="http://schemas.openxmlformats.org/drawingml/2006/main">
            <a:off x="6096000" y="2428875"/>
            <a:ext cx="5334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00" b="1">
                <a:solidFill>
                  <a:srgbClr val="17334D"/>
                </a:solidFill>
                <a:latin typeface="Arial"/>
                <a:ea typeface="Arial"/>
                <a:cs typeface="Arial"/>
              </a:defRPr>
            </a:pPr>
            <a:r>
              <a:rPr sz="2700" b="1">
                <a:solidFill>
                  <a:srgbClr val="17334D"/>
                </a:solidFill>
                <a:latin typeface="Arial"/>
                <a:ea typeface="Arial"/>
                <a:cs typeface="Arial"/>
              </a:rPr>
              <a:t>Open pp. 11–12: “Marketing Mix”</a:t>
            </a:r>
          </a:p>
        </p:txBody>
      </p:sp>
      <p:sp>
        <p:nvSpPr>
          <p:cNvPr id="8" name="">
            <a:extLst xmlns:a="http://schemas.openxmlformats.org/drawingml/2006/main">
              <a:ext uri="{FF2B5EF4-FFF2-40B4-BE49-F238E27FC236}">
                <a16:creationId xmlns:a16="http://schemas.microsoft.com/office/drawing/2014/main" id="{128AF876-6476-41C3-ACEE-51C543096664}"/>
              </a:ext>
            </a:extLst>
          </p:cNvPr>
          <p:cNvSpPr>
            <a:spLocks xmlns:a="http://schemas.openxmlformats.org/drawingml/2006/main" noGrp="1"/>
          </p:cNvSpPr>
          <p:nvPr/>
        </p:nvSpPr>
        <p:spPr>
          <a:xfrm xmlns:a="http://schemas.openxmlformats.org/drawingml/2006/main">
            <a:off x="6096000" y="3648075"/>
            <a:ext cx="5334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7334D"/>
                </a:solidFill>
                <a:latin typeface="Arial"/>
                <a:ea typeface="Arial"/>
                <a:cs typeface="Arial"/>
              </a:defRPr>
            </a:pPr>
            <a:r>
              <a:rPr sz="2325" b="0">
                <a:solidFill>
                  <a:srgbClr val="17334D"/>
                </a:solidFill>
                <a:latin typeface="Arial"/>
                <a:ea typeface="Arial"/>
                <a:cs typeface="Arial"/>
              </a:rPr>
              <a:t>Find product, promotion, price, and place.</a:t>
            </a:r>
          </a:p>
        </p:txBody>
      </p:sp>
      <p:sp>
        <p:nvSpPr>
          <p:cNvPr id="9" name="">
            <a:extLst xmlns:a="http://schemas.openxmlformats.org/drawingml/2006/main">
              <a:ext uri="{FF2B5EF4-FFF2-40B4-BE49-F238E27FC236}">
                <a16:creationId xmlns:a16="http://schemas.microsoft.com/office/drawing/2014/main" id="{2EE0423C-AF12-48FC-838E-C888BA23EBB2}"/>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9DE5407-C3E7-4382-A4DE-4CAABECBC2C3}"/>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NEXT: Notes → required reading → vocabulary/application</a:t>
            </a:r>
          </a:p>
        </p:txBody>
      </p:sp>
      <p:sp>
        <p:nvSpPr>
          <p:cNvPr id="11" name="">
            <a:extLst xmlns:a="http://schemas.openxmlformats.org/drawingml/2006/main">
              <a:ext uri="{FF2B5EF4-FFF2-40B4-BE49-F238E27FC236}">
                <a16:creationId xmlns:a16="http://schemas.microsoft.com/office/drawing/2014/main" id="{2BBDA6E1-542A-4406-B47C-D442383A9681}"/>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11–12 · SBTE 10     Stop at 3:00 total.     6</a:t>
            </a:r>
          </a:p>
        </p:txBody>
      </p:sp>
    </p:spTree>
    <p:extLst>
      <p:ext uri="{BB962C8B-B14F-4D97-AF65-F5344CB8AC3E}">
        <p14:creationId xmlns:p14="http://schemas.microsoft.com/office/powerpoint/2010/main" val="2123666692"/>
      </p:ext>
    </p:extLst>
  </p:cSld>
</p:sld>
</file>

<file path=ppt/slides/slide7.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A4E1EA4-5D97-4DB2-9110-65651FFAA22F}"/>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66BB4B-F4E8-40D9-B758-2516465712FE}"/>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WEDNESDAY · NOTICE AND CHOOSE</a:t>
            </a:r>
          </a:p>
        </p:txBody>
      </p:sp>
      <p:sp>
        <p:nvSpPr>
          <p:cNvPr id="3" name="">
            <a:extLst xmlns:a="http://schemas.openxmlformats.org/drawingml/2006/main">
              <a:ext uri="{FF2B5EF4-FFF2-40B4-BE49-F238E27FC236}">
                <a16:creationId xmlns:a16="http://schemas.microsoft.com/office/drawing/2014/main" id="{EA3FEDCE-DB7E-49B9-BD71-BD96C31A5909}"/>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3:00 TOTAL</a:t>
            </a:r>
          </a:p>
        </p:txBody>
      </p:sp>
      <p:sp>
        <p:nvSpPr>
          <p:cNvPr id="4" name="">
            <a:extLst xmlns:a="http://schemas.openxmlformats.org/drawingml/2006/main">
              <a:ext uri="{FF2B5EF4-FFF2-40B4-BE49-F238E27FC236}">
                <a16:creationId xmlns:a16="http://schemas.microsoft.com/office/drawing/2014/main" id="{15032EE8-03DC-4CB0-BA16-9E52E9DB592D}"/>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Would people actually come?</a:t>
            </a:r>
          </a:p>
        </p:txBody>
      </p:sp>
      <p:sp>
        <p:nvSpPr>
          <p:cNvPr id="5" name="">
            <a:extLst xmlns:a="http://schemas.openxmlformats.org/drawingml/2006/main">
              <a:ext uri="{FF2B5EF4-FFF2-40B4-BE49-F238E27FC236}">
                <a16:creationId xmlns:a16="http://schemas.microsoft.com/office/drawing/2014/main" id="{94610F99-0556-483C-BC3E-5B00FAC1A482}"/>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A fictional esports event wants players AND spectators.</a:t>
            </a:r>
          </a:p>
        </p:txBody>
      </p:sp>
      <p:sp>
        <p:nvSpPr>
          <p:cNvPr id="6" name="">
            <a:extLst xmlns:a="http://schemas.openxmlformats.org/drawingml/2006/main">
              <a:ext uri="{FF2B5EF4-FFF2-40B4-BE49-F238E27FC236}">
                <a16:creationId xmlns:a16="http://schemas.microsoft.com/office/drawing/2014/main" id="{6DAA4F9D-0C07-45DE-9C9C-605BBE8DC821}"/>
              </a:ext>
            </a:extLst>
          </p:cNvPr>
          <p:cNvSpPr>
            <a:spLocks xmlns:a="http://schemas.openxmlformats.org/drawingml/2006/main" noGrp="1"/>
          </p:cNvSpPr>
          <p:nvPr/>
        </p:nvSpPr>
        <p:spPr>
          <a:xfrm xmlns:a="http://schemas.openxmlformats.org/drawingml/2006/main">
            <a:off x="609600" y="20193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1">
                <a:solidFill>
                  <a:srgbClr val="17334D"/>
                </a:solidFill>
                <a:latin typeface="Arial"/>
                <a:ea typeface="Arial"/>
                <a:cs typeface="Arial"/>
              </a:defRPr>
            </a:pPr>
            <a:r>
              <a:rPr sz="2325" b="1">
                <a:solidFill>
                  <a:srgbClr val="17334D"/>
                </a:solidFill>
                <a:latin typeface="Arial"/>
                <a:ea typeface="Arial"/>
                <a:cs typeface="Arial"/>
              </a:rPr>
              <a:t>Which question gives the most useful evidence?</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39838d12e504729"/>
          <a:stretch xmlns:a="http://schemas.openxmlformats.org/drawingml/2006/main"/>
        </p:blipFill>
        <p:spPr>
          <a:xfrm xmlns:a="http://schemas.openxmlformats.org/drawingml/2006/main">
            <a:off x="609600" y="2524125"/>
            <a:ext cx="3409950" cy="2143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89E9680-5698-452F-87D8-B79E6D030088}"/>
              </a:ext>
            </a:extLst>
          </p:cNvPr>
          <p:cNvSpPr>
            <a:spLocks xmlns:a="http://schemas.openxmlformats.org/drawingml/2006/main" noGrp="1"/>
          </p:cNvSpPr>
          <p:nvPr/>
        </p:nvSpPr>
        <p:spPr>
          <a:xfrm xmlns:a="http://schemas.openxmlformats.org/drawingml/2006/main">
            <a:off x="60960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A  “Gaming is great, right?”</a:t>
            </a:r>
          </a:p>
        </p:txBody>
      </p:sp>
      <p:sp>
        <p:nvSpPr>
          <p:cNvPr id="9" name="">
            <a:extLst xmlns:a="http://schemas.openxmlformats.org/drawingml/2006/main">
              <a:ext uri="{FF2B5EF4-FFF2-40B4-BE49-F238E27FC236}">
                <a16:creationId xmlns:a16="http://schemas.microsoft.com/office/drawing/2014/main" id="{F512AA39-4284-4967-B8B0-77A0A2F80A50}"/>
              </a:ext>
            </a:extLst>
          </p:cNvPr>
          <p:cNvSpPr>
            <a:spLocks xmlns:a="http://schemas.openxmlformats.org/drawingml/2006/main" noGrp="1"/>
          </p:cNvSpPr>
          <p:nvPr/>
        </p:nvSpPr>
        <p:spPr>
          <a:xfrm xmlns:a="http://schemas.openxmlformats.org/drawingml/2006/main">
            <a:off x="4391025" y="50673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B  “Play, watch, or neither?”</a:t>
            </a:r>
          </a:p>
        </p:txBody>
      </p:sp>
      <p:sp>
        <p:nvSpPr>
          <p:cNvPr id="10" name="">
            <a:extLst xmlns:a="http://schemas.openxmlformats.org/drawingml/2006/main">
              <a:ext uri="{FF2B5EF4-FFF2-40B4-BE49-F238E27FC236}">
                <a16:creationId xmlns:a16="http://schemas.microsoft.com/office/drawing/2014/main" id="{D1E6B158-44FF-474C-B481-967F5C966C3E}"/>
              </a:ext>
            </a:extLst>
          </p:cNvPr>
          <p:cNvSpPr>
            <a:spLocks xmlns:a="http://schemas.openxmlformats.org/drawingml/2006/main" noGrp="1"/>
          </p:cNvSpPr>
          <p:nvPr/>
        </p:nvSpPr>
        <p:spPr>
          <a:xfrm xmlns:a="http://schemas.openxmlformats.org/drawingml/2006/main">
            <a:off x="817245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C  “My favorite game wins?”</a:t>
            </a:r>
          </a:p>
        </p:txBody>
      </p:sp>
      <p:sp>
        <p:nvSpPr>
          <p:cNvPr id="11" name="">
            <a:extLst xmlns:a="http://schemas.openxmlformats.org/drawingml/2006/main">
              <a:ext uri="{FF2B5EF4-FFF2-40B4-BE49-F238E27FC236}">
                <a16:creationId xmlns:a16="http://schemas.microsoft.com/office/drawing/2014/main" id="{AB177A98-4395-4F01-AC49-2E0622B0684F}"/>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6060C02-64A9-4F94-A931-268195A90685}"/>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LOOK 20s → CHOOSE 40s     Point, show fingers, or write your choice.</a:t>
            </a:r>
          </a:p>
        </p:txBody>
      </p:sp>
      <p:sp>
        <p:nvSpPr>
          <p:cNvPr id="13" name="">
            <a:extLst xmlns:a="http://schemas.openxmlformats.org/drawingml/2006/main">
              <a:ext uri="{FF2B5EF4-FFF2-40B4-BE49-F238E27FC236}">
                <a16:creationId xmlns:a16="http://schemas.microsoft.com/office/drawing/2014/main" id="{53E6D345-492E-4A3D-9E2E-82D4CBCD0115}"/>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13–15 · SBTE 11–13     “My choice is __ because __.”     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58a9b01c59e54aef"/>
          <a:stretch xmlns:a="http://schemas.openxmlformats.org/drawingml/2006/main"/>
        </p:blipFill>
        <p:spPr>
          <a:xfrm xmlns:a="http://schemas.openxmlformats.org/drawingml/2006/main">
            <a:off x="4391025" y="2867025"/>
            <a:ext cx="3409950" cy="2143125"/>
          </a:xfrm>
          <a:prstGeom xmlns:a="http://schemas.openxmlformats.org/drawingml/2006/main" prst="rect">
            <a:avLst/>
          </a:prstGeom>
        </p:spPr>
      </p:pic>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de4fa90a34a54af3"/>
          <a:stretch xmlns:a="http://schemas.openxmlformats.org/drawingml/2006/main"/>
        </p:blipFill>
        <p:spPr>
          <a:xfrm xmlns:a="http://schemas.openxmlformats.org/drawingml/2006/main">
            <a:off x="8172450" y="2524125"/>
            <a:ext cx="3409950" cy="2143125"/>
          </a:xfrm>
          <a:prstGeom xmlns:a="http://schemas.openxmlformats.org/drawingml/2006/main" prst="rect">
            <a:avLst/>
          </a:prstGeom>
        </p:spPr>
      </p:pic>
    </p:spTree>
    <p:extLst>
      <p:ext uri="{BB962C8B-B14F-4D97-AF65-F5344CB8AC3E}">
        <p14:creationId xmlns:p14="http://schemas.microsoft.com/office/powerpoint/2010/main" val="1793253591"/>
      </p:ext>
    </p:extLst>
  </p:cSld>
</p:sld>
</file>

<file path=ppt/slides/slide8.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E64A0F8-2B36-4CD8-8F5D-0D88E4CE40DA}"/>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8CF04D-4A43-4748-88F2-9B4A938C35D6}"/>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WEDNESDAY · CHECK</a:t>
            </a:r>
          </a:p>
        </p:txBody>
      </p:sp>
      <p:sp>
        <p:nvSpPr>
          <p:cNvPr id="3" name="">
            <a:extLst xmlns:a="http://schemas.openxmlformats.org/drawingml/2006/main">
              <a:ext uri="{FF2B5EF4-FFF2-40B4-BE49-F238E27FC236}">
                <a16:creationId xmlns:a16="http://schemas.microsoft.com/office/drawing/2014/main" id="{709856FF-063D-4636-AD46-2C7FFD9DA68C}"/>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CHECK · 0:50</a:t>
            </a:r>
          </a:p>
        </p:txBody>
      </p:sp>
      <p:sp>
        <p:nvSpPr>
          <p:cNvPr id="4" name="">
            <a:extLst xmlns:a="http://schemas.openxmlformats.org/drawingml/2006/main">
              <a:ext uri="{FF2B5EF4-FFF2-40B4-BE49-F238E27FC236}">
                <a16:creationId xmlns:a16="http://schemas.microsoft.com/office/drawing/2014/main" id="{ACE2973F-23A5-4C17-828B-B5752EDF9024}"/>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B  Play, watch, or neither?</a:t>
            </a:r>
          </a:p>
        </p:txBody>
      </p:sp>
      <p:sp>
        <p:nvSpPr>
          <p:cNvPr id="5" name="">
            <a:extLst xmlns:a="http://schemas.openxmlformats.org/drawingml/2006/main">
              <a:ext uri="{FF2B5EF4-FFF2-40B4-BE49-F238E27FC236}">
                <a16:creationId xmlns:a16="http://schemas.microsoft.com/office/drawing/2014/main" id="{C12ECE28-A3C7-4D9B-B177-924C0DC2486D}"/>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MARKETING INFORMATION MANAGEMENT</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4ad0362e270d4f89"/>
          <a:stretch xmlns:a="http://schemas.openxmlformats.org/drawingml/2006/main"/>
        </p:blipFill>
        <p:spPr>
          <a:xfrm xmlns:a="http://schemas.openxmlformats.org/drawingml/2006/main">
            <a:off x="609600" y="2476500"/>
            <a:ext cx="3409950" cy="19812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7D138F8-3BCB-484A-950B-A47A8C6ED0C3}"/>
              </a:ext>
            </a:extLst>
          </p:cNvPr>
          <p:cNvSpPr>
            <a:spLocks xmlns:a="http://schemas.openxmlformats.org/drawingml/2006/main" noGrp="1"/>
          </p:cNvSpPr>
          <p:nvPr/>
        </p:nvSpPr>
        <p:spPr>
          <a:xfrm xmlns:a="http://schemas.openxmlformats.org/drawingml/2006/main">
            <a:off x="609600" y="45339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A  Pushes agreement</a:t>
            </a:r>
          </a:p>
        </p:txBody>
      </p:sp>
      <p:sp>
        <p:nvSpPr>
          <p:cNvPr id="8" name="">
            <a:extLst xmlns:a="http://schemas.openxmlformats.org/drawingml/2006/main">
              <a:ext uri="{FF2B5EF4-FFF2-40B4-BE49-F238E27FC236}">
                <a16:creationId xmlns:a16="http://schemas.microsoft.com/office/drawing/2014/main" id="{66E17671-6F15-49D3-8464-16FEF50CC1B2}"/>
              </a:ext>
            </a:extLst>
          </p:cNvPr>
          <p:cNvSpPr>
            <a:spLocks xmlns:a="http://schemas.openxmlformats.org/drawingml/2006/main" noGrp="1"/>
          </p:cNvSpPr>
          <p:nvPr/>
        </p:nvSpPr>
        <p:spPr>
          <a:xfrm xmlns:a="http://schemas.openxmlformats.org/drawingml/2006/main">
            <a:off x="4391025" y="501015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B  Welcomes different answers</a:t>
            </a:r>
          </a:p>
        </p:txBody>
      </p:sp>
      <p:sp>
        <p:nvSpPr>
          <p:cNvPr id="9" name="">
            <a:extLst xmlns:a="http://schemas.openxmlformats.org/drawingml/2006/main">
              <a:ext uri="{FF2B5EF4-FFF2-40B4-BE49-F238E27FC236}">
                <a16:creationId xmlns:a16="http://schemas.microsoft.com/office/drawing/2014/main" id="{9F039C22-84F8-442A-93E4-F1131C57601F}"/>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DC3A0B0D-8AAB-4088-AC32-4212984EB734}"/>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Market research gathers evidence about customers’ wants and needs.</a:t>
            </a:r>
          </a:p>
        </p:txBody>
      </p:sp>
      <p:sp>
        <p:nvSpPr>
          <p:cNvPr id="11" name="">
            <a:extLst xmlns:a="http://schemas.openxmlformats.org/drawingml/2006/main">
              <a:ext uri="{FF2B5EF4-FFF2-40B4-BE49-F238E27FC236}">
                <a16:creationId xmlns:a16="http://schemas.microsoft.com/office/drawing/2014/main" id="{76D193ED-BBBA-4F47-A093-D70797AAC4F2}"/>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13–15 · SBTE 11–13     Point to the clue that supports your answer.     8</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4e0d285f1a384997"/>
          <a:stretch xmlns:a="http://schemas.openxmlformats.org/drawingml/2006/main"/>
        </p:blipFill>
        <p:spPr>
          <a:xfrm xmlns:a="http://schemas.openxmlformats.org/drawingml/2006/main">
            <a:off x="4391025" y="2952750"/>
            <a:ext cx="3409950" cy="1981200"/>
          </a:xfrm>
          <a:prstGeom xmlns:a="http://schemas.openxmlformats.org/drawingml/2006/main" prst="rect">
            <a:avLst/>
          </a:prstGeom>
        </p:spPr>
      </p:pic>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649ada1e7984f80"/>
          <a:stretch xmlns:a="http://schemas.openxmlformats.org/drawingml/2006/main"/>
        </p:blipFill>
        <p:spPr>
          <a:xfrm xmlns:a="http://schemas.openxmlformats.org/drawingml/2006/main">
            <a:off x="8172450" y="2476500"/>
            <a:ext cx="3409950" cy="1981200"/>
          </a:xfrm>
          <a:prstGeom xmlns:a="http://schemas.openxmlformats.org/drawingml/2006/main" prst="rect">
            <a:avLst/>
          </a:prstGeom>
        </p:spPr>
      </p:pic>
      <p:sp>
        <p:nvSpPr>
          <p:cNvPr id="16" name="">
            <a:extLst xmlns:a="http://schemas.openxmlformats.org/drawingml/2006/main">
              <a:ext uri="{FF2B5EF4-FFF2-40B4-BE49-F238E27FC236}">
                <a16:creationId xmlns:a16="http://schemas.microsoft.com/office/drawing/2014/main" id="{7042D1C3-E693-4FF7-8CE0-DA13E9527B15}"/>
              </a:ext>
            </a:extLst>
          </p:cNvPr>
          <p:cNvSpPr>
            <a:spLocks xmlns:a="http://schemas.openxmlformats.org/drawingml/2006/main" noGrp="1"/>
          </p:cNvSpPr>
          <p:nvPr/>
        </p:nvSpPr>
        <p:spPr>
          <a:xfrm xmlns:a="http://schemas.openxmlformats.org/drawingml/2006/main">
            <a:off x="8172450" y="45339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C  Centers my preference</a:t>
            </a:r>
          </a:p>
        </p:txBody>
      </p:sp>
    </p:spTree>
    <p:extLst>
      <p:ext uri="{BB962C8B-B14F-4D97-AF65-F5344CB8AC3E}">
        <p14:creationId xmlns:p14="http://schemas.microsoft.com/office/powerpoint/2010/main" val="1956067776"/>
      </p:ext>
    </p:extLst>
  </p:cSld>
</p:sld>
</file>

<file path=ppt/slides/slide9.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9D9FFDD-F06C-445E-B4C3-22BBEC124A65}"/>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0732A80-4C1B-45E0-AF7B-45E434B11EB4}"/>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WEDNESDAY · CONNECT</a:t>
            </a:r>
          </a:p>
        </p:txBody>
      </p:sp>
      <p:sp>
        <p:nvSpPr>
          <p:cNvPr id="3" name="">
            <a:extLst xmlns:a="http://schemas.openxmlformats.org/drawingml/2006/main">
              <a:ext uri="{FF2B5EF4-FFF2-40B4-BE49-F238E27FC236}">
                <a16:creationId xmlns:a16="http://schemas.microsoft.com/office/drawing/2014/main" id="{E95BF9B0-C7DC-46C9-8A72-028EA914C29B}"/>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CONNECT · 0:50</a:t>
            </a:r>
          </a:p>
        </p:txBody>
      </p:sp>
      <p:sp>
        <p:nvSpPr>
          <p:cNvPr id="4" name="">
            <a:extLst xmlns:a="http://schemas.openxmlformats.org/drawingml/2006/main">
              <a:ext uri="{FF2B5EF4-FFF2-40B4-BE49-F238E27FC236}">
                <a16:creationId xmlns:a16="http://schemas.microsoft.com/office/drawing/2014/main" id="{6A9BD48C-8F5A-4790-9634-166C3E8B703D}"/>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Useful questions leave room for honest answers.</a:t>
            </a:r>
          </a:p>
        </p:txBody>
      </p:sp>
      <p:sp>
        <p:nvSpPr>
          <p:cNvPr id="5" name="">
            <a:extLst xmlns:a="http://schemas.openxmlformats.org/drawingml/2006/main">
              <a:ext uri="{FF2B5EF4-FFF2-40B4-BE49-F238E27FC236}">
                <a16:creationId xmlns:a16="http://schemas.microsoft.com/office/drawing/2014/main" id="{79697831-EF01-409F-986A-B6399C200FED}"/>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Keep this example in mind as you read.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cb4fad019b74a3d"/>
          <a:stretch xmlns:a="http://schemas.openxmlformats.org/drawingml/2006/main"/>
        </p:blipFill>
        <p:spPr>
          <a:xfrm xmlns:a="http://schemas.openxmlformats.org/drawingml/2006/main">
            <a:off x="609600" y="2333625"/>
            <a:ext cx="4953000" cy="2857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FEE9C804-0677-4A15-99AE-44068D632412}"/>
              </a:ext>
            </a:extLst>
          </p:cNvPr>
          <p:cNvSpPr>
            <a:spLocks xmlns:a="http://schemas.openxmlformats.org/drawingml/2006/main" noGrp="1"/>
          </p:cNvSpPr>
          <p:nvPr/>
        </p:nvSpPr>
        <p:spPr>
          <a:xfrm xmlns:a="http://schemas.openxmlformats.org/drawingml/2006/main">
            <a:off x="6096000" y="2428875"/>
            <a:ext cx="5334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00" b="1">
                <a:solidFill>
                  <a:srgbClr val="17334D"/>
                </a:solidFill>
                <a:latin typeface="Arial"/>
                <a:ea typeface="Arial"/>
                <a:cs typeface="Arial"/>
              </a:defRPr>
            </a:pPr>
            <a:r>
              <a:rPr sz="2700" b="1">
                <a:solidFill>
                  <a:srgbClr val="17334D"/>
                </a:solidFill>
                <a:latin typeface="Arial"/>
                <a:ea typeface="Arial"/>
                <a:cs typeface="Arial"/>
              </a:rPr>
              <a:t>Open p. 13: “Marketing Functions”</a:t>
            </a:r>
          </a:p>
        </p:txBody>
      </p:sp>
      <p:sp>
        <p:nvSpPr>
          <p:cNvPr id="8" name="">
            <a:extLst xmlns:a="http://schemas.openxmlformats.org/drawingml/2006/main">
              <a:ext uri="{FF2B5EF4-FFF2-40B4-BE49-F238E27FC236}">
                <a16:creationId xmlns:a16="http://schemas.microsoft.com/office/drawing/2014/main" id="{7BEA0A28-5692-4B7D-8EFF-AA2D6B194C9A}"/>
              </a:ext>
            </a:extLst>
          </p:cNvPr>
          <p:cNvSpPr>
            <a:spLocks xmlns:a="http://schemas.openxmlformats.org/drawingml/2006/main" noGrp="1"/>
          </p:cNvSpPr>
          <p:nvPr/>
        </p:nvSpPr>
        <p:spPr>
          <a:xfrm xmlns:a="http://schemas.openxmlformats.org/drawingml/2006/main">
            <a:off x="6096000" y="3648075"/>
            <a:ext cx="5334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7334D"/>
                </a:solidFill>
                <a:latin typeface="Arial"/>
                <a:ea typeface="Arial"/>
                <a:cs typeface="Arial"/>
              </a:defRPr>
            </a:pPr>
            <a:r>
              <a:rPr sz="2325" b="0">
                <a:solidFill>
                  <a:srgbClr val="17334D"/>
                </a:solidFill>
                <a:latin typeface="Arial"/>
                <a:ea typeface="Arial"/>
                <a:cs typeface="Arial"/>
              </a:rPr>
              <a:t>Find MIM and target market. Continue through p. 15.</a:t>
            </a:r>
          </a:p>
        </p:txBody>
      </p:sp>
      <p:sp>
        <p:nvSpPr>
          <p:cNvPr id="9" name="">
            <a:extLst xmlns:a="http://schemas.openxmlformats.org/drawingml/2006/main">
              <a:ext uri="{FF2B5EF4-FFF2-40B4-BE49-F238E27FC236}">
                <a16:creationId xmlns:a16="http://schemas.microsoft.com/office/drawing/2014/main" id="{F827667D-E666-465D-AA6D-A9A1BCC76598}"/>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42C0CC7E-292B-4584-98CD-6569A4DF9597}"/>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NEXT: Notes → required reading → vocabulary/application</a:t>
            </a:r>
          </a:p>
        </p:txBody>
      </p:sp>
      <p:sp>
        <p:nvSpPr>
          <p:cNvPr id="11" name="">
            <a:extLst xmlns:a="http://schemas.openxmlformats.org/drawingml/2006/main">
              <a:ext uri="{FF2B5EF4-FFF2-40B4-BE49-F238E27FC236}">
                <a16:creationId xmlns:a16="http://schemas.microsoft.com/office/drawing/2014/main" id="{8A79EECD-764E-4019-A0B9-55A966B85E2E}"/>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13–15 · SBTE 11–13     Stop at 3:00 total.     9</a:t>
            </a:r>
          </a:p>
        </p:txBody>
      </p:sp>
    </p:spTree>
    <p:extLst>
      <p:ext uri="{BB962C8B-B14F-4D97-AF65-F5344CB8AC3E}">
        <p14:creationId xmlns:p14="http://schemas.microsoft.com/office/powerpoint/2010/main" val="965152079"/>
      </p:ext>
    </p:extLst>
  </p:cSld>
</p:sld>
</file>

<file path=ppt/slides/slide10.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2D7BC3F-864B-4366-BF12-BEDB8661E85F}"/>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8E8B7A-5DFA-4ED7-9959-280A2BB22645}"/>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THURSDAY · NOTICE AND CHOOSE</a:t>
            </a:r>
          </a:p>
        </p:txBody>
      </p:sp>
      <p:sp>
        <p:nvSpPr>
          <p:cNvPr id="3" name="">
            <a:extLst xmlns:a="http://schemas.openxmlformats.org/drawingml/2006/main">
              <a:ext uri="{FF2B5EF4-FFF2-40B4-BE49-F238E27FC236}">
                <a16:creationId xmlns:a16="http://schemas.microsoft.com/office/drawing/2014/main" id="{C53504A3-5CFA-4B87-9DA6-F2EFC67F62A6}"/>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3:00 TOTAL</a:t>
            </a:r>
          </a:p>
        </p:txBody>
      </p:sp>
      <p:sp>
        <p:nvSpPr>
          <p:cNvPr id="4" name="">
            <a:extLst xmlns:a="http://schemas.openxmlformats.org/drawingml/2006/main">
              <a:ext uri="{FF2B5EF4-FFF2-40B4-BE49-F238E27FC236}">
                <a16:creationId xmlns:a16="http://schemas.microsoft.com/office/drawing/2014/main" id="{073162F5-2D2A-4966-B9DF-C9BDECF80333}"/>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Bike ready. Pickup closes too early.</a:t>
            </a:r>
          </a:p>
        </p:txBody>
      </p:sp>
      <p:sp>
        <p:nvSpPr>
          <p:cNvPr id="5" name="">
            <a:extLst xmlns:a="http://schemas.openxmlformats.org/drawingml/2006/main">
              <a:ext uri="{FF2B5EF4-FFF2-40B4-BE49-F238E27FC236}">
                <a16:creationId xmlns:a16="http://schemas.microsoft.com/office/drawing/2014/main" id="{40554323-AB3F-419D-8F46-19094869A9B6}"/>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The shop closes before school ends. The student cannot collect it.</a:t>
            </a:r>
          </a:p>
        </p:txBody>
      </p:sp>
      <p:sp>
        <p:nvSpPr>
          <p:cNvPr id="6" name="">
            <a:extLst xmlns:a="http://schemas.openxmlformats.org/drawingml/2006/main">
              <a:ext uri="{FF2B5EF4-FFF2-40B4-BE49-F238E27FC236}">
                <a16:creationId xmlns:a16="http://schemas.microsoft.com/office/drawing/2014/main" id="{4D8C596A-7802-48AA-A9BC-071CA5D14FBD}"/>
              </a:ext>
            </a:extLst>
          </p:cNvPr>
          <p:cNvSpPr>
            <a:spLocks xmlns:a="http://schemas.openxmlformats.org/drawingml/2006/main" noGrp="1"/>
          </p:cNvSpPr>
          <p:nvPr/>
        </p:nvSpPr>
        <p:spPr>
          <a:xfrm xmlns:a="http://schemas.openxmlformats.org/drawingml/2006/main">
            <a:off x="609600" y="20193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1">
                <a:solidFill>
                  <a:srgbClr val="17334D"/>
                </a:solidFill>
                <a:latin typeface="Arial"/>
                <a:ea typeface="Arial"/>
                <a:cs typeface="Arial"/>
              </a:defRPr>
            </a:pPr>
            <a:r>
              <a:rPr sz="2325" b="1">
                <a:solidFill>
                  <a:srgbClr val="17334D"/>
                </a:solidFill>
                <a:latin typeface="Arial"/>
                <a:ea typeface="Arial"/>
                <a:cs typeface="Arial"/>
              </a:rPr>
              <a:t>What should the shop change so pickup works?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9594dbe718ad4035"/>
          <a:stretch xmlns:a="http://schemas.openxmlformats.org/drawingml/2006/main"/>
        </p:blipFill>
        <p:spPr>
          <a:xfrm xmlns:a="http://schemas.openxmlformats.org/drawingml/2006/main">
            <a:off x="609600" y="2524125"/>
            <a:ext cx="3409950" cy="2143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6EC8EC0-E0EE-48F1-886D-1858F67CDEEB}"/>
              </a:ext>
            </a:extLst>
          </p:cNvPr>
          <p:cNvSpPr>
            <a:spLocks xmlns:a="http://schemas.openxmlformats.org/drawingml/2006/main" noGrp="1"/>
          </p:cNvSpPr>
          <p:nvPr/>
        </p:nvSpPr>
        <p:spPr>
          <a:xfrm xmlns:a="http://schemas.openxmlformats.org/drawingml/2006/main">
            <a:off x="60960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A  Repair the bike again</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882408cf275404b"/>
          <a:stretch xmlns:a="http://schemas.openxmlformats.org/drawingml/2006/main"/>
        </p:blipFill>
        <p:spPr>
          <a:xfrm xmlns:a="http://schemas.openxmlformats.org/drawingml/2006/main">
            <a:off x="4391025" y="2867025"/>
            <a:ext cx="3409950" cy="21431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A7C19B76-9C0A-493F-88FE-31D4E0AE885F}"/>
              </a:ext>
            </a:extLst>
          </p:cNvPr>
          <p:cNvSpPr>
            <a:spLocks xmlns:a="http://schemas.openxmlformats.org/drawingml/2006/main" noGrp="1"/>
          </p:cNvSpPr>
          <p:nvPr/>
        </p:nvSpPr>
        <p:spPr>
          <a:xfrm xmlns:a="http://schemas.openxmlformats.org/drawingml/2006/main">
            <a:off x="4391025" y="50673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B  Ask about favorite bike colors</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bf0c4c9583254623"/>
          <a:stretch xmlns:a="http://schemas.openxmlformats.org/drawingml/2006/main"/>
        </p:blipFill>
        <p:spPr>
          <a:xfrm xmlns:a="http://schemas.openxmlformats.org/drawingml/2006/main">
            <a:off x="8172450" y="2524125"/>
            <a:ext cx="3409950" cy="21431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EFF00FEA-059C-49BD-810A-F9AADE9E4BDE}"/>
              </a:ext>
            </a:extLst>
          </p:cNvPr>
          <p:cNvSpPr>
            <a:spLocks xmlns:a="http://schemas.openxmlformats.org/drawingml/2006/main" noGrp="1"/>
          </p:cNvSpPr>
          <p:nvPr/>
        </p:nvSpPr>
        <p:spPr>
          <a:xfrm xmlns:a="http://schemas.openxmlformats.org/drawingml/2006/main">
            <a:off x="817245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C  Offer after-school pickup</a:t>
            </a:r>
          </a:p>
        </p:txBody>
      </p:sp>
      <p:sp>
        <p:nvSpPr>
          <p:cNvPr id="13" name="">
            <a:extLst xmlns:a="http://schemas.openxmlformats.org/drawingml/2006/main">
              <a:ext uri="{FF2B5EF4-FFF2-40B4-BE49-F238E27FC236}">
                <a16:creationId xmlns:a16="http://schemas.microsoft.com/office/drawing/2014/main" id="{D371AE52-2AD3-46D3-9583-D786BCE516EC}"/>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0E3A528-6433-4358-B328-C906B601AEA4}"/>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LOOK 20s → CHOOSE 40s     Point, show fingers, or write your choice.</a:t>
            </a:r>
          </a:p>
        </p:txBody>
      </p:sp>
      <p:sp>
        <p:nvSpPr>
          <p:cNvPr id="15" name="">
            <a:extLst xmlns:a="http://schemas.openxmlformats.org/drawingml/2006/main">
              <a:ext uri="{FF2B5EF4-FFF2-40B4-BE49-F238E27FC236}">
                <a16:creationId xmlns:a16="http://schemas.microsoft.com/office/drawing/2014/main" id="{06817007-C25F-44C9-8F1E-2B8D6D469F19}"/>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13–15 · SBTE 12–13     “My choice is __ because __.”     10</a:t>
            </a:r>
          </a:p>
        </p:txBody>
      </p:sp>
    </p:spTree>
    <p:extLst>
      <p:ext uri="{BB962C8B-B14F-4D97-AF65-F5344CB8AC3E}">
        <p14:creationId xmlns:p14="http://schemas.microsoft.com/office/powerpoint/2010/main" val="844139774"/>
      </p:ext>
    </p:extLst>
  </p:cSld>
</p:sld>
</file>

<file path=ppt/slides/slide11.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4EDB2F3-2149-4F35-BA67-16985A9B51BB}"/>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6C4079-4B82-4E58-B036-2AA9FB9C4B12}"/>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THURSDAY · CHECK</a:t>
            </a:r>
          </a:p>
        </p:txBody>
      </p:sp>
      <p:sp>
        <p:nvSpPr>
          <p:cNvPr id="3" name="">
            <a:extLst xmlns:a="http://schemas.openxmlformats.org/drawingml/2006/main">
              <a:ext uri="{FF2B5EF4-FFF2-40B4-BE49-F238E27FC236}">
                <a16:creationId xmlns:a16="http://schemas.microsoft.com/office/drawing/2014/main" id="{36D42C51-CA66-45AA-8695-B81F88933718}"/>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CHECK · 0:50</a:t>
            </a:r>
          </a:p>
        </p:txBody>
      </p:sp>
      <p:sp>
        <p:nvSpPr>
          <p:cNvPr id="4" name="">
            <a:extLst xmlns:a="http://schemas.openxmlformats.org/drawingml/2006/main">
              <a:ext uri="{FF2B5EF4-FFF2-40B4-BE49-F238E27FC236}">
                <a16:creationId xmlns:a16="http://schemas.microsoft.com/office/drawing/2014/main" id="{BA088F2F-CB08-412B-951E-0F82ADAE9275}"/>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C  Offer after-school pickup</a:t>
            </a:r>
          </a:p>
        </p:txBody>
      </p:sp>
      <p:sp>
        <p:nvSpPr>
          <p:cNvPr id="5" name="">
            <a:extLst xmlns:a="http://schemas.openxmlformats.org/drawingml/2006/main">
              <a:ext uri="{FF2B5EF4-FFF2-40B4-BE49-F238E27FC236}">
                <a16:creationId xmlns:a16="http://schemas.microsoft.com/office/drawing/2014/main" id="{F53C727C-855B-4FDE-9399-D08B29B66E5F}"/>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CHANNEL MANAGEMENT</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98c25c3e37a649bf"/>
          <a:stretch xmlns:a="http://schemas.openxmlformats.org/drawingml/2006/main"/>
        </p:blipFill>
        <p:spPr>
          <a:xfrm xmlns:a="http://schemas.openxmlformats.org/drawingml/2006/main">
            <a:off x="609600" y="2476500"/>
            <a:ext cx="3409950" cy="19812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96ACF1C-09F2-4F87-873B-616B1201CC61}"/>
              </a:ext>
            </a:extLst>
          </p:cNvPr>
          <p:cNvSpPr>
            <a:spLocks xmlns:a="http://schemas.openxmlformats.org/drawingml/2006/main" noGrp="1"/>
          </p:cNvSpPr>
          <p:nvPr/>
        </p:nvSpPr>
        <p:spPr>
          <a:xfrm xmlns:a="http://schemas.openxmlformats.org/drawingml/2006/main">
            <a:off x="60960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A  The repair is already done</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f2b2033a76074010"/>
          <a:stretch xmlns:a="http://schemas.openxmlformats.org/drawingml/2006/main"/>
        </p:blipFill>
        <p:spPr>
          <a:xfrm xmlns:a="http://schemas.openxmlformats.org/drawingml/2006/main">
            <a:off x="4391025" y="2952750"/>
            <a:ext cx="3409950" cy="1981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84E3A723-FE08-4326-92DD-B965B663F8A0}"/>
              </a:ext>
            </a:extLst>
          </p:cNvPr>
          <p:cNvSpPr>
            <a:spLocks xmlns:a="http://schemas.openxmlformats.org/drawingml/2006/main" noGrp="1"/>
          </p:cNvSpPr>
          <p:nvPr/>
        </p:nvSpPr>
        <p:spPr>
          <a:xfrm xmlns:a="http://schemas.openxmlformats.org/drawingml/2006/main">
            <a:off x="4391025" y="501015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B  Colors do not fix pickup</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47cbdf6c808d4ef1"/>
          <a:stretch xmlns:a="http://schemas.openxmlformats.org/drawingml/2006/main"/>
        </p:blipFill>
        <p:spPr>
          <a:xfrm xmlns:a="http://schemas.openxmlformats.org/drawingml/2006/main">
            <a:off x="8172450" y="2476500"/>
            <a:ext cx="3409950" cy="19812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8EFED62-B67E-4155-B3A6-C1B6195138B3}"/>
              </a:ext>
            </a:extLst>
          </p:cNvPr>
          <p:cNvSpPr>
            <a:spLocks xmlns:a="http://schemas.openxmlformats.org/drawingml/2006/main" noGrp="1"/>
          </p:cNvSpPr>
          <p:nvPr/>
        </p:nvSpPr>
        <p:spPr>
          <a:xfrm xmlns:a="http://schemas.openxmlformats.org/drawingml/2006/main">
            <a:off x="817245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C  A time the customer can use</a:t>
            </a:r>
          </a:p>
        </p:txBody>
      </p:sp>
      <p:sp>
        <p:nvSpPr>
          <p:cNvPr id="12" name="">
            <a:extLst xmlns:a="http://schemas.openxmlformats.org/drawingml/2006/main">
              <a:ext uri="{FF2B5EF4-FFF2-40B4-BE49-F238E27FC236}">
                <a16:creationId xmlns:a16="http://schemas.microsoft.com/office/drawing/2014/main" id="{76B5345E-0444-4E31-BDFB-BF3E968C52A1}"/>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0D6B9C4-1B9B-4B83-9FC2-87110B70435F}"/>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Channel management: plan how, when, and where customers get products.</a:t>
            </a:r>
          </a:p>
        </p:txBody>
      </p:sp>
      <p:sp>
        <p:nvSpPr>
          <p:cNvPr id="14" name="">
            <a:extLst xmlns:a="http://schemas.openxmlformats.org/drawingml/2006/main">
              <a:ext uri="{FF2B5EF4-FFF2-40B4-BE49-F238E27FC236}">
                <a16:creationId xmlns:a16="http://schemas.microsoft.com/office/drawing/2014/main" id="{D26A7C90-8AD5-4720-8B04-0951AB9F9CE4}"/>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13–15 · SBTE 12–13     Point to the clue that supports your answer.     11</a:t>
            </a:r>
          </a:p>
        </p:txBody>
      </p:sp>
    </p:spTree>
    <p:extLst>
      <p:ext uri="{BB962C8B-B14F-4D97-AF65-F5344CB8AC3E}">
        <p14:creationId xmlns:p14="http://schemas.microsoft.com/office/powerpoint/2010/main" val="1829357004"/>
      </p:ext>
    </p:extLst>
  </p:cSld>
</p:sld>
</file>

<file path=ppt/slides/slide12.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58D40DD-A24C-4686-A495-9FF357948004}"/>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EF538EE-E0D5-40AD-BD5C-718D261D630A}"/>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THURSDAY · CONNECT</a:t>
            </a:r>
          </a:p>
        </p:txBody>
      </p:sp>
      <p:sp>
        <p:nvSpPr>
          <p:cNvPr id="3" name="">
            <a:extLst xmlns:a="http://schemas.openxmlformats.org/drawingml/2006/main">
              <a:ext uri="{FF2B5EF4-FFF2-40B4-BE49-F238E27FC236}">
                <a16:creationId xmlns:a16="http://schemas.microsoft.com/office/drawing/2014/main" id="{28D043B1-1ABF-45C9-A357-4E0433A391ED}"/>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CONNECT · 0:50</a:t>
            </a:r>
          </a:p>
        </p:txBody>
      </p:sp>
      <p:sp>
        <p:nvSpPr>
          <p:cNvPr id="4" name="">
            <a:extLst xmlns:a="http://schemas.openxmlformats.org/drawingml/2006/main">
              <a:ext uri="{FF2B5EF4-FFF2-40B4-BE49-F238E27FC236}">
                <a16:creationId xmlns:a16="http://schemas.microsoft.com/office/drawing/2014/main" id="{BBE5B712-2BB3-449A-A620-884A1CC95EDA}"/>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A finished repair still needs a workable pickup.</a:t>
            </a:r>
          </a:p>
        </p:txBody>
      </p:sp>
      <p:sp>
        <p:nvSpPr>
          <p:cNvPr id="5" name="">
            <a:extLst xmlns:a="http://schemas.openxmlformats.org/drawingml/2006/main">
              <a:ext uri="{FF2B5EF4-FFF2-40B4-BE49-F238E27FC236}">
                <a16:creationId xmlns:a16="http://schemas.microsoft.com/office/drawing/2014/main" id="{C1E35439-A61E-4C3E-97BD-A19965C1B2F1}"/>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The repair stays the same. The pickup arrangement changes.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9252f4f173a4c42"/>
          <a:stretch xmlns:a="http://schemas.openxmlformats.org/drawingml/2006/main"/>
        </p:blipFill>
        <p:spPr>
          <a:xfrm xmlns:a="http://schemas.openxmlformats.org/drawingml/2006/main">
            <a:off x="609600" y="2333625"/>
            <a:ext cx="4953000" cy="2857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976367D-8969-412E-B343-924667927F14}"/>
              </a:ext>
            </a:extLst>
          </p:cNvPr>
          <p:cNvSpPr>
            <a:spLocks xmlns:a="http://schemas.openxmlformats.org/drawingml/2006/main" noGrp="1"/>
          </p:cNvSpPr>
          <p:nvPr/>
        </p:nvSpPr>
        <p:spPr>
          <a:xfrm xmlns:a="http://schemas.openxmlformats.org/drawingml/2006/main">
            <a:off x="6096000" y="2428875"/>
            <a:ext cx="5334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00" b="1">
                <a:solidFill>
                  <a:srgbClr val="17334D"/>
                </a:solidFill>
                <a:latin typeface="Arial"/>
                <a:ea typeface="Arial"/>
                <a:cs typeface="Arial"/>
              </a:defRPr>
            </a:pPr>
            <a:r>
              <a:rPr sz="2700" b="1">
                <a:solidFill>
                  <a:srgbClr val="17334D"/>
                </a:solidFill>
                <a:latin typeface="Arial"/>
                <a:ea typeface="Arial"/>
                <a:cs typeface="Arial"/>
              </a:rPr>
              <a:t>Open p. 13: “Channel Management”</a:t>
            </a:r>
          </a:p>
        </p:txBody>
      </p:sp>
      <p:sp>
        <p:nvSpPr>
          <p:cNvPr id="8" name="">
            <a:extLst xmlns:a="http://schemas.openxmlformats.org/drawingml/2006/main">
              <a:ext uri="{FF2B5EF4-FFF2-40B4-BE49-F238E27FC236}">
                <a16:creationId xmlns:a16="http://schemas.microsoft.com/office/drawing/2014/main" id="{0E7E1F27-7647-4B78-B9BF-F805A1DCD7BA}"/>
              </a:ext>
            </a:extLst>
          </p:cNvPr>
          <p:cNvSpPr>
            <a:spLocks xmlns:a="http://schemas.openxmlformats.org/drawingml/2006/main" noGrp="1"/>
          </p:cNvSpPr>
          <p:nvPr/>
        </p:nvSpPr>
        <p:spPr>
          <a:xfrm xmlns:a="http://schemas.openxmlformats.org/drawingml/2006/main">
            <a:off x="6096000" y="3648075"/>
            <a:ext cx="5334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7334D"/>
                </a:solidFill>
                <a:latin typeface="Arial"/>
                <a:ea typeface="Arial"/>
                <a:cs typeface="Arial"/>
              </a:defRPr>
            </a:pPr>
            <a:r>
              <a:rPr sz="2325" b="0">
                <a:solidFill>
                  <a:srgbClr val="17334D"/>
                </a:solidFill>
                <a:latin typeface="Arial"/>
                <a:ea typeface="Arial"/>
                <a:cs typeface="Arial"/>
              </a:rPr>
              <a:t>Then use Figure 1.4 on p. 15 to explain the link.</a:t>
            </a:r>
          </a:p>
        </p:txBody>
      </p:sp>
      <p:sp>
        <p:nvSpPr>
          <p:cNvPr id="9" name="">
            <a:extLst xmlns:a="http://schemas.openxmlformats.org/drawingml/2006/main">
              <a:ext uri="{FF2B5EF4-FFF2-40B4-BE49-F238E27FC236}">
                <a16:creationId xmlns:a16="http://schemas.microsoft.com/office/drawing/2014/main" id="{6E2609F2-4F69-4036-B914-36E3DFA66E4B}"/>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20C51CF-647C-45AD-BF22-F50681BA139F}"/>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NEXT: Notes → required reading → vocabulary/application</a:t>
            </a:r>
          </a:p>
        </p:txBody>
      </p:sp>
      <p:sp>
        <p:nvSpPr>
          <p:cNvPr id="11" name="">
            <a:extLst xmlns:a="http://schemas.openxmlformats.org/drawingml/2006/main">
              <a:ext uri="{FF2B5EF4-FFF2-40B4-BE49-F238E27FC236}">
                <a16:creationId xmlns:a16="http://schemas.microsoft.com/office/drawing/2014/main" id="{FB9D2083-28D2-49AA-A459-25B56031F763}"/>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13–15 · SBTE 12–13     Stop at 3:00 total.     12</a:t>
            </a:r>
          </a:p>
        </p:txBody>
      </p:sp>
    </p:spTree>
    <p:extLst>
      <p:ext uri="{BB962C8B-B14F-4D97-AF65-F5344CB8AC3E}">
        <p14:creationId xmlns:p14="http://schemas.microsoft.com/office/powerpoint/2010/main" val="1859461218"/>
      </p:ext>
    </p:extLst>
  </p:cSld>
</p:sld>
</file>

<file path=ppt/slides/slide13.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93A3E5E-9626-4E5C-B080-83F643BF1710}"/>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4F873E-03F7-4FFF-A072-817F9991C680}"/>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FRIDAY · NOTICE AND CHOOSE</a:t>
            </a:r>
          </a:p>
        </p:txBody>
      </p:sp>
      <p:sp>
        <p:nvSpPr>
          <p:cNvPr id="3" name="">
            <a:extLst xmlns:a="http://schemas.openxmlformats.org/drawingml/2006/main">
              <a:ext uri="{FF2B5EF4-FFF2-40B4-BE49-F238E27FC236}">
                <a16:creationId xmlns:a16="http://schemas.microsoft.com/office/drawing/2014/main" id="{C260EE93-8E5D-454E-8ED4-E4F106C61612}"/>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3:00 TOTAL</a:t>
            </a:r>
          </a:p>
        </p:txBody>
      </p:sp>
      <p:sp>
        <p:nvSpPr>
          <p:cNvPr id="4" name="">
            <a:extLst xmlns:a="http://schemas.openxmlformats.org/drawingml/2006/main">
              <a:ext uri="{FF2B5EF4-FFF2-40B4-BE49-F238E27FC236}">
                <a16:creationId xmlns:a16="http://schemas.microsoft.com/office/drawing/2014/main" id="{A5AAC87E-282D-4284-BA2F-0661B1D3CCF3}"/>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Three scenes. Three different offerings.</a:t>
            </a:r>
          </a:p>
        </p:txBody>
      </p:sp>
      <p:sp>
        <p:nvSpPr>
          <p:cNvPr id="5" name="">
            <a:extLst xmlns:a="http://schemas.openxmlformats.org/drawingml/2006/main">
              <a:ext uri="{FF2B5EF4-FFF2-40B4-BE49-F238E27FC236}">
                <a16:creationId xmlns:a16="http://schemas.microsoft.com/office/drawing/2014/main" id="{1C99EDE5-099B-42EA-A1C6-8654E934A049}"/>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Imagine these offerings around Rochester. No visit needed.</a:t>
            </a:r>
          </a:p>
        </p:txBody>
      </p:sp>
      <p:sp>
        <p:nvSpPr>
          <p:cNvPr id="6" name="">
            <a:extLst xmlns:a="http://schemas.openxmlformats.org/drawingml/2006/main">
              <a:ext uri="{FF2B5EF4-FFF2-40B4-BE49-F238E27FC236}">
                <a16:creationId xmlns:a16="http://schemas.microsoft.com/office/drawing/2014/main" id="{C985062E-27CC-486D-AB6D-E7D5B5974532}"/>
              </a:ext>
            </a:extLst>
          </p:cNvPr>
          <p:cNvSpPr>
            <a:spLocks xmlns:a="http://schemas.openxmlformats.org/drawingml/2006/main" noGrp="1"/>
          </p:cNvSpPr>
          <p:nvPr/>
        </p:nvSpPr>
        <p:spPr>
          <a:xfrm xmlns:a="http://schemas.openxmlformats.org/drawingml/2006/main">
            <a:off x="609600" y="20193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1">
                <a:solidFill>
                  <a:srgbClr val="17334D"/>
                </a:solidFill>
                <a:latin typeface="Arial"/>
                <a:ea typeface="Arial"/>
                <a:cs typeface="Arial"/>
              </a:defRPr>
            </a:pPr>
            <a:r>
              <a:rPr sz="2325" b="1">
                <a:solidFill>
                  <a:srgbClr val="17334D"/>
                </a:solidFill>
                <a:latin typeface="Arial"/>
                <a:ea typeface="Arial"/>
                <a:cs typeface="Arial"/>
              </a:rPr>
              <a:t>Which picture shows a GOOD? Show its number.</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e5a45d163c0e4a71"/>
          <a:stretch xmlns:a="http://schemas.openxmlformats.org/drawingml/2006/main"/>
        </p:blipFill>
        <p:spPr>
          <a:xfrm xmlns:a="http://schemas.openxmlformats.org/drawingml/2006/main">
            <a:off x="609600" y="2524125"/>
            <a:ext cx="3409950" cy="2143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1036E0D-4CAE-43DB-AD91-44E5B05BD4C2}"/>
              </a:ext>
            </a:extLst>
          </p:cNvPr>
          <p:cNvSpPr>
            <a:spLocks xmlns:a="http://schemas.openxmlformats.org/drawingml/2006/main" noGrp="1"/>
          </p:cNvSpPr>
          <p:nvPr/>
        </p:nvSpPr>
        <p:spPr>
          <a:xfrm xmlns:a="http://schemas.openxmlformats.org/drawingml/2006/main">
            <a:off x="60960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1  Sneakers for sale</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6f52013d07f46a6"/>
          <a:stretch xmlns:a="http://schemas.openxmlformats.org/drawingml/2006/main"/>
        </p:blipFill>
        <p:spPr>
          <a:xfrm xmlns:a="http://schemas.openxmlformats.org/drawingml/2006/main">
            <a:off x="4391025" y="2867025"/>
            <a:ext cx="3409950" cy="21431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5FB2A83F-9F14-408C-A16D-F82341BB1FEB}"/>
              </a:ext>
            </a:extLst>
          </p:cNvPr>
          <p:cNvSpPr>
            <a:spLocks xmlns:a="http://schemas.openxmlformats.org/drawingml/2006/main" noGrp="1"/>
          </p:cNvSpPr>
          <p:nvPr/>
        </p:nvSpPr>
        <p:spPr>
          <a:xfrm xmlns:a="http://schemas.openxmlformats.org/drawingml/2006/main">
            <a:off x="4391025" y="50673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2  A paid haircut</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2195e8e809e4a31"/>
          <a:stretch xmlns:a="http://schemas.openxmlformats.org/drawingml/2006/main"/>
        </p:blipFill>
        <p:spPr>
          <a:xfrm xmlns:a="http://schemas.openxmlformats.org/drawingml/2006/main">
            <a:off x="8172450" y="2524125"/>
            <a:ext cx="3409950" cy="21431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E0B0E2E-CC47-4287-ADED-14BA1D94ECE0}"/>
              </a:ext>
            </a:extLst>
          </p:cNvPr>
          <p:cNvSpPr>
            <a:spLocks xmlns:a="http://schemas.openxmlformats.org/drawingml/2006/main" noGrp="1"/>
          </p:cNvSpPr>
          <p:nvPr/>
        </p:nvSpPr>
        <p:spPr>
          <a:xfrm xmlns:a="http://schemas.openxmlformats.org/drawingml/2006/main">
            <a:off x="817245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3  “Keep our community clean”</a:t>
            </a:r>
          </a:p>
        </p:txBody>
      </p:sp>
      <p:sp>
        <p:nvSpPr>
          <p:cNvPr id="13" name="">
            <a:extLst xmlns:a="http://schemas.openxmlformats.org/drawingml/2006/main">
              <a:ext uri="{FF2B5EF4-FFF2-40B4-BE49-F238E27FC236}">
                <a16:creationId xmlns:a16="http://schemas.microsoft.com/office/drawing/2014/main" id="{1570EA20-36CC-4ECB-A771-00B012D2D4BD}"/>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FB07E80-D391-46BC-8513-D62367B7ED3E}"/>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LOOK 20s → CHOOSE 40s     Point, show fingers, or write your choice.</a:t>
            </a:r>
          </a:p>
        </p:txBody>
      </p:sp>
      <p:sp>
        <p:nvSpPr>
          <p:cNvPr id="15" name="">
            <a:extLst xmlns:a="http://schemas.openxmlformats.org/drawingml/2006/main">
              <a:ext uri="{FF2B5EF4-FFF2-40B4-BE49-F238E27FC236}">
                <a16:creationId xmlns:a16="http://schemas.microsoft.com/office/drawing/2014/main" id="{89306D5C-5CA5-4881-A7B0-D0A71335F4C1}"/>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 4; revisit pp. 10–15 · SBTE 4, 9–13     “My choice is __ because __.”     13</a:t>
            </a:r>
          </a:p>
        </p:txBody>
      </p:sp>
    </p:spTree>
    <p:extLst>
      <p:ext uri="{BB962C8B-B14F-4D97-AF65-F5344CB8AC3E}">
        <p14:creationId xmlns:p14="http://schemas.microsoft.com/office/powerpoint/2010/main" val="2048700914"/>
      </p:ext>
    </p:extLst>
  </p:cSld>
</p:sld>
</file>

<file path=ppt/slides/slide14.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5E45488-52F2-40B4-96D7-2EC89C42FD7E}"/>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0BF0E1-75A6-4DBE-A3AA-DFF4F9DD85A4}"/>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FRIDAY · CHECK</a:t>
            </a:r>
          </a:p>
        </p:txBody>
      </p:sp>
      <p:sp>
        <p:nvSpPr>
          <p:cNvPr id="3" name="">
            <a:extLst xmlns:a="http://schemas.openxmlformats.org/drawingml/2006/main">
              <a:ext uri="{FF2B5EF4-FFF2-40B4-BE49-F238E27FC236}">
                <a16:creationId xmlns:a16="http://schemas.microsoft.com/office/drawing/2014/main" id="{8AED9920-57C9-4349-9C5F-9E74DDC8C0AE}"/>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CHECK · 0:50</a:t>
            </a:r>
          </a:p>
        </p:txBody>
      </p:sp>
      <p:sp>
        <p:nvSpPr>
          <p:cNvPr id="4" name="">
            <a:extLst xmlns:a="http://schemas.openxmlformats.org/drawingml/2006/main">
              <a:ext uri="{FF2B5EF4-FFF2-40B4-BE49-F238E27FC236}">
                <a16:creationId xmlns:a16="http://schemas.microsoft.com/office/drawing/2014/main" id="{E10C3461-BCB6-430D-A4D8-18B8BD0917DA}"/>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Good: 1      Service: 2      Idea: 3</a:t>
            </a:r>
          </a:p>
        </p:txBody>
      </p:sp>
      <p:sp>
        <p:nvSpPr>
          <p:cNvPr id="5" name="">
            <a:extLst xmlns:a="http://schemas.openxmlformats.org/drawingml/2006/main">
              <a:ext uri="{FF2B5EF4-FFF2-40B4-BE49-F238E27FC236}">
                <a16:creationId xmlns:a16="http://schemas.microsoft.com/office/drawing/2014/main" id="{31938B3C-EECA-46CA-8688-EFFB77E14B47}"/>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GOOD · SERVICE · IDEA</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5e5e61d990f443a"/>
          <a:stretch xmlns:a="http://schemas.openxmlformats.org/drawingml/2006/main"/>
        </p:blipFill>
        <p:spPr>
          <a:xfrm xmlns:a="http://schemas.openxmlformats.org/drawingml/2006/main">
            <a:off x="609600" y="2476500"/>
            <a:ext cx="3409950" cy="19812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CEC28D6-48C2-479B-9903-CF78DB153113}"/>
              </a:ext>
            </a:extLst>
          </p:cNvPr>
          <p:cNvSpPr>
            <a:spLocks xmlns:a="http://schemas.openxmlformats.org/drawingml/2006/main" noGrp="1"/>
          </p:cNvSpPr>
          <p:nvPr/>
        </p:nvSpPr>
        <p:spPr>
          <a:xfrm xmlns:a="http://schemas.openxmlformats.org/drawingml/2006/main">
            <a:off x="60960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1  A tangible item</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a750addeb1dd4b2b"/>
          <a:stretch xmlns:a="http://schemas.openxmlformats.org/drawingml/2006/main"/>
        </p:blipFill>
        <p:spPr>
          <a:xfrm xmlns:a="http://schemas.openxmlformats.org/drawingml/2006/main">
            <a:off x="4391025" y="2952750"/>
            <a:ext cx="3409950" cy="1981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6DF9A42-2402-47F6-99E5-161818A7AE3A}"/>
              </a:ext>
            </a:extLst>
          </p:cNvPr>
          <p:cNvSpPr>
            <a:spLocks xmlns:a="http://schemas.openxmlformats.org/drawingml/2006/main" noGrp="1"/>
          </p:cNvSpPr>
          <p:nvPr/>
        </p:nvSpPr>
        <p:spPr>
          <a:xfrm xmlns:a="http://schemas.openxmlformats.org/drawingml/2006/main">
            <a:off x="4391025" y="501015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2  A task for payment</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945baa1e1964f17"/>
          <a:stretch xmlns:a="http://schemas.openxmlformats.org/drawingml/2006/main"/>
        </p:blipFill>
        <p:spPr>
          <a:xfrm xmlns:a="http://schemas.openxmlformats.org/drawingml/2006/main">
            <a:off x="8172450" y="2476500"/>
            <a:ext cx="3409950" cy="19812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12DEC038-6968-4122-8EB7-789F89668B45}"/>
              </a:ext>
            </a:extLst>
          </p:cNvPr>
          <p:cNvSpPr>
            <a:spLocks xmlns:a="http://schemas.openxmlformats.org/drawingml/2006/main" noGrp="1"/>
          </p:cNvSpPr>
          <p:nvPr/>
        </p:nvSpPr>
        <p:spPr>
          <a:xfrm xmlns:a="http://schemas.openxmlformats.org/drawingml/2006/main">
            <a:off x="817245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3  A thought or opinion</a:t>
            </a:r>
          </a:p>
        </p:txBody>
      </p:sp>
      <p:sp>
        <p:nvSpPr>
          <p:cNvPr id="12" name="">
            <a:extLst xmlns:a="http://schemas.openxmlformats.org/drawingml/2006/main">
              <a:ext uri="{FF2B5EF4-FFF2-40B4-BE49-F238E27FC236}">
                <a16:creationId xmlns:a16="http://schemas.microsoft.com/office/drawing/2014/main" id="{3ADD713B-5E4E-4DA1-8604-EC71D6977C10}"/>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4F0CE4D-28FF-4325-AFBE-DE86DFB29F28}"/>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Good: tangible item. Service: paid task. Idea: thought or opinion.</a:t>
            </a:r>
          </a:p>
        </p:txBody>
      </p:sp>
      <p:sp>
        <p:nvSpPr>
          <p:cNvPr id="14" name="">
            <a:extLst xmlns:a="http://schemas.openxmlformats.org/drawingml/2006/main">
              <a:ext uri="{FF2B5EF4-FFF2-40B4-BE49-F238E27FC236}">
                <a16:creationId xmlns:a16="http://schemas.microsoft.com/office/drawing/2014/main" id="{0EF663A5-5501-4426-AA64-7B9FED97D877}"/>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 4; revisit pp. 10–15 · SBTE 4, 9–13     Point to the clue that supports your answer.     14</a:t>
            </a:r>
          </a:p>
        </p:txBody>
      </p:sp>
    </p:spTree>
    <p:extLst>
      <p:ext uri="{BB962C8B-B14F-4D97-AF65-F5344CB8AC3E}">
        <p14:creationId xmlns:p14="http://schemas.microsoft.com/office/powerpoint/2010/main" val="56419375"/>
      </p:ext>
    </p:extLst>
  </p:cSld>
</p:sld>
</file>

<file path=ppt/slides/slide15.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A852EA6-10D2-4A22-AADC-CBA068CE50DA}"/>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ECF77CE-EF48-4240-A46C-E7D70114673F}"/>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FRIDAY · CONNECT</a:t>
            </a:r>
          </a:p>
        </p:txBody>
      </p:sp>
      <p:sp>
        <p:nvSpPr>
          <p:cNvPr id="3" name="">
            <a:extLst xmlns:a="http://schemas.openxmlformats.org/drawingml/2006/main">
              <a:ext uri="{FF2B5EF4-FFF2-40B4-BE49-F238E27FC236}">
                <a16:creationId xmlns:a16="http://schemas.microsoft.com/office/drawing/2014/main" id="{2EB89A5D-B53F-4CCF-8643-4C41DDF3A8A4}"/>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CONNECT · 0:50</a:t>
            </a:r>
          </a:p>
        </p:txBody>
      </p:sp>
      <p:sp>
        <p:nvSpPr>
          <p:cNvPr id="4" name="">
            <a:extLst xmlns:a="http://schemas.openxmlformats.org/drawingml/2006/main">
              <a:ext uri="{FF2B5EF4-FFF2-40B4-BE49-F238E27FC236}">
                <a16:creationId xmlns:a16="http://schemas.microsoft.com/office/drawing/2014/main" id="{6FE4D266-1F9C-4846-834E-82F22EA82290}"/>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Every offering needs an audience.</a:t>
            </a:r>
          </a:p>
        </p:txBody>
      </p:sp>
      <p:sp>
        <p:nvSpPr>
          <p:cNvPr id="5" name="">
            <a:extLst xmlns:a="http://schemas.openxmlformats.org/drawingml/2006/main">
              <a:ext uri="{FF2B5EF4-FFF2-40B4-BE49-F238E27FC236}">
                <a16:creationId xmlns:a16="http://schemas.microsoft.com/office/drawing/2014/main" id="{11BD28AD-37F4-4F5E-8A04-7A371A9FE738}"/>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Keep this example in mind as you read.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74846219fd24bcc"/>
          <a:stretch xmlns:a="http://schemas.openxmlformats.org/drawingml/2006/main"/>
        </p:blipFill>
        <p:spPr>
          <a:xfrm xmlns:a="http://schemas.openxmlformats.org/drawingml/2006/main">
            <a:off x="609600" y="2333625"/>
            <a:ext cx="4953000" cy="2857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8A4ADCB-B2A6-4AB4-A291-6F1E1263888D}"/>
              </a:ext>
            </a:extLst>
          </p:cNvPr>
          <p:cNvSpPr>
            <a:spLocks xmlns:a="http://schemas.openxmlformats.org/drawingml/2006/main" noGrp="1"/>
          </p:cNvSpPr>
          <p:nvPr/>
        </p:nvSpPr>
        <p:spPr>
          <a:xfrm xmlns:a="http://schemas.openxmlformats.org/drawingml/2006/main">
            <a:off x="6096000" y="2428875"/>
            <a:ext cx="5334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00" b="1">
                <a:solidFill>
                  <a:srgbClr val="17334D"/>
                </a:solidFill>
                <a:latin typeface="Arial"/>
                <a:ea typeface="Arial"/>
                <a:cs typeface="Arial"/>
              </a:defRPr>
            </a:pPr>
            <a:r>
              <a:rPr sz="2700" b="1">
                <a:solidFill>
                  <a:srgbClr val="17334D"/>
                </a:solidFill>
                <a:latin typeface="Arial"/>
                <a:ea typeface="Arial"/>
                <a:cs typeface="Arial"/>
              </a:rPr>
              <a:t>Check p. 4, then follow today’s class agenda</a:t>
            </a:r>
          </a:p>
        </p:txBody>
      </p:sp>
      <p:sp>
        <p:nvSpPr>
          <p:cNvPr id="8" name="">
            <a:extLst xmlns:a="http://schemas.openxmlformats.org/drawingml/2006/main">
              <a:ext uri="{FF2B5EF4-FFF2-40B4-BE49-F238E27FC236}">
                <a16:creationId xmlns:a16="http://schemas.microsoft.com/office/drawing/2014/main" id="{CB39D5B0-C434-4B77-8798-DF140C785D25}"/>
              </a:ext>
            </a:extLst>
          </p:cNvPr>
          <p:cNvSpPr>
            <a:spLocks xmlns:a="http://schemas.openxmlformats.org/drawingml/2006/main" noGrp="1"/>
          </p:cNvSpPr>
          <p:nvPr/>
        </p:nvSpPr>
        <p:spPr>
          <a:xfrm xmlns:a="http://schemas.openxmlformats.org/drawingml/2006/main">
            <a:off x="6096000" y="3648075"/>
            <a:ext cx="5334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7334D"/>
                </a:solidFill>
                <a:latin typeface="Arial"/>
                <a:ea typeface="Arial"/>
                <a:cs typeface="Arial"/>
              </a:defRPr>
            </a:pPr>
            <a:r>
              <a:rPr sz="2325" b="0">
                <a:solidFill>
                  <a:srgbClr val="17334D"/>
                </a:solidFill>
                <a:latin typeface="Arial"/>
                <a:ea typeface="Arial"/>
                <a:cs typeface="Arial"/>
              </a:rPr>
              <a:t>Good: tangible item. Service: paid task. Idea: thought or opinion.</a:t>
            </a:r>
          </a:p>
        </p:txBody>
      </p:sp>
      <p:sp>
        <p:nvSpPr>
          <p:cNvPr id="9" name="">
            <a:extLst xmlns:a="http://schemas.openxmlformats.org/drawingml/2006/main">
              <a:ext uri="{FF2B5EF4-FFF2-40B4-BE49-F238E27FC236}">
                <a16:creationId xmlns:a16="http://schemas.microsoft.com/office/drawing/2014/main" id="{47F70013-A92B-4A90-B01D-530C7DC0DE2D}"/>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1989ADFF-9E67-4DCC-94FD-30CC72A6CF60}"/>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Different offerings. Different ways to meet a need.</a:t>
            </a:r>
          </a:p>
        </p:txBody>
      </p:sp>
      <p:sp>
        <p:nvSpPr>
          <p:cNvPr id="11" name="">
            <a:extLst xmlns:a="http://schemas.openxmlformats.org/drawingml/2006/main">
              <a:ext uri="{FF2B5EF4-FFF2-40B4-BE49-F238E27FC236}">
                <a16:creationId xmlns:a16="http://schemas.microsoft.com/office/drawing/2014/main" id="{FC97C0E2-172A-4526-B389-617D2BAB7B7B}"/>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 4; revisit pp. 10–15 · SBTE 4, 9–13     Stop at 3:00 total.     15</a:t>
            </a:r>
          </a:p>
        </p:txBody>
      </p:sp>
    </p:spTree>
    <p:extLst>
      <p:ext uri="{BB962C8B-B14F-4D97-AF65-F5344CB8AC3E}">
        <p14:creationId xmlns:p14="http://schemas.microsoft.com/office/powerpoint/2010/main" val="975282310"/>
      </p:ext>
    </p:extLst>
  </p:cSld>
</p:sld>
</file>

<file path=ppt/slides/slide16.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EB2C4CF-D9BC-4512-AE30-C2EC2EB3867E}"/>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D6FFB70-2CE1-4444-95CC-E1FF2EE766C1}"/>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OPTIONAL MONDAY CATCH-UP · CHOOSE</a:t>
            </a:r>
          </a:p>
        </p:txBody>
      </p:sp>
      <p:sp>
        <p:nvSpPr>
          <p:cNvPr id="3" name="">
            <a:extLst xmlns:a="http://schemas.openxmlformats.org/drawingml/2006/main">
              <a:ext uri="{FF2B5EF4-FFF2-40B4-BE49-F238E27FC236}">
                <a16:creationId xmlns:a16="http://schemas.microsoft.com/office/drawing/2014/main" id="{172D356F-E1F1-410D-879C-B9D17B2215CB}"/>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3:00 TOTAL</a:t>
            </a:r>
          </a:p>
        </p:txBody>
      </p:sp>
      <p:sp>
        <p:nvSpPr>
          <p:cNvPr id="4" name="">
            <a:extLst xmlns:a="http://schemas.openxmlformats.org/drawingml/2006/main">
              <a:ext uri="{FF2B5EF4-FFF2-40B4-BE49-F238E27FC236}">
                <a16:creationId xmlns:a16="http://schemas.microsoft.com/office/drawing/2014/main" id="{D2844460-877A-4AA5-998E-3335BA06C33D}"/>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Who benefits when a bakery sells bread?</a:t>
            </a:r>
          </a:p>
        </p:txBody>
      </p:sp>
      <p:sp>
        <p:nvSpPr>
          <p:cNvPr id="5" name="">
            <a:extLst xmlns:a="http://schemas.openxmlformats.org/drawingml/2006/main">
              <a:ext uri="{FF2B5EF4-FFF2-40B4-BE49-F238E27FC236}">
                <a16:creationId xmlns:a16="http://schemas.microsoft.com/office/drawing/2014/main" id="{CAD0268F-9B4A-467A-88CA-9E3E752679A8}"/>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A customer, a worker, and a community.</a:t>
            </a:r>
          </a:p>
        </p:txBody>
      </p:sp>
      <p:sp>
        <p:nvSpPr>
          <p:cNvPr id="6" name="">
            <a:extLst xmlns:a="http://schemas.openxmlformats.org/drawingml/2006/main">
              <a:ext uri="{FF2B5EF4-FFF2-40B4-BE49-F238E27FC236}">
                <a16:creationId xmlns:a16="http://schemas.microsoft.com/office/drawing/2014/main" id="{BD8DCFAC-3ED8-4F54-B19C-25600325A793}"/>
              </a:ext>
            </a:extLst>
          </p:cNvPr>
          <p:cNvSpPr>
            <a:spLocks xmlns:a="http://schemas.openxmlformats.org/drawingml/2006/main" noGrp="1"/>
          </p:cNvSpPr>
          <p:nvPr/>
        </p:nvSpPr>
        <p:spPr>
          <a:xfrm xmlns:a="http://schemas.openxmlformats.org/drawingml/2006/main">
            <a:off x="609600" y="201930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1">
                <a:solidFill>
                  <a:srgbClr val="17334D"/>
                </a:solidFill>
                <a:latin typeface="Arial"/>
                <a:ea typeface="Arial"/>
                <a:cs typeface="Arial"/>
              </a:defRPr>
            </a:pPr>
            <a:r>
              <a:rPr sz="2325" b="1">
                <a:solidFill>
                  <a:srgbClr val="17334D"/>
                </a:solidFill>
                <a:latin typeface="Arial"/>
                <a:ea typeface="Arial"/>
                <a:cs typeface="Arial"/>
              </a:rPr>
              <a:t>Besides the customer, who can benefit? Choose the numbers.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e40992869a54c9d"/>
          <a:srcRect xmlns:a="http://schemas.openxmlformats.org/drawingml/2006/main" l="0" t="18754" r="0" b="18754"/>
          <a:stretch xmlns:a="http://schemas.openxmlformats.org/drawingml/2006/main">
            <a:fillRect l="0" t="0" r="0" b="0"/>
          </a:stretch>
        </p:blipFill>
        <p:spPr>
          <a:xfrm xmlns:a="http://schemas.openxmlformats.org/drawingml/2006/main">
            <a:off x="609600" y="2524125"/>
            <a:ext cx="3409950" cy="2143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869E45C-8BD9-40EB-B80A-44250625560A}"/>
              </a:ext>
            </a:extLst>
          </p:cNvPr>
          <p:cNvSpPr>
            <a:spLocks xmlns:a="http://schemas.openxmlformats.org/drawingml/2006/main" noGrp="1"/>
          </p:cNvSpPr>
          <p:nvPr/>
        </p:nvSpPr>
        <p:spPr>
          <a:xfrm xmlns:a="http://schemas.openxmlformats.org/drawingml/2006/main">
            <a:off x="60960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1  Customer buys bread</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217f9fc80e7a4536"/>
          <a:srcRect xmlns:a="http://schemas.openxmlformats.org/drawingml/2006/main" l="0" t="18754" r="0" b="18754"/>
          <a:stretch xmlns:a="http://schemas.openxmlformats.org/drawingml/2006/main">
            <a:fillRect l="0" t="0" r="0" b="0"/>
          </a:stretch>
        </p:blipFill>
        <p:spPr>
          <a:xfrm xmlns:a="http://schemas.openxmlformats.org/drawingml/2006/main">
            <a:off x="4391025" y="2867025"/>
            <a:ext cx="3409950" cy="21431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98E7DED5-5353-493B-B881-2566B5545E4F}"/>
              </a:ext>
            </a:extLst>
          </p:cNvPr>
          <p:cNvSpPr>
            <a:spLocks xmlns:a="http://schemas.openxmlformats.org/drawingml/2006/main" noGrp="1"/>
          </p:cNvSpPr>
          <p:nvPr/>
        </p:nvSpPr>
        <p:spPr>
          <a:xfrm xmlns:a="http://schemas.openxmlformats.org/drawingml/2006/main">
            <a:off x="4391025" y="50673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2  Worker earns pay</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304c89fba8a34984"/>
          <a:srcRect xmlns:a="http://schemas.openxmlformats.org/drawingml/2006/main" l="0" t="18754" r="0" b="18754"/>
          <a:stretch xmlns:a="http://schemas.openxmlformats.org/drawingml/2006/main">
            <a:fillRect l="0" t="0" r="0" b="0"/>
          </a:stretch>
        </p:blipFill>
        <p:spPr>
          <a:xfrm xmlns:a="http://schemas.openxmlformats.org/drawingml/2006/main">
            <a:off x="8172450" y="2524125"/>
            <a:ext cx="3409950" cy="2143125"/>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280ED61C-543E-4205-AB5D-1AFF36DB02FC}"/>
              </a:ext>
            </a:extLst>
          </p:cNvPr>
          <p:cNvSpPr>
            <a:spLocks xmlns:a="http://schemas.openxmlformats.org/drawingml/2006/main" noGrp="1"/>
          </p:cNvSpPr>
          <p:nvPr/>
        </p:nvSpPr>
        <p:spPr>
          <a:xfrm xmlns:a="http://schemas.openxmlformats.org/drawingml/2006/main">
            <a:off x="8172450" y="4724400"/>
            <a:ext cx="3409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875" b="1">
                <a:solidFill>
                  <a:srgbClr val="17334D"/>
                </a:solidFill>
                <a:latin typeface="Arial"/>
                <a:ea typeface="Arial"/>
                <a:cs typeface="Arial"/>
              </a:defRPr>
            </a:pPr>
            <a:r>
              <a:rPr sz="1875" b="1">
                <a:solidFill>
                  <a:srgbClr val="17334D"/>
                </a:solidFill>
                <a:latin typeface="Arial"/>
                <a:ea typeface="Arial"/>
                <a:cs typeface="Arial"/>
              </a:rPr>
              <a:t>3  Community public services</a:t>
            </a:r>
          </a:p>
        </p:txBody>
      </p:sp>
      <p:sp>
        <p:nvSpPr>
          <p:cNvPr id="13" name="">
            <a:extLst xmlns:a="http://schemas.openxmlformats.org/drawingml/2006/main">
              <a:ext uri="{FF2B5EF4-FFF2-40B4-BE49-F238E27FC236}">
                <a16:creationId xmlns:a16="http://schemas.microsoft.com/office/drawing/2014/main" id="{6856BA70-E71D-4C65-91A9-169A3A4859B5}"/>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82D42A9-F190-4E5F-9E46-89A459319807}"/>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LOOK 20s → CHOOSE 40s     Point, show fingers, or write your choice.</a:t>
            </a:r>
          </a:p>
        </p:txBody>
      </p:sp>
      <p:sp>
        <p:nvSpPr>
          <p:cNvPr id="15" name="">
            <a:extLst xmlns:a="http://schemas.openxmlformats.org/drawingml/2006/main">
              <a:ext uri="{FF2B5EF4-FFF2-40B4-BE49-F238E27FC236}">
                <a16:creationId xmlns:a16="http://schemas.microsoft.com/office/drawing/2014/main" id="{088A868D-E995-46A0-8EDB-79CB23769FB9}"/>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7–9 · SBTE 7–8     “My choice is __ because __.”     16</a:t>
            </a:r>
          </a:p>
        </p:txBody>
      </p:sp>
    </p:spTree>
    <p:extLst>
      <p:ext uri="{BB962C8B-B14F-4D97-AF65-F5344CB8AC3E}">
        <p14:creationId xmlns:p14="http://schemas.microsoft.com/office/powerpoint/2010/main" val="403789475"/>
      </p:ext>
    </p:extLst>
  </p:cSld>
</p:sld>
</file>

<file path=ppt/slides/slide17.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3EFD80C-E119-48D2-AD69-47A0077683A8}"/>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ABE6E7-CA6A-489D-9AE4-AA2C741E0632}"/>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OPTIONAL MONDAY CATCH-UP · CHECK</a:t>
            </a:r>
          </a:p>
        </p:txBody>
      </p:sp>
      <p:sp>
        <p:nvSpPr>
          <p:cNvPr id="3" name="">
            <a:extLst xmlns:a="http://schemas.openxmlformats.org/drawingml/2006/main">
              <a:ext uri="{FF2B5EF4-FFF2-40B4-BE49-F238E27FC236}">
                <a16:creationId xmlns:a16="http://schemas.microsoft.com/office/drawing/2014/main" id="{51D0E25C-E1E1-44FE-B7D2-A5F257553173}"/>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CHECK · 0:50</a:t>
            </a:r>
          </a:p>
        </p:txBody>
      </p:sp>
      <p:sp>
        <p:nvSpPr>
          <p:cNvPr id="4" name="">
            <a:extLst xmlns:a="http://schemas.openxmlformats.org/drawingml/2006/main">
              <a:ext uri="{FF2B5EF4-FFF2-40B4-BE49-F238E27FC236}">
                <a16:creationId xmlns:a16="http://schemas.microsoft.com/office/drawing/2014/main" id="{BD7CEF5D-D8AF-41A1-889F-F8BC2735C5D4}"/>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2  Workers       3  Community</a:t>
            </a:r>
          </a:p>
        </p:txBody>
      </p:sp>
      <p:sp>
        <p:nvSpPr>
          <p:cNvPr id="5" name="">
            <a:extLst xmlns:a="http://schemas.openxmlformats.org/drawingml/2006/main">
              <a:ext uri="{FF2B5EF4-FFF2-40B4-BE49-F238E27FC236}">
                <a16:creationId xmlns:a16="http://schemas.microsoft.com/office/drawing/2014/main" id="{29C0B7DD-F4E2-4BB3-8DF9-05092F5837CC}"/>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BUSINESSES AND SOCIETY</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f8fdd97eab14997"/>
          <a:srcRect xmlns:a="http://schemas.openxmlformats.org/drawingml/2006/main" l="0" t="21115" r="0" b="21115"/>
          <a:stretch xmlns:a="http://schemas.openxmlformats.org/drawingml/2006/main">
            <a:fillRect l="0" t="0" r="0" b="0"/>
          </a:stretch>
        </p:blipFill>
        <p:spPr>
          <a:xfrm xmlns:a="http://schemas.openxmlformats.org/drawingml/2006/main">
            <a:off x="609600" y="2476500"/>
            <a:ext cx="3409950" cy="19812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1E94475-4716-461C-B050-63491392B7CB}"/>
              </a:ext>
            </a:extLst>
          </p:cNvPr>
          <p:cNvSpPr>
            <a:spLocks xmlns:a="http://schemas.openxmlformats.org/drawingml/2006/main" noGrp="1"/>
          </p:cNvSpPr>
          <p:nvPr/>
        </p:nvSpPr>
        <p:spPr>
          <a:xfrm xmlns:a="http://schemas.openxmlformats.org/drawingml/2006/main">
            <a:off x="60960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1  Products meet needs</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f21378c5e944251"/>
          <a:srcRect xmlns:a="http://schemas.openxmlformats.org/drawingml/2006/main" l="0" t="21115" r="0" b="21115"/>
          <a:stretch xmlns:a="http://schemas.openxmlformats.org/drawingml/2006/main">
            <a:fillRect l="0" t="0" r="0" b="0"/>
          </a:stretch>
        </p:blipFill>
        <p:spPr>
          <a:xfrm xmlns:a="http://schemas.openxmlformats.org/drawingml/2006/main">
            <a:off x="4391025" y="2952750"/>
            <a:ext cx="3409950" cy="19812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A393302-5E84-4B0E-83A8-0F7F31F8BC08}"/>
              </a:ext>
            </a:extLst>
          </p:cNvPr>
          <p:cNvSpPr>
            <a:spLocks xmlns:a="http://schemas.openxmlformats.org/drawingml/2006/main" noGrp="1"/>
          </p:cNvSpPr>
          <p:nvPr/>
        </p:nvSpPr>
        <p:spPr>
          <a:xfrm xmlns:a="http://schemas.openxmlformats.org/drawingml/2006/main">
            <a:off x="4391025" y="501015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2  Jobs provide income</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3496aec3e204811"/>
          <a:srcRect xmlns:a="http://schemas.openxmlformats.org/drawingml/2006/main" l="0" t="21115" r="0" b="21115"/>
          <a:stretch xmlns:a="http://schemas.openxmlformats.org/drawingml/2006/main">
            <a:fillRect l="0" t="0" r="0" b="0"/>
          </a:stretch>
        </p:blipFill>
        <p:spPr>
          <a:xfrm xmlns:a="http://schemas.openxmlformats.org/drawingml/2006/main">
            <a:off x="8172450" y="2476500"/>
            <a:ext cx="3409950" cy="19812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0EF6E8C-372D-45FA-9A0A-A35E2E616708}"/>
              </a:ext>
            </a:extLst>
          </p:cNvPr>
          <p:cNvSpPr>
            <a:spLocks xmlns:a="http://schemas.openxmlformats.org/drawingml/2006/main" noGrp="1"/>
          </p:cNvSpPr>
          <p:nvPr/>
        </p:nvSpPr>
        <p:spPr>
          <a:xfrm xmlns:a="http://schemas.openxmlformats.org/drawingml/2006/main">
            <a:off x="8172450" y="4533900"/>
            <a:ext cx="3409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1">
                <a:solidFill>
                  <a:srgbClr val="17334D"/>
                </a:solidFill>
                <a:latin typeface="Arial"/>
                <a:ea typeface="Arial"/>
                <a:cs typeface="Arial"/>
              </a:defRPr>
            </a:pPr>
            <a:r>
              <a:rPr sz="2025" b="1">
                <a:solidFill>
                  <a:srgbClr val="17334D"/>
                </a:solidFill>
                <a:latin typeface="Arial"/>
                <a:ea typeface="Arial"/>
                <a:cs typeface="Arial"/>
              </a:rPr>
              <a:t>3  Taxes help fund services</a:t>
            </a:r>
          </a:p>
        </p:txBody>
      </p:sp>
      <p:sp>
        <p:nvSpPr>
          <p:cNvPr id="12" name="">
            <a:extLst xmlns:a="http://schemas.openxmlformats.org/drawingml/2006/main">
              <a:ext uri="{FF2B5EF4-FFF2-40B4-BE49-F238E27FC236}">
                <a16:creationId xmlns:a16="http://schemas.microsoft.com/office/drawing/2014/main" id="{6815BC93-D3C6-46BE-A4A2-1937CE934E86}"/>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5F6BF0D-9298-4F67-B123-72F51AE3C301}"/>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Business activity can support jobs and public services.</a:t>
            </a:r>
          </a:p>
        </p:txBody>
      </p:sp>
      <p:sp>
        <p:nvSpPr>
          <p:cNvPr id="14" name="">
            <a:extLst xmlns:a="http://schemas.openxmlformats.org/drawingml/2006/main">
              <a:ext uri="{FF2B5EF4-FFF2-40B4-BE49-F238E27FC236}">
                <a16:creationId xmlns:a16="http://schemas.microsoft.com/office/drawing/2014/main" id="{28484D0C-3DDC-4446-8DAD-5B93BBCCF3EC}"/>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7–9 · SBTE 7–8     Point to the clue that supports your answer.     17</a:t>
            </a:r>
          </a:p>
        </p:txBody>
      </p:sp>
    </p:spTree>
    <p:extLst>
      <p:ext uri="{BB962C8B-B14F-4D97-AF65-F5344CB8AC3E}">
        <p14:creationId xmlns:p14="http://schemas.microsoft.com/office/powerpoint/2010/main" val="1907159447"/>
      </p:ext>
    </p:extLst>
  </p:cSld>
</p:sld>
</file>

<file path=ppt/slides/slide18.xml><?xml version="1.0" encoding="utf-8"?>
<p:sld xmlns:p="http://schemas.openxmlformats.org/presentationml/2006/main">
  <p:cSld>
    <p:bg>
      <p:bgPr>
        <a:solidFill xmlns:a="http://schemas.openxmlformats.org/drawingml/2006/main">
          <a:srgbClr val="FBF4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6DE1DEF-369A-456B-B386-10C9BF409453}"/>
              </a:ext>
            </a:extLst>
          </p:cNvPr>
          <p:cNvSpPr>
            <a:spLocks xmlns:a="http://schemas.openxmlformats.org/drawingml/2006/main" noGrp="1"/>
          </p:cNvSpPr>
          <p:nvPr/>
        </p:nvSpPr>
        <p:spPr>
          <a:xfrm xmlns:a="http://schemas.openxmlformats.org/drawingml/2006/main">
            <a:off x="0" y="0"/>
            <a:ext cx="12192000" cy="133350"/>
          </a:xfrm>
          <a:prstGeom xmlns:a="http://schemas.openxmlformats.org/drawingml/2006/main" prst="rect">
            <a:avLst/>
          </a:prstGeom>
          <a:solidFill xmlns:a="http://schemas.openxmlformats.org/drawingml/2006/main">
            <a:srgbClr val="F48B2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CDA35E0-4834-4A3B-AA1F-02D26B79D34A}"/>
              </a:ext>
            </a:extLst>
          </p:cNvPr>
          <p:cNvSpPr>
            <a:spLocks xmlns:a="http://schemas.openxmlformats.org/drawingml/2006/main" noGrp="1"/>
          </p:cNvSpPr>
          <p:nvPr/>
        </p:nvSpPr>
        <p:spPr>
          <a:xfrm xmlns:a="http://schemas.openxmlformats.org/drawingml/2006/main">
            <a:off x="609600" y="304800"/>
            <a:ext cx="876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575" b="1">
                <a:solidFill>
                  <a:srgbClr val="087A7B"/>
                </a:solidFill>
                <a:latin typeface="Arial"/>
                <a:ea typeface="Arial"/>
                <a:cs typeface="Arial"/>
              </a:defRPr>
            </a:pPr>
            <a:r>
              <a:rPr sz="1575" b="1">
                <a:solidFill>
                  <a:srgbClr val="087A7B"/>
                </a:solidFill>
                <a:latin typeface="Arial"/>
                <a:ea typeface="Arial"/>
                <a:cs typeface="Arial"/>
              </a:rPr>
              <a:t>OPTIONAL MONDAY CATCH-UP · CONNECT</a:t>
            </a:r>
          </a:p>
        </p:txBody>
      </p:sp>
      <p:sp>
        <p:nvSpPr>
          <p:cNvPr id="3" name="">
            <a:extLst xmlns:a="http://schemas.openxmlformats.org/drawingml/2006/main">
              <a:ext uri="{FF2B5EF4-FFF2-40B4-BE49-F238E27FC236}">
                <a16:creationId xmlns:a16="http://schemas.microsoft.com/office/drawing/2014/main" id="{37E37077-ED03-46E5-8FAE-237ED3F1D89C}"/>
              </a:ext>
            </a:extLst>
          </p:cNvPr>
          <p:cNvSpPr>
            <a:spLocks xmlns:a="http://schemas.openxmlformats.org/drawingml/2006/main" noGrp="1"/>
          </p:cNvSpPr>
          <p:nvPr/>
        </p:nvSpPr>
        <p:spPr>
          <a:xfrm xmlns:a="http://schemas.openxmlformats.org/drawingml/2006/main">
            <a:off x="9810750" y="285750"/>
            <a:ext cx="1857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650" b="1">
                <a:solidFill>
                  <a:srgbClr val="17334D"/>
                </a:solidFill>
                <a:latin typeface="Arial"/>
                <a:ea typeface="Arial"/>
                <a:cs typeface="Arial"/>
              </a:defRPr>
            </a:pPr>
            <a:r>
              <a:rPr sz="1650" b="1">
                <a:solidFill>
                  <a:srgbClr val="17334D"/>
                </a:solidFill>
                <a:latin typeface="Arial"/>
                <a:ea typeface="Arial"/>
                <a:cs typeface="Arial"/>
              </a:rPr>
              <a:t>CONNECT · 0:50</a:t>
            </a:r>
          </a:p>
        </p:txBody>
      </p:sp>
      <p:sp>
        <p:nvSpPr>
          <p:cNvPr id="4" name="">
            <a:extLst xmlns:a="http://schemas.openxmlformats.org/drawingml/2006/main">
              <a:ext uri="{FF2B5EF4-FFF2-40B4-BE49-F238E27FC236}">
                <a16:creationId xmlns:a16="http://schemas.microsoft.com/office/drawing/2014/main" id="{07D05696-DD23-4197-8408-EE39010A19A1}"/>
              </a:ext>
            </a:extLst>
          </p:cNvPr>
          <p:cNvSpPr>
            <a:spLocks xmlns:a="http://schemas.openxmlformats.org/drawingml/2006/main" noGrp="1"/>
          </p:cNvSpPr>
          <p:nvPr/>
        </p:nvSpPr>
        <p:spPr>
          <a:xfrm xmlns:a="http://schemas.openxmlformats.org/drawingml/2006/main">
            <a:off x="609600" y="762000"/>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3300" b="1">
                <a:solidFill>
                  <a:srgbClr val="17334D"/>
                </a:solidFill>
                <a:latin typeface="Arial"/>
                <a:ea typeface="Arial"/>
                <a:cs typeface="Arial"/>
              </a:defRPr>
            </a:pPr>
            <a:r>
              <a:rPr sz="3300" b="1">
                <a:solidFill>
                  <a:srgbClr val="17334D"/>
                </a:solidFill>
                <a:latin typeface="Arial"/>
                <a:ea typeface="Arial"/>
                <a:cs typeface="Arial"/>
              </a:rPr>
              <a:t>Businesses affect more than their customers.</a:t>
            </a:r>
          </a:p>
        </p:txBody>
      </p:sp>
      <p:sp>
        <p:nvSpPr>
          <p:cNvPr id="5" name="">
            <a:extLst xmlns:a="http://schemas.openxmlformats.org/drawingml/2006/main">
              <a:ext uri="{FF2B5EF4-FFF2-40B4-BE49-F238E27FC236}">
                <a16:creationId xmlns:a16="http://schemas.microsoft.com/office/drawing/2014/main" id="{03D5F951-7ACC-48FE-AFD1-8EE342174419}"/>
              </a:ext>
            </a:extLst>
          </p:cNvPr>
          <p:cNvSpPr>
            <a:spLocks xmlns:a="http://schemas.openxmlformats.org/drawingml/2006/main" noGrp="1"/>
          </p:cNvSpPr>
          <p:nvPr/>
        </p:nvSpPr>
        <p:spPr>
          <a:xfrm xmlns:a="http://schemas.openxmlformats.org/drawingml/2006/main">
            <a:off x="609600" y="14192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025" b="0">
                <a:solidFill>
                  <a:srgbClr val="17334D"/>
                </a:solidFill>
                <a:latin typeface="Arial"/>
                <a:ea typeface="Arial"/>
                <a:cs typeface="Arial"/>
              </a:defRPr>
            </a:pPr>
            <a:r>
              <a:rPr sz="2025" b="0">
                <a:solidFill>
                  <a:srgbClr val="17334D"/>
                </a:solidFill>
                <a:latin typeface="Arial"/>
                <a:ea typeface="Arial"/>
                <a:cs typeface="Arial"/>
              </a:rPr>
              <a:t>Keep this example in mind as you read.</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c9f55663b8cb47e8"/>
          <a:srcRect xmlns:a="http://schemas.openxmlformats.org/drawingml/2006/main" l="0" t="21318" r="0" b="21318"/>
          <a:stretch xmlns:a="http://schemas.openxmlformats.org/drawingml/2006/main">
            <a:fillRect l="0" t="0" r="0" b="0"/>
          </a:stretch>
        </p:blipFill>
        <p:spPr>
          <a:xfrm xmlns:a="http://schemas.openxmlformats.org/drawingml/2006/main">
            <a:off x="609600" y="2333625"/>
            <a:ext cx="4953000" cy="2857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64218E8B-4F53-406A-A984-9CD77F3A6B18}"/>
              </a:ext>
            </a:extLst>
          </p:cNvPr>
          <p:cNvSpPr>
            <a:spLocks xmlns:a="http://schemas.openxmlformats.org/drawingml/2006/main" noGrp="1"/>
          </p:cNvSpPr>
          <p:nvPr/>
        </p:nvSpPr>
        <p:spPr>
          <a:xfrm xmlns:a="http://schemas.openxmlformats.org/drawingml/2006/main">
            <a:off x="6096000" y="2428875"/>
            <a:ext cx="5334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700" b="1">
                <a:solidFill>
                  <a:srgbClr val="17334D"/>
                </a:solidFill>
                <a:latin typeface="Arial"/>
                <a:ea typeface="Arial"/>
                <a:cs typeface="Arial"/>
              </a:defRPr>
            </a:pPr>
            <a:r>
              <a:rPr sz="2700" b="1">
                <a:solidFill>
                  <a:srgbClr val="17334D"/>
                </a:solidFill>
                <a:latin typeface="Arial"/>
                <a:ea typeface="Arial"/>
                <a:cs typeface="Arial"/>
              </a:rPr>
              <a:t>Resume p. 7; then read “Ways Businesses…” on pp. 8–9</a:t>
            </a:r>
          </a:p>
        </p:txBody>
      </p:sp>
      <p:sp>
        <p:nvSpPr>
          <p:cNvPr id="8" name="">
            <a:extLst xmlns:a="http://schemas.openxmlformats.org/drawingml/2006/main">
              <a:ext uri="{FF2B5EF4-FFF2-40B4-BE49-F238E27FC236}">
                <a16:creationId xmlns:a16="http://schemas.microsoft.com/office/drawing/2014/main" id="{FFA620C9-8E6F-472D-8F47-6048EC92559A}"/>
              </a:ext>
            </a:extLst>
          </p:cNvPr>
          <p:cNvSpPr>
            <a:spLocks xmlns:a="http://schemas.openxmlformats.org/drawingml/2006/main" noGrp="1"/>
          </p:cNvSpPr>
          <p:nvPr/>
        </p:nvSpPr>
        <p:spPr>
          <a:xfrm xmlns:a="http://schemas.openxmlformats.org/drawingml/2006/main">
            <a:off x="6096000" y="3648075"/>
            <a:ext cx="5334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2325" b="0">
                <a:solidFill>
                  <a:srgbClr val="17334D"/>
                </a:solidFill>
                <a:latin typeface="Arial"/>
                <a:ea typeface="Arial"/>
                <a:cs typeface="Arial"/>
              </a:defRPr>
            </a:pPr>
            <a:r>
              <a:rPr sz="2325" b="0">
                <a:solidFill>
                  <a:srgbClr val="17334D"/>
                </a:solidFill>
                <a:latin typeface="Arial"/>
                <a:ea typeface="Arial"/>
                <a:cs typeface="Arial"/>
              </a:rPr>
              <a:t>Find products, markets, employment, and taxes.</a:t>
            </a:r>
          </a:p>
        </p:txBody>
      </p:sp>
      <p:sp>
        <p:nvSpPr>
          <p:cNvPr id="9" name="">
            <a:extLst xmlns:a="http://schemas.openxmlformats.org/drawingml/2006/main">
              <a:ext uri="{FF2B5EF4-FFF2-40B4-BE49-F238E27FC236}">
                <a16:creationId xmlns:a16="http://schemas.microsoft.com/office/drawing/2014/main" id="{53748F60-4078-404B-9829-D816A9074B6F}"/>
              </a:ext>
            </a:extLst>
          </p:cNvPr>
          <p:cNvSpPr>
            <a:spLocks xmlns:a="http://schemas.openxmlformats.org/drawingml/2006/main" noGrp="1"/>
          </p:cNvSpPr>
          <p:nvPr/>
        </p:nvSpPr>
        <p:spPr>
          <a:xfrm xmlns:a="http://schemas.openxmlformats.org/drawingml/2006/main">
            <a:off x="609600" y="5762625"/>
            <a:ext cx="10972800" cy="628650"/>
          </a:xfrm>
          <a:prstGeom xmlns:a="http://schemas.openxmlformats.org/drawingml/2006/main" prst="rect">
            <a:avLst/>
          </a:prstGeom>
          <a:solidFill xmlns:a="http://schemas.openxmlformats.org/drawingml/2006/main">
            <a:srgbClr val="DCEFF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B89C5EC-C185-4715-9062-7F6A586C4487}"/>
              </a:ext>
            </a:extLst>
          </p:cNvPr>
          <p:cNvSpPr>
            <a:spLocks xmlns:a="http://schemas.openxmlformats.org/drawingml/2006/main" noGrp="1"/>
          </p:cNvSpPr>
          <p:nvPr/>
        </p:nvSpPr>
        <p:spPr>
          <a:xfrm xmlns:a="http://schemas.openxmlformats.org/drawingml/2006/main">
            <a:off x="800100" y="58674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950" b="1">
                <a:solidFill>
                  <a:srgbClr val="17334D"/>
                </a:solidFill>
                <a:latin typeface="Arial"/>
                <a:ea typeface="Arial"/>
                <a:cs typeface="Arial"/>
              </a:defRPr>
            </a:pPr>
            <a:r>
              <a:rPr sz="1950" b="1">
                <a:solidFill>
                  <a:srgbClr val="17334D"/>
                </a:solidFill>
                <a:latin typeface="Arial"/>
                <a:ea typeface="Arial"/>
                <a:cs typeface="Arial"/>
              </a:rPr>
              <a:t>NEXT: Notes → required reading → vocabulary/application</a:t>
            </a:r>
          </a:p>
        </p:txBody>
      </p:sp>
      <p:sp>
        <p:nvSpPr>
          <p:cNvPr id="11" name="">
            <a:extLst xmlns:a="http://schemas.openxmlformats.org/drawingml/2006/main">
              <a:ext uri="{FF2B5EF4-FFF2-40B4-BE49-F238E27FC236}">
                <a16:creationId xmlns:a16="http://schemas.microsoft.com/office/drawing/2014/main" id="{AEC2E65D-6BAD-4399-A275-3A6810DBCA44}"/>
              </a:ext>
            </a:extLst>
          </p:cNvPr>
          <p:cNvSpPr>
            <a:spLocks xmlns:a="http://schemas.openxmlformats.org/drawingml/2006/main" noGrp="1"/>
          </p:cNvSpPr>
          <p:nvPr/>
        </p:nvSpPr>
        <p:spPr>
          <a:xfrm xmlns:a="http://schemas.openxmlformats.org/drawingml/2006/main">
            <a:off x="609600" y="6505575"/>
            <a:ext cx="10906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buNone/>
              <a:defRPr sz="1275" b="0">
                <a:solidFill>
                  <a:srgbClr val="087A7B"/>
                </a:solidFill>
                <a:latin typeface="Arial"/>
                <a:ea typeface="Arial"/>
                <a:cs typeface="Arial"/>
              </a:defRPr>
            </a:pPr>
            <a:r>
              <a:rPr sz="1275" b="0">
                <a:solidFill>
                  <a:srgbClr val="087A7B"/>
                </a:solidFill>
                <a:latin typeface="Arial"/>
                <a:ea typeface="Arial"/>
                <a:cs typeface="Arial"/>
              </a:rPr>
              <a:t>pp. 7–9 · SBTE 7–8     Stop at 3:00 total.     18</a:t>
            </a:r>
          </a:p>
        </p:txBody>
      </p:sp>
    </p:spTree>
    <p:extLst>
      <p:ext uri="{BB962C8B-B14F-4D97-AF65-F5344CB8AC3E}">
        <p14:creationId xmlns:p14="http://schemas.microsoft.com/office/powerpoint/2010/main" val="98442998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2026-09-18T01:04:02.4740000Z</dcterms:created>
  <dcterms:modified xsi:type="dcterms:W3CDTF">2026-09-18T01:04:02.4740000Z</dcterms:modified>
</coreProperties>
</file>