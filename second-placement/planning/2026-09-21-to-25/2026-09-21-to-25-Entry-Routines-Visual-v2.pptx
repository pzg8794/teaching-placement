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6613b61a094161" /><Relationship Type="http://schemas.openxmlformats.org/officeDocument/2006/relationships/extended-properties" Target="/docProps/app.xml" Id="Rc1a66051dcb54512" /><Relationship Type="http://schemas.openxmlformats.org/officeDocument/2006/relationships/officeDocument" Target="/ppt/presentation.xml" Id="R9c5cb95ada5943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b434ffd144e21"/>
  </p:sldMasterIdLst>
  <p:notesMasterIdLst>
    <p:notesMasterId xmlns:r="http://schemas.openxmlformats.org/officeDocument/2006/relationships" r:id="R5c0d43564aae4717"/>
  </p:notesMasterIdLst>
  <p:sldIdLst>
    <p:sldId xmlns:r="http://schemas.openxmlformats.org/officeDocument/2006/relationships" id="256" r:id="Rcc6b5e78c2784159"/>
    <p:sldId xmlns:r="http://schemas.openxmlformats.org/officeDocument/2006/relationships" id="257" r:id="R944ea412b46a4891"/>
    <p:sldId xmlns:r="http://schemas.openxmlformats.org/officeDocument/2006/relationships" id="258" r:id="R9becd6b1a7144598"/>
    <p:sldId xmlns:r="http://schemas.openxmlformats.org/officeDocument/2006/relationships" id="259" r:id="R5c4f1a72902242a9"/>
    <p:sldId xmlns:r="http://schemas.openxmlformats.org/officeDocument/2006/relationships" id="260" r:id="R2ae775b47a4c4d23"/>
    <p:sldId xmlns:r="http://schemas.openxmlformats.org/officeDocument/2006/relationships" id="261" r:id="Rd33e3a2b634b4618"/>
    <p:sldId xmlns:r="http://schemas.openxmlformats.org/officeDocument/2006/relationships" id="262" r:id="R3a90c62391564ab7"/>
    <p:sldId xmlns:r="http://schemas.openxmlformats.org/officeDocument/2006/relationships" id="263" r:id="Rc2a18fe163dc486c"/>
    <p:sldId xmlns:r="http://schemas.openxmlformats.org/officeDocument/2006/relationships" id="264" r:id="R61f438a8a0f6446f"/>
    <p:sldId xmlns:r="http://schemas.openxmlformats.org/officeDocument/2006/relationships" id="265" r:id="Re0c50080875048ea"/>
    <p:sldId xmlns:r="http://schemas.openxmlformats.org/officeDocument/2006/relationships" id="266" r:id="R2ea40b99fc7943f2"/>
    <p:sldId xmlns:r="http://schemas.openxmlformats.org/officeDocument/2006/relationships" id="267" r:id="Ra15673e3a1e54a63"/>
    <p:sldId xmlns:r="http://schemas.openxmlformats.org/officeDocument/2006/relationships" id="268" r:id="R2e2945f34f74431f"/>
    <p:sldId xmlns:r="http://schemas.openxmlformats.org/officeDocument/2006/relationships" id="269" r:id="R87a7355533f944dc"/>
    <p:sldId xmlns:r="http://schemas.openxmlformats.org/officeDocument/2006/relationships" id="270" r:id="Rf79dea3ec3544bde"/>
    <p:sldId xmlns:r="http://schemas.openxmlformats.org/officeDocument/2006/relationships" id="271" r:id="Recf345f9ca734568"/>
    <p:sldId xmlns:r="http://schemas.openxmlformats.org/officeDocument/2006/relationships" id="272" r:id="R7a10dc94a33b496d"/>
    <p:sldId xmlns:r="http://schemas.openxmlformats.org/officeDocument/2006/relationships" id="273" r:id="R649f634c15674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2382ba8a54704" /><Relationship Type="http://schemas.openxmlformats.org/officeDocument/2006/relationships/slideMaster" Target="/ppt/slideMasters/slideMaster1.xml" Id="Rb4fb434ffd144e21" /><Relationship Type="http://schemas.openxmlformats.org/officeDocument/2006/relationships/notesMaster" Target="/ppt/notesMasters/notesMaster1.xml" Id="R5c0d43564aae4717" /><Relationship Type="http://schemas.openxmlformats.org/officeDocument/2006/relationships/presProps" Target="/ppt/presProps.xml" Id="R15c585d8b81f4723" /><Relationship Type="http://schemas.openxmlformats.org/officeDocument/2006/relationships/tableStyles" Target="/ppt/tableStyles.xml" Id="Rbd350cf654b4453e" /><Relationship Type="http://schemas.openxmlformats.org/officeDocument/2006/relationships/slide" Target="/ppt/slides/slide1.xml" Id="Rcc6b5e78c2784159" /><Relationship Type="http://schemas.openxmlformats.org/officeDocument/2006/relationships/slide" Target="/ppt/slides/slide2.xml" Id="R944ea412b46a4891" /><Relationship Type="http://schemas.openxmlformats.org/officeDocument/2006/relationships/slide" Target="/ppt/slides/slide3.xml" Id="R9becd6b1a7144598" /><Relationship Type="http://schemas.openxmlformats.org/officeDocument/2006/relationships/slide" Target="/ppt/slides/slide4.xml" Id="R5c4f1a72902242a9" /><Relationship Type="http://schemas.openxmlformats.org/officeDocument/2006/relationships/slide" Target="/ppt/slides/slide5.xml" Id="R2ae775b47a4c4d23" /><Relationship Type="http://schemas.openxmlformats.org/officeDocument/2006/relationships/slide" Target="/ppt/slides/slide6.xml" Id="Rd33e3a2b634b4618" /><Relationship Type="http://schemas.openxmlformats.org/officeDocument/2006/relationships/slide" Target="/ppt/slides/slide7.xml" Id="R3a90c62391564ab7" /><Relationship Type="http://schemas.openxmlformats.org/officeDocument/2006/relationships/slide" Target="/ppt/slides/slide8.xml" Id="Rc2a18fe163dc486c" /><Relationship Type="http://schemas.openxmlformats.org/officeDocument/2006/relationships/slide" Target="/ppt/slides/slide9.xml" Id="R61f438a8a0f6446f" /><Relationship Type="http://schemas.openxmlformats.org/officeDocument/2006/relationships/slide" Target="/ppt/slides/slide10.xml" Id="Re0c50080875048ea" /><Relationship Type="http://schemas.openxmlformats.org/officeDocument/2006/relationships/slide" Target="/ppt/slides/slide11.xml" Id="R2ea40b99fc7943f2" /><Relationship Type="http://schemas.openxmlformats.org/officeDocument/2006/relationships/slide" Target="/ppt/slides/slide12.xml" Id="Ra15673e3a1e54a63" /><Relationship Type="http://schemas.openxmlformats.org/officeDocument/2006/relationships/slide" Target="/ppt/slides/slide13.xml" Id="R2e2945f34f74431f" /><Relationship Type="http://schemas.openxmlformats.org/officeDocument/2006/relationships/slide" Target="/ppt/slides/slide14.xml" Id="R87a7355533f944dc" /><Relationship Type="http://schemas.openxmlformats.org/officeDocument/2006/relationships/slide" Target="/ppt/slides/slide15.xml" Id="Rf79dea3ec3544bde" /><Relationship Type="http://schemas.openxmlformats.org/officeDocument/2006/relationships/slide" Target="/ppt/slides/slide16.xml" Id="Recf345f9ca734568" /><Relationship Type="http://schemas.openxmlformats.org/officeDocument/2006/relationships/slide" Target="/ppt/slides/slide17.xml" Id="R7a10dc94a33b496d" /><Relationship Type="http://schemas.openxmlformats.org/officeDocument/2006/relationships/slide" Target="/ppt/slides/slide18.xml" Id="R649f634c1567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7aca661327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ab823a5174982" /><Relationship Type="http://schemas.openxmlformats.org/officeDocument/2006/relationships/notesMaster" Target="/ppt/notesMasters/notesMaster1.xml" Id="Rd3d4f476f5e9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65ed09f4864617" /><Relationship Type="http://schemas.openxmlformats.org/officeDocument/2006/relationships/notesMaster" Target="/ppt/notesMasters/notesMaster1.xml" Id="R26f199688807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c7a9bcdcbe45a4" /><Relationship Type="http://schemas.openxmlformats.org/officeDocument/2006/relationships/notesMaster" Target="/ppt/notesMasters/notesMaster1.xml" Id="R9d1b0f788bed4d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8fe2589c4a45c3" /><Relationship Type="http://schemas.openxmlformats.org/officeDocument/2006/relationships/notesMaster" Target="/ppt/notesMasters/notesMaster1.xml" Id="Rd2c3b991be9a46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f8629bf16a44cd" /><Relationship Type="http://schemas.openxmlformats.org/officeDocument/2006/relationships/notesMaster" Target="/ppt/notesMasters/notesMaster1.xml" Id="R17511d1fe96741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dc0938e0ec4ab1" /><Relationship Type="http://schemas.openxmlformats.org/officeDocument/2006/relationships/notesMaster" Target="/ppt/notesMasters/notesMaster1.xml" Id="R1cf4c85df03d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37d92c2e6416f" /><Relationship Type="http://schemas.openxmlformats.org/officeDocument/2006/relationships/notesMaster" Target="/ppt/notesMasters/notesMaster1.xml" Id="R012c965a003b4b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c3961038774871" /><Relationship Type="http://schemas.openxmlformats.org/officeDocument/2006/relationships/notesMaster" Target="/ppt/notesMasters/notesMaster1.xml" Id="R0a736ee373a7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365447de73406d" /><Relationship Type="http://schemas.openxmlformats.org/officeDocument/2006/relationships/notesMaster" Target="/ppt/notesMasters/notesMaster1.xml" Id="Ree197b85392946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ffc67a9f614276" /><Relationship Type="http://schemas.openxmlformats.org/officeDocument/2006/relationships/notesMaster" Target="/ppt/notesMasters/notesMaster1.xml" Id="R5e781789557941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0de1b0795744e5" /><Relationship Type="http://schemas.openxmlformats.org/officeDocument/2006/relationships/notesMaster" Target="/ppt/notesMasters/notesMaster1.xml" Id="R49a89c26072a4e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a0ea4687344442" /><Relationship Type="http://schemas.openxmlformats.org/officeDocument/2006/relationships/notesMaster" Target="/ppt/notesMasters/notesMaster1.xml" Id="R2f1e93ca7a6f4e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b7c891519d421d" /><Relationship Type="http://schemas.openxmlformats.org/officeDocument/2006/relationships/notesMaster" Target="/ppt/notesMasters/notesMaster1.xml" Id="Rfa068b44b61648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7ed9bde9d64166" /><Relationship Type="http://schemas.openxmlformats.org/officeDocument/2006/relationships/notesMaster" Target="/ppt/notesMasters/notesMaster1.xml" Id="Rc022360918904d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70ed0e05f7403b" /><Relationship Type="http://schemas.openxmlformats.org/officeDocument/2006/relationships/notesMaster" Target="/ppt/notesMasters/notesMaster1.xml" Id="R3a0f73ab7ded42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1dc907845b4c3d" /><Relationship Type="http://schemas.openxmlformats.org/officeDocument/2006/relationships/notesMaster" Target="/ppt/notesMasters/notesMaster1.xml" Id="R48194d08ffe943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51f039754c43ac" /><Relationship Type="http://schemas.openxmlformats.org/officeDocument/2006/relationships/notesMaster" Target="/ppt/notesMasters/notesMaster1.xml" Id="Rb3a037a36c1b49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ec93d4ff6d4b47" /><Relationship Type="http://schemas.openxmlformats.org/officeDocument/2006/relationships/notesMaster" Target="/ppt/notesMasters/notesMaster1.xml" Id="Ra29e4f4eb133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MAIN · only after pp. 7–9 / slide 8. SOURCE: Chapter 1 pp. 10–11 · SBTE 9. Printed textbook pages, not PDF viewer count. Total opener 3:00; 20s look, 40s choose, 50s check, 50s bridge, 20s buffer. Timer is teacher-controlled; on-slide times are static cues. Keep this fictional. The Sep. 17 announcements mention a school merchandise store and a freshman survey, but this is not an actual offer or event. If Friday reading is incomplete, use the Monday catch-up route at the END of this deck instead. Do not run both openers.</a:t>
            </a:r>
          </a:p>
          <a:p xmlns:a="http://schemas.openxmlformats.org/drawingml/2006/main">
            <a:r>
              <a:t>EXPECTED: B. Research customer wants and needs before committing to a product. Ask about fit, comfort, use, or style rather than personal income.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  <a:p xmlns:a="http://schemas.openxmlformats.org/drawingml/2006/main">
            <a:r>
              <a:t>HARD STOP: “We have our choice. Hold the extra examples; the reading gives us the model.”</a:t>
            </a:r>
          </a:p>
          <a:p xmlns:a="http://schemas.openxmlformats.org/drawingml/2006/main">
            <a:r>
              <a:t>TRANSITION: “Our hoodie choice gives us a reason to read page 10: how does the marketing concept guide the decision?”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What must a business understand before deciding what to offer?</a:t>
            </a:r>
          </a:p>
          <a:p xmlns:a="http://schemas.openxmlformats.org/drawingml/2006/main">
            <a:r>
              <a:t>KEY: Customer wants and needs, together with company goals and profits.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MAIN · only after pp. 7–9 / slide 8. SOURCE: Chapter 1 pp. 10–11 · SBTE 9. Printed textbook pages, not PDF viewer count. Total opener 3:00; 20s look, 40s choose, 50s check, 50s bridge, 20s buffer. Timer is teacher-controlled; on-slide times are static cues. Keep this fictional. The Sep. 17 announcements mention a school merchandise store and a freshman survey, but this is not an actual offer or event. If Friday reading is incomplete, use the Monday catch-up route at the END of this deck instead. Do not run both openers.</a:t>
            </a:r>
          </a:p>
          <a:p xmlns:a="http://schemas.openxmlformats.org/drawingml/2006/main">
            <a:r>
              <a:t>EXPECTED: B. Research customer wants and needs before committing to a product. Ask about fit, comfort, use, or style rather than personal income.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  <a:p xmlns:a="http://schemas.openxmlformats.org/drawingml/2006/main">
            <a:r>
              <a:t>HARD STOP: “We have our choice. Hold the extra examples; the reading gives us the model.”</a:t>
            </a:r>
          </a:p>
          <a:p xmlns:a="http://schemas.openxmlformats.org/drawingml/2006/main">
            <a:r>
              <a:t>TRANSITION: “Our hoodie choice gives us a reason to read page 10: how does the marketing concept guide the decision?”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What must a business understand before deciding what to offer?</a:t>
            </a:r>
          </a:p>
          <a:p xmlns:a="http://schemas.openxmlformats.org/drawingml/2006/main">
            <a:r>
              <a:t>KEY: Customer wants and needs, together with company goals and profits.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MAIN · only after pp. 7–9 / slide 8. SOURCE: Chapter 1 pp. 10–11 · SBTE 9. Printed textbook pages, not PDF viewer count. Total opener 3:00; 20s look, 40s choose, 50s check, 50s bridge, 20s buffer. Timer is teacher-controlled; on-slide times are static cues. Keep this fictional. The Sep. 17 announcements mention a school merchandise store and a freshman survey, but this is not an actual offer or event. If Friday reading is incomplete, use the Monday catch-up route at the END of this deck instead. Do not run both openers.</a:t>
            </a:r>
          </a:p>
          <a:p xmlns:a="http://schemas.openxmlformats.org/drawingml/2006/main">
            <a:r>
              <a:t>EXPECTED: B. Research customer wants and needs before committing to a product. Ask about fit, comfort, use, or style rather than personal income.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  <a:p xmlns:a="http://schemas.openxmlformats.org/drawingml/2006/main">
            <a:r>
              <a:t>HARD STOP: “We have our choice. Hold the extra examples; the reading gives us the model.”</a:t>
            </a:r>
          </a:p>
          <a:p xmlns:a="http://schemas.openxmlformats.org/drawingml/2006/main">
            <a:r>
              <a:t>TRANSITION: “Our hoodie choice gives us a reason to read page 10: how does the marketing concept guide the decision?”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What must a business understand before deciding what to offer?</a:t>
            </a:r>
          </a:p>
          <a:p xmlns:a="http://schemas.openxmlformats.org/drawingml/2006/main">
            <a:r>
              <a:t>KEY: Customer wants and needs, together with company goals and profits.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TUESDAY, Sep. 21–25 2026. PREVIEW · no prior 4 Ps knowledge needed. SOURCE: Chapter 1 pp. 11–12 · SBTE 10. Printed textbook pages, not PDF viewer count. Total opener 3:00; 20s look, 40s choose, 50s check, 50s bridge, 20s buffer. Timer is teacher-controlled; on-slide times are static cues. Preview through an everyday problem, then reveal the term. Do not quiz students on untaught P labels. Fictional delivery; no real school shipping promise. Terms to Know deadline is 9 AM today, not necessarily before this section meets.</a:t>
            </a:r>
          </a:p>
          <a:p xmlns:a="http://schemas.openxmlformats.org/drawingml/2006/main">
            <a:r>
              <a:t>EXPECTED: C. The missed event is a delivery/distribution problem. A better ad or new color would not fix the stated problem.</a:t>
            </a:r>
          </a:p>
          <a:p xmlns:a="http://schemas.openxmlformats.org/drawingml/2006/main">
            <a:r>
              <a:t>FOLLOW-UP 1 (optional, choose at most one): Could a great product still disappoint a customer? How?</a:t>
            </a:r>
          </a:p>
          <a:p xmlns:a="http://schemas.openxmlformats.org/drawingml/2006/main">
            <a:r>
              <a:t>FOLLOW-UP 2: Which detail tells you delivery is the issue?</a:t>
            </a:r>
          </a:p>
          <a:p xmlns:a="http://schemas.openxmlformats.org/drawingml/2006/main">
            <a:r>
              <a:t>HARD STOP: “Lock in your choice. Let’s name the concept and go to the reading.”</a:t>
            </a:r>
          </a:p>
          <a:p xmlns:a="http://schemas.openxmlformats.org/drawingml/2006/main">
            <a:r>
              <a:t>TRANSITION: “Keep that late hoodie in mind. Pages 11–12 explain all four decisions in the marketing mix.”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A hoodie is advertised well but arrives too late. Which P needs attention, and why?</a:t>
            </a:r>
          </a:p>
          <a:p xmlns:a="http://schemas.openxmlformats.org/drawingml/2006/main">
            <a:r>
              <a:t>KEY: Place; distribution did not deliver it when needed.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TUESDAY, Sep. 21–25 2026. PREVIEW · no prior 4 Ps knowledge needed. SOURCE: Chapter 1 pp. 11–12 · SBTE 10. Printed textbook pages, not PDF viewer count. Total opener 3:00; 20s look, 40s choose, 50s check, 50s bridge, 20s buffer. Timer is teacher-controlled; on-slide times are static cues. Preview through an everyday problem, then reveal the term. Do not quiz students on untaught P labels. Fictional delivery; no real school shipping promise. Terms to Know deadline is 9 AM today, not necessarily before this section meets.</a:t>
            </a:r>
          </a:p>
          <a:p xmlns:a="http://schemas.openxmlformats.org/drawingml/2006/main">
            <a:r>
              <a:t>EXPECTED: C. The missed event is a delivery/distribution problem. A better ad or new color would not fix the stated problem.</a:t>
            </a:r>
          </a:p>
          <a:p xmlns:a="http://schemas.openxmlformats.org/drawingml/2006/main">
            <a:r>
              <a:t>FOLLOW-UP 1 (optional, choose at most one): Could a great product still disappoint a customer? How?</a:t>
            </a:r>
          </a:p>
          <a:p xmlns:a="http://schemas.openxmlformats.org/drawingml/2006/main">
            <a:r>
              <a:t>FOLLOW-UP 2: Which detail tells you delivery is the issue?</a:t>
            </a:r>
          </a:p>
          <a:p xmlns:a="http://schemas.openxmlformats.org/drawingml/2006/main">
            <a:r>
              <a:t>HARD STOP: “Lock in your choice. Let’s name the concept and go to the reading.”</a:t>
            </a:r>
          </a:p>
          <a:p xmlns:a="http://schemas.openxmlformats.org/drawingml/2006/main">
            <a:r>
              <a:t>TRANSITION: “Keep that late hoodie in mind. Pages 11–12 explain all four decisions in the marketing mix.”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A hoodie is advertised well but arrives too late. Which P needs attention, and why?</a:t>
            </a:r>
          </a:p>
          <a:p xmlns:a="http://schemas.openxmlformats.org/drawingml/2006/main">
            <a:r>
              <a:t>KEY: Place; distribution did not deliver it when needed.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TUESDAY, Sep. 21–25 2026. PREVIEW · no prior 4 Ps knowledge needed. SOURCE: Chapter 1 pp. 11–12 · SBTE 10. Printed textbook pages, not PDF viewer count. Total opener 3:00; 20s look, 40s choose, 50s check, 50s bridge, 20s buffer. Timer is teacher-controlled; on-slide times are static cues. Preview through an everyday problem, then reveal the term. Do not quiz students on untaught P labels. Fictional delivery; no real school shipping promise. Terms to Know deadline is 9 AM today, not necessarily before this section meets.</a:t>
            </a:r>
          </a:p>
          <a:p xmlns:a="http://schemas.openxmlformats.org/drawingml/2006/main">
            <a:r>
              <a:t>EXPECTED: C. The missed event is a delivery/distribution problem. A better ad or new color would not fix the stated problem.</a:t>
            </a:r>
          </a:p>
          <a:p xmlns:a="http://schemas.openxmlformats.org/drawingml/2006/main">
            <a:r>
              <a:t>FOLLOW-UP 1 (optional, choose at most one): Could a great product still disappoint a customer? How?</a:t>
            </a:r>
          </a:p>
          <a:p xmlns:a="http://schemas.openxmlformats.org/drawingml/2006/main">
            <a:r>
              <a:t>FOLLOW-UP 2: Which detail tells you delivery is the issue?</a:t>
            </a:r>
          </a:p>
          <a:p xmlns:a="http://schemas.openxmlformats.org/drawingml/2006/main">
            <a:r>
              <a:t>HARD STOP: “Lock in your choice. Let’s name the concept and go to the reading.”</a:t>
            </a:r>
          </a:p>
          <a:p xmlns:a="http://schemas.openxmlformats.org/drawingml/2006/main">
            <a:r>
              <a:t>TRANSITION: “Keep that late hoodie in mind. Pages 11–12 explain all four decisions in the marketing mix.”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A hoodie is advertised well but arrives too late. Which P needs attention, and why?</a:t>
            </a:r>
          </a:p>
          <a:p xmlns:a="http://schemas.openxmlformats.org/drawingml/2006/main">
            <a:r>
              <a:t>KEY: Place; distribution did not deliver it when needed.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WEDNESDAY, Sep. 21–25 2026. PREVIEW · research before an esports event. SOURCE: Chapter 1 pp. 13–15 · SBTE 11–13. Printed textbook pages, not PDF viewer count. Total opener 3:00; 20s look, 40s choose, 50s check, 50s bridge, 20s buffer. Timer is teacher-controlled; on-slide times are static cues. The Sep. 17 announcements mention esports, which supplies school context. This invented event is not a claim about school plans. No need to be a gamer. Apply the routine only once this section reaches marketing functions. Review deadline is 9 AM today.</a:t>
            </a:r>
          </a:p>
          <a:p xmlns:a="http://schemas.openxmlformats.org/drawingml/2006/main">
            <a:r>
              <a:t>EXPECTED: B. It permits several preferences rather than assuming everyone likes gaming. Responses are fictional, not collected personal data. MIM includes qualitative and quantitative evidence.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  <a:p xmlns:a="http://schemas.openxmlformats.org/drawingml/2006/main">
            <a:r>
              <a:t>HARD STOP: “One useful question is enough. Now find the academic name in the text.”</a:t>
            </a:r>
          </a:p>
          <a:p xmlns:a="http://schemas.openxmlformats.org/drawingml/2006/main">
            <a:r>
              <a:t>TRANSITION: “Page 13 names this work marketing information management; then we will read how all seven functions work together.”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Which function gathers evidence about what customers want?</a:t>
            </a:r>
          </a:p>
          <a:p xmlns:a="http://schemas.openxmlformats.org/drawingml/2006/main">
            <a:r>
              <a:t>KEY: Marketing information management, also called market research.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WEDNESDAY, Sep. 21–25 2026. PREVIEW · research before an esports event. SOURCE: Chapter 1 pp. 13–15 · SBTE 11–13. Printed textbook pages, not PDF viewer count. Total opener 3:00; 20s look, 40s choose, 50s check, 50s bridge, 20s buffer. Timer is teacher-controlled; on-slide times are static cues. The Sep. 17 announcements mention esports, which supplies school context. This invented event is not a claim about school plans. No need to be a gamer. Apply the routine only once this section reaches marketing functions. Review deadline is 9 AM today.</a:t>
            </a:r>
          </a:p>
          <a:p xmlns:a="http://schemas.openxmlformats.org/drawingml/2006/main">
            <a:r>
              <a:t>EXPECTED: B. It permits several preferences rather than assuming everyone likes gaming. Responses are fictional, not collected personal data. MIM includes qualitative and quantitative evidence.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  <a:p xmlns:a="http://schemas.openxmlformats.org/drawingml/2006/main">
            <a:r>
              <a:t>HARD STOP: “One useful question is enough. Now find the academic name in the text.”</a:t>
            </a:r>
          </a:p>
          <a:p xmlns:a="http://schemas.openxmlformats.org/drawingml/2006/main">
            <a:r>
              <a:t>TRANSITION: “Page 13 names this work marketing information management; then we will read how all seven functions work together.”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Which function gathers evidence about what customers want?</a:t>
            </a:r>
          </a:p>
          <a:p xmlns:a="http://schemas.openxmlformats.org/drawingml/2006/main">
            <a:r>
              <a:t>KEY: Marketing information management, also called market research.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WEDNESDAY, Sep. 21–25 2026. PREVIEW · research before an esports event. SOURCE: Chapter 1 pp. 13–15 · SBTE 11–13. Printed textbook pages, not PDF viewer count. Total opener 3:00; 20s look, 40s choose, 50s check, 50s bridge, 20s buffer. Timer is teacher-controlled; on-slide times are static cues. The Sep. 17 announcements mention esports, which supplies school context. This invented event is not a claim about school plans. No need to be a gamer. Apply the routine only once this section reaches marketing functions. Review deadline is 9 AM today.</a:t>
            </a:r>
          </a:p>
          <a:p xmlns:a="http://schemas.openxmlformats.org/drawingml/2006/main">
            <a:r>
              <a:t>EXPECTED: B. It permits several preferences rather than assuming everyone likes gaming. Responses are fictional, not collected personal data. MIM includes qualitative and quantitative evidence.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  <a:p xmlns:a="http://schemas.openxmlformats.org/drawingml/2006/main">
            <a:r>
              <a:t>HARD STOP: “One useful question is enough. Now find the academic name in the text.”</a:t>
            </a:r>
          </a:p>
          <a:p xmlns:a="http://schemas.openxmlformats.org/drawingml/2006/main">
            <a:r>
              <a:t>TRANSITION: “Page 13 names this work marketing information management; then we will read how all seven functions work together.”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Which function gathers evidence about what customers want?</a:t>
            </a:r>
          </a:p>
          <a:p xmlns:a="http://schemas.openxmlformats.org/drawingml/2006/main">
            <a:r>
              <a:t>KEY: Marketing information management, also called market research.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THURSDAY, Sep. 21–25 2026. APPLICATION · after the functions reading. SOURCE: Chapter 1 pp. 13–15 · SBTE 12–13. Printed textbook pages, not PDF viewer count. Total opener 3:00; 20s look, 40s choose, 50s check, 50s bridge, 20s buffer. Timer is teacher-controlled; on-slide times are static cues. If the section has not read the functions, use the plain-language choices A change the hoodie, B ask preferences, C fix pickup. Reveal channel management as a preview and finish the reading before independent application.</a:t>
            </a:r>
          </a:p>
          <a:p xmlns:a="http://schemas.openxmlformats.org/drawingml/2006/main">
            <a:r>
              <a:t>EXPECTED: C for the immediate distribution problem. MIM can reveal preferred pickup times and other functions support the repair; accept this distinction rather than claiming mutually exclusive categories.</a:t>
            </a:r>
          </a:p>
          <a:p xmlns:a="http://schemas.openxmlformats.org/drawingml/2006/main">
            <a:r>
              <a:t>FOLLOW-UP 1 (optional, choose at most one): How could research help choose a better pickup time?</a:t>
            </a:r>
          </a:p>
          <a:p xmlns:a="http://schemas.openxmlformats.org/drawingml/2006/main">
            <a:r>
              <a:t>FOLLOW-UP 2: Why wouldn’t a louder advertisement fix this alone?</a:t>
            </a:r>
          </a:p>
          <a:p xmlns:a="http://schemas.openxmlformats.org/drawingml/2006/main">
            <a:r>
              <a:t>HARD STOP: “We’ve identified the immediate repair. Save the other fixes for our application.”</a:t>
            </a:r>
          </a:p>
          <a:p xmlns:a="http://schemas.openxmlformats.org/drawingml/2006/main">
            <a:r>
              <a:t>TRANSITION: “Page 13 explains the distribution decisions; Figure 1.4 shows how they support customer needs.”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How do channel management and place connect?</a:t>
            </a:r>
          </a:p>
          <a:p xmlns:a="http://schemas.openxmlformats.org/drawingml/2006/main">
            <a:r>
              <a:t>KEY: Channel management coordinates distribution; place is that path within the marketing mix.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THURSDAY, Sep. 21–25 2026. APPLICATION · after the functions reading. SOURCE: Chapter 1 pp. 13–15 · SBTE 12–13. Printed textbook pages, not PDF viewer count. Total opener 3:00; 20s look, 40s choose, 50s check, 50s bridge, 20s buffer. Timer is teacher-controlled; on-slide times are static cues. If the section has not read the functions, use the plain-language choices A change the hoodie, B ask preferences, C fix pickup. Reveal channel management as a preview and finish the reading before independent application.</a:t>
            </a:r>
          </a:p>
          <a:p xmlns:a="http://schemas.openxmlformats.org/drawingml/2006/main">
            <a:r>
              <a:t>EXPECTED: C for the immediate distribution problem. MIM can reveal preferred pickup times and other functions support the repair; accept this distinction rather than claiming mutually exclusive categories.</a:t>
            </a:r>
          </a:p>
          <a:p xmlns:a="http://schemas.openxmlformats.org/drawingml/2006/main">
            <a:r>
              <a:t>FOLLOW-UP 1 (optional, choose at most one): How could research help choose a better pickup time?</a:t>
            </a:r>
          </a:p>
          <a:p xmlns:a="http://schemas.openxmlformats.org/drawingml/2006/main">
            <a:r>
              <a:t>FOLLOW-UP 2: Why wouldn’t a louder advertisement fix this alone?</a:t>
            </a:r>
          </a:p>
          <a:p xmlns:a="http://schemas.openxmlformats.org/drawingml/2006/main">
            <a:r>
              <a:t>HARD STOP: “We’ve identified the immediate repair. Save the other fixes for our application.”</a:t>
            </a:r>
          </a:p>
          <a:p xmlns:a="http://schemas.openxmlformats.org/drawingml/2006/main">
            <a:r>
              <a:t>TRANSITION: “Page 13 explains the distribution decisions; Figure 1.4 shows how they support customer needs.”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How do channel management and place connect?</a:t>
            </a:r>
          </a:p>
          <a:p xmlns:a="http://schemas.openxmlformats.org/drawingml/2006/main">
            <a:r>
              <a:t>KEY: Channel management coordinates distribution; place is that path within the marketing mix.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THURSDAY, Sep. 21–25 2026. APPLICATION · after the functions reading. SOURCE: Chapter 1 pp. 13–15 · SBTE 12–13. Printed textbook pages, not PDF viewer count. Total opener 3:00; 20s look, 40s choose, 50s check, 50s bridge, 20s buffer. Timer is teacher-controlled; on-slide times are static cues. If the section has not read the functions, use the plain-language choices A change the hoodie, B ask preferences, C fix pickup. Reveal channel management as a preview and finish the reading before independent application.</a:t>
            </a:r>
          </a:p>
          <a:p xmlns:a="http://schemas.openxmlformats.org/drawingml/2006/main">
            <a:r>
              <a:t>EXPECTED: C for the immediate distribution problem. MIM can reveal preferred pickup times and other functions support the repair; accept this distinction rather than claiming mutually exclusive categories.</a:t>
            </a:r>
          </a:p>
          <a:p xmlns:a="http://schemas.openxmlformats.org/drawingml/2006/main">
            <a:r>
              <a:t>FOLLOW-UP 1 (optional, choose at most one): How could research help choose a better pickup time?</a:t>
            </a:r>
          </a:p>
          <a:p xmlns:a="http://schemas.openxmlformats.org/drawingml/2006/main">
            <a:r>
              <a:t>FOLLOW-UP 2: Why wouldn’t a louder advertisement fix this alone?</a:t>
            </a:r>
          </a:p>
          <a:p xmlns:a="http://schemas.openxmlformats.org/drawingml/2006/main">
            <a:r>
              <a:t>HARD STOP: “We’ve identified the immediate repair. Save the other fixes for our application.”</a:t>
            </a:r>
          </a:p>
          <a:p xmlns:a="http://schemas.openxmlformats.org/drawingml/2006/main">
            <a:r>
              <a:t>TRANSITION: “Page 13 explains the distribution decisions; Figure 1.4 shows how they support customer needs.”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How do channel management and place connect?</a:t>
            </a:r>
          </a:p>
          <a:p xmlns:a="http://schemas.openxmlformats.org/drawingml/2006/main">
            <a:r>
              <a:t>KEY: Channel management coordinates distribution; place is that path within the marketing mix.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FRIDAY, Sep. 21–25 2026. RETRIEVAL · private response. SOURCE: Chapter 1 p. 4; revisit pp. 10–15 · SBTE 4, 9–13. Printed textbook pages, not PDF viewer count. Total opener 3:00; 20s look, 40s choose, 50s check, 50s bridge, 20s buffer. Timer is teacher-controlled; on-slide times are static cues. Confirm the Sep. 25 assessment before use. If the SBTE needs a secure assessment start, omit the answer/reveal and follow-up entirely; do not coach assessed answers. Use the full routine on a review day. No new reading required before a test.</a:t>
            </a:r>
          </a:p>
          <a:p xmlns:a="http://schemas.openxmlformats.org/drawingml/2006/main">
            <a:r>
              <a:t>EXPECTED: Food is a good, paid repair is a service, the recycling message is an idea. The printed poster is also a good; we are classifying the message, not its paper.</a:t>
            </a:r>
          </a:p>
          <a:p xmlns:a="http://schemas.openxmlformats.org/drawingml/2006/main">
            <a:r>
              <a:t>FOLLOW-UP 1 (optional, choose at most one): If we classify the poster’s MESSAGE, what is it?</a:t>
            </a:r>
          </a:p>
          <a:p xmlns:a="http://schemas.openxmlformats.org/drawingml/2006/main">
            <a:r>
              <a:t>FOLLOW-UP 2: Which P or function could help the repair stall?</a:t>
            </a:r>
          </a:p>
          <a:p xmlns:a="http://schemas.openxmlformats.org/drawingml/2006/main">
            <a:r>
              <a:t>HARD STOP: “Pens down. Keep your response; we’re moving to today’s directions.”</a:t>
            </a:r>
          </a:p>
          <a:p xmlns:a="http://schemas.openxmlformats.org/drawingml/2006/main">
            <a:r>
              <a:t>TRANSITION: “These are the same Chapter 1 distinctions we will use in today’s review or assessment.”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Give a correct offering category and one linked P or function.</a:t>
            </a:r>
          </a:p>
          <a:p xmlns:a="http://schemas.openxmlformats.org/drawingml/2006/main">
            <a:r>
              <a:t>KEY: For example: bike repair is a service; promotion communicates it, pricing sets its charge, and selling helps match it to a customer.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FRIDAY, Sep. 21–25 2026. RETRIEVAL · private response. SOURCE: Chapter 1 p. 4; revisit pp. 10–15 · SBTE 4, 9–13. Printed textbook pages, not PDF viewer count. Total opener 3:00; 20s look, 40s choose, 50s check, 50s bridge, 20s buffer. Timer is teacher-controlled; on-slide times are static cues. Confirm the Sep. 25 assessment before use. If the SBTE needs a secure assessment start, omit the answer/reveal and follow-up entirely; do not coach assessed answers. Use the full routine on a review day. No new reading required before a test.</a:t>
            </a:r>
          </a:p>
          <a:p xmlns:a="http://schemas.openxmlformats.org/drawingml/2006/main">
            <a:r>
              <a:t>EXPECTED: Food is a good, paid repair is a service, the recycling message is an idea. The printed poster is also a good; we are classifying the message, not its paper.</a:t>
            </a:r>
          </a:p>
          <a:p xmlns:a="http://schemas.openxmlformats.org/drawingml/2006/main">
            <a:r>
              <a:t>FOLLOW-UP 1 (optional, choose at most one): If we classify the poster’s MESSAGE, what is it?</a:t>
            </a:r>
          </a:p>
          <a:p xmlns:a="http://schemas.openxmlformats.org/drawingml/2006/main">
            <a:r>
              <a:t>FOLLOW-UP 2: Which P or function could help the repair stall?</a:t>
            </a:r>
          </a:p>
          <a:p xmlns:a="http://schemas.openxmlformats.org/drawingml/2006/main">
            <a:r>
              <a:t>HARD STOP: “Pens down. Keep your response; we’re moving to today’s directions.”</a:t>
            </a:r>
          </a:p>
          <a:p xmlns:a="http://schemas.openxmlformats.org/drawingml/2006/main">
            <a:r>
              <a:t>TRANSITION: “These are the same Chapter 1 distinctions we will use in today’s review or assessment.”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Give a correct offering category and one linked P or function.</a:t>
            </a:r>
          </a:p>
          <a:p xmlns:a="http://schemas.openxmlformats.org/drawingml/2006/main">
            <a:r>
              <a:t>KEY: For example: bike repair is a service; promotion communicates it, pricing sets its charge, and selling helps match it to a customer.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FRIDAY, Sep. 21–25 2026. RETRIEVAL · private response. SOURCE: Chapter 1 p. 4; revisit pp. 10–15 · SBTE 4, 9–13. Printed textbook pages, not PDF viewer count. Total opener 3:00; 20s look, 40s choose, 50s check, 50s bridge, 20s buffer. Timer is teacher-controlled; on-slide times are static cues. Confirm the Sep. 25 assessment before use. If the SBTE needs a secure assessment start, omit the answer/reveal and follow-up entirely; do not coach assessed answers. Use the full routine on a review day. No new reading required before a test.</a:t>
            </a:r>
          </a:p>
          <a:p xmlns:a="http://schemas.openxmlformats.org/drawingml/2006/main">
            <a:r>
              <a:t>EXPECTED: Food is a good, paid repair is a service, the recycling message is an idea. The printed poster is also a good; we are classifying the message, not its paper.</a:t>
            </a:r>
          </a:p>
          <a:p xmlns:a="http://schemas.openxmlformats.org/drawingml/2006/main">
            <a:r>
              <a:t>FOLLOW-UP 1 (optional, choose at most one): If we classify the poster’s MESSAGE, what is it?</a:t>
            </a:r>
          </a:p>
          <a:p xmlns:a="http://schemas.openxmlformats.org/drawingml/2006/main">
            <a:r>
              <a:t>FOLLOW-UP 2: Which P or function could help the repair stall?</a:t>
            </a:r>
          </a:p>
          <a:p xmlns:a="http://schemas.openxmlformats.org/drawingml/2006/main">
            <a:r>
              <a:t>HARD STOP: “Pens down. Keep your response; we’re moving to today’s directions.”</a:t>
            </a:r>
          </a:p>
          <a:p xmlns:a="http://schemas.openxmlformats.org/drawingml/2006/main">
            <a:r>
              <a:t>TRANSITION: “These are the same Chapter 1 distinctions we will use in today’s review or assessment.”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Give a correct offering category and one linked P or function.</a:t>
            </a:r>
          </a:p>
          <a:p xmlns:a="http://schemas.openxmlformats.org/drawingml/2006/main">
            <a:r>
              <a:t>KEY: For example: bike repair is a service; promotion communicates it, pricing sets its charge, and selling helps match it to a customer.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CATCH-UP · use INSTEAD of main Monday route. SOURCE: Chapter 1 pp. 7–9 · SBTE 7–8. Printed textbook pages, not PDF viewer count. Total opener 3:00; 20s look, 40s choose, 50s check, 50s bridge, 20s buffer. Timer is teacher-controlled; on-slide times are static cues. Use this route if the actual section stop is before pp. 7–9/slide 8 completion. Do not advance this section just because the calendar says Monday. Financial activities may need a short note review before reading. Complete missing work first.</a:t>
            </a:r>
          </a:p>
          <a:p xmlns:a="http://schemas.openxmlformats.org/drawingml/2006/main">
            <a:r>
              <a:t>EXPECTED: A and B. The book includes goods and services as products. The recycling message need not be sold. Then identify wider contributions: jobs, wages, markets, and taxes. Do not infer every depicted worker’s pay.</a:t>
            </a:r>
          </a:p>
          <a:p xmlns:a="http://schemas.openxmlformats.org/drawingml/2006/main">
            <a:r>
              <a:t>FOLLOW-UP 1 (optional, choose at most one): How is a service also a product?</a:t>
            </a:r>
          </a:p>
          <a:p xmlns:a="http://schemas.openxmlformats.org/drawingml/2006/main">
            <a:r>
              <a:t>FOLLOW-UP 2: Who besides customers could benefit from the business?</a:t>
            </a:r>
          </a:p>
          <a:p xmlns:a="http://schemas.openxmlformats.org/drawingml/2006/main">
            <a:r>
              <a:t>HARD STOP: “Both goods and paid services count. Let’s use the reading to check the wider effects.”</a:t>
            </a:r>
          </a:p>
          <a:p xmlns:a="http://schemas.openxmlformats.org/drawingml/2006/main">
            <a:r>
              <a:t>TRANSITION: “Finish financial activities on page 7, then pages 8–9 explain how businesses affect their communities.”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Name one contribution a business makes beyond its sale.</a:t>
            </a:r>
          </a:p>
          <a:p xmlns:a="http://schemas.openxmlformats.org/drawingml/2006/main">
            <a:r>
              <a:t>KEY: Employment/wages or taxes supporting public services; markets enabling exchange also accepted.</a:t>
            </a:r>
          </a:p>
          <a:p xmlns:a="http://schemas.openxmlformats.org/drawingml/2006/main">
            <a:r>
              <a:t>PITER: Read the scenario once. Describe the three pictures. Give 20 seconds of quiet looking, then ask everyone for a response. Accept a private written choice. No partner transition.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CATCH-UP · use INSTEAD of main Monday route. SOURCE: Chapter 1 pp. 7–9 · SBTE 7–8. Printed textbook pages, not PDF viewer count. Total opener 3:00; 20s look, 40s choose, 50s check, 50s bridge, 20s buffer. Timer is teacher-controlled; on-slide times are static cues. Use this route if the actual section stop is before pp. 7–9/slide 8 completion. Do not advance this section just because the calendar says Monday. Financial activities may need a short note review before reading. Complete missing work first.</a:t>
            </a:r>
          </a:p>
          <a:p xmlns:a="http://schemas.openxmlformats.org/drawingml/2006/main">
            <a:r>
              <a:t>EXPECTED: A and B. The book includes goods and services as products. The recycling message need not be sold. Then identify wider contributions: jobs, wages, markets, and taxes. Do not infer every depicted worker’s pay.</a:t>
            </a:r>
          </a:p>
          <a:p xmlns:a="http://schemas.openxmlformats.org/drawingml/2006/main">
            <a:r>
              <a:t>FOLLOW-UP 1 (optional, choose at most one): How is a service also a product?</a:t>
            </a:r>
          </a:p>
          <a:p xmlns:a="http://schemas.openxmlformats.org/drawingml/2006/main">
            <a:r>
              <a:t>FOLLOW-UP 2: Who besides customers could benefit from the business?</a:t>
            </a:r>
          </a:p>
          <a:p xmlns:a="http://schemas.openxmlformats.org/drawingml/2006/main">
            <a:r>
              <a:t>HARD STOP: “Both goods and paid services count. Let’s use the reading to check the wider effects.”</a:t>
            </a:r>
          </a:p>
          <a:p xmlns:a="http://schemas.openxmlformats.org/drawingml/2006/main">
            <a:r>
              <a:t>TRANSITION: “Finish financial activities on page 7, then pages 8–9 explain how businesses affect their communities.”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Name one contribution a business makes beyond its sale.</a:t>
            </a:r>
          </a:p>
          <a:p xmlns:a="http://schemas.openxmlformats.org/drawingml/2006/main">
            <a:r>
              <a:t>KEY: Employment/wages or taxes supporting public services; markets enabling exchange also accepted.</a:t>
            </a:r>
          </a:p>
          <a:p xmlns:a="http://schemas.openxmlformats.org/drawingml/2006/main">
            <a:r>
              <a:t>PITER: Reveal and explain one visual clue. Use only one follow-up if time remains. Pointing alone shows selection; check explanation in the later matched lesson check.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MONDAY, Sep. 21–25 2026. CATCH-UP · use INSTEAD of main Monday route. SOURCE: Chapter 1 pp. 7–9 · SBTE 7–8. Printed textbook pages, not PDF viewer count. Total opener 3:00; 20s look, 40s choose, 50s check, 50s bridge, 20s buffer. Timer is teacher-controlled; on-slide times are static cues. Use this route if the actual section stop is before pp. 7–9/slide 8 completion. Do not advance this section just because the calendar says Monday. Financial activities may need a short note review before reading. Complete missing work first.</a:t>
            </a:r>
          </a:p>
          <a:p xmlns:a="http://schemas.openxmlformats.org/drawingml/2006/main">
            <a:r>
              <a:t>EXPECTED: A and B. The book includes goods and services as products. The recycling message need not be sold. Then identify wider contributions: jobs, wages, markets, and taxes. Do not infer every depicted worker’s pay.</a:t>
            </a:r>
          </a:p>
          <a:p xmlns:a="http://schemas.openxmlformats.org/drawingml/2006/main">
            <a:r>
              <a:t>FOLLOW-UP 1 (optional, choose at most one): How is a service also a product?</a:t>
            </a:r>
          </a:p>
          <a:p xmlns:a="http://schemas.openxmlformats.org/drawingml/2006/main">
            <a:r>
              <a:t>FOLLOW-UP 2: Who besides customers could benefit from the business?</a:t>
            </a:r>
          </a:p>
          <a:p xmlns:a="http://schemas.openxmlformats.org/drawingml/2006/main">
            <a:r>
              <a:t>HARD STOP: “Both goods and paid services count. Let’s use the reading to check the wider effects.”</a:t>
            </a:r>
          </a:p>
          <a:p xmlns:a="http://schemas.openxmlformats.org/drawingml/2006/main">
            <a:r>
              <a:t>TRANSITION: “Finish financial activities on page 7, then pages 8–9 explain how businesses affect their communities.”</a:t>
            </a:r>
          </a:p>
          <a:p xmlns:a="http://schemas.openxmlformats.org/drawingml/2006/main">
            <a:r>
              <a:t>SBTE: Take attendance during look/choose, scan participation discreetly, add one correction only if needed. Handoff: “Can you connect this to our notes?”</a:t>
            </a:r>
          </a:p>
          <a:p xmlns:a="http://schemas.openxmlformats.org/drawingml/2006/main">
            <a:r>
              <a:t>MATCHED CHECK: Name one contribution a business makes beyond its sale.</a:t>
            </a:r>
          </a:p>
          <a:p xmlns:a="http://schemas.openxmlformats.org/drawingml/2006/main">
            <a:r>
              <a:t>KEY: Employment/wages or taxes supporting public services; markets enabling exchange also accepted.</a:t>
            </a:r>
          </a:p>
          <a:p xmlns:a="http://schemas.openxmlformats.org/drawingml/2006/main">
            <a:r>
              <a:t>PITER: Say the one-line closer. Students locate the named heading, not an unfamiliar page number alone. End the opener, then use the appropriate notes/readings.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a5c792391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e85bd16b84d24" /><Relationship Type="http://schemas.openxmlformats.org/officeDocument/2006/relationships/slideLayout" Target="/ppt/slideLayouts/slideLayout1.xml" Id="R6e7a349e14bc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7a349e14bc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15f6a8ac42c8" /><Relationship Type="http://schemas.openxmlformats.org/officeDocument/2006/relationships/image" Target="/ppt/media/image.jpeg" Id="R1b0a0bf4aba44e0d" /><Relationship Type="http://schemas.openxmlformats.org/officeDocument/2006/relationships/image" Target="/ppt/media/image2.jpeg" Id="Rb73bf64236d94d89" /><Relationship Type="http://schemas.openxmlformats.org/officeDocument/2006/relationships/image" Target="/ppt/media/image3.jpeg" Id="Recd91ae1ed90493e" /><Relationship Type="http://schemas.openxmlformats.org/officeDocument/2006/relationships/notesSlide" Target="/ppt/notesSlides/notesSlide1.xml" Id="R1458620f5e02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18343b184861" /><Relationship Type="http://schemas.openxmlformats.org/officeDocument/2006/relationships/image" Target="/ppt/media/image4.jpeg" Id="R5138b0bcbbe84084" /><Relationship Type="http://schemas.openxmlformats.org/officeDocument/2006/relationships/image" Target="/ppt/media/image5.jpeg" Id="R40c0aeffa9f94e55" /><Relationship Type="http://schemas.openxmlformats.org/officeDocument/2006/relationships/image" Target="/ppt/media/image6.jpeg" Id="R5ec65aafaad2449d" /><Relationship Type="http://schemas.openxmlformats.org/officeDocument/2006/relationships/notesSlide" Target="/ppt/notesSlides/notesSlide2.xml" Id="Rab9e62904c6f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de93520db4789" /><Relationship Type="http://schemas.openxmlformats.org/officeDocument/2006/relationships/image" Target="/ppt/media/image7.jpeg" Id="R850682e61f654cd0" /><Relationship Type="http://schemas.openxmlformats.org/officeDocument/2006/relationships/notesSlide" Target="/ppt/notesSlides/notesSlide3.xml" Id="R597d12a6cb07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28b454044458c" /><Relationship Type="http://schemas.openxmlformats.org/officeDocument/2006/relationships/image" Target="/ppt/media/image8.jpeg" Id="R3c4c6c3947c54278" /><Relationship Type="http://schemas.openxmlformats.org/officeDocument/2006/relationships/image" Target="/ppt/media/image9.jpeg" Id="Rc935b1820cb34a7a" /><Relationship Type="http://schemas.openxmlformats.org/officeDocument/2006/relationships/image" Target="/ppt/media/image10.jpeg" Id="R3e1198a59b0647c8" /><Relationship Type="http://schemas.openxmlformats.org/officeDocument/2006/relationships/notesSlide" Target="/ppt/notesSlides/notesSlide4.xml" Id="R7928c8d06be2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fb4a3d6934e12" /><Relationship Type="http://schemas.openxmlformats.org/officeDocument/2006/relationships/image" Target="/ppt/media/image11.jpeg" Id="R1b597b5131bd455b" /><Relationship Type="http://schemas.openxmlformats.org/officeDocument/2006/relationships/image" Target="/ppt/media/image12.jpeg" Id="Ra0b8e32e9a594c64" /><Relationship Type="http://schemas.openxmlformats.org/officeDocument/2006/relationships/image" Target="/ppt/media/image13.jpeg" Id="Rf0d18f5c66f349c2" /><Relationship Type="http://schemas.openxmlformats.org/officeDocument/2006/relationships/notesSlide" Target="/ppt/notesSlides/notesSlide5.xml" Id="Rba620c1f41a0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6831e2b0c490d" /><Relationship Type="http://schemas.openxmlformats.org/officeDocument/2006/relationships/image" Target="/ppt/media/image14.jpeg" Id="Rbf5f6d5657a34383" /><Relationship Type="http://schemas.openxmlformats.org/officeDocument/2006/relationships/notesSlide" Target="/ppt/notesSlides/notesSlide6.xml" Id="R13cd2c377337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b12f95ec8444d" /><Relationship Type="http://schemas.openxmlformats.org/officeDocument/2006/relationships/image" Target="/ppt/media/image15.jpeg" Id="Rc163b29038914eeb" /><Relationship Type="http://schemas.openxmlformats.org/officeDocument/2006/relationships/notesSlide" Target="/ppt/notesSlides/notesSlide7.xml" Id="R310ee4e589bd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ec7f35b5e4265" /><Relationship Type="http://schemas.openxmlformats.org/officeDocument/2006/relationships/image" Target="/ppt/media/image16.jpeg" Id="R92a271117f3943bf" /><Relationship Type="http://schemas.openxmlformats.org/officeDocument/2006/relationships/notesSlide" Target="/ppt/notesSlides/notesSlide8.xml" Id="R295c2382d15640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f949b6a974898" /><Relationship Type="http://schemas.openxmlformats.org/officeDocument/2006/relationships/image" Target="/ppt/media/image17.jpeg" Id="Rfa5e4ed1b9a545b5" /><Relationship Type="http://schemas.openxmlformats.org/officeDocument/2006/relationships/notesSlide" Target="/ppt/notesSlides/notesSlide9.xml" Id="R87f69d2d10e9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25ad4b7a947c0" /><Relationship Type="http://schemas.openxmlformats.org/officeDocument/2006/relationships/image" Target="/ppt/media/image18.jpeg" Id="R8553c36537f349ea" /><Relationship Type="http://schemas.openxmlformats.org/officeDocument/2006/relationships/image" Target="/ppt/media/image19.jpeg" Id="R17e91781bb434956" /><Relationship Type="http://schemas.openxmlformats.org/officeDocument/2006/relationships/image" Target="/ppt/media/image20.jpeg" Id="R3c054ab7355a419a" /><Relationship Type="http://schemas.openxmlformats.org/officeDocument/2006/relationships/notesSlide" Target="/ppt/notesSlides/notesSlide10.xml" Id="R86a04b51f32e4f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5eb80b1994ed8" /><Relationship Type="http://schemas.openxmlformats.org/officeDocument/2006/relationships/image" Target="/ppt/media/image21.jpeg" Id="R09bdffb9ad3e4279" /><Relationship Type="http://schemas.openxmlformats.org/officeDocument/2006/relationships/image" Target="/ppt/media/image22.jpeg" Id="R62dca8b7d741469c" /><Relationship Type="http://schemas.openxmlformats.org/officeDocument/2006/relationships/image" Target="/ppt/media/image23.jpeg" Id="Rbf3e86bb40ef4649" /><Relationship Type="http://schemas.openxmlformats.org/officeDocument/2006/relationships/notesSlide" Target="/ppt/notesSlides/notesSlide11.xml" Id="Rd44e0493d0ff4d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e008e4c7b4824" /><Relationship Type="http://schemas.openxmlformats.org/officeDocument/2006/relationships/image" Target="/ppt/media/image24.jpeg" Id="Ra2ad91c7045e4243" /><Relationship Type="http://schemas.openxmlformats.org/officeDocument/2006/relationships/notesSlide" Target="/ppt/notesSlides/notesSlide12.xml" Id="R059e39393e304b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5bd5140f43c6" /><Relationship Type="http://schemas.openxmlformats.org/officeDocument/2006/relationships/image" Target="/ppt/media/image25.jpeg" Id="R6eea076c6ceb4ff2" /><Relationship Type="http://schemas.openxmlformats.org/officeDocument/2006/relationships/image" Target="/ppt/media/image26.jpeg" Id="Re24efd8ededd4cd5" /><Relationship Type="http://schemas.openxmlformats.org/officeDocument/2006/relationships/image" Target="/ppt/media/image27.jpeg" Id="Rc3b2e775d52649e3" /><Relationship Type="http://schemas.openxmlformats.org/officeDocument/2006/relationships/notesSlide" Target="/ppt/notesSlides/notesSlide13.xml" Id="R0d13158e2f2940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54b5789dc4f58" /><Relationship Type="http://schemas.openxmlformats.org/officeDocument/2006/relationships/image" Target="/ppt/media/image28.jpeg" Id="R3d46412026c54991" /><Relationship Type="http://schemas.openxmlformats.org/officeDocument/2006/relationships/image" Target="/ppt/media/image29.jpeg" Id="R440579b9ab204934" /><Relationship Type="http://schemas.openxmlformats.org/officeDocument/2006/relationships/image" Target="/ppt/media/image30.jpeg" Id="R4f1710e9b19342f3" /><Relationship Type="http://schemas.openxmlformats.org/officeDocument/2006/relationships/notesSlide" Target="/ppt/notesSlides/notesSlide14.xml" Id="R6f5dd3dad8274e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bc1b5980c4877" /><Relationship Type="http://schemas.openxmlformats.org/officeDocument/2006/relationships/image" Target="/ppt/media/image31.jpeg" Id="R19246980e96947e8" /><Relationship Type="http://schemas.openxmlformats.org/officeDocument/2006/relationships/notesSlide" Target="/ppt/notesSlides/notesSlide15.xml" Id="R4c359cbb878a4f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3d1f30f24a51" /><Relationship Type="http://schemas.openxmlformats.org/officeDocument/2006/relationships/image" Target="/ppt/media/image32.jpeg" Id="R4d4945ccd6e14d44" /><Relationship Type="http://schemas.openxmlformats.org/officeDocument/2006/relationships/image" Target="/ppt/media/image33.jpeg" Id="R0d9fc61c63194939" /><Relationship Type="http://schemas.openxmlformats.org/officeDocument/2006/relationships/image" Target="/ppt/media/image34.jpeg" Id="Rfd3a5f0a403d4927" /><Relationship Type="http://schemas.openxmlformats.org/officeDocument/2006/relationships/notesSlide" Target="/ppt/notesSlides/notesSlide16.xml" Id="R167d4e80868244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42933547427c" /><Relationship Type="http://schemas.openxmlformats.org/officeDocument/2006/relationships/image" Target="/ppt/media/image35.jpeg" Id="R18b73bc1b1914104" /><Relationship Type="http://schemas.openxmlformats.org/officeDocument/2006/relationships/image" Target="/ppt/media/image36.jpeg" Id="R8da7e15c7eb840cd" /><Relationship Type="http://schemas.openxmlformats.org/officeDocument/2006/relationships/image" Target="/ppt/media/image37.jpeg" Id="R3e21436e98164cac" /><Relationship Type="http://schemas.openxmlformats.org/officeDocument/2006/relationships/notesSlide" Target="/ppt/notesSlides/notesSlide17.xml" Id="Ree1401e5905645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74d080f254cf4" /><Relationship Type="http://schemas.openxmlformats.org/officeDocument/2006/relationships/image" Target="/ppt/media/image38.jpeg" Id="R69b4a240b0454cf3" /><Relationship Type="http://schemas.openxmlformats.org/officeDocument/2006/relationships/notesSlide" Target="/ppt/notesSlides/notesSlide18.xml" Id="R759c548b61b649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D0E93-DCE2-46C8-AC2B-B082B20D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FA99D-11B4-48BB-A570-9C6390C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CA8D3-AF7A-49B3-A957-E4C2E58D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B9E4-6A01-4DBE-B320-A1871A97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this hoodie work for everyone?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8CC8-7C4B-4640-A752-361A735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school-spirit shop is choosing its next hoodie.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5D749-873C-48FA-8BF0-4115C2B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should the shop do FIRST?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a0bf4aba44e0d"/>
          <a:stretch xmlns:a="http://schemas.openxmlformats.org/drawingml/2006/main"/>
        </p:blipFill>
        <p:spPr>
          <a:xfrm xmlns:a="http://schemas.openxmlformats.org/drawingml/2006/main">
            <a:off x="60960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0C1A-C5B3-4C5C-9F3C-25BD58C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Pick our favorite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bf64236d94d89"/>
          <a:stretch xmlns:a="http://schemas.openxmlformats.org/drawingml/2006/main"/>
        </p:blipFill>
        <p:spPr>
          <a:xfrm xmlns:a="http://schemas.openxmlformats.org/drawingml/2006/main">
            <a:off x="4391025" y="28670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A3727-0BEF-4CD5-B789-3208BFF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673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likely buyers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91ae1ed90493e"/>
          <a:stretch xmlns:a="http://schemas.openxmlformats.org/drawingml/2006/main"/>
        </p:blipFill>
        <p:spPr>
          <a:xfrm xmlns:a="http://schemas.openxmlformats.org/drawingml/2006/main">
            <a:off x="817245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E3006-96D7-41C7-8339-C7EC4FC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Order a huge 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EF29E-A859-4C39-9814-3C623B5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01782-847F-424F-A040-C24132E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013A0-06B3-4AB3-94D3-E2FAF882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“My choice is __ because __.”     1</a:t>
            </a:r>
          </a:p>
        </p:txBody>
      </p:sp>
    </p:spTree>
    <p:extLst>
      <p:ext uri="{BB962C8B-B14F-4D97-AF65-F5344CB8AC3E}">
        <p14:creationId xmlns:p14="http://schemas.microsoft.com/office/powerpoint/2010/main" val="1525147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27D3-47BE-45C3-BE6B-47746954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55FA9-14F2-4C8A-B9F1-C26E5C6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1AD2B-7016-455E-97A5-2A37F72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A7F8D-FF60-424A-9A69-5D3501D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likely buyers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69069-A752-4343-84D7-1699155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CONCEPT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8b0bcbbe84084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BC867-C14B-4771-A0AE-24B677F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Style and comfort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0aeffa9f94e55"/>
          <a:stretch xmlns:a="http://schemas.openxmlformats.org/drawingml/2006/main"/>
        </p:blipFill>
        <p:spPr>
          <a:xfrm xmlns:a="http://schemas.openxmlformats.org/drawingml/2006/main">
            <a:off x="4391025" y="295275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1D1E-5883-4FE6-9660-B19ADEC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Evidence from customers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65aafaad2449d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68DAD-2268-4ED0-90B4-4037EEF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product people want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81F7C-DEC8-4E2E-BF9C-E52BD93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56110-6A12-447A-ADE7-DCCC2196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needs guide company goals and profit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9CB5E-2AC8-478E-A6AA-057FB34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Point to the clue that supports your answer.     2</a:t>
            </a:r>
          </a:p>
        </p:txBody>
      </p:sp>
    </p:spTree>
    <p:extLst>
      <p:ext uri="{BB962C8B-B14F-4D97-AF65-F5344CB8AC3E}">
        <p14:creationId xmlns:p14="http://schemas.microsoft.com/office/powerpoint/2010/main" val="149348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4AB56-06BD-4258-8FEC-28DD472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CE33-A782-4027-9656-5421520A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94162-CF52-4F7F-BBB5-0039956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881AC-D485-4FE7-A735-005AC02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evidence helps a business choose.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DD489-EE82-46A5-A9DB-4686DDE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682e61f654cd0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FEA51-3CE8-49AB-9D49-3BD8A31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10: “The Purpose of Marketing”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F919-0355-443C-AE92-25F85DE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Find customer needs, company goals, and profits.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741B0-ED99-4826-B5D7-F738B1E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62A44-B093-475C-94C5-7125EB0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B43A5-89B7-4D80-B058-19EFA3C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Stop at 3:00 total.     3</a:t>
            </a:r>
          </a:p>
        </p:txBody>
      </p:sp>
    </p:spTree>
    <p:extLst>
      <p:ext uri="{BB962C8B-B14F-4D97-AF65-F5344CB8AC3E}">
        <p14:creationId xmlns:p14="http://schemas.microsoft.com/office/powerpoint/2010/main" val="1508062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6855E-45D0-43F4-9BBA-384C0A31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99BD9-85D5-45E2-AB2A-F7FDBAD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21ACE-427E-4192-A5C0-828B226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6E64A-BF1C-41A0-9D06-180AA23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Great hoodie. Wrong delivery 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5406-2FCD-4753-A145-268BAF31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hoodie arrives AFTER the school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B02BE-C514-4115-9BC7-E5597F7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change fixes the problem?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c6c3947c54278"/>
          <a:stretch xmlns:a="http://schemas.openxmlformats.org/drawingml/2006/main"/>
        </p:blipFill>
        <p:spPr>
          <a:xfrm xmlns:a="http://schemas.openxmlformats.org/drawingml/2006/main">
            <a:off x="60960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925E9-FD26-459A-AE66-A085C1C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Change its design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5b1820cb34a7a"/>
          <a:stretch xmlns:a="http://schemas.openxmlformats.org/drawingml/2006/main"/>
        </p:blipFill>
        <p:spPr>
          <a:xfrm xmlns:a="http://schemas.openxmlformats.org/drawingml/2006/main">
            <a:off x="4391025" y="28670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B46C8-81C6-4E72-BCEC-7729302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673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about colors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198a59b0647c8"/>
          <a:stretch xmlns:a="http://schemas.openxmlformats.org/drawingml/2006/main"/>
        </p:blipFill>
        <p:spPr>
          <a:xfrm xmlns:a="http://schemas.openxmlformats.org/drawingml/2006/main">
            <a:off x="817245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A01C4-BD7C-4ED2-A908-23843FB2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Fix pickup and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6FC5B-2D1C-498B-9C26-926EF29B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CADA6-DC22-484F-B792-74915A5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6844F-D07D-46A8-A556-6B76C81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“My choice is __ because __.”     4</a:t>
            </a:r>
          </a:p>
        </p:txBody>
      </p:sp>
    </p:spTree>
    <p:extLst>
      <p:ext uri="{BB962C8B-B14F-4D97-AF65-F5344CB8AC3E}">
        <p14:creationId xmlns:p14="http://schemas.microsoft.com/office/powerpoint/2010/main" val="62830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3B72-28A4-492D-91D1-1D9D55E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C9D85-1DF0-4584-B739-142F0BE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F4F71-F895-4D84-B4B8-8D8D2CC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8F6B3-81C9-4C72-9B80-BFEE8EE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Fix pickup and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38DC-824F-4628-889F-6DB8B79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 · ONE OF THE 4 Ps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97b5131bd455b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C63A-C7FD-4BF6-9F81-BC10566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PRODUCT: the hoodie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8e32e9a594c64"/>
          <a:stretch xmlns:a="http://schemas.openxmlformats.org/drawingml/2006/main"/>
        </p:blipFill>
        <p:spPr>
          <a:xfrm xmlns:a="http://schemas.openxmlformats.org/drawingml/2006/main">
            <a:off x="4391025" y="295275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64FAD-90F1-409A-8A0E-12088F9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Research helps decisions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18f5c66f349c2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1060F-D044-4E9F-BFE3-048AE24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PLACE: the route to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4894-3F56-4207-87D2-7887180A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EADDA-61E4-4E59-B6AE-B4EDD88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 includes how, where, and when a product reaches you.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FC303-4780-44E4-8651-A58DF5F3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Point to the clue that supports your answer.     5</a:t>
            </a:r>
          </a:p>
        </p:txBody>
      </p:sp>
    </p:spTree>
    <p:extLst>
      <p:ext uri="{BB962C8B-B14F-4D97-AF65-F5344CB8AC3E}">
        <p14:creationId xmlns:p14="http://schemas.microsoft.com/office/powerpoint/2010/main" val="2140832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3C466-271F-47AF-A43E-BE365737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3A44A-8427-4CE8-A0F2-9E244C8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1E6B7-E3DF-4A07-826D-F35BA2B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12C2-0943-4A29-9E3F-BECD523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product has to reach its customer at the right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1677-AD67-427B-A012-522EE1D9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f6d5657a34383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85EA-FAE5-4838-A2A9-2C5B02A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pp. 11–12: “Marketing Mix”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AF876-6476-41C3-ACEE-51C5430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Find product, promotion, price, and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0423C-AF12-48FC-838E-C888BA2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5407-C3E7-4382-A4DE-4CAABEC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DA6E1-542A-4406-B47C-D442383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Stop at 3:00 total.     6</a:t>
            </a:r>
          </a:p>
        </p:txBody>
      </p:sp>
    </p:spTree>
    <p:extLst>
      <p:ext uri="{BB962C8B-B14F-4D97-AF65-F5344CB8AC3E}">
        <p14:creationId xmlns:p14="http://schemas.microsoft.com/office/powerpoint/2010/main" val="212366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E1EA4-5D97-4DB2-9110-65651FF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BB4B-F4E8-40D9-B758-2516465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FEDCE-DB7E-49B9-BD71-BD96C31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32EE8-03DC-4CB0-BA16-9E52E9DB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people actually come?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10F99-0556-483C-BC3E-5B00FAC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esports event wants players AND spectators.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4F9D-0C07-45DE-9C9C-605BBE8D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question gives the most useful evidence?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3b29038914eeb"/>
          <a:stretch xmlns:a="http://schemas.openxmlformats.org/drawingml/2006/main"/>
        </p:blipFill>
        <p:spPr>
          <a:xfrm xmlns:a="http://schemas.openxmlformats.org/drawingml/2006/main">
            <a:off x="609600" y="2571750"/>
            <a:ext cx="5143500" cy="2876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E9680-5698-452F-87D8-B79E6D0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“Gaming is great, right?”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AA39-4284-4967-B8B0-77A0A2F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“Play, watch, or neither?”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6B158-44FF-474C-B481-967F5C9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“My favorite game wins?”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7A98-4395-4F01-AC49-2E0622B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60C02-64A9-4F94-A931-268195A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6D345-492E-4A3D-9E2E-82D4CBC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11–13     “My choice is __ because __.”     7</a:t>
            </a:r>
          </a:p>
        </p:txBody>
      </p:sp>
    </p:spTree>
    <p:extLst>
      <p:ext uri="{BB962C8B-B14F-4D97-AF65-F5344CB8AC3E}">
        <p14:creationId xmlns:p14="http://schemas.microsoft.com/office/powerpoint/2010/main" val="1793253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4A0F8-2B36-4CD8-8F5D-0D88E4C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F04D-4A43-4748-88F2-9B4A938C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856FF-063D-4636-AD46-2C7FFD9D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2973F-23A5-4C17-828B-B5752ED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Play, watch, or neither?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CE28-A3C7-4D9B-B177-924C0DC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INFORMATION MANAGEMENT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271117f3943bf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5143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38F8-3BCB-484A-950B-A47A8C6E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219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Players, spectators, and people who are not interested can all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17671-6F15-49D3-8464-16FEF50C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answer helps identify the target market.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9C22-84F8-442A-93E4-F1131C5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A0B0D-8AAB-4088-AC32-4212984E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 research gathers evidence about customers’ wants and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193ED-BBBA-4F47-A093-D70797AA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11–13     Point to the clue that supports your answer.     8</a:t>
            </a:r>
          </a:p>
        </p:txBody>
      </p:sp>
    </p:spTree>
    <p:extLst>
      <p:ext uri="{BB962C8B-B14F-4D97-AF65-F5344CB8AC3E}">
        <p14:creationId xmlns:p14="http://schemas.microsoft.com/office/powerpoint/2010/main" val="1956067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9FFDD-F06C-445E-B4C3-22BBEC1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2A80-4C1B-45E0-AF7B-45E434B1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BF9B0-C7DC-46C9-8A72-028EA91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D48C-8F5A-4790-9634-166C3E8B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Useful questions leave room for honest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97831-EF01-409F-986A-B6399C20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e4ed1b9a545b5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C804-0677-4A15-99AE-44068D63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13: “Marketing Functions”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0A28-5692-4B7D-8EFF-AA2D6B1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Find MIM and target market. Continue through p. 15.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667D-E666-465D-AA6D-A9A1BCC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CC7E-292B-4584-98CD-6569A4D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9EECD-764E-4019-A0B9-55A966B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11–13     Stop at 3:00 total.     9</a:t>
            </a:r>
          </a:p>
        </p:txBody>
      </p:sp>
    </p:spTree>
    <p:extLst>
      <p:ext uri="{BB962C8B-B14F-4D97-AF65-F5344CB8AC3E}">
        <p14:creationId xmlns:p14="http://schemas.microsoft.com/office/powerpoint/2010/main" val="965152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7BC3F-864B-4366-BF12-BEDB8661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8B7A-5DFA-4ED7-9959-280A2BB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04A3-5CFA-4B87-9DA6-F2EFC67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62F5-2D2A-4966-B9DF-C9BDECF8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order is ready. Nobody can collect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4323-AB3F-419D-8F46-1909486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pickup table closes before customers can get there.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C596A-7802-48AA-A9BC-071CA5D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function should repair this first?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3c36537f349ea"/>
          <a:stretch xmlns:a="http://schemas.openxmlformats.org/drawingml/2006/main"/>
        </p:blipFill>
        <p:spPr>
          <a:xfrm xmlns:a="http://schemas.openxmlformats.org/drawingml/2006/main">
            <a:off x="60960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C8EC0-E0EE-48F1-886D-1858F67C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Product/service management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91781bb434956"/>
          <a:stretch xmlns:a="http://schemas.openxmlformats.org/drawingml/2006/main"/>
        </p:blipFill>
        <p:spPr>
          <a:xfrm xmlns:a="http://schemas.openxmlformats.org/drawingml/2006/main">
            <a:off x="4391025" y="28670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19B76-9C0A-493F-88FE-31D4E0AE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673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Marketing information management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54ab7355a419a"/>
          <a:stretch xmlns:a="http://schemas.openxmlformats.org/drawingml/2006/main"/>
        </p:blipFill>
        <p:spPr>
          <a:xfrm xmlns:a="http://schemas.openxmlformats.org/drawingml/2006/main">
            <a:off x="817245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00FEA-059C-49BD-810A-F9AADE9E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Channel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1AE52-2AD3-46D3-9583-D786BCE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3A528-6433-4358-B328-C906B60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17007-C25F-44C9-8F1E-2B8D6D46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12–13     “My choice is __ because __.”     10</a:t>
            </a:r>
          </a:p>
        </p:txBody>
      </p:sp>
    </p:spTree>
    <p:extLst>
      <p:ext uri="{BB962C8B-B14F-4D97-AF65-F5344CB8AC3E}">
        <p14:creationId xmlns:p14="http://schemas.microsoft.com/office/powerpoint/2010/main" val="8441397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DB2F3-2149-4F35-BA67-16985A9B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4079-4B82-4E58-B036-2AA9FB9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42C51-CA66-45AA-8695-B81F889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88F2F-CB08-412B-951E-0F82ADA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Channel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727C-855B-4FDE-9399-D08B29B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CHANNEL MANAGEMENT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dffb9ad3e4279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ACF1C-09F2-4F87-873B-616B120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Improve the hoodie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ca8b7d741469c"/>
          <a:stretch xmlns:a="http://schemas.openxmlformats.org/drawingml/2006/main"/>
        </p:blipFill>
        <p:spPr>
          <a:xfrm xmlns:a="http://schemas.openxmlformats.org/drawingml/2006/main">
            <a:off x="4391025" y="295275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3A723-FE08-4326-92DD-B965B66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Learn customer preferences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e86bb40ef4649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FED62-B67E-4155-B3A6-C1B6195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Fix how it reaches people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5345E-0444-4E31-BDFB-BF3E968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6B9C4-1B9B-4B83-9FC2-87110B70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It coordinates how, when, and where products reach customers.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A7C90-8AD5-4720-8B04-0951AB9F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12–13     Point to the clue that supports your answer.     11</a:t>
            </a:r>
          </a:p>
        </p:txBody>
      </p:sp>
    </p:spTree>
    <p:extLst>
      <p:ext uri="{BB962C8B-B14F-4D97-AF65-F5344CB8AC3E}">
        <p14:creationId xmlns:p14="http://schemas.microsoft.com/office/powerpoint/2010/main" val="1829357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D40DD-A24C-4686-A495-9FF35794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38EE-E0D5-40AD-BD5C-718D261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043B1-1ABF-45C9-A357-4E0433A3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B712-2BB3-449A-A620-884A1CC9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access is part of the product’s success.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35439-A61E-4C3E-97BD-A19965C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d91c7045e4243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6367D-8969-412E-B343-9246679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13: “Channel Management”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1F27-7647-4B78-B9BF-F805A1DC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Then use Figure 1.4 on p. 15 to explain the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609F2-4F69-4036-B914-36E3DFA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C51CF-647C-45AD-BF22-F50681B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D2083-28D2-49AA-A459-25B56031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12–13     Stop at 3:00 total.     12</a:t>
            </a:r>
          </a:p>
        </p:txBody>
      </p:sp>
    </p:spTree>
    <p:extLst>
      <p:ext uri="{BB962C8B-B14F-4D97-AF65-F5344CB8AC3E}">
        <p14:creationId xmlns:p14="http://schemas.microsoft.com/office/powerpoint/2010/main" val="1859461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A3E5E-9626-4E5C-B080-83F643B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F873E-03F7-4FFF-A072-817F9991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EE93-8E5D-454E-8ED4-E4F106C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AC87E-282D-4284-BA2F-0661B1D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Three scenes. Three different offerings.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EDE5-099B-42EA-A1C6-8654E93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Imagine a neighborhood market in Rochester. No visit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5062E-27CC-486D-AB6D-E7D5B597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Match G = good, S = service, I = idea.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076c6ceb4ff2"/>
          <a:stretch xmlns:a="http://schemas.openxmlformats.org/drawingml/2006/main"/>
        </p:blipFill>
        <p:spPr>
          <a:xfrm xmlns:a="http://schemas.openxmlformats.org/drawingml/2006/main">
            <a:off x="60960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36E0D-4CAE-43DB-AD91-44E5B05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Food to buy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efd8ededd4cd5"/>
          <a:stretch xmlns:a="http://schemas.openxmlformats.org/drawingml/2006/main"/>
        </p:blipFill>
        <p:spPr>
          <a:xfrm xmlns:a="http://schemas.openxmlformats.org/drawingml/2006/main">
            <a:off x="4391025" y="28670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2A83F-9F14-408C-A16D-F82341B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673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2  A paid bicycle repair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2e775d52649e3"/>
          <a:stretch xmlns:a="http://schemas.openxmlformats.org/drawingml/2006/main"/>
        </p:blipFill>
        <p:spPr>
          <a:xfrm xmlns:a="http://schemas.openxmlformats.org/drawingml/2006/main">
            <a:off x="817245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B0E2E-CC47-4287-ADED-14BA1D9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  “Recycle in our community”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0EA20-36CC-4ECB-A771-00B012D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7E80-D391-46BC-8513-D62367B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6D5C-5CA5-4881-A7B0-D0A7133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4; revisit pp. 10–15 · SBTE 4, 9–13     “My choice is __ because __.”     13</a:t>
            </a:r>
          </a:p>
        </p:txBody>
      </p:sp>
    </p:spTree>
    <p:extLst>
      <p:ext uri="{BB962C8B-B14F-4D97-AF65-F5344CB8AC3E}">
        <p14:creationId xmlns:p14="http://schemas.microsoft.com/office/powerpoint/2010/main" val="2048700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45488-52F2-40B4-96D7-2EC89C4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F0E1-75A6-4DBE-A3AA-DFF4F9DD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D9920-57C9-4349-9C5F-9E74DDC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C3461-BCB6-430D-A4D8-18B8BD0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= G      2 = S      3 =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38B3C-EECA-46CA-8688-EFFB77E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 · SERVICE · IDEA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6412026c54991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28D6-48C2-479B-9903-CF78DB1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  A tangible item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579b9ab204934"/>
          <a:stretch xmlns:a="http://schemas.openxmlformats.org/drawingml/2006/main"/>
        </p:blipFill>
        <p:spPr>
          <a:xfrm xmlns:a="http://schemas.openxmlformats.org/drawingml/2006/main">
            <a:off x="4391025" y="295275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F9A42-2402-47F6-99E5-161818A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  A task for payment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710e9b19342f3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C038-6968-4122-8EB7-789F896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  A thought or opinion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713B-5E4E-4DA1-8604-EC71D69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0CE4D-28FF-4325-AFBE-DE86DFB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Good: tangible item. Service: paid task. Idea: thought or opinion.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663A5-5501-4426-AA64-7B9FED9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4; revisit pp. 10–15 · SBTE 4, 9–13     Point to the clue that supports your answer.     14</a:t>
            </a:r>
          </a:p>
        </p:txBody>
      </p:sp>
    </p:spTree>
    <p:extLst>
      <p:ext uri="{BB962C8B-B14F-4D97-AF65-F5344CB8AC3E}">
        <p14:creationId xmlns:p14="http://schemas.microsoft.com/office/powerpoint/2010/main" val="564193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2EA6-10D2-4A22-AADC-CBA068C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F77CE-EF48-4240-A46C-E7D7011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89A5D-B53F-4CCF-8643-4C41DDF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4D266-1F9C-4846-834E-82F22EA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Every offering needs an audience.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28AD-37F4-4F5E-8A04-7A371A9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46980e96947e8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4ADCB-B2A6-4AB4-A291-6F1E126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p. 4, then follow today’s class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9D5B0-C434-4B77-8798-DF140C7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 scene. Name a P or function that could support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0013-A92B-4A90-B01D-530C7DC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9ADFF-9E67-4DCC-94FD-30CC72A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C0E2-172A-4526-B389-617D2BA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4; revisit pp. 10–15 · SBTE 4, 9–13     Stop at 3:00 total.     15</a:t>
            </a:r>
          </a:p>
        </p:txBody>
      </p:sp>
    </p:spTree>
    <p:extLst>
      <p:ext uri="{BB962C8B-B14F-4D97-AF65-F5344CB8AC3E}">
        <p14:creationId xmlns:p14="http://schemas.microsoft.com/office/powerpoint/2010/main" val="975282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2C4CF-D9BC-4512-AE30-C2EC2EB3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FB70-2CE1-4444-95CC-E1FF2EE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NOTICE AND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356F-E1F1-410D-879C-B9D17B2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44460-877A-4AA5-998E-3335BA0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More than a place to buy food?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0268F-9B4A-467A-88CA-9E3E752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Imagine a neighborhood market near school.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DCFAC-3ED8-4F54-B19C-2560032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scenes show products for sale? Choose all that fit.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945ccd6e14d44"/>
          <a:stretch xmlns:a="http://schemas.openxmlformats.org/drawingml/2006/main"/>
        </p:blipFill>
        <p:spPr>
          <a:xfrm xmlns:a="http://schemas.openxmlformats.org/drawingml/2006/main">
            <a:off x="60960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9E45C-8BD9-40EB-B80A-4425062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Food stall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fc61c63194939"/>
          <a:stretch xmlns:a="http://schemas.openxmlformats.org/drawingml/2006/main"/>
        </p:blipFill>
        <p:spPr>
          <a:xfrm xmlns:a="http://schemas.openxmlformats.org/drawingml/2006/main">
            <a:off x="4391025" y="28670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7DED5-5353-493B-B881-2566B55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673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Paid bicycle repair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a5f0a403d4927"/>
          <a:stretch xmlns:a="http://schemas.openxmlformats.org/drawingml/2006/main"/>
        </p:blipFill>
        <p:spPr>
          <a:xfrm xmlns:a="http://schemas.openxmlformats.org/drawingml/2006/main">
            <a:off x="8172450" y="2524125"/>
            <a:ext cx="3409950" cy="2143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ED61C-543E-4205-AB5D-1AFF36D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3409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Recycling message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6BA70-E71D-4C65-91A9-169A3A4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D42A9-F190-4E5F-9E46-89A4593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20s → CHOOSE 40s     Point, show fingers, or write your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A868D-E995-46A0-8EDB-79CB237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7–9 · SBTE 7–8     “My choice is __ because __.”     16</a:t>
            </a:r>
          </a:p>
        </p:txBody>
      </p:sp>
    </p:spTree>
    <p:extLst>
      <p:ext uri="{BB962C8B-B14F-4D97-AF65-F5344CB8AC3E}">
        <p14:creationId xmlns:p14="http://schemas.microsoft.com/office/powerpoint/2010/main" val="403789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FD80C-E119-48D2-AD69-47A0077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BE6E7-CA6A-489D-9AE4-AA2C741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E25C-E1E1-44FE-B7D2-A5F2575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CEF5D-D8AF-41A1-889F-F8BC273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and B show products for sale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B7DD-F4E2-4BB3-8DF9-05092F5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BUSINESSES AND SOCIETY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3bc1b1914104"/>
          <a:stretch xmlns:a="http://schemas.openxmlformats.org/drawingml/2006/main"/>
        </p:blipFill>
        <p:spPr>
          <a:xfrm xmlns:a="http://schemas.openxmlformats.org/drawingml/2006/main">
            <a:off x="60960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94475-4716-461C-B050-63491392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Goods meet needs/wants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7e15c7eb840cd"/>
          <a:stretch xmlns:a="http://schemas.openxmlformats.org/drawingml/2006/main"/>
        </p:blipFill>
        <p:spPr>
          <a:xfrm xmlns:a="http://schemas.openxmlformats.org/drawingml/2006/main">
            <a:off x="4391025" y="295275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93302-5E84-4B0E-83A8-0F7F31F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Services meet needs/wants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1436e98164cac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40995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F6E8C-372D-45FA-9A0A-A35E2E61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A community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5BC93-D3C6-46BE-A4A2-1937CE9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6BF0D-9298-4F67-B123-72F51AE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Businesses provide products, create markets, and support economic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84D0C-3DDC-4446-8DAD-5B93BBC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7–9 · SBTE 7–8     Point to the clue that supports your answer.     17</a:t>
            </a:r>
          </a:p>
        </p:txBody>
      </p:sp>
    </p:spTree>
    <p:extLst>
      <p:ext uri="{BB962C8B-B14F-4D97-AF65-F5344CB8AC3E}">
        <p14:creationId xmlns:p14="http://schemas.microsoft.com/office/powerpoint/2010/main" val="1907159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E1DEF-369A-456B-B386-10C9BF4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A35E0-4834-4A3B-AA1F-02D26B7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37077-ED03-46E5-8FAE-237ED3F1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CONNECT · 0:50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05696-DD23-4197-8408-EE39010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Businesses affect more than their customers.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5F951-7ACC-48FE-AFD1-8EE3421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Keep this example in mind as you read.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4a240b0454cf3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18E8B-4F53-406A-A984-9CD77F3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Resume p. 7; then read “Ways Businesses…” on pp. 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620C9-8E6F-472D-8F47-6048EC92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Find products, markets, employment, and taxes.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48F60-4078-404B-9829-D816A90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9C5EC-C185-4715-9062-7F6A586C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NEXT: Notes → required reading → vocabulary/application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2E65D-6BAD-4399-A275-3A6810D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7–9 · SBTE 7–8     Stop at 3:00 total.     18</a:t>
            </a:r>
          </a:p>
        </p:txBody>
      </p:sp>
    </p:spTree>
    <p:extLst>
      <p:ext uri="{BB962C8B-B14F-4D97-AF65-F5344CB8AC3E}">
        <p14:creationId xmlns:p14="http://schemas.microsoft.com/office/powerpoint/2010/main" val="984429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2026-09-18T00:06:33.9320000Z</dcterms:created>
  <dcterms:modified xsi:type="dcterms:W3CDTF">2026-09-18T00:06:33.9320000Z</dcterms:modified>
</coreProperties>
</file>