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3a7b8d856748ce" /><Relationship Type="http://schemas.openxmlformats.org/officeDocument/2006/relationships/extended-properties" Target="/docProps/app.xml" Id="Rc6f598f558f24297" /><Relationship Type="http://schemas.openxmlformats.org/officeDocument/2006/relationships/officeDocument" Target="/ppt/presentation.xml" Id="Rfdb226ba38de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4bd31725f64223"/>
  </p:sldMasterIdLst>
  <p:notesMasterIdLst>
    <p:notesMasterId xmlns:r="http://schemas.openxmlformats.org/officeDocument/2006/relationships" r:id="Rba16523a3b884ad4"/>
  </p:notesMasterIdLst>
  <p:sldIdLst>
    <p:sldId xmlns:r="http://schemas.openxmlformats.org/officeDocument/2006/relationships" id="256" r:id="R55f6a34e94ef4c9e"/>
    <p:sldId xmlns:r="http://schemas.openxmlformats.org/officeDocument/2006/relationships" id="257" r:id="Ra78b7acc78a64da1"/>
    <p:sldId xmlns:r="http://schemas.openxmlformats.org/officeDocument/2006/relationships" id="258" r:id="R4f0dc39da248495b"/>
    <p:sldId xmlns:r="http://schemas.openxmlformats.org/officeDocument/2006/relationships" id="259" r:id="Rb50fc34bfdd64bba"/>
    <p:sldId xmlns:r="http://schemas.openxmlformats.org/officeDocument/2006/relationships" id="260" r:id="Rb6bf6229b8a24669"/>
    <p:sldId xmlns:r="http://schemas.openxmlformats.org/officeDocument/2006/relationships" id="261" r:id="R6129abbe125e4462"/>
    <p:sldId xmlns:r="http://schemas.openxmlformats.org/officeDocument/2006/relationships" id="262" r:id="R79877ea40a124c17"/>
    <p:sldId xmlns:r="http://schemas.openxmlformats.org/officeDocument/2006/relationships" id="263" r:id="R6a0c941820ef479b"/>
    <p:sldId xmlns:r="http://schemas.openxmlformats.org/officeDocument/2006/relationships" id="264" r:id="Reb74af540cba4c83"/>
    <p:sldId xmlns:r="http://schemas.openxmlformats.org/officeDocument/2006/relationships" id="265" r:id="R30878d2524e34699"/>
    <p:sldId xmlns:r="http://schemas.openxmlformats.org/officeDocument/2006/relationships" id="266" r:id="R4a46905d4acc4770"/>
    <p:sldId xmlns:r="http://schemas.openxmlformats.org/officeDocument/2006/relationships" id="267" r:id="R8bd186cb78584975"/>
    <p:sldId xmlns:r="http://schemas.openxmlformats.org/officeDocument/2006/relationships" id="268" r:id="R84907aeb09124ff3"/>
    <p:sldId xmlns:r="http://schemas.openxmlformats.org/officeDocument/2006/relationships" id="269" r:id="R4a172b3f0eb34603"/>
    <p:sldId xmlns:r="http://schemas.openxmlformats.org/officeDocument/2006/relationships" id="270" r:id="R536c7e3217f040ea"/>
    <p:sldId xmlns:r="http://schemas.openxmlformats.org/officeDocument/2006/relationships" id="271" r:id="R22380d1a9204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529ed9c4c34586" /><Relationship Type="http://schemas.openxmlformats.org/officeDocument/2006/relationships/slideMaster" Target="/ppt/slideMasters/slideMaster1.xml" Id="Rec4bd31725f64223" /><Relationship Type="http://schemas.openxmlformats.org/officeDocument/2006/relationships/notesMaster" Target="/ppt/notesMasters/notesMaster1.xml" Id="Rba16523a3b884ad4" /><Relationship Type="http://schemas.openxmlformats.org/officeDocument/2006/relationships/presProps" Target="/ppt/presProps.xml" Id="Ree56525767074b0d" /><Relationship Type="http://schemas.openxmlformats.org/officeDocument/2006/relationships/tableStyles" Target="/ppt/tableStyles.xml" Id="R21ea18e204e6430b" /><Relationship Type="http://schemas.openxmlformats.org/officeDocument/2006/relationships/slide" Target="/ppt/slides/slide1.xml" Id="R55f6a34e94ef4c9e" /><Relationship Type="http://schemas.openxmlformats.org/officeDocument/2006/relationships/slide" Target="/ppt/slides/slide2.xml" Id="Ra78b7acc78a64da1" /><Relationship Type="http://schemas.openxmlformats.org/officeDocument/2006/relationships/slide" Target="/ppt/slides/slide3.xml" Id="R4f0dc39da248495b" /><Relationship Type="http://schemas.openxmlformats.org/officeDocument/2006/relationships/slide" Target="/ppt/slides/slide4.xml" Id="Rb50fc34bfdd64bba" /><Relationship Type="http://schemas.openxmlformats.org/officeDocument/2006/relationships/slide" Target="/ppt/slides/slide5.xml" Id="Rb6bf6229b8a24669" /><Relationship Type="http://schemas.openxmlformats.org/officeDocument/2006/relationships/slide" Target="/ppt/slides/slide6.xml" Id="R6129abbe125e4462" /><Relationship Type="http://schemas.openxmlformats.org/officeDocument/2006/relationships/slide" Target="/ppt/slides/slide7.xml" Id="R79877ea40a124c17" /><Relationship Type="http://schemas.openxmlformats.org/officeDocument/2006/relationships/slide" Target="/ppt/slides/slide8.xml" Id="R6a0c941820ef479b" /><Relationship Type="http://schemas.openxmlformats.org/officeDocument/2006/relationships/slide" Target="/ppt/slides/slide9.xml" Id="Reb74af540cba4c83" /><Relationship Type="http://schemas.openxmlformats.org/officeDocument/2006/relationships/slide" Target="/ppt/slides/slide10.xml" Id="R30878d2524e34699" /><Relationship Type="http://schemas.openxmlformats.org/officeDocument/2006/relationships/slide" Target="/ppt/slides/slide11.xml" Id="R4a46905d4acc4770" /><Relationship Type="http://schemas.openxmlformats.org/officeDocument/2006/relationships/slide" Target="/ppt/slides/slide12.xml" Id="R8bd186cb78584975" /><Relationship Type="http://schemas.openxmlformats.org/officeDocument/2006/relationships/slide" Target="/ppt/slides/slide13.xml" Id="R84907aeb09124ff3" /><Relationship Type="http://schemas.openxmlformats.org/officeDocument/2006/relationships/slide" Target="/ppt/slides/slide14.xml" Id="R4a172b3f0eb34603" /><Relationship Type="http://schemas.openxmlformats.org/officeDocument/2006/relationships/slide" Target="/ppt/slides/slide15.xml" Id="R536c7e3217f040ea" /><Relationship Type="http://schemas.openxmlformats.org/officeDocument/2006/relationships/slide" Target="/ppt/slides/slide16.xml" Id="R22380d1a9204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49c52ce34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7008e48817442d" /><Relationship Type="http://schemas.openxmlformats.org/officeDocument/2006/relationships/notesMaster" Target="/ppt/notesMasters/notesMaster1.xml" Id="R094e49d5cfc14d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93ac6b37064e4e" /><Relationship Type="http://schemas.openxmlformats.org/officeDocument/2006/relationships/notesMaster" Target="/ppt/notesMasters/notesMaster1.xml" Id="R9b0024dbbc2d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b0891cfee40cd" /><Relationship Type="http://schemas.openxmlformats.org/officeDocument/2006/relationships/notesMaster" Target="/ppt/notesMasters/notesMaster1.xml" Id="R24abbe8d3f554c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6a033a1fb44650" /><Relationship Type="http://schemas.openxmlformats.org/officeDocument/2006/relationships/notesMaster" Target="/ppt/notesMasters/notesMaster1.xml" Id="R5c8447d13777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e4e33c163d4288" /><Relationship Type="http://schemas.openxmlformats.org/officeDocument/2006/relationships/notesMaster" Target="/ppt/notesMasters/notesMaster1.xml" Id="Rffaff46144604e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0f1e9cdf44a5b" /><Relationship Type="http://schemas.openxmlformats.org/officeDocument/2006/relationships/notesMaster" Target="/ppt/notesMasters/notesMaster1.xml" Id="Reefba37c28604a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b400665ece423a" /><Relationship Type="http://schemas.openxmlformats.org/officeDocument/2006/relationships/notesMaster" Target="/ppt/notesMasters/notesMaster1.xml" Id="R8058e2fd17cd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afdb7b84846fe" /><Relationship Type="http://schemas.openxmlformats.org/officeDocument/2006/relationships/notesMaster" Target="/ppt/notesMasters/notesMaster1.xml" Id="Rd90a4e121fc648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7defdf029848ae" /><Relationship Type="http://schemas.openxmlformats.org/officeDocument/2006/relationships/notesMaster" Target="/ppt/notesMasters/notesMaster1.xml" Id="R5556638e365147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5e8f38fbb5423e" /><Relationship Type="http://schemas.openxmlformats.org/officeDocument/2006/relationships/notesMaster" Target="/ppt/notesMasters/notesMaster1.xml" Id="Rf0072c67e88547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e26de9c970493b" /><Relationship Type="http://schemas.openxmlformats.org/officeDocument/2006/relationships/notesMaster" Target="/ppt/notesMasters/notesMaster1.xml" Id="R4393f3b1c4bb4a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4cbfefdf9245a6" /><Relationship Type="http://schemas.openxmlformats.org/officeDocument/2006/relationships/notesMaster" Target="/ppt/notesMasters/notesMaster1.xml" Id="R45d14cc17ff649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9f9f33e3754cf6" /><Relationship Type="http://schemas.openxmlformats.org/officeDocument/2006/relationships/notesMaster" Target="/ppt/notesMasters/notesMaster1.xml" Id="R8f75499e376048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45afb0ffcb4613" /><Relationship Type="http://schemas.openxmlformats.org/officeDocument/2006/relationships/notesMaster" Target="/ppt/notesMasters/notesMaster1.xml" Id="R0e60407fdc5c45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2b4b0814ae4e24" /><Relationship Type="http://schemas.openxmlformats.org/officeDocument/2006/relationships/notesMaster" Target="/ppt/notesMasters/notesMaster1.xml" Id="R3d1e95d8b3374e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7363f01e2d4142" /><Relationship Type="http://schemas.openxmlformats.org/officeDocument/2006/relationships/notesMaster" Target="/ppt/notesMasters/notesMaster1.xml" Id="R76aa77cae8c849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this deck as the entry routine only. Do not let it replace reading or notes.</a:t>
            </a:r>
          </a:p>
          <a:p xmlns:a="http://schemas.openxmlformats.org/drawingml/2006/main">
            <a:r>
              <a:t>LIKELY MISCONCEPTION: An opener is optional entertainment.</a:t>
            </a:r>
          </a:p>
          <a:p xmlns:a="http://schemas.openxmlformats.org/drawingml/2006/main">
            <a:r>
              <a:t>CHECK FOR UNDERSTANDING: Can students state today’s page and concept?</a:t>
            </a:r>
          </a:p>
          <a:p xmlns:a="http://schemas.openxmlformats.org/drawingml/2006/main">
            <a:r>
              <a:t>STOP: Move on when the timer reaches 3:00.</a:t>
            </a:r>
          </a:p>
          <a:p xmlns:a="http://schemas.openxmlformats.org/drawingml/2006/main">
            <a:r>
              <a:t>SBTE ENTRY/HANDOFF: SBTE confirms the actual section stop before instruction.</a:t>
            </a:r>
          </a:p>
          <a:p xmlns:a="http://schemas.openxmlformats.org/drawingml/2006/main">
            <a:r>
              <a:t>SOURCE: Weekly planning synthesis; Chapter 1 and Sep. 16–17 transcripts.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Read the situation once. Ask every student to show A, B, or C.</a:t>
            </a:r>
          </a:p>
          <a:p xmlns:a="http://schemas.openxmlformats.org/drawingml/2006/main">
            <a:r>
              <a:t>LIKELY MISCONCEPTION: There can be no action before research.</a:t>
            </a:r>
          </a:p>
          <a:p xmlns:a="http://schemas.openxmlformats.org/drawingml/2006/main">
            <a:r>
              <a:t>CHECK FOR UNDERSTANDING: Which answer gathers useful customer evidence?</a:t>
            </a:r>
          </a:p>
          <a:p xmlns:a="http://schemas.openxmlformats.org/drawingml/2006/main">
            <a:r>
              <a:t>STOP: Do not take explanations until all students have responded.</a:t>
            </a:r>
          </a:p>
          <a:p xmlns:a="http://schemas.openxmlformats.org/drawingml/2006/main">
            <a:r>
              <a:t>SBTE ENTRY/HANDOFF: SBTE tallies A/B/C.</a:t>
            </a:r>
          </a:p>
          <a:p xmlns:a="http://schemas.openxmlformats.org/drawingml/2006/main">
            <a:r>
              <a:t>SOURCE: Textbook p. 10; SBTE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Confirm B, then accept one short reason and one possible survey question.</a:t>
            </a:r>
          </a:p>
          <a:p xmlns:a="http://schemas.openxmlformats.org/drawingml/2006/main">
            <a:r>
              <a:t>LIKELY MISCONCEPTION: Marketing equals advertising only.</a:t>
            </a:r>
          </a:p>
          <a:p xmlns:a="http://schemas.openxmlformats.org/drawingml/2006/main">
            <a:r>
              <a:t>CHECK FOR UNDERSTANDING: Name one later decision customer evidence could change.</a:t>
            </a:r>
          </a:p>
          <a:p xmlns:a="http://schemas.openxmlformats.org/drawingml/2006/main">
            <a:r>
              <a:t>STOP: After one reason and one follow-up, close.</a:t>
            </a:r>
          </a:p>
          <a:p xmlns:a="http://schemas.openxmlformats.org/drawingml/2006/main">
            <a:r>
              <a:t>SBTE ENTRY/HANDOFF: SBTE gives one course-connected example if needed.</a:t>
            </a:r>
          </a:p>
          <a:p xmlns:a="http://schemas.openxmlformats.org/drawingml/2006/main">
            <a:r>
              <a:t>SOURCE: Textbook p. 10; purpose of marketing.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the sentence exactly and point to the page cue.</a:t>
            </a:r>
          </a:p>
          <a:p xmlns:a="http://schemas.openxmlformats.org/drawingml/2006/main">
            <a:r>
              <a:t>LIKELY MISCONCEPTION: An old plan outranks the actual class stop.</a:t>
            </a:r>
          </a:p>
          <a:p xmlns:a="http://schemas.openxmlformats.org/drawingml/2006/main">
            <a:r>
              <a:t>CHECK FOR UNDERSTANDING: Is this section opening p. 10 or completing pp. 7–9 first?</a:t>
            </a:r>
          </a:p>
          <a:p xmlns:a="http://schemas.openxmlformats.org/drawingml/2006/main">
            <a:r>
              <a:t>STOP: Advance immediately to the correct page.</a:t>
            </a:r>
          </a:p>
          <a:p xmlns:a="http://schemas.openxmlformats.org/drawingml/2006/main">
            <a:r>
              <a:t>SBTE ENTRY/HANDOFF: SBTE confirms the branch.</a:t>
            </a:r>
          </a:p>
          <a:p xmlns:a="http://schemas.openxmlformats.org/drawingml/2006/main">
            <a:r>
              <a:t>SOURCE: Sep. 17 co-planning; textbook pp. 7–11.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Ask for simultaneous A/B/C/D.</a:t>
            </a:r>
          </a:p>
          <a:p xmlns:a="http://schemas.openxmlformats.org/drawingml/2006/main">
            <a:r>
              <a:t>LIKELY MISCONCEPTION: Every business decision is one of the 4 Ps.</a:t>
            </a:r>
          </a:p>
          <a:p xmlns:a="http://schemas.openxmlformats.org/drawingml/2006/main">
            <a:r>
              <a:t>CHECK FOR UNDERSTANDING: Which choice is outside product, price, place, promotion?</a:t>
            </a:r>
          </a:p>
          <a:p xmlns:a="http://schemas.openxmlformats.org/drawingml/2006/main">
            <a:r>
              <a:t>STOP: Do not debate until everyone responds.</a:t>
            </a:r>
          </a:p>
          <a:p xmlns:a="http://schemas.openxmlformats.org/drawingml/2006/main">
            <a:r>
              <a:t>SBTE ENTRY/HANDOFF: SBTE tallies.</a:t>
            </a:r>
          </a:p>
          <a:p xmlns:a="http://schemas.openxmlformats.org/drawingml/2006/main">
            <a:r>
              <a:t>SOURCE: Textbook pp. 11–12; SBTE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Confirm D and label A/B/C. Ask for one promotion example.</a:t>
            </a:r>
          </a:p>
          <a:p xmlns:a="http://schemas.openxmlformats.org/drawingml/2006/main">
            <a:r>
              <a:t>LIKELY MISCONCEPTION: Place means only a physical building.</a:t>
            </a:r>
          </a:p>
          <a:p xmlns:a="http://schemas.openxmlformats.org/drawingml/2006/main">
            <a:r>
              <a:t>CHECK FOR UNDERSTANDING: Why can an online store count as place?</a:t>
            </a:r>
          </a:p>
          <a:p xmlns:a="http://schemas.openxmlformats.org/drawingml/2006/main">
            <a:r>
              <a:t>STOP: Accept one example, then close.</a:t>
            </a:r>
          </a:p>
          <a:p xmlns:a="http://schemas.openxmlformats.org/drawingml/2006/main">
            <a:r>
              <a:t>SBTE ENTRY/HANDOFF: SBTE names a non-example if confusion remains.</a:t>
            </a:r>
          </a:p>
          <a:p xmlns:a="http://schemas.openxmlformats.org/drawingml/2006/main">
            <a:r>
              <a:t>SOURCE: Textbook pp. 11–12.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State the four labels and point to the reading.</a:t>
            </a:r>
          </a:p>
          <a:p xmlns:a="http://schemas.openxmlformats.org/drawingml/2006/main">
            <a:r>
              <a:t>LIKELY MISCONCEPTION: The opener completed the content.</a:t>
            </a:r>
          </a:p>
          <a:p xmlns:a="http://schemas.openxmlformats.org/drawingml/2006/main">
            <a:r>
              <a:t>CHECK FOR UNDERSTANDING: What evidence will students find for each P?</a:t>
            </a:r>
          </a:p>
          <a:p xmlns:a="http://schemas.openxmlformats.org/drawingml/2006/main">
            <a:r>
              <a:t>STOP: Move immediately into the source text.</a:t>
            </a:r>
          </a:p>
          <a:p xmlns:a="http://schemas.openxmlformats.org/drawingml/2006/main">
            <a:r>
              <a:t>SBTE ENTRY/HANDOFF: SBTE opens the catch-up route without interrupting class.</a:t>
            </a:r>
          </a:p>
          <a:p xmlns:a="http://schemas.openxmlformats.org/drawingml/2006/main">
            <a:r>
              <a:t>SOURCE: Textbook pp. 11–12; deadline from weekly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Ask every student to classify the survey.</a:t>
            </a:r>
          </a:p>
          <a:p xmlns:a="http://schemas.openxmlformats.org/drawingml/2006/main">
            <a:r>
              <a:t>LIKELY MISCONCEPTION: A survey is promotion because customers see it.</a:t>
            </a:r>
          </a:p>
          <a:p xmlns:a="http://schemas.openxmlformats.org/drawingml/2006/main">
            <a:r>
              <a:t>CHECK FOR UNDERSTANDING: Which function gathers customer evidence?</a:t>
            </a:r>
          </a:p>
          <a:p xmlns:a="http://schemas.openxmlformats.org/drawingml/2006/main">
            <a:r>
              <a:t>STOP: No extended discussion before the check.</a:t>
            </a:r>
          </a:p>
          <a:p xmlns:a="http://schemas.openxmlformats.org/drawingml/2006/main">
            <a:r>
              <a:t>SBTE ENTRY/HANDOFF: SBTE tallies.</a:t>
            </a:r>
          </a:p>
          <a:p xmlns:a="http://schemas.openxmlformats.org/drawingml/2006/main">
            <a:r>
              <a:t>SOURCE: Textbook p. 13; SBTE slides 11–12.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Name both MIM and market research. Connect the survey to a later decision.</a:t>
            </a:r>
          </a:p>
          <a:p xmlns:a="http://schemas.openxmlformats.org/drawingml/2006/main">
            <a:r>
              <a:t>LIKELY MISCONCEPTION: Target market means everyone who might buy.</a:t>
            </a:r>
          </a:p>
          <a:p xmlns:a="http://schemas.openxmlformats.org/drawingml/2006/main">
            <a:r>
              <a:t>CHECK FOR UNDERSTANDING: What type of evidence identifies a specific target market?</a:t>
            </a:r>
          </a:p>
          <a:p xmlns:a="http://schemas.openxmlformats.org/drawingml/2006/main">
            <a:r>
              <a:t>STOP: Take one question only.</a:t>
            </a:r>
          </a:p>
          <a:p xmlns:a="http://schemas.openxmlformats.org/drawingml/2006/main">
            <a:r>
              <a:t>SBTE ENTRY/HANDOFF: SBTE supplies one quantitative vs qualitative example if useful.</a:t>
            </a:r>
          </a:p>
          <a:p xmlns:a="http://schemas.openxmlformats.org/drawingml/2006/main">
            <a:r>
              <a:t>SOURCE: Textbook p.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Point to the seven-function list and move into the text.</a:t>
            </a:r>
          </a:p>
          <a:p xmlns:a="http://schemas.openxmlformats.org/drawingml/2006/main">
            <a:r>
              <a:t>LIKELY MISCONCEPTION: Students should memorize names without understanding actions.</a:t>
            </a:r>
          </a:p>
          <a:p xmlns:a="http://schemas.openxmlformats.org/drawingml/2006/main">
            <a:r>
              <a:t>CHECK FOR UNDERSTANDING: Can each function be summarized with a verb and purpose?</a:t>
            </a:r>
          </a:p>
          <a:p xmlns:a="http://schemas.openxmlformats.org/drawingml/2006/main">
            <a:r>
              <a:t>STOP: Move to the overview slide and reading.</a:t>
            </a:r>
          </a:p>
          <a:p xmlns:a="http://schemas.openxmlformats.org/drawingml/2006/main">
            <a:r>
              <a:t>SBTE ENTRY/HANDOFF: SBTE opens a five-minute Review catch-up station.</a:t>
            </a:r>
          </a:p>
          <a:p xmlns:a="http://schemas.openxmlformats.org/drawingml/2006/main">
            <a:r>
              <a:t>SOURCE: Textbook pp. 13–15.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Students rank only the first two moves.</a:t>
            </a:r>
          </a:p>
          <a:p xmlns:a="http://schemas.openxmlformats.org/drawingml/2006/main">
            <a:r>
              <a:t>LIKELY MISCONCEPTION: There is always one fixed sequence for every business.</a:t>
            </a:r>
          </a:p>
          <a:p xmlns:a="http://schemas.openxmlformats.org/drawingml/2006/main">
            <a:r>
              <a:t>CHECK FOR UNDERSTANDING: Which move must come before informed product decisions?</a:t>
            </a:r>
          </a:p>
          <a:p xmlns:a="http://schemas.openxmlformats.org/drawingml/2006/main">
            <a:r>
              <a:t>STOP: Do not ask for a full launch plan.</a:t>
            </a:r>
          </a:p>
          <a:p xmlns:a="http://schemas.openxmlformats.org/drawingml/2006/main">
            <a:r>
              <a:t>SBTE ENTRY/HANDOFF: SBTE scans sequences and chooses one contrast.</a:t>
            </a:r>
          </a:p>
          <a:p xmlns:a="http://schemas.openxmlformats.org/drawingml/2006/main">
            <a:r>
              <a:t>SOURCE: Textbook pp. 10–15.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Confirm B first. Compare two defensible second choices.</a:t>
            </a:r>
          </a:p>
          <a:p xmlns:a="http://schemas.openxmlformats.org/drawingml/2006/main">
            <a:r>
              <a:t>LIKELY MISCONCEPTION: All students must choose the same second move.</a:t>
            </a:r>
          </a:p>
          <a:p xmlns:a="http://schemas.openxmlformats.org/drawingml/2006/main">
            <a:r>
              <a:t>CHECK FOR UNDERSTANDING: How would customer evidence change your second move?</a:t>
            </a:r>
          </a:p>
          <a:p xmlns:a="http://schemas.openxmlformats.org/drawingml/2006/main">
            <a:r>
              <a:t>STOP: Take two contrasting reasons only.</a:t>
            </a:r>
          </a:p>
          <a:p xmlns:a="http://schemas.openxmlformats.org/drawingml/2006/main">
            <a:r>
              <a:t>SBTE ENTRY/HANDOFF: SBTE names the relationship to the marketing concept.</a:t>
            </a:r>
          </a:p>
          <a:p xmlns:a="http://schemas.openxmlformats.org/drawingml/2006/main">
            <a:r>
              <a:t>SOURCE: Textbook pp. 10–15.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Use the section record to choose finish-reading or application.</a:t>
            </a:r>
          </a:p>
          <a:p xmlns:a="http://schemas.openxmlformats.org/drawingml/2006/main">
            <a:r>
              <a:t>LIKELY MISCONCEPTION: Application can replace unfinished source reading.</a:t>
            </a:r>
          </a:p>
          <a:p xmlns:a="http://schemas.openxmlformats.org/drawingml/2006/main">
            <a:r>
              <a:t>CHECK FOR UNDERSTANDING: What required text remains before application?</a:t>
            </a:r>
          </a:p>
          <a:p xmlns:a="http://schemas.openxmlformats.org/drawingml/2006/main">
            <a:r>
              <a:t>STOP: Move to the exact recorded page.</a:t>
            </a:r>
          </a:p>
          <a:p xmlns:a="http://schemas.openxmlformats.org/drawingml/2006/main">
            <a:r>
              <a:t>SBTE ENTRY/HANDOFF: SBTE leads the alternate route for students who are caught up.</a:t>
            </a:r>
          </a:p>
          <a:p xmlns:a="http://schemas.openxmlformats.org/drawingml/2006/main">
            <a:r>
              <a:t>SOURCE: Textbook pp. 13–15; section stopping-point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Start the timer and let students retrieve silently.</a:t>
            </a:r>
          </a:p>
          <a:p xmlns:a="http://schemas.openxmlformats.org/drawingml/2006/main">
            <a:r>
              <a:t>LIKELY MISCONCEPTION: A blank means the student learned nothing.</a:t>
            </a:r>
          </a:p>
          <a:p xmlns:a="http://schemas.openxmlformats.org/drawingml/2006/main">
            <a:r>
              <a:t>CHECK FOR UNDERSTANDING: Which category needs one quick source check?</a:t>
            </a:r>
          </a:p>
          <a:p xmlns:a="http://schemas.openxmlformats.org/drawingml/2006/main">
            <a:r>
              <a:t>STOP: No reteaching during silent retrieval.</a:t>
            </a:r>
          </a:p>
          <a:p xmlns:a="http://schemas.openxmlformats.org/drawingml/2006/main">
            <a:r>
              <a:t>SBTE ENTRY/HANDOFF: SBTE observes startup time and completion rate.</a:t>
            </a:r>
          </a:p>
          <a:p xmlns:a="http://schemas.openxmlformats.org/drawingml/2006/main">
            <a:r>
              <a:t>SOURCE: Cumulative Chapter 1, pp. 4–15.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Display category checks, not a complete answer key.</a:t>
            </a:r>
          </a:p>
          <a:p xmlns:a="http://schemas.openxmlformats.org/drawingml/2006/main">
            <a:r>
              <a:t>LIKELY MISCONCEPTION: Retrieval must be perfect before assessment.</a:t>
            </a:r>
          </a:p>
          <a:p xmlns:a="http://schemas.openxmlformats.org/drawingml/2006/main">
            <a:r>
              <a:t>CHECK FOR UNDERSTANDING: Which concept will you verify?</a:t>
            </a:r>
          </a:p>
          <a:p xmlns:a="http://schemas.openxmlformats.org/drawingml/2006/main">
            <a:r>
              <a:t>STOP: Do not reopen instruction unless the assessment is not active.</a:t>
            </a:r>
          </a:p>
          <a:p xmlns:a="http://schemas.openxmlformats.org/drawingml/2006/main">
            <a:r>
              <a:t>SBTE ENTRY/HANDOFF: SBTE handles procedural setup.</a:t>
            </a:r>
          </a:p>
          <a:p xmlns:a="http://schemas.openxmlformats.org/drawingml/2006/main">
            <a:r>
              <a:t>SOURCE: Chapter 1 definitions and 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PITER SAYS: Close retrieval and follow the verified Friday route.</a:t>
            </a:r>
          </a:p>
          <a:p xmlns:a="http://schemas.openxmlformats.org/drawingml/2006/main">
            <a:r>
              <a:t>LIKELY MISCONCEPTION: The Sep. 16 transcript date is final without checking.</a:t>
            </a:r>
          </a:p>
          <a:p xmlns:a="http://schemas.openxmlformats.org/drawingml/2006/main">
            <a:r>
              <a:t>CHECK FOR UNDERSTANDING: Are directions, resources, and submission location clear?</a:t>
            </a:r>
          </a:p>
          <a:p xmlns:a="http://schemas.openxmlformats.org/drawingml/2006/main">
            <a:r>
              <a:t>STOP: Begin at 3:00.</a:t>
            </a:r>
          </a:p>
          <a:p xmlns:a="http://schemas.openxmlformats.org/drawingml/2006/main">
            <a:r>
              <a:t>SBTE ENTRY/HANDOFF: SBTE confirms the live assessment status.</a:t>
            </a:r>
          </a:p>
          <a:p xmlns:a="http://schemas.openxmlformats.org/drawingml/2006/main">
            <a:r>
              <a:t>SOURCE: Sep. 16 transcript assessment date; current-status caution.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78fb65fac4c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7beccef1b24daf" /><Relationship Type="http://schemas.openxmlformats.org/officeDocument/2006/relationships/slideLayout" Target="/ppt/slideLayouts/slideLayout1.xml" Id="Rd56f9601283542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f9601283542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121376614bfa" /><Relationship Type="http://schemas.openxmlformats.org/officeDocument/2006/relationships/notesSlide" Target="/ppt/notesSlides/notesSlide1.xml" Id="R25b076401566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0c4075f3741f3" /><Relationship Type="http://schemas.openxmlformats.org/officeDocument/2006/relationships/notesSlide" Target="/ppt/notesSlides/notesSlide2.xml" Id="Rf0ef4709195e4b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afca812e0499e" /><Relationship Type="http://schemas.openxmlformats.org/officeDocument/2006/relationships/notesSlide" Target="/ppt/notesSlides/notesSlide3.xml" Id="Rada37ad1ba874e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48647fa064665" /><Relationship Type="http://schemas.openxmlformats.org/officeDocument/2006/relationships/notesSlide" Target="/ppt/notesSlides/notesSlide4.xml" Id="R5f4cc14d75fe46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24a7889d040ff" /><Relationship Type="http://schemas.openxmlformats.org/officeDocument/2006/relationships/notesSlide" Target="/ppt/notesSlides/notesSlide5.xml" Id="Re01df12e462442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727be6ebb4be1" /><Relationship Type="http://schemas.openxmlformats.org/officeDocument/2006/relationships/notesSlide" Target="/ppt/notesSlides/notesSlide6.xml" Id="R2ad6316146c841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009b32caa47e6" /><Relationship Type="http://schemas.openxmlformats.org/officeDocument/2006/relationships/notesSlide" Target="/ppt/notesSlides/notesSlide7.xml" Id="R634404ba16f6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e908c39404def" /><Relationship Type="http://schemas.openxmlformats.org/officeDocument/2006/relationships/notesSlide" Target="/ppt/notesSlides/notesSlide8.xml" Id="Rb991556f52cb42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b8311d00c40ab" /><Relationship Type="http://schemas.openxmlformats.org/officeDocument/2006/relationships/notesSlide" Target="/ppt/notesSlides/notesSlide9.xml" Id="Rff9587558aab4f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0ffe13fa4236" /><Relationship Type="http://schemas.openxmlformats.org/officeDocument/2006/relationships/notesSlide" Target="/ppt/notesSlides/notesSlide10.xml" Id="Rae9ae0558f8149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44acf605b4daa" /><Relationship Type="http://schemas.openxmlformats.org/officeDocument/2006/relationships/notesSlide" Target="/ppt/notesSlides/notesSlide11.xml" Id="R8e9190c63b7c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9d6d5e204117" /><Relationship Type="http://schemas.openxmlformats.org/officeDocument/2006/relationships/notesSlide" Target="/ppt/notesSlides/notesSlide12.xml" Id="Rcbb44b0f9ed54a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8d4126b6439a" /><Relationship Type="http://schemas.openxmlformats.org/officeDocument/2006/relationships/notesSlide" Target="/ppt/notesSlides/notesSlide13.xml" Id="Rfd1382026bd445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f325cf414c3e" /><Relationship Type="http://schemas.openxmlformats.org/officeDocument/2006/relationships/notesSlide" Target="/ppt/notesSlides/notesSlide14.xml" Id="Rb8dc0a3e6ff847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ebb4cb874852" /><Relationship Type="http://schemas.openxmlformats.org/officeDocument/2006/relationships/notesSlide" Target="/ppt/notesSlides/notesSlide15.xml" Id="R5d9d9bf269d540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f1c2d6534b94" /><Relationship Type="http://schemas.openxmlformats.org/officeDocument/2006/relationships/notesSlide" Target="/ppt/notesSlides/notesSlide16.xml" Id="Rdfb697e5adb54f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56F65-4D23-4556-9B03-7475A62C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08543-8621-4A8C-AC74-B7384B68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WEEK OF SEP 21–25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126CD-89BB-44E6-8054-98280F4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Five short bridges into Chapter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DD749-A1E6-43E0-B9F2-C92E8C2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TEACHER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B524A-5681-495B-B8FB-4B395E81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D1B41-2747-468C-95C7-CB16606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91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Same reading. Same rigor. More ways to enter.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4EFC5-3BE1-4CF4-802D-57656555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D307E-5231-4651-ADFF-440EA63A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0E948-1592-4171-8B12-417F152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49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B1AE4-EF45-446B-865B-FC54D806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495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Customer 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E68D4-B21F-4524-AF62-5A07CAA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99279-A5A4-402D-B318-8E9579EE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0D64E-1796-43BB-A0DB-E08FEB15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149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B80CD-6069-49F7-AE98-ECDC21D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1495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The 4 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455E8-7B33-49A4-9EB8-416DF672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61524-0A6B-4CD6-8A9A-F0F315FE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FB10B-3792-46DB-8696-4ED589B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67000"/>
            <a:ext cx="149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0D7FA-64F3-43CB-9A67-34CE81E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43250"/>
            <a:ext cx="1495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Marketing functions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D10DD-2664-46ED-8973-B3B2320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1AD5A-C19C-4D2D-83BE-D696C9A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7A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15014-D48C-48BC-A838-BA2A0591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67000"/>
            <a:ext cx="149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90753-6E0B-45DC-8498-6CD9898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1495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Sequence decisions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D1670-679F-4B4F-A432-E6E78E78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952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4CE7-7A8E-452C-9C19-FCC1B99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CBC38-73F6-431E-9C0D-847A602C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67000"/>
            <a:ext cx="14954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90FFD-24F2-4C3B-A408-095FD36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495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Silent retrieval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1020E7-B12A-4628-B863-F3A61B0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15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F9768-6CB2-4D27-A050-85D7883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004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Routine: respond → check → transition. Hard stop at 3:00.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53AEE-9949-420B-8DFB-DF887D11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3A5C29-287E-4519-BFD7-3D5EB7E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 the block-specific catch-up screen before slide 2.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6AE00-201B-45C2-9282-6F914825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PRIVATE DRAFT</a:t>
            </a:r>
          </a:p>
        </p:txBody>
      </p:sp>
    </p:spTree>
    <p:extLst>
      <p:ext uri="{BB962C8B-B14F-4D97-AF65-F5344CB8AC3E}">
        <p14:creationId xmlns:p14="http://schemas.microsoft.com/office/powerpoint/2010/main" val="1872880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09135-7C0F-49F7-859D-4824A8B5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445AA-C3DE-4F0E-BB15-F5B2B1B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MONDAY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0CE7F-D6E2-4546-90F6-D9BF2B2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move comes first?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66168-7233-4642-9696-ECEB722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3-MIN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DE728-7756-42AC-BC9B-E87E3EED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AD30D-30B7-469F-85AF-F04218B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school snack shop wants more students to buy lunch.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51CA1-3169-446F-BCF4-F85EE83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CB406-C7D6-4EE3-81DA-2804AEA1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3E1C8-8264-4CEA-AEDE-2A0A0D9D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57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D3FD6-CE5D-456E-8BB0-95A4163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95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9EB21-1AA1-4C41-9A5E-FF779375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9146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86CF3-0B6C-460A-A823-AD9BFABC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528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Copy the most popular shop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3E4CB-C066-45CC-8E57-6EC77155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45FB9-DA00-4DB1-A536-D991864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3374F-6BB8-4A61-92F5-319B3A9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57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F5819-6D17-41EA-804E-4AE2885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95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2924D-0BAD-4A3A-BF65-7AB668E6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146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2C918-E941-42F7-9DD9-4DB11BC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528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Ask students what they need or want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868F6-D72D-4FBD-BB00-839C109A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8A593-7F9B-4F4E-9A2B-91C4B302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628EA-BDD0-4041-B3A5-88B7CB0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57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554F6-780C-45BB-AFD7-9CAFF033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95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9A21-C29C-4D2E-A327-2736C8BF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84717-794F-4F89-9157-FA8EAE6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52800"/>
            <a:ext cx="2686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Make more of the same food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49BF8-20AD-4576-A487-DC29F89C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00"/>
            <a:ext cx="8096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9F3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85713E-CE2F-4C55-AE13-49F6E5A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720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SHOW A / B / C  •  BE READY WITH ONE REASON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97104A-85FE-46F2-9913-1A58F745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F6735-0745-406A-8B5E-2DEFE9E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Everybody responds. No partner talk.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869A4-6AE7-40FB-84A8-F1BFF237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0:00–1:15</a:t>
            </a:r>
          </a:p>
        </p:txBody>
      </p:sp>
    </p:spTree>
    <p:extLst>
      <p:ext uri="{BB962C8B-B14F-4D97-AF65-F5344CB8AC3E}">
        <p14:creationId xmlns:p14="http://schemas.microsoft.com/office/powerpoint/2010/main" val="870057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81F48-8478-434D-B1BD-DF80F00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05E12-98F7-45D3-AE68-3F09B5B1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MONDAY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359D0-09F4-49A9-83F0-C5597E57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the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5B870-BB52-47D9-955A-21BE6EE2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4528-B8E3-4FEE-95B7-B7B24C1B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6BED8-3F7C-481A-A080-8D13492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E2910-E809-4D7D-BDC3-8326443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  •  ASK STUDENTS WHAT THEY NEED OR WANT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6F1B0-DC6B-46DC-9017-B33EE050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AD866-A616-46E8-BFCB-ECAD9CC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50594-050E-4FE1-9280-3EA57284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Useful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8FD99-F0F9-473C-9F0A-92AA4A8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4305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What students want, what they already buy, price limits, and unmet needs.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696DA-AB9A-4248-AD8B-29909C8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9BCB5-1C67-472C-B3AE-42F605B1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1085B-43A5-4637-ADAD-7CD99EA4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Then decide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C7B9D-6DA2-439C-8721-F6EF4F0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305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Use the evidence to shape the product, price, place, and promotion.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CD23C-7606-4D18-A8BE-432BACD6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Follow-up: What could the shop ask?  •  What could the answer change?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5719E-2400-44C8-86D4-1DE97C62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398C7-844F-466A-9BE0-B783B899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Accept one concise reason. Then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84D37-8A13-4BFA-8848-FB5F6F2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1:15–2:30</a:t>
            </a:r>
          </a:p>
        </p:txBody>
      </p:sp>
    </p:spTree>
    <p:extLst>
      <p:ext uri="{BB962C8B-B14F-4D97-AF65-F5344CB8AC3E}">
        <p14:creationId xmlns:p14="http://schemas.microsoft.com/office/powerpoint/2010/main" val="200917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059B1-D10B-4A07-AF4B-5A29CBB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9B1FE-A756-48B5-9125-DC1FFE78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MONDAY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746F1-1081-4AF1-AFB3-5FA7641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 and enter the chapter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BBF39-BB01-4925-878B-F1F2A452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85F7-44F9-49BD-BB84-B0696EA1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8C1F1-4331-4010-9C7B-474DA6EC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“Hands down. We have our prediction; the chapter now gives us the academic model.”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C94D7-A2A1-47CA-A9D3-A1FE6959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9620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73C52-12EB-4AB6-B1DF-5866F37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Open pages 10–11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80846-BEB0-49F5-9777-0808958B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9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Purpose of marketing → Marketing concept → Customer needs + Company goals + Profits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507F5-242A-4EAD-9BD3-8D9B536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7BD56-BE5A-48E3-B8B4-D0F8D758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292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3:00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DFDC2-A5A7-4815-97F7-EEF41A6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B0744-52C3-4E81-8120-760E525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If Friday content is unfinished, finish pp. 7–9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09E4-1293-4A2E-A135-07345FF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READ NEXT</a:t>
            </a:r>
          </a:p>
        </p:txBody>
      </p:sp>
    </p:spTree>
    <p:extLst>
      <p:ext uri="{BB962C8B-B14F-4D97-AF65-F5344CB8AC3E}">
        <p14:creationId xmlns:p14="http://schemas.microsoft.com/office/powerpoint/2010/main" val="66717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6E112-CC50-4182-859D-3ABF9717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A40D7-4649-4DD6-A9E8-120BBF37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TUESDAY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C1CE6-40FB-4014-B357-CA8FC73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Odd one out: the 4 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489B-BEE9-49E7-9EAE-12780B05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3-MIN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9CC66-567B-4E1E-8D73-CC71E91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37CEE-0C59-46B5-AD21-F20C0752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90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61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sneaker launch includes four decisions. Which is NOT one of the 4 Ps?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641EE-5EBC-4CC6-8D0D-58E6193D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C2131-8EAE-45B8-824B-1B75D40A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952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5937A-F808-48D2-8519-22D1E0E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1457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48D82-C6F8-424B-B895-BB87D1E0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D0448-9C21-46E5-8E0F-C684E5BF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717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E3AF8-17C2-4E98-8347-B6631F9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09925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New sneaker color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B6C98-5575-475F-9BD3-D62E4E7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66548-D6A3-4E91-B04E-5294994A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952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BE6A-E512-4B98-ADC7-3A0F937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1457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D56FD-C203-47A9-802C-93518A0D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A4F4C-FC46-4523-9B48-AECFE3C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717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A2D18-798C-497C-AB0F-93255F7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09925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$65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A3AD0-DA87-4B61-A0FB-8710A12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000F1-BF55-4EDB-BE31-DD88BA0A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952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B9688A-DA29-455C-8AB7-69A40B88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1457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F54DA-7AF3-4E87-98D2-977CF06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0D263-4979-4856-999E-EE487C9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717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DAEAE-F656-41B8-94E4-A8D0474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09925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Online + stores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4ABE0-EDB3-4B2A-8FCD-749F147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6E538-8FAB-4E31-991B-9A16FDF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43125"/>
            <a:ext cx="9525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00FD3-785D-4B4E-A325-18A8B343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14575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C7622-22F1-4F4B-AB1E-3721E52A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97D67-AA8E-4BA1-9906-166BDD12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71775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401A85-58AE-4A60-9E75-2BA7F873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09925"/>
            <a:ext cx="1924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Employee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CDC96B-E02C-470F-A42A-0D83EA4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05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SHOW A / B / C / 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7AADF-0E94-46B3-8D9C-895AE6B7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5F6EA-B0DF-47EA-8AE6-F7376EDB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choice. One reason if called 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25FFC-896C-4AB5-9E59-C5BBBED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0:00–1:15</a:t>
            </a:r>
          </a:p>
        </p:txBody>
      </p:sp>
    </p:spTree>
    <p:extLst>
      <p:ext uri="{BB962C8B-B14F-4D97-AF65-F5344CB8AC3E}">
        <p14:creationId xmlns:p14="http://schemas.microsoft.com/office/powerpoint/2010/main" val="228901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22DCB-4428-4B62-8B5B-83A95F8E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F0D20-8D42-4872-AD2D-4A0189C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TUESDAY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27FFC-EB15-43FC-8B6F-0E3DA1AD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and label the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55694-CBF9-4B8A-A722-EB20F6C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D5C54-48BF-473F-9EE1-ECBF46D8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807A9-00F4-4524-B280-258D41E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7F5DD-7809-4458-9B8D-1D673C98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67B58-BD82-4ACD-8205-D7ECD83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FC2B4-214E-4AB1-8DFF-7761D94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New color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4ACCC-F2C5-4AD1-992E-906C739D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CA13A-F457-4596-80E0-2E0642D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793E2-D711-4E48-82B9-4215F9E8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36D4D-B01E-4819-BDF0-0B6FC64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$65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E9ABD-0CFE-4C58-A138-8587010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947DF-A108-4110-9050-3CDC7028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E656D-D4F9-4027-B1F7-43FC278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C3D41-A201-415E-AEA8-91D0F16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Online + stores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18B7D-F97F-4A5A-87B4-764A62F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757AD-F8A0-4CCD-9F44-03C591F5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5A3BC-D9AD-4600-9788-083F7EB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A 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50C65-B1E4-4156-9EC9-79EC3FA6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Employee training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5DF38-EE93-45C6-9312-A4E2EE0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would PROMOTION look like for this sneaker?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E74F9-7D14-4844-B111-E49F687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C579B-2778-4D11-99F3-B759250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 is still a business activity—just not one of the 4 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F664D-7672-4F8A-B6FD-DD9C45D1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1:15–2:30</a:t>
            </a:r>
          </a:p>
        </p:txBody>
      </p:sp>
    </p:spTree>
    <p:extLst>
      <p:ext uri="{BB962C8B-B14F-4D97-AF65-F5344CB8AC3E}">
        <p14:creationId xmlns:p14="http://schemas.microsoft.com/office/powerpoint/2010/main" val="1312657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12435-B060-4532-B070-8753CEC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B732D-6882-41E7-95BE-9176CEE2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TUESDAY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703C-BD07-4C1F-97D4-23FDB3D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 and read the 4 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89211-AEDF-4B31-8E36-2AE70CA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19AD0-AEB8-4FCB-BCC3-3218C12C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7C26-D263-4BE3-963F-F2B5C3B6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“Lock it in. The four academic labels are product, price, place, and promotion.”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79B82-80F6-41E3-BBB0-3ABA9148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9CD9-4696-4C55-A7BD-7966CC15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575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Open pages 11–12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16E2E-3DC6-44A9-A022-4446363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29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Read to check what decision each P controls—not just its name.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1659A-9710-44C6-8E99-BECF890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BF735-B88B-41E1-801C-B1CC1D3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292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3:00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BF125-0228-47CD-B8BF-8F2F01F9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FA543-ECCF-4684-A093-65C1C12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Terms to Know was due at 9:00 AM; use the catch-up path quietly.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D159D-293C-4F93-AB16-ABCEE965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READ NEXT</a:t>
            </a:r>
          </a:p>
        </p:txBody>
      </p:sp>
    </p:spTree>
    <p:extLst>
      <p:ext uri="{BB962C8B-B14F-4D97-AF65-F5344CB8AC3E}">
        <p14:creationId xmlns:p14="http://schemas.microsoft.com/office/powerpoint/2010/main" val="1735116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D79315-4BB5-417F-A720-F21A68B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CEED7-1FC7-4108-AF38-C8E3AAA8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WEDNESDAY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BE951-B4EA-4174-8AB6-262EC3FD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function is working?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85D47-475D-42FD-949D-84C1F5E7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3-MIN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0B123-0DD9-4081-A773-522E08C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67E5A-CDD8-43D3-985D-6E40D33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company surveys students BEFORE designing a backpack.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10AC2-4E74-4BB3-B20C-35F32A2F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857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E79FD-C0EC-4B8F-9C78-9A6ADB2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525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A5068-D86B-4D52-97E4-0D0694C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D0158-7A04-49C8-BFBD-4E7C513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9BF6F-1D45-4FA9-9BD6-A05E94DD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D5EEA-A10E-42BC-AB3E-C36BBCFD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2400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86175-DF5C-4413-9285-0415D2B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B320B-99F1-47EF-9B59-BDC08F96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9525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BC79C-7239-4E4B-8C18-7DCD9C46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F61D1-829A-4F08-89D3-B6228A4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A0AF91-8570-48E7-8BA4-4778FEE8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832E1-D6ED-4CD1-AB58-0FB94C9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2400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Marketing Information Management / market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24D37-5E2B-4808-9917-27A0508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857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EDB32-3DED-4597-84A6-5D35CB46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95250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FC9D8-C072-4CAF-93C1-7FD5B36B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11B95-1637-4A88-B17F-5C9C82D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90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0C35E-61A9-49B6-8414-93965A6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E8D2D-B173-4D9D-93C6-72D9874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48050"/>
            <a:ext cx="2400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Selling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2A9CF-39A9-4E83-8C96-161CC72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SHOW A / B / 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F8983-C99D-4A14-8144-4288EDCD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0E152-F8C4-4700-A46D-481FAE4A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Focus on the action: gathering evidence.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C4E86-41D8-4D2B-B5EC-1D48C2D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0:00–1:15</a:t>
            </a:r>
          </a:p>
        </p:txBody>
      </p:sp>
    </p:spTree>
    <p:extLst>
      <p:ext uri="{BB962C8B-B14F-4D97-AF65-F5344CB8AC3E}">
        <p14:creationId xmlns:p14="http://schemas.microsoft.com/office/powerpoint/2010/main" val="1837523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ADEAD-B690-477E-B3C7-A9BA272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B7D4D-C1BE-466A-849D-6CE1A8BA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WEDNESDAY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34A9C-A6F6-4CE5-AD73-CE47936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the function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C318F-DA1D-40C4-8FB8-F26391D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B035-50AE-4B59-A173-A8EB8187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2BD4B-9DA0-4478-AF62-216C0F6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10287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F2889-BE69-4062-80F0-BBC4FFB1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  •  MARKETING INFORMATION MANAGEMENT (MIM)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5AC7F-09E9-45A6-AA5F-CEA4F81E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28C43-8409-4B4D-894A-09F2BBD0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C8D7-4F81-4D93-810D-41EC9E0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Academic 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006DE-2C1C-4C0B-9A2C-6CF4F31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305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Market research: gathering qualitative and quantitative data about customer needs and wants.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B74CE-4C19-4D87-A989-ACC96C2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5F4AB-DA31-44E2-BC6A-AAEF9C05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95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360F3-08B0-4690-A95E-158525CF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03418-771E-4663-AF68-65A0F0CC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305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Evidence can change product features, target market, price, place, or promotion.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1D3E2-1426-4724-82A8-FB5E898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81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Follow-up: What should the company ask?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A5240-473F-476F-9B75-EF4502F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7AE3B-E6E3-40E3-AC9B-A7713F5D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question, then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D93D4-072A-442A-86E4-34E2D160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1:15–2:30</a:t>
            </a:r>
          </a:p>
        </p:txBody>
      </p:sp>
    </p:spTree>
    <p:extLst>
      <p:ext uri="{BB962C8B-B14F-4D97-AF65-F5344CB8AC3E}">
        <p14:creationId xmlns:p14="http://schemas.microsoft.com/office/powerpoint/2010/main" val="763400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ABAF3-9B25-4FC7-B463-D59EECF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96E2-4C30-493F-B963-491891F3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WEDNESDAY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77BF7-0649-4736-B124-A0729CB2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 and build the full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CBBC2-75D7-40BA-9A60-FAB8635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3433F-8B61-4B68-A972-959B35A7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8728C-98A3-4DFF-A43F-C7C54F0D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“We have the function. Keep the example; now we build the complete seven-function map.”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93EEA-F410-4F1C-AF2F-DE247276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962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E76E1-6B7C-43B1-BC14-A0835AE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099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Open pages 13–15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30084-E365-4CE1-B906-9E6FA2B9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623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Capture each function as: ACTION VERB + 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8DF8C-8187-44C4-B8F8-0DEBC45C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Channel • MIM • Planning • Pricing • Product/Service • Promotion • Selling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4F504-7DAE-403C-9961-55D0879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58E05-C558-4478-B775-82EDFEC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3:00 STOP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B6663-122D-4722-83A8-D941F943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13A4E-4FCB-4501-AD38-14ABE2D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Chapter #1 Review was due at 9:00 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F3D9C-65DF-493A-9478-1609F702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READ NEXT</a:t>
            </a:r>
          </a:p>
        </p:txBody>
      </p:sp>
    </p:spTree>
    <p:extLst>
      <p:ext uri="{BB962C8B-B14F-4D97-AF65-F5344CB8AC3E}">
        <p14:creationId xmlns:p14="http://schemas.microsoft.com/office/powerpoint/2010/main" val="17053619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08BE6-D3FA-49CF-8026-4084189E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9D41C-9883-4E25-825B-BEE0E91B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THURSDAY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CF58-16DB-4473-AB88-0A1A44B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should happen first?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BFD33-6B3D-4C11-9D23-31C84BE4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3-MIN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92737-E350-40A6-B1CF-2F4E5FA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9D936-044D-481A-B69B-514EEE2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90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company wants to launch a reusable water bottle.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3F2CA-3CA6-4D6E-8A6B-5F23B5E9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33FDB-5558-43D9-93B1-205F2421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41D69-B2E0-4D45-9B1E-6DC28F8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62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75072-6E40-4588-B557-D70952D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0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D265E-B5B2-45A1-BD5D-F796DAF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194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06A78-5645-47A1-8D60-F4DC6FD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7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Choose an 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FD35F-5CE4-41FF-8F41-B635684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1A1A1-DF19-4E42-A1D2-C0DC8D6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01DFB-EB7B-4278-9C0F-F8E0FFB7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62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1D323-03E1-4185-881B-1F3A26FC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00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CFB6F-969E-42E6-9071-05B95923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194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6DAC6-715F-4F87-825E-C4FE6B2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Learn what students want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0F18E-D0C5-4DAE-8549-1AEBC3E1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B4EA7-9F0A-4B76-8920-8B40CFE2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7CD65B-8EAD-4466-AF3F-EA1C777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62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792BF-D35A-4FE1-99F7-973E79C4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00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38A37-1528-4605-9154-B580E6B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194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DF85B-36BA-481F-96C9-1ABC3B4C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57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Set a price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87A04-0F9F-4F65-9900-32CC067C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BB462-99FB-4FB3-8C19-E9CAF9F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95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AABA1C-2A2E-4945-B94A-239877C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6220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E2A7E-2530-4C18-9FD7-AAC45B6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00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973C7-4407-4397-B452-7C03FF31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1940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1320F-5D1A-4316-8AA0-2CE8912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57550"/>
            <a:ext cx="1924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Choose stores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724F5-FEA4-4C43-ACEB-862BCA5F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01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WRITE TWO LETTERS:  FIRST __  THEN __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01B22-A141-42C1-8068-8FCA5325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6DD7A-6685-45B6-B610-6720010F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Fictional product. No private information needed.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A83480-B5A5-4896-AC66-D6AE2823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0:00–1:15</a:t>
            </a:r>
          </a:p>
        </p:txBody>
      </p:sp>
    </p:spTree>
    <p:extLst>
      <p:ext uri="{BB962C8B-B14F-4D97-AF65-F5344CB8AC3E}">
        <p14:creationId xmlns:p14="http://schemas.microsoft.com/office/powerpoint/2010/main" val="2996998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57285-DCD2-48DB-A85A-45C09D34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FA18C-0D4F-4991-A296-FF020B2D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THURSDAY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7D10B-1646-49F2-9D3D-C0519883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Check the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E875A-3EB5-4B6F-BD6A-CA99B28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24BC1-AEEB-427C-B9F9-7FF48CC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38B0-E2FA-4B01-B02A-886C0562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7F5D5-E98B-4732-804E-447F6525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C0C0F-9244-406D-8EA0-954682C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LEARN WHAT STUDENTS WANT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AB0AB-D690-412B-A46F-E36ABB3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8CEE-7F69-49A1-8485-981C0D9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B145F-4F2A-4B8D-A6EF-F725CA4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81125"/>
            <a:ext cx="6191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13BDC-290D-4342-AD9A-ADC71878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71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54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06F72-2FA1-4D5E-881C-AFEC2B7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Use the evidence to choose…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21B74-49D1-4C8A-8440-0CEF828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474AF-6367-4E9E-AA8D-42F65909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69561-B541-4A93-8120-E3BE8769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104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26BF0-4194-4D7E-97CE-01CE7041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669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936EA-A3BD-49F8-B18E-0E2BE977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104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77E36-9102-47CE-B992-87CB76F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6697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BF803-A9EE-4A0E-9DD3-2139C652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1571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45DB8-2680-463D-B968-7BBFBDF1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PROMOTION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08573-3AF9-46D3-9FB6-9F423F2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1238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7A5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DADE7-9A52-4CDA-90D3-BBD31F61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337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063AC6-B0B4-4F8A-9C82-DA1645EF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second move can vary—justify it with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41A75-F261-4B33-8AA2-334221F6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D7EC1-70B7-41E2-965C-8BA5B59B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Customer evidence first; coordinated decisions next.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C267EA-BEA4-4A2F-96CB-E8734082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1:15–2:30</a:t>
            </a:r>
          </a:p>
        </p:txBody>
      </p:sp>
    </p:spTree>
    <p:extLst>
      <p:ext uri="{BB962C8B-B14F-4D97-AF65-F5344CB8AC3E}">
        <p14:creationId xmlns:p14="http://schemas.microsoft.com/office/powerpoint/2010/main" val="19546229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AB2EE-5787-416C-8163-2C0C133D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9C23-65A9-40F8-98FB-A2A9CE3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THURSDAY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CBB53-B0FB-4747-84AE-0CF765B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 and apply the chapter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636A6-DFAC-4CF7-A9B1-C5DBBFF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9753F-3696-456A-9CA4-8F6FB3D4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C3D1B-00D1-4157-9134-AFED9C29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“Stop at two moves. Today we test whether our sequence uses customer evidence.”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2AA6E-4D29-4A77-A372-627DCB2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9620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F21A8-6E9F-4F94-9BF1-1036FA5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Finish pages 13–15 first—if your section still owes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90D42-C5DC-432B-8E14-8A3630B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Then apply the 4 Ps + one marketing function to one fictional product.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61255-0A01-4602-BBD2-8DA616BF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40E13-F1C6-44B9-A6AA-0B3ABFDC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3:00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7A825-4ABC-402E-8671-468118B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C8E84-7CE3-4B68-B0E6-CF540E3A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Reading before application. Record the exact stop.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4529D-8098-4EE2-A85F-2AA5F857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READ / APPLY</a:t>
            </a:r>
          </a:p>
        </p:txBody>
      </p:sp>
    </p:spTree>
    <p:extLst>
      <p:ext uri="{BB962C8B-B14F-4D97-AF65-F5344CB8AC3E}">
        <p14:creationId xmlns:p14="http://schemas.microsoft.com/office/powerpoint/2010/main" val="5188213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77C849-9708-476F-9992-E511998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1626D-10C3-4D3B-988E-CD230635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FRIDAY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1494F-D1ED-4CB3-BD0D-1BAA406B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Four-box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C0A04-1691-4C89-9108-FF1739FB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3-MIN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2EAD9-05A7-4695-9FEB-C1B48551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C0D4-EFDF-48BD-9321-730C007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430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NO NOTES YET  •  WORDS, SHORT PHRASES, OR A QUICK SKETCH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11AE8-4FF7-49D1-84D1-0B1A034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953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92886-A8E6-4F64-BE16-AF38F985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9608A-2BA5-4BFF-92B4-350420B7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ED415-76AD-4DDF-9958-82849783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40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PRODUCT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C6860-4A73-4D31-91E3-3680E403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rPr>
              <a:t>Write here: ____________________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69941-2482-4067-AF86-251B5A5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953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A1F8E-39F6-4C3B-81EA-DDC5B3F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D2256-F140-4EDB-8DAD-AB33A10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2915D-C397-41C4-A723-28BE296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240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BUSINESS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89BCD-7C11-4D9A-8B73-96D03B4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rPr>
              <a:t>Write here: 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A703F-F00C-43C0-8E47-4954E2C6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953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5AE2A-F6D6-413C-8058-7E716EDA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391F8-8A14-473D-A11D-918F02A9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7B34C-68A9-425F-AA59-2129DEAA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243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ONE OF THE 4 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01153-6DE0-46C1-98AD-85E582B7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rPr>
              <a:t>Write here: ____________________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E8D44-3973-47CB-BFA8-BE17B4C8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EE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4F6A0-395F-470D-AE3A-ECD107EA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552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60EF5-0560-4FCD-B793-7C52FB93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F9260-B3DC-4DFA-9FC6-50959A4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243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MARKETING FUNCTION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6552C-748B-4F8B-89DC-9D02DCB4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57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C84"/>
                </a:solidFill>
                <a:latin typeface="Helvetica Neue"/>
                <a:ea typeface="Helvetica Neue"/>
                <a:cs typeface="Helvetica Neue"/>
              </a:rPr>
              <a:t>Write here: ____________________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92057-6680-418B-A6D6-0AC596D1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4B79F-A636-40BE-9D1D-05B5D59A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Private readiness check. Do not call on individuals who opt to write.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05D35F-F881-4802-93C8-73C0EE79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0:00–2:00</a:t>
            </a:r>
          </a:p>
        </p:txBody>
      </p:sp>
    </p:spTree>
    <p:extLst>
      <p:ext uri="{BB962C8B-B14F-4D97-AF65-F5344CB8AC3E}">
        <p14:creationId xmlns:p14="http://schemas.microsoft.com/office/powerpoint/2010/main" val="817025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CB963-0F8D-4653-9974-93CA1DF3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2EC68-E62E-4ADA-ACD3-1638CAB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FRIDAY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26F33-D244-473F-BF3C-981EF43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the four boxes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A0F03-1EE6-4372-9608-8196C9DD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QUICK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956DF-7298-4F05-9E23-4557A5B6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818DB-F46B-4677-9412-3E2E45D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6EB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ED223-3333-42BB-8921-15132FE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C6EB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9710D-3C91-4E0E-9DDD-4C801D3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240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E73B8-7AA7-40D2-BAD6-95D6DE93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anything bought or sold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E950E-47BA-4B88-BAD9-D5B96824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182E9-5B52-404F-88BF-2638BBD9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FF7A6-B46D-4418-9617-5418782F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240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9004A-4104-4179-B0C8-959412AA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operational / investing / financial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8B1A7-3365-4E14-BD91-82B1925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C14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7816F-980F-44EE-AE71-BF58855B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79659-63B7-4DA2-B8BC-BE7BCD2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240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234F3-1CA3-4526-9694-8EFB4D76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product / price / place / promotion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AE176-A40B-490A-AECD-59516217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23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65C4F-9E5D-4E12-ADD6-EF4E8232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D7223-1B82-4139-8FF4-F3F6272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240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094C5-DF1C-4BA0-91BD-FEE0132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one of the seven marketing functions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0A5D2-6841-418C-9563-7946CA79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Mark one box to check before the assessment/review.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24D81-E82C-4707-8607-CA25C41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70B15-7F3F-4F33-BFBA-54F25692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scores. Use this to focus.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62C77-305C-46D9-8C7B-1CBC206C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2:00–2:40</a:t>
            </a:r>
          </a:p>
        </p:txBody>
      </p:sp>
    </p:spTree>
    <p:extLst>
      <p:ext uri="{BB962C8B-B14F-4D97-AF65-F5344CB8AC3E}">
        <p14:creationId xmlns:p14="http://schemas.microsoft.com/office/powerpoint/2010/main" val="12837134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2CF70-DB4F-4549-BA6F-942A2D0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2EDB4-6AE9-4F17-8E6D-5389DDE7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FRIDAY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8B054-1017-4701-87D2-EC7A654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8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Close and begin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103EC-5189-4799-AD71-85A72CFA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F3EF"/>
                </a:solidFill>
                <a:latin typeface="Helvetica Neue"/>
                <a:ea typeface="Helvetica Neue"/>
                <a:cs typeface="Helvetica Neue"/>
              </a:rPr>
              <a:t>HARD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FCAA9-27BD-4E6A-AD23-F9D4B557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77BB-FD25-4223-8C3E-788E22DD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“Pens down. This is a readiness check, not a new lesson.”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162B9-F02C-4A66-AF1C-8D12D4C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9334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F7104-F744-4B64-9B8F-5CE7ADC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908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Assessment confirmed?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52CBF-A086-46A8-9F99-D4609636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6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2B4D"/>
                </a:solidFill>
                <a:latin typeface="Helvetica Neue"/>
                <a:ea typeface="Helvetica Neue"/>
                <a:cs typeface="Helvetica Neue"/>
              </a:rPr>
              <a:t>YES → follow assessment directions     NO → matched Chapter 1 review/completion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CD38B-243D-4A17-B321-E149E80A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2667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27128-CFB9-463B-B1ED-24B564D5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292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3:00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0B817-2D5E-4B21-9798-BCCDCC19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BA074-B43D-4B46-99C0-BD56A99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34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not announce the assessment until SBTE/Teams confirms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2C2E8-A40C-4F3E-9B58-BD5D9F9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53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2C14E"/>
                </a:solidFill>
                <a:latin typeface="Helvetica Neue"/>
                <a:ea typeface="Helvetica Neue"/>
                <a:cs typeface="Helvetica Neue"/>
              </a:rPr>
              <a:t>BEGIN</a:t>
            </a:r>
          </a:p>
        </p:txBody>
      </p:sp>
    </p:spTree>
    <p:extLst>
      <p:ext uri="{BB962C8B-B14F-4D97-AF65-F5344CB8AC3E}">
        <p14:creationId xmlns:p14="http://schemas.microsoft.com/office/powerpoint/2010/main" val="1631727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2026-09-17T15:20:21.5940000Z</dcterms:created>
  <dcterms:modified xsi:type="dcterms:W3CDTF">2026-09-17T15:20:21.5940000Z</dcterms:modified>
</coreProperties>
</file>