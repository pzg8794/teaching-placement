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1cebbcef174b78" /><Relationship Type="http://schemas.openxmlformats.org/officeDocument/2006/relationships/extended-properties" Target="/docProps/app.xml" Id="Re81c9fd68d804fc2" /><Relationship Type="http://schemas.openxmlformats.org/officeDocument/2006/relationships/officeDocument" Target="/ppt/presentation.xml" Id="R01d197564d1a4c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2dd8f8279044b1"/>
  </p:sldMasterIdLst>
  <p:notesMasterIdLst>
    <p:notesMasterId xmlns:r="http://schemas.openxmlformats.org/officeDocument/2006/relationships" r:id="R441330addb3e48aa"/>
  </p:notesMasterIdLst>
  <p:sldIdLst>
    <p:sldId xmlns:r="http://schemas.openxmlformats.org/officeDocument/2006/relationships" id="256" r:id="R1c2b7f09773d4e62"/>
    <p:sldId xmlns:r="http://schemas.openxmlformats.org/officeDocument/2006/relationships" id="257" r:id="R42a27667b8bb4e6d"/>
    <p:sldId xmlns:r="http://schemas.openxmlformats.org/officeDocument/2006/relationships" id="258" r:id="R6786191485dc4fe1"/>
    <p:sldId xmlns:r="http://schemas.openxmlformats.org/officeDocument/2006/relationships" id="259" r:id="R2cdb4fca354d46cd"/>
    <p:sldId xmlns:r="http://schemas.openxmlformats.org/officeDocument/2006/relationships" id="260" r:id="R004f7e82ccf84619"/>
    <p:sldId xmlns:r="http://schemas.openxmlformats.org/officeDocument/2006/relationships" id="261" r:id="R9d7e28654d904c9f"/>
    <p:sldId xmlns:r="http://schemas.openxmlformats.org/officeDocument/2006/relationships" id="262" r:id="R90d6333ed4fc40df"/>
    <p:sldId xmlns:r="http://schemas.openxmlformats.org/officeDocument/2006/relationships" id="263" r:id="R239e999beef44f10"/>
    <p:sldId xmlns:r="http://schemas.openxmlformats.org/officeDocument/2006/relationships" id="264" r:id="Re73d0b4847304a34"/>
    <p:sldId xmlns:r="http://schemas.openxmlformats.org/officeDocument/2006/relationships" id="265" r:id="R95fa69c5ec814950"/>
    <p:sldId xmlns:r="http://schemas.openxmlformats.org/officeDocument/2006/relationships" id="266" r:id="R6443c4de09584c94"/>
    <p:sldId xmlns:r="http://schemas.openxmlformats.org/officeDocument/2006/relationships" id="267" r:id="R2fec308b4e4445e9"/>
    <p:sldId xmlns:r="http://schemas.openxmlformats.org/officeDocument/2006/relationships" id="268" r:id="R5080b36c00c7428a"/>
    <p:sldId xmlns:r="http://schemas.openxmlformats.org/officeDocument/2006/relationships" id="269" r:id="R1a54468918a0458c"/>
    <p:sldId xmlns:r="http://schemas.openxmlformats.org/officeDocument/2006/relationships" id="270" r:id="Rb4b4b063eeb14bc1"/>
    <p:sldId xmlns:r="http://schemas.openxmlformats.org/officeDocument/2006/relationships" id="271" r:id="Rca891f48fe2340ed"/>
    <p:sldId xmlns:r="http://schemas.openxmlformats.org/officeDocument/2006/relationships" id="272" r:id="R3e57459e317047db"/>
    <p:sldId xmlns:r="http://schemas.openxmlformats.org/officeDocument/2006/relationships" id="273" r:id="R9ec039a87d604ed6"/>
    <p:sldId xmlns:r="http://schemas.openxmlformats.org/officeDocument/2006/relationships" id="274" r:id="R207ae52126454247"/>
    <p:sldId xmlns:r="http://schemas.openxmlformats.org/officeDocument/2006/relationships" id="275" r:id="R79e15403aaf64fa4"/>
    <p:sldId xmlns:r="http://schemas.openxmlformats.org/officeDocument/2006/relationships" id="276" r:id="R13f2b2ffa8ac4215"/>
    <p:sldId xmlns:r="http://schemas.openxmlformats.org/officeDocument/2006/relationships" id="277" r:id="R9f51e98f6b8c4d7f"/>
    <p:sldId xmlns:r="http://schemas.openxmlformats.org/officeDocument/2006/relationships" id="278" r:id="Rc392cc0c69d3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3e3defee5d46b1" /><Relationship Type="http://schemas.openxmlformats.org/officeDocument/2006/relationships/slideMaster" Target="/ppt/slideMasters/slideMaster1.xml" Id="R142dd8f8279044b1" /><Relationship Type="http://schemas.openxmlformats.org/officeDocument/2006/relationships/notesMaster" Target="/ppt/notesMasters/notesMaster1.xml" Id="R441330addb3e48aa" /><Relationship Type="http://schemas.openxmlformats.org/officeDocument/2006/relationships/presProps" Target="/ppt/presProps.xml" Id="Rb3c5ac12eedc4119" /><Relationship Type="http://schemas.openxmlformats.org/officeDocument/2006/relationships/tableStyles" Target="/ppt/tableStyles.xml" Id="R5c5fa26fdaad4e70" /><Relationship Type="http://schemas.openxmlformats.org/officeDocument/2006/relationships/slide" Target="/ppt/slides/slide1.xml" Id="R1c2b7f09773d4e62" /><Relationship Type="http://schemas.openxmlformats.org/officeDocument/2006/relationships/slide" Target="/ppt/slides/slide2.xml" Id="R42a27667b8bb4e6d" /><Relationship Type="http://schemas.openxmlformats.org/officeDocument/2006/relationships/slide" Target="/ppt/slides/slide3.xml" Id="R6786191485dc4fe1" /><Relationship Type="http://schemas.openxmlformats.org/officeDocument/2006/relationships/slide" Target="/ppt/slides/slide4.xml" Id="R2cdb4fca354d46cd" /><Relationship Type="http://schemas.openxmlformats.org/officeDocument/2006/relationships/slide" Target="/ppt/slides/slide5.xml" Id="R004f7e82ccf84619" /><Relationship Type="http://schemas.openxmlformats.org/officeDocument/2006/relationships/slide" Target="/ppt/slides/slide6.xml" Id="R9d7e28654d904c9f" /><Relationship Type="http://schemas.openxmlformats.org/officeDocument/2006/relationships/slide" Target="/ppt/slides/slide7.xml" Id="R90d6333ed4fc40df" /><Relationship Type="http://schemas.openxmlformats.org/officeDocument/2006/relationships/slide" Target="/ppt/slides/slide8.xml" Id="R239e999beef44f10" /><Relationship Type="http://schemas.openxmlformats.org/officeDocument/2006/relationships/slide" Target="/ppt/slides/slide9.xml" Id="Re73d0b4847304a34" /><Relationship Type="http://schemas.openxmlformats.org/officeDocument/2006/relationships/slide" Target="/ppt/slides/slide10.xml" Id="R95fa69c5ec814950" /><Relationship Type="http://schemas.openxmlformats.org/officeDocument/2006/relationships/slide" Target="/ppt/slides/slide11.xml" Id="R6443c4de09584c94" /><Relationship Type="http://schemas.openxmlformats.org/officeDocument/2006/relationships/slide" Target="/ppt/slides/slide12.xml" Id="R2fec308b4e4445e9" /><Relationship Type="http://schemas.openxmlformats.org/officeDocument/2006/relationships/slide" Target="/ppt/slides/slide13.xml" Id="R5080b36c00c7428a" /><Relationship Type="http://schemas.openxmlformats.org/officeDocument/2006/relationships/slide" Target="/ppt/slides/slide14.xml" Id="R1a54468918a0458c" /><Relationship Type="http://schemas.openxmlformats.org/officeDocument/2006/relationships/slide" Target="/ppt/slides/slide15.xml" Id="Rb4b4b063eeb14bc1" /><Relationship Type="http://schemas.openxmlformats.org/officeDocument/2006/relationships/slide" Target="/ppt/slides/slide16.xml" Id="Rca891f48fe2340ed" /><Relationship Type="http://schemas.openxmlformats.org/officeDocument/2006/relationships/slide" Target="/ppt/slides/slide17.xml" Id="R3e57459e317047db" /><Relationship Type="http://schemas.openxmlformats.org/officeDocument/2006/relationships/slide" Target="/ppt/slides/slide18.xml" Id="R9ec039a87d604ed6" /><Relationship Type="http://schemas.openxmlformats.org/officeDocument/2006/relationships/slide" Target="/ppt/slides/slide19.xml" Id="R207ae52126454247" /><Relationship Type="http://schemas.openxmlformats.org/officeDocument/2006/relationships/slide" Target="/ppt/slides/slide20.xml" Id="R79e15403aaf64fa4" /><Relationship Type="http://schemas.openxmlformats.org/officeDocument/2006/relationships/slide" Target="/ppt/slides/slide21.xml" Id="R13f2b2ffa8ac4215" /><Relationship Type="http://schemas.openxmlformats.org/officeDocument/2006/relationships/slide" Target="/ppt/slides/slide22.xml" Id="R9f51e98f6b8c4d7f" /><Relationship Type="http://schemas.openxmlformats.org/officeDocument/2006/relationships/slide" Target="/ppt/slides/slide23.xml" Id="Rc392cc0c69d342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4f890f183a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a12ef4be5445eb" /><Relationship Type="http://schemas.openxmlformats.org/officeDocument/2006/relationships/notesMaster" Target="/ppt/notesMasters/notesMaster1.xml" Id="Rfc97a3f910b546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e7ef86c148455d" /><Relationship Type="http://schemas.openxmlformats.org/officeDocument/2006/relationships/notesMaster" Target="/ppt/notesMasters/notesMaster1.xml" Id="R84d8e6fdf1bf44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b7dd6ca3fc434d" /><Relationship Type="http://schemas.openxmlformats.org/officeDocument/2006/relationships/notesMaster" Target="/ppt/notesMasters/notesMaster1.xml" Id="R69c519c298da40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b7877893784ca4" /><Relationship Type="http://schemas.openxmlformats.org/officeDocument/2006/relationships/notesMaster" Target="/ppt/notesMasters/notesMaster1.xml" Id="Rc5fddf9da9714d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41d46529d64a94" /><Relationship Type="http://schemas.openxmlformats.org/officeDocument/2006/relationships/notesMaster" Target="/ppt/notesMasters/notesMaster1.xml" Id="R55160f56d7d946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d8ea3dbe2c4865" /><Relationship Type="http://schemas.openxmlformats.org/officeDocument/2006/relationships/notesMaster" Target="/ppt/notesMasters/notesMaster1.xml" Id="R5c96514b45ce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531c564371482b" /><Relationship Type="http://schemas.openxmlformats.org/officeDocument/2006/relationships/notesMaster" Target="/ppt/notesMasters/notesMaster1.xml" Id="R2914e84af98044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c4ad74a4e14b7f" /><Relationship Type="http://schemas.openxmlformats.org/officeDocument/2006/relationships/notesMaster" Target="/ppt/notesMasters/notesMaster1.xml" Id="Rd9871238b2b740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45e53be2224c1f" /><Relationship Type="http://schemas.openxmlformats.org/officeDocument/2006/relationships/notesMaster" Target="/ppt/notesMasters/notesMaster1.xml" Id="Rdef2472245674f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e92ced73c7412f" /><Relationship Type="http://schemas.openxmlformats.org/officeDocument/2006/relationships/notesMaster" Target="/ppt/notesMasters/notesMaster1.xml" Id="R32cd933c96d843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26e043bc1e475c" /><Relationship Type="http://schemas.openxmlformats.org/officeDocument/2006/relationships/notesMaster" Target="/ppt/notesMasters/notesMaster1.xml" Id="Rc3f196b34ed64f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cedda5bb9146b3" /><Relationship Type="http://schemas.openxmlformats.org/officeDocument/2006/relationships/notesMaster" Target="/ppt/notesMasters/notesMaster1.xml" Id="Rdb424c3f322847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b59fb34b0c4ca5" /><Relationship Type="http://schemas.openxmlformats.org/officeDocument/2006/relationships/notesMaster" Target="/ppt/notesMasters/notesMaster1.xml" Id="R9a60461803ec45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47848913714531" /><Relationship Type="http://schemas.openxmlformats.org/officeDocument/2006/relationships/notesMaster" Target="/ppt/notesMasters/notesMaster1.xml" Id="Rb1ccd3fc455a4a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b4799499e14515" /><Relationship Type="http://schemas.openxmlformats.org/officeDocument/2006/relationships/notesMaster" Target="/ppt/notesMasters/notesMaster1.xml" Id="R4bac45e3273f4e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9e9d15b3f54562" /><Relationship Type="http://schemas.openxmlformats.org/officeDocument/2006/relationships/notesMaster" Target="/ppt/notesMasters/notesMaster1.xml" Id="R80852c8da53e4d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c882d047234f76" /><Relationship Type="http://schemas.openxmlformats.org/officeDocument/2006/relationships/notesMaster" Target="/ppt/notesMasters/notesMaster1.xml" Id="R4e9da36fbf6b46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372e9fb2214b04" /><Relationship Type="http://schemas.openxmlformats.org/officeDocument/2006/relationships/notesMaster" Target="/ppt/notesMasters/notesMaster1.xml" Id="Rc96af73e5d6a4e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807402ac1c4b84" /><Relationship Type="http://schemas.openxmlformats.org/officeDocument/2006/relationships/notesMaster" Target="/ppt/notesMasters/notesMaster1.xml" Id="R120d4da194f04f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922acb504a41fe" /><Relationship Type="http://schemas.openxmlformats.org/officeDocument/2006/relationships/notesMaster" Target="/ppt/notesMasters/notesMaster1.xml" Id="Rd7dcc5c1cbfb470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ef3a86decab4b6d" /><Relationship Type="http://schemas.openxmlformats.org/officeDocument/2006/relationships/notesMaster" Target="/ppt/notesMasters/notesMaster1.xml" Id="Rdb6b7415092441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aeafa05dc2e4830" /><Relationship Type="http://schemas.openxmlformats.org/officeDocument/2006/relationships/notesMaster" Target="/ppt/notesMasters/notesMaster1.xml" Id="Rae1b01fc80a046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76afba0cac4bad" /><Relationship Type="http://schemas.openxmlformats.org/officeDocument/2006/relationships/notesMaster" Target="/ppt/notesMasters/notesMaster1.xml" Id="R34264880043c4b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Frame this as an alternative route through the same required content.</a:t>
            </a:r>
          </a:p>
          <a:p xmlns:a="http://schemas.openxmlformats.org/drawingml/2006/main">
            <a:r>
              <a:t>LIKELY MISCONCEPTION: UDL means easier content.</a:t>
            </a:r>
          </a:p>
          <a:p xmlns:a="http://schemas.openxmlformats.org/drawingml/2006/main">
            <a:r>
              <a:t>CHECK FOR UNDERSTANDING: What stays the same in both slide routes?</a:t>
            </a:r>
          </a:p>
          <a:p xmlns:a="http://schemas.openxmlformats.org/drawingml/2006/main">
            <a:r>
              <a:t>STOP: Stop after naming the route; do not explain the whole chapter.</a:t>
            </a:r>
          </a:p>
          <a:p xmlns:a="http://schemas.openxmlformats.org/drawingml/2006/main">
            <a:r>
              <a:t>SBTE ENTRY/HANDOFF: SBTE can state the shared objectives.</a:t>
            </a:r>
          </a:p>
          <a:p xmlns:a="http://schemas.openxmlformats.org/drawingml/2006/main">
            <a:r>
              <a:t>SOURCE: SBTE slides 1–3; textbook Chapter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Read the three outcomes, then point to today’s position in the route.</a:t>
            </a:r>
          </a:p>
          <a:p xmlns:a="http://schemas.openxmlformats.org/drawingml/2006/main">
            <a:r>
              <a:t>LIKELY MISCONCEPTION: Students must master all of Chapter 1 today.</a:t>
            </a:r>
          </a:p>
          <a:p xmlns:a="http://schemas.openxmlformats.org/drawingml/2006/main">
            <a:r>
              <a:t>CHECK FOR UNDERSTANDING: Which outcome is today’s focus?</a:t>
            </a:r>
          </a:p>
          <a:p xmlns:a="http://schemas.openxmlformats.org/drawingml/2006/main">
            <a:r>
              <a:t>STOP: Do not discuss the chapter questions yet.</a:t>
            </a:r>
          </a:p>
          <a:p xmlns:a="http://schemas.openxmlformats.org/drawingml/2006/main">
            <a:r>
              <a:t>SBTE ENTRY/HANDOFF: SBTE can connect the wording to course expectations.</a:t>
            </a:r>
          </a:p>
          <a:p xmlns:a="http://schemas.openxmlformats.org/drawingml/2006/main">
            <a:r>
              <a:t>SOURCE: SBTE slides 2–3; textbook chapter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Ask students to choose a fictional or everyday example.</a:t>
            </a:r>
          </a:p>
          <a:p xmlns:a="http://schemas.openxmlformats.org/drawingml/2006/main">
            <a:r>
              <a:t>LIKELY MISCONCEPTION: Marketing affects only shopping.</a:t>
            </a:r>
          </a:p>
          <a:p xmlns:a="http://schemas.openxmlformats.org/drawingml/2006/main">
            <a:r>
              <a:t>CHECK FOR UNDERSTANDING: What choice was influenced, and by what?</a:t>
            </a:r>
          </a:p>
          <a:p xmlns:a="http://schemas.openxmlformats.org/drawingml/2006/main">
            <a:r>
              <a:t>STOP: One response only, then read.</a:t>
            </a:r>
          </a:p>
          <a:p xmlns:a="http://schemas.openxmlformats.org/drawingml/2006/main">
            <a:r>
              <a:t>SBTE ENTRY/HANDOFF: SBTE can supply a neutral fictional example.</a:t>
            </a:r>
          </a:p>
          <a:p xmlns:a="http://schemas.openxmlformats.org/drawingml/2006/main">
            <a:r>
              <a:t>SOURCE: Textbook p. 4; SBTE slide 2 discussion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Trace the two relationships with your finger as students read the definitions.</a:t>
            </a:r>
          </a:p>
          <a:p xmlns:a="http://schemas.openxmlformats.org/drawingml/2006/main">
            <a:r>
              <a:t>LIKELY MISCONCEPTION: Marketing and business are synonyms.</a:t>
            </a:r>
          </a:p>
          <a:p xmlns:a="http://schemas.openxmlformats.org/drawingml/2006/main">
            <a:r>
              <a:t>CHECK FOR UNDERSTANDING: How does marketing support what a business offers?</a:t>
            </a:r>
          </a:p>
          <a:p xmlns:a="http://schemas.openxmlformats.org/drawingml/2006/main">
            <a:r>
              <a:t>STOP: Stop after one student paraphrase.</a:t>
            </a:r>
          </a:p>
          <a:p xmlns:a="http://schemas.openxmlformats.org/drawingml/2006/main">
            <a:r>
              <a:t>SBTE ENTRY/HANDOFF: SBTE can reinforce the course wording.</a:t>
            </a:r>
          </a:p>
          <a:p xmlns:a="http://schemas.openxmlformats.org/drawingml/2006/main">
            <a:r>
              <a:t>SOURCE: Textbook p. 4; SBTE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Define each category, then classify one fresh example.</a:t>
            </a:r>
          </a:p>
          <a:p xmlns:a="http://schemas.openxmlformats.org/drawingml/2006/main">
            <a:r>
              <a:t>LIKELY MISCONCEPTION: An idea cannot be marketed because it is not tangible.</a:t>
            </a:r>
          </a:p>
          <a:p xmlns:a="http://schemas.openxmlformats.org/drawingml/2006/main">
            <a:r>
              <a:t>CHECK FOR UNDERSTANDING: Classify a tutoring session and explain the clue.</a:t>
            </a:r>
          </a:p>
          <a:p xmlns:a="http://schemas.openxmlformats.org/drawingml/2006/main">
            <a:r>
              <a:t>STOP: One example, then continue reading.</a:t>
            </a:r>
          </a:p>
          <a:p xmlns:a="http://schemas.openxmlformats.org/drawingml/2006/main">
            <a:r>
              <a:t>SBTE ENTRY/HANDOFF: SBTE can provide the fresh example.</a:t>
            </a:r>
          </a:p>
          <a:p xmlns:a="http://schemas.openxmlformats.org/drawingml/2006/main">
            <a:r>
              <a:t>SOURCE: Textbook p. 4; Figure 1.1; SBTE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Connect the academic definition to choices without asking for private finances.</a:t>
            </a:r>
          </a:p>
          <a:p xmlns:a="http://schemas.openxmlformats.org/drawingml/2006/main">
            <a:r>
              <a:t>LIKELY MISCONCEPTION: Economics means only money.</a:t>
            </a:r>
          </a:p>
          <a:p xmlns:a="http://schemas.openxmlformats.org/drawingml/2006/main">
            <a:r>
              <a:t>CHECK FOR UNDERSTANDING: Name one limited resource besides money.</a:t>
            </a:r>
          </a:p>
          <a:p xmlns:a="http://schemas.openxmlformats.org/drawingml/2006/main">
            <a:r>
              <a:t>STOP: Stop after three examples total.</a:t>
            </a:r>
          </a:p>
          <a:p xmlns:a="http://schemas.openxmlformats.org/drawingml/2006/main">
            <a:r>
              <a:t>SBTE ENTRY/HANDOFF: SBTE can connect to prior economics instruction.</a:t>
            </a:r>
          </a:p>
          <a:p xmlns:a="http://schemas.openxmlformats.org/drawingml/2006/main">
            <a:r>
              <a:t>SOURCE: Textbook p.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Model profit with a neutral numerical example.</a:t>
            </a:r>
          </a:p>
          <a:p xmlns:a="http://schemas.openxmlformats.org/drawingml/2006/main">
            <a:r>
              <a:t>LIKELY MISCONCEPTION: Profit and revenue are the same.</a:t>
            </a:r>
          </a:p>
          <a:p xmlns:a="http://schemas.openxmlformats.org/drawingml/2006/main">
            <a:r>
              <a:t>CHECK FOR UNDERSTANDING: If revenue is $100 and expenses are $70, what is profit?</a:t>
            </a:r>
          </a:p>
          <a:p xmlns:a="http://schemas.openxmlformats.org/drawingml/2006/main">
            <a:r>
              <a:t>STOP: One calculation only.</a:t>
            </a:r>
          </a:p>
          <a:p xmlns:a="http://schemas.openxmlformats.org/drawingml/2006/main">
            <a:r>
              <a:t>SBTE ENTRY/HANDOFF: SBTE can flag the difference between profit and net worth.</a:t>
            </a:r>
          </a:p>
          <a:p xmlns:a="http://schemas.openxmlformats.org/drawingml/2006/main">
            <a:r>
              <a:t>SOURCE: Textbook p.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Teach purpose/time horizon rather than pretending every action fits only one box.</a:t>
            </a:r>
          </a:p>
          <a:p xmlns:a="http://schemas.openxmlformats.org/drawingml/2006/main">
            <a:r>
              <a:t>LIKELY MISCONCEPTION: Every action has exactly one category in every context.</a:t>
            </a:r>
          </a:p>
          <a:p xmlns:a="http://schemas.openxmlformats.org/drawingml/2006/main">
            <a:r>
              <a:t>CHECK FOR UNDERSTANDING: Why might buying equipment be operational or investing?</a:t>
            </a:r>
          </a:p>
          <a:p xmlns:a="http://schemas.openxmlformats.org/drawingml/2006/main">
            <a:r>
              <a:t>STOP: Take one overlap example only.</a:t>
            </a:r>
          </a:p>
          <a:p xmlns:a="http://schemas.openxmlformats.org/drawingml/2006/main">
            <a:r>
              <a:t>SBTE ENTRY/HANDOFF: SBTE can name the course’s preferred classification for the current item.</a:t>
            </a:r>
          </a:p>
          <a:p xmlns:a="http://schemas.openxmlformats.org/drawingml/2006/main">
            <a:r>
              <a:t>SOURCE: Textbook pp. 5–7, Figure 1.2; SBTE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Walk the four functions and ask the two questions at the bottom.</a:t>
            </a:r>
          </a:p>
          <a:p xmlns:a="http://schemas.openxmlformats.org/drawingml/2006/main">
            <a:r>
              <a:t>LIKELY MISCONCEPTION: Operational means only production.</a:t>
            </a:r>
          </a:p>
          <a:p xmlns:a="http://schemas.openxmlformats.org/drawingml/2006/main">
            <a:r>
              <a:t>CHECK FOR UNDERSTANDING: Which function studies customer demand?</a:t>
            </a:r>
          </a:p>
          <a:p xmlns:a="http://schemas.openxmlformats.org/drawingml/2006/main">
            <a:r>
              <a:t>STOP: Stop after both quick classifications.</a:t>
            </a:r>
          </a:p>
          <a:p xmlns:a="http://schemas.openxmlformats.org/drawingml/2006/main">
            <a:r>
              <a:t>SBTE ENTRY/HANDOFF: SBTE clarifies finance-as-function if needed.</a:t>
            </a:r>
          </a:p>
          <a:p xmlns:a="http://schemas.openxmlformats.org/drawingml/2006/main">
            <a:r>
              <a:t>SOURCE: Textbook p. 6; SBTE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Contrast future value with money flow, then acknowledge overlap.</a:t>
            </a:r>
          </a:p>
          <a:p xmlns:a="http://schemas.openxmlformats.org/drawingml/2006/main">
            <a:r>
              <a:t>LIKELY MISCONCEPTION: Financial means bad or debt only.</a:t>
            </a:r>
          </a:p>
          <a:p xmlns:a="http://schemas.openxmlformats.org/drawingml/2006/main">
            <a:r>
              <a:t>CHECK FOR UNDERSTANDING: What clue makes an expansion an investment?</a:t>
            </a:r>
          </a:p>
          <a:p xmlns:a="http://schemas.openxmlformats.org/drawingml/2006/main">
            <a:r>
              <a:t>STOP: One scenario, then read p. 7.</a:t>
            </a:r>
          </a:p>
          <a:p xmlns:a="http://schemas.openxmlformats.org/drawingml/2006/main">
            <a:r>
              <a:t>SBTE ENTRY/HANDOFF: SBTE provides the local-business example.</a:t>
            </a:r>
          </a:p>
          <a:p xmlns:a="http://schemas.openxmlformats.org/drawingml/2006/main">
            <a:r>
              <a:t>SOURCE: Textbook pp. 6–7; SBTE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Use a fictional bakery or snack shop and touch each role once.</a:t>
            </a:r>
          </a:p>
          <a:p xmlns:a="http://schemas.openxmlformats.org/drawingml/2006/main">
            <a:r>
              <a:t>LIKELY MISCONCEPTION: Businesses contribute only through taxes.</a:t>
            </a:r>
          </a:p>
          <a:p xmlns:a="http://schemas.openxmlformats.org/drawingml/2006/main">
            <a:r>
              <a:t>CHECK FOR UNDERSTANDING: How does employment create another round of spending?</a:t>
            </a:r>
          </a:p>
          <a:p xmlns:a="http://schemas.openxmlformats.org/drawingml/2006/main">
            <a:r>
              <a:t>STOP: Three concise examples only.</a:t>
            </a:r>
          </a:p>
          <a:p xmlns:a="http://schemas.openxmlformats.org/drawingml/2006/main">
            <a:r>
              <a:t>SBTE ENTRY/HANDOFF: SBTE can connect to Review question 1.</a:t>
            </a:r>
          </a:p>
          <a:p xmlns:a="http://schemas.openxmlformats.org/drawingml/2006/main">
            <a:r>
              <a:t>SOURCE: Textbook pp. 8–9; SBTE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State the textbook distinction without asking students to disclose personal access.</a:t>
            </a:r>
          </a:p>
          <a:p xmlns:a="http://schemas.openxmlformats.org/drawingml/2006/main">
            <a:r>
              <a:t>LIKELY MISCONCEPTION: Everyone experiences needs and wants in the same way.</a:t>
            </a:r>
          </a:p>
          <a:p xmlns:a="http://schemas.openxmlformats.org/drawingml/2006/main">
            <a:r>
              <a:t>CHECK FOR UNDERSTANDING: Classify a fictional upgraded phone and explain the definition.</a:t>
            </a:r>
          </a:p>
          <a:p xmlns:a="http://schemas.openxmlformats.org/drawingml/2006/main">
            <a:r>
              <a:t>STOP: One classification only.</a:t>
            </a:r>
          </a:p>
          <a:p xmlns:a="http://schemas.openxmlformats.org/drawingml/2006/main">
            <a:r>
              <a:t>SBTE ENTRY/HANDOFF: SBTE can reinforce sensitivity and the course wording.</a:t>
            </a:r>
          </a:p>
          <a:p xmlns:a="http://schemas.openxmlformats.org/drawingml/2006/main">
            <a:r>
              <a:t>SOURCE: Textbook p.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Trace the sequence from customer understanding to delivery.</a:t>
            </a:r>
          </a:p>
          <a:p xmlns:a="http://schemas.openxmlformats.org/drawingml/2006/main">
            <a:r>
              <a:t>LIKELY MISCONCEPTION: Marketing begins after the product is finished.</a:t>
            </a:r>
          </a:p>
          <a:p xmlns:a="http://schemas.openxmlformats.org/drawingml/2006/main">
            <a:r>
              <a:t>CHECK FOR UNDERSTANDING: What can go wrong when customer needs are guessed?</a:t>
            </a:r>
          </a:p>
          <a:p xmlns:a="http://schemas.openxmlformats.org/drawingml/2006/main">
            <a:r>
              <a:t>STOP: Take one consequence.</a:t>
            </a:r>
          </a:p>
          <a:p xmlns:a="http://schemas.openxmlformats.org/drawingml/2006/main">
            <a:r>
              <a:t>SBTE ENTRY/HANDOFF: SBTE connects to operational functions.</a:t>
            </a:r>
          </a:p>
          <a:p xmlns:a="http://schemas.openxmlformats.org/drawingml/2006/main">
            <a:r>
              <a:t>SOURCE: Textbook p.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Use the source diagram; point to each element while reading the definition.</a:t>
            </a:r>
          </a:p>
          <a:p xmlns:a="http://schemas.openxmlformats.org/drawingml/2006/main">
            <a:r>
              <a:t>LIKELY MISCONCEPTION: Profit is separate from meeting customer needs.</a:t>
            </a:r>
          </a:p>
          <a:p xmlns:a="http://schemas.openxmlformats.org/drawingml/2006/main">
            <a:r>
              <a:t>CHECK FOR UNDERSTANDING: Which element is missing if a product pleases customers but loses money?</a:t>
            </a:r>
          </a:p>
          <a:p xmlns:a="http://schemas.openxmlformats.org/drawingml/2006/main">
            <a:r>
              <a:t>STOP: One scenario only.</a:t>
            </a:r>
          </a:p>
          <a:p xmlns:a="http://schemas.openxmlformats.org/drawingml/2006/main">
            <a:r>
              <a:t>SBTE ENTRY/HANDOFF: SBTE can explain the triangle from the original deck.</a:t>
            </a:r>
          </a:p>
          <a:p xmlns:a="http://schemas.openxmlformats.org/drawingml/2006/main">
            <a:r>
              <a:t>SOURCE: Textbook pp. 10–11; SBTE slide 9 and source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Introduce each P as a decision, not just a definition.</a:t>
            </a:r>
          </a:p>
          <a:p xmlns:a="http://schemas.openxmlformats.org/drawingml/2006/main">
            <a:r>
              <a:t>LIKELY MISCONCEPTION: Promotion is the whole marketing mix.</a:t>
            </a:r>
          </a:p>
          <a:p xmlns:a="http://schemas.openxmlformats.org/drawingml/2006/main">
            <a:r>
              <a:t>CHECK FOR UNDERSTANDING: Which P includes an online store?</a:t>
            </a:r>
          </a:p>
          <a:p xmlns:a="http://schemas.openxmlformats.org/drawingml/2006/main">
            <a:r>
              <a:t>STOP: Four short responses maximum.</a:t>
            </a:r>
          </a:p>
          <a:p xmlns:a="http://schemas.openxmlformats.org/drawingml/2006/main">
            <a:r>
              <a:t>SBTE ENTRY/HANDOFF: SBTE supplies the course example.</a:t>
            </a:r>
          </a:p>
          <a:p xmlns:a="http://schemas.openxmlformats.org/drawingml/2006/main">
            <a:r>
              <a:t>SOURCE: Textbook pp. 11–12; SBTE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Use one shared product to reduce cognitive load while comparing two Ps.</a:t>
            </a:r>
          </a:p>
          <a:p xmlns:a="http://schemas.openxmlformats.org/drawingml/2006/main">
            <a:r>
              <a:t>LIKELY MISCONCEPTION: Price is chosen only by what customers prefer.</a:t>
            </a:r>
          </a:p>
          <a:p xmlns:a="http://schemas.openxmlformats.org/drawingml/2006/main">
            <a:r>
              <a:t>CHECK FOR UNDERSTANDING: What cost or competitor evidence can constrain price?</a:t>
            </a:r>
          </a:p>
          <a:p xmlns:a="http://schemas.openxmlformats.org/drawingml/2006/main">
            <a:r>
              <a:t>STOP: One modification and reason.</a:t>
            </a:r>
          </a:p>
          <a:p xmlns:a="http://schemas.openxmlformats.org/drawingml/2006/main">
            <a:r>
              <a:t>SBTE ENTRY/HANDOFF: SBTE can provide a counterexample.</a:t>
            </a:r>
          </a:p>
          <a:p xmlns:a="http://schemas.openxmlformats.org/drawingml/2006/main">
            <a:r>
              <a:t>SOURCE: Textbook pp. 11–12.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Contrast distribution with communication using the two checks.</a:t>
            </a:r>
          </a:p>
          <a:p xmlns:a="http://schemas.openxmlformats.org/drawingml/2006/main">
            <a:r>
              <a:t>LIKELY MISCONCEPTION: Place means store address only.</a:t>
            </a:r>
          </a:p>
          <a:p xmlns:a="http://schemas.openxmlformats.org/drawingml/2006/main">
            <a:r>
              <a:t>CHECK FOR UNDERSTANDING: Why is 24-hour delivery a place decision?</a:t>
            </a:r>
          </a:p>
          <a:p xmlns:a="http://schemas.openxmlformats.org/drawingml/2006/main">
            <a:r>
              <a:t>STOP: Two responses, then continue.</a:t>
            </a:r>
          </a:p>
          <a:p xmlns:a="http://schemas.openxmlformats.org/drawingml/2006/main">
            <a:r>
              <a:t>SBTE ENTRY/HANDOFF: SBTE can connect to channels of distribution.</a:t>
            </a:r>
          </a:p>
          <a:p xmlns:a="http://schemas.openxmlformats.org/drawingml/2006/main">
            <a:r>
              <a:t>SOURCE: Textbook p.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Preview all seven using action verbs; do not teach all details yet.</a:t>
            </a:r>
          </a:p>
          <a:p xmlns:a="http://schemas.openxmlformats.org/drawingml/2006/main">
            <a:r>
              <a:t>LIKELY MISCONCEPTION: Seven functions are seven unrelated lists.</a:t>
            </a:r>
          </a:p>
          <a:p xmlns:a="http://schemas.openxmlformats.org/drawingml/2006/main">
            <a:r>
              <a:t>CHECK FOR UNDERSTANDING: Which function gathers evidence? Which completes the exchange?</a:t>
            </a:r>
          </a:p>
          <a:p xmlns:a="http://schemas.openxmlformats.org/drawingml/2006/main">
            <a:r>
              <a:t>STOP: Two quick identifications only.</a:t>
            </a:r>
          </a:p>
          <a:p xmlns:a="http://schemas.openxmlformats.org/drawingml/2006/main">
            <a:r>
              <a:t>SBTE ENTRY/HANDOFF: SBTE can state how the functions connect to the marketing concept.</a:t>
            </a:r>
          </a:p>
          <a:p xmlns:a="http://schemas.openxmlformats.org/drawingml/2006/main">
            <a:r>
              <a:t>SOURCE: Textbook pp. 13–15; SBTE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Read each function, then reduce it to the action verb at the bottom.</a:t>
            </a:r>
          </a:p>
          <a:p xmlns:a="http://schemas.openxmlformats.org/drawingml/2006/main">
            <a:r>
              <a:t>LIKELY MISCONCEPTION: Target market means anyone who could possibly buy.</a:t>
            </a:r>
          </a:p>
          <a:p xmlns:a="http://schemas.openxmlformats.org/drawingml/2006/main">
            <a:r>
              <a:t>CHECK FOR UNDERSTANDING: Which function identifies the target market?</a:t>
            </a:r>
          </a:p>
          <a:p xmlns:a="http://schemas.openxmlformats.org/drawingml/2006/main">
            <a:r>
              <a:t>STOP: One match per function.</a:t>
            </a:r>
          </a:p>
          <a:p xmlns:a="http://schemas.openxmlformats.org/drawingml/2006/main">
            <a:r>
              <a:t>SBTE ENTRY/HANDOFF: SBTE adds the financing distinction in planning.</a:t>
            </a:r>
          </a:p>
          <a:p xmlns:a="http://schemas.openxmlformats.org/drawingml/2006/main">
            <a:r>
              <a:t>SOURCE: Textbook pp. 13–14; SBTE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Connect each definition to one action verb and one neutral example.</a:t>
            </a:r>
          </a:p>
          <a:p xmlns:a="http://schemas.openxmlformats.org/drawingml/2006/main">
            <a:r>
              <a:t>LIKELY MISCONCEPTION: Promotion and selling are the same.</a:t>
            </a:r>
          </a:p>
          <a:p xmlns:a="http://schemas.openxmlformats.org/drawingml/2006/main">
            <a:r>
              <a:t>CHECK FOR UNDERSTANDING: What happens before selling that promotion does not complete?</a:t>
            </a:r>
          </a:p>
          <a:p xmlns:a="http://schemas.openxmlformats.org/drawingml/2006/main">
            <a:r>
              <a:t>STOP: One contrast only.</a:t>
            </a:r>
          </a:p>
          <a:p xmlns:a="http://schemas.openxmlformats.org/drawingml/2006/main">
            <a:r>
              <a:t>SBTE ENTRY/HANDOFF: SBTE gives the course’s selling example.</a:t>
            </a:r>
          </a:p>
          <a:p xmlns:a="http://schemas.openxmlformats.org/drawingml/2006/main">
            <a:r>
              <a:t>SOURCE: Textbook pp. 14–15; SBTE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Use this as retrieval, not as a replacement for the assigned Review or assessment.</a:t>
            </a:r>
          </a:p>
          <a:p xmlns:a="http://schemas.openxmlformats.org/drawingml/2006/main">
            <a:r>
              <a:t>LIKELY MISCONCEPTION: Different response modes mean different academic expectations.</a:t>
            </a:r>
          </a:p>
          <a:p xmlns:a="http://schemas.openxmlformats.org/drawingml/2006/main">
            <a:r>
              <a:t>CHECK FOR UNDERSTANDING: Can the student explain one relationship using Chapter 1 terms?</a:t>
            </a:r>
          </a:p>
          <a:p xmlns:a="http://schemas.openxmlformats.org/drawingml/2006/main">
            <a:r>
              <a:t>STOP: Stop after the planned check time.</a:t>
            </a:r>
          </a:p>
          <a:p xmlns:a="http://schemas.openxmlformats.org/drawingml/2006/main">
            <a:r>
              <a:t>SBTE ENTRY/HANDOFF: SBTE confirms which assigned Review prompts are active.</a:t>
            </a:r>
          </a:p>
          <a:p xmlns:a="http://schemas.openxmlformats.org/drawingml/2006/main">
            <a:r>
              <a:t>SOURCE: Textbook Chapter Review; SBTE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Complete the blanks before students enter. Point absent/behind students here.</a:t>
            </a:r>
          </a:p>
          <a:p xmlns:a="http://schemas.openxmlformats.org/drawingml/2006/main">
            <a:r>
              <a:t>LIKELY MISCONCEPTION: Catch-up means reteaching the whole previous class.</a:t>
            </a:r>
          </a:p>
          <a:p xmlns:a="http://schemas.openxmlformats.org/drawingml/2006/main">
            <a:r>
              <a:t>CHECK FOR UNDERSTANDING: Can the student identify the exact next task independently?</a:t>
            </a:r>
          </a:p>
          <a:p xmlns:a="http://schemas.openxmlformats.org/drawingml/2006/main">
            <a:r>
              <a:t>STOP: Spend no more than 30 seconds orienting one student.</a:t>
            </a:r>
          </a:p>
          <a:p xmlns:a="http://schemas.openxmlformats.org/drawingml/2006/main">
            <a:r>
              <a:t>SBTE ENTRY/HANDOFF: SBTE can run the timed catch-up station.</a:t>
            </a:r>
          </a:p>
          <a:p xmlns:a="http://schemas.openxmlformats.org/drawingml/2006/main">
            <a:r>
              <a:t>SOURCE: Catch-up system from weekly plan; transcript evidence of uneven progress.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Use after class with the SBTE; this is not a student-facing content slide.</a:t>
            </a:r>
          </a:p>
          <a:p xmlns:a="http://schemas.openxmlformats.org/drawingml/2006/main">
            <a:r>
              <a:t>LIKELY MISCONCEPTION: A prettier slide proves better learning.</a:t>
            </a:r>
          </a:p>
          <a:p xmlns:a="http://schemas.openxmlformats.org/drawingml/2006/main">
            <a:r>
              <a:t>CHECK FOR UNDERSTANDING: Did access improve while reading and accuracy stayed equal or improved?</a:t>
            </a:r>
          </a:p>
          <a:p xmlns:a="http://schemas.openxmlformats.org/drawingml/2006/main">
            <a:r>
              <a:t>STOP: Three-minute reflection only.</a:t>
            </a:r>
          </a:p>
          <a:p xmlns:a="http://schemas.openxmlformats.org/drawingml/2006/main">
            <a:r>
              <a:t>SBTE ENTRY/HANDOFF: SBTE compares observations and selects one change to keep.</a:t>
            </a:r>
          </a:p>
          <a:p xmlns:a="http://schemas.openxmlformats.org/drawingml/2006/main">
            <a:r>
              <a:t>SOURCE: Chapter-1-UDL-vs-SBTE-Reflection-Plan.md.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7c31750334a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ab6ef28ab4484a" /><Relationship Type="http://schemas.openxmlformats.org/officeDocument/2006/relationships/slideLayout" Target="/ppt/slideLayouts/slideLayout1.xml" Id="R80a8e819fc494c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a8e819fc494c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c3f3066424934" /><Relationship Type="http://schemas.openxmlformats.org/officeDocument/2006/relationships/notesSlide" Target="/ppt/notesSlides/notesSlide1.xml" Id="Redbbaabc5ff44f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07846d0f54490" /><Relationship Type="http://schemas.openxmlformats.org/officeDocument/2006/relationships/notesSlide" Target="/ppt/notesSlides/notesSlide2.xml" Id="Re89de3c52e1145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14e28612f4cdf" /><Relationship Type="http://schemas.openxmlformats.org/officeDocument/2006/relationships/notesSlide" Target="/ppt/notesSlides/notesSlide3.xml" Id="R731f61256a9744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11552cb2c4463" /><Relationship Type="http://schemas.openxmlformats.org/officeDocument/2006/relationships/notesSlide" Target="/ppt/notesSlides/notesSlide4.xml" Id="R88b7b44e148b43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05ea8265845bd" /><Relationship Type="http://schemas.openxmlformats.org/officeDocument/2006/relationships/notesSlide" Target="/ppt/notesSlides/notesSlide5.xml" Id="Rd34ab5e5943345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c1eb726644e30" /><Relationship Type="http://schemas.openxmlformats.org/officeDocument/2006/relationships/notesSlide" Target="/ppt/notesSlides/notesSlide6.xml" Id="R6e104d880dec48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cbffb6a494c35" /><Relationship Type="http://schemas.openxmlformats.org/officeDocument/2006/relationships/notesSlide" Target="/ppt/notesSlides/notesSlide7.xml" Id="R289e14486dd348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18378f047447e" /><Relationship Type="http://schemas.openxmlformats.org/officeDocument/2006/relationships/notesSlide" Target="/ppt/notesSlides/notesSlide8.xml" Id="R9fc321df75434b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451abcf9d4d0f" /><Relationship Type="http://schemas.openxmlformats.org/officeDocument/2006/relationships/notesSlide" Target="/ppt/notesSlides/notesSlide9.xml" Id="R7b5bbd2eaf6341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df5f410374b4a" /><Relationship Type="http://schemas.openxmlformats.org/officeDocument/2006/relationships/notesSlide" Target="/ppt/notesSlides/notesSlide10.xml" Id="R4df7b466e88046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2b4086bae426e" /><Relationship Type="http://schemas.openxmlformats.org/officeDocument/2006/relationships/notesSlide" Target="/ppt/notesSlides/notesSlide11.xml" Id="Ra855b391dca842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05570e2874359" /><Relationship Type="http://schemas.openxmlformats.org/officeDocument/2006/relationships/notesSlide" Target="/ppt/notesSlides/notesSlide12.xml" Id="Rc6b3755620364f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852eb2603433a" /><Relationship Type="http://schemas.openxmlformats.org/officeDocument/2006/relationships/notesSlide" Target="/ppt/notesSlides/notesSlide13.xml" Id="R2e4c135e41564c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f8370793c495b" /><Relationship Type="http://schemas.openxmlformats.org/officeDocument/2006/relationships/image" Target="/ppt/media/image.png" Id="Rb4a058cec4ba4b14" /><Relationship Type="http://schemas.openxmlformats.org/officeDocument/2006/relationships/notesSlide" Target="/ppt/notesSlides/notesSlide14.xml" Id="Rdfbbc784575d4a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505db343b4a24" /><Relationship Type="http://schemas.openxmlformats.org/officeDocument/2006/relationships/notesSlide" Target="/ppt/notesSlides/notesSlide15.xml" Id="Ref7239eb6e104f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06ab0197b4e0e" /><Relationship Type="http://schemas.openxmlformats.org/officeDocument/2006/relationships/notesSlide" Target="/ppt/notesSlides/notesSlide16.xml" Id="R34c74f69b35b46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ae44e08e54a50" /><Relationship Type="http://schemas.openxmlformats.org/officeDocument/2006/relationships/notesSlide" Target="/ppt/notesSlides/notesSlide17.xml" Id="Rf1915b819db040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636356da545e4" /><Relationship Type="http://schemas.openxmlformats.org/officeDocument/2006/relationships/notesSlide" Target="/ppt/notesSlides/notesSlide18.xml" Id="Rb87e6e28bec7414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e5073a9b54dd2" /><Relationship Type="http://schemas.openxmlformats.org/officeDocument/2006/relationships/notesSlide" Target="/ppt/notesSlides/notesSlide19.xml" Id="Rc59e02537f904b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b7a5ba4b74d70" /><Relationship Type="http://schemas.openxmlformats.org/officeDocument/2006/relationships/notesSlide" Target="/ppt/notesSlides/notesSlide20.xml" Id="R078c0c5092c945e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6d08aa66c4e34" /><Relationship Type="http://schemas.openxmlformats.org/officeDocument/2006/relationships/notesSlide" Target="/ppt/notesSlides/notesSlide21.xml" Id="R9203988d2e1a43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d52988d5f479a" /><Relationship Type="http://schemas.openxmlformats.org/officeDocument/2006/relationships/notesSlide" Target="/ppt/notesSlides/notesSlide22.xml" Id="R455a461f8305476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b6f8c45cc4044" /><Relationship Type="http://schemas.openxmlformats.org/officeDocument/2006/relationships/notesSlide" Target="/ppt/notesSlides/notesSlide23.xml" Id="Rf9cac7a1e3ed41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2AEF6-4AAD-454A-86EA-9902CEB9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8C664-26BD-4BE4-91C0-38D3071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UDL ALTERNATIVE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E16FD-9A89-430D-A64D-E316BBE6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Introduction to Business and Marketing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A27C9-EA55-4FD9-BDE3-60B877F4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91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SAME LEARNING • MORE WAYS 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A9C93-4F98-410E-A167-B911834B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184DD-FB93-4627-B633-DC77C7A7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How business decisions and marketing work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271A8-C7A2-47A5-ABE1-DBCDAB81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914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A0320-2C31-475B-9EFE-BADB98E1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C6E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C6EBA"/>
                </a:solidFill>
                <a:latin typeface="Helvetica Neue"/>
                <a:ea typeface="Helvetica Neue"/>
                <a:cs typeface="Helvetica Neue"/>
              </a:rPr>
              <a:t>SEE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F9E43-E597-4779-8094-EB21C345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2909F-1BC2-491D-A030-75CC28DA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NAME 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C213A-2FA0-4B48-A307-1EA7017A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9D58F-20B7-404B-BE7A-EA2BC27C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USE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461DE-384A-431E-B2A8-F112DEAC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Relatable example → academic vocabulary → same textbook reading and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A5870-FAFD-4147-922C-BCEDE78F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37D70-120C-4105-B923-9F25DFAA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 authority: SBTE Chapter 1 deck + Chapter 1 textbook.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CA520-9A33-4087-A330-EA1FF3EF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DO NOT REPLACE SBTE DECK</a:t>
            </a:r>
          </a:p>
        </p:txBody>
      </p:sp>
    </p:spTree>
    <p:extLst>
      <p:ext uri="{BB962C8B-B14F-4D97-AF65-F5344CB8AC3E}">
        <p14:creationId xmlns:p14="http://schemas.microsoft.com/office/powerpoint/2010/main" val="745325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D53D93-CBD0-42CF-956F-28784933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C2177-625E-43BF-9AE7-ABE3FD43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LEARNING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9A1F8-480D-45AF-B683-17033716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you are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84BD2-051A-4446-A1D4-06936730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93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Differentiate • explain • apply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4909F-FBE5-4B8C-A55C-969B98F9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597FB-9EA0-418A-860D-B3723936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3333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5C165-A11B-419C-B6C6-0F401C36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952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776C8-0B5D-4A7B-9FE9-0EB5C54D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1  Business + marketing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C1C3D-8B22-45B6-825A-9B38702A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2876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Differentiate business, product, marketing, goods, services, and ideas.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FFA08-ACCC-4360-8B00-8F1A6211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81125"/>
            <a:ext cx="3333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A3846-5B81-491C-A59F-B29D37E8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81125"/>
            <a:ext cx="952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05E50-C764-47B8-9166-F800E93E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7162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  Why businesses 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68E5F-C398-4A40-AB4B-B7778CE0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47875"/>
            <a:ext cx="2876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Explain operational, investing, and financial activities—and contributions to society.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630B1-5747-43D2-8F6C-282690F9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3333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F1570-D008-4804-8C50-95DB3FCE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952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CC0CC-C228-400B-8D2F-63A0478D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7162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3  How marketing works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796D0-3549-4E86-BADA-5F29B369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47875"/>
            <a:ext cx="2876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Explain the marketing concept, 4 Ps, and seven marketing functions.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8037E-3755-42BC-8723-40A8BB56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AA73A-2364-4C4A-8D32-C376FF6C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86250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READ → TAKE NOTES → APPLY →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F3B20-2B31-4678-A4F9-5274C0A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87B0C-9657-40FF-AC2A-2E64C239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this route visible at transitions.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3009F-9CC6-4241-8AAE-F71EFCEB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SBTE SLIDES 2–3</a:t>
            </a:r>
          </a:p>
        </p:txBody>
      </p:sp>
    </p:spTree>
    <p:extLst>
      <p:ext uri="{BB962C8B-B14F-4D97-AF65-F5344CB8AC3E}">
        <p14:creationId xmlns:p14="http://schemas.microsoft.com/office/powerpoint/2010/main" val="967913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BF3E6-34B7-408F-B817-51E5CCC3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3E1FF-AC0B-471D-85D9-7C5697D7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EVERYDAY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18B09-0C59-4489-AB94-274C4548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Marketing is already in your 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01ABA-D8AD-4346-A1CB-38F91364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13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Connect prior experience to the 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E02F6-1BB2-440F-8331-75645013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D26A4-9998-4BC6-A60A-9934721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35A19-880D-4DCF-A9C3-C22329E6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95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F48A1-672A-44E4-A734-58834FEB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7A112-8C05-4E5B-B4E6-1985EE6E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0"/>
            <a:ext cx="2590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Why did you choose one snack, restaurant, or lunch option?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C5409-F563-46C8-AE76-D23B68F9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EA2FE-C49E-4F2E-960D-0AFEC2C5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95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45D9C-5AD6-414E-B224-3CE31617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TRANSPORT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F6BF2-17D1-4F36-9729-63E99C8E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2590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How did price, access, or convenience affect a ride?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C3128-FA38-4F9F-98D4-D4DD5E20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FDE65-56C4-432B-A9AB-B2A25A2D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95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E3471-DD59-41BF-84AB-1DE65F66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MEDIA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60FC6-C5B7-4C09-8D65-A4AFAA09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2590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What message made a product or idea noticeable?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79062-EFAC-468C-820F-07B16AA1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FC108-4749-4BC6-9E01-994860F6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3870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Choose one. Name one influence—no private details required.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E9287-4245-488F-8D29-213C7F35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1A2A5-8C8D-4A41-9330-3FC34A82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textbook p. 4 after one response.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1870C-1941-4564-8604-BFD8ACED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p. 4</a:t>
            </a:r>
          </a:p>
        </p:txBody>
      </p:sp>
    </p:spTree>
    <p:extLst>
      <p:ext uri="{BB962C8B-B14F-4D97-AF65-F5344CB8AC3E}">
        <p14:creationId xmlns:p14="http://schemas.microsoft.com/office/powerpoint/2010/main" val="1424525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BF26A3-4D1F-4804-823E-0581B72C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01F6F-BC4A-4BCC-8C3C-F6C50CA9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CORE TERMS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312BB-960D-457B-8FF9-76680232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Business, product, and marketing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25EBF-BAD6-4E16-BC94-5ADD10A5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Name the relationship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E768B-1400-4578-AEFC-1FBCBFFB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72F84-FE21-466E-9DAA-CBA36BD8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CE22A-588D-4894-9138-204F511E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C9207-9DA6-4AAF-9CD3-7AC8F21C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makes, sells, or provides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2A4CB-431E-4D3F-AC80-00CC4479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AC4E8-544B-484F-A4FC-30600666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 money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1274C-D2C0-4304-BF64-D1674AE5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10382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DE2E3-D653-4E0E-A1C2-E978795D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A066E-EE03-4958-A995-FD9FEABB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promotes, sells, and distributes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E938B-F8DE-4BD8-A45B-8AE74984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product or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AD5F9-5389-404B-BA57-5DFCAB45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29125"/>
            <a:ext cx="628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B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802F3-85D6-4EE3-988F-81017250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720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C6E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C6EBA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78EDB-2E28-4BC9-991B-A6E288F5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720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Anything that can be bought or sold.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4F8F2-EB0F-4674-B614-80772DAD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620F2-01F6-452F-992B-8F0D1BD9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Academic vocabulary stays exact; examples make it visible.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5231E-D2B5-41BF-B8D7-22275440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p. 4 • SBTE 4</a:t>
            </a:r>
          </a:p>
        </p:txBody>
      </p:sp>
    </p:spTree>
    <p:extLst>
      <p:ext uri="{BB962C8B-B14F-4D97-AF65-F5344CB8AC3E}">
        <p14:creationId xmlns:p14="http://schemas.microsoft.com/office/powerpoint/2010/main" val="2072240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297F57-A827-4576-824D-68854EC8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ABCCB-726B-4D27-9A28-634E9C01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QUICK CLASSIFY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4CE5F-B846-410B-B0F1-7184BC85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Good, service, or idea?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FA32B-D448-4115-BA86-600F1635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75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Classify three kinds of offering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36470-9A5A-4E2D-8302-17CF71A9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343FC-E0B1-47B2-969F-2CB5536C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32385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ABC87-9F08-4A94-BF48-A5026B38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95250" cy="2524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1D9A5-396D-4A2B-A854-F4A01CAB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47825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7130F-0BB4-4DDB-BF3A-5AF17449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859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A29D1-DEE5-439C-89B7-3979784E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0502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GOOD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F5EDB-9199-41F8-B362-A7A81689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43175"/>
            <a:ext cx="27813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A tangible item produced and sold.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Example: sneakers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EF708-4768-4548-8602-37F1D080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2385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A1115-3538-434D-A112-997F52A5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95250" cy="2524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3433F-E8D6-43EA-81F1-9741D38F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47825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AAC73-BC8F-4F4B-B339-9E4B7579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859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7B6F6-DBA3-481E-955C-B79536F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0502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A1987-C24A-4F55-9985-D863487E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43175"/>
            <a:ext cx="27813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A task performed for money.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Example: a haircut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3AFF2-86FB-4B81-BD2F-605E7F4F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2385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21E92-F9C4-4C41-AE5A-DBE4337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95250" cy="2524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7EFCF-E439-4043-A43D-98DC0A9A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47825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EBCA8-A488-43C4-9FA0-A84E9931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859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23103-5627-4109-A235-20681A44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0502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IDEA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C323B8-6C64-4F4B-B43A-6BD07827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43175"/>
            <a:ext cx="27813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A formulated thought or opinion.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Example: a recycling campaign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02E17-EBBA-4285-AA40-39EAEC4E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14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2D6361-D2C5-412E-A2CB-187F27A6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339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Point, write G/S/I, or say the category for a new example.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65E40-CD68-4D38-83C5-9DFEF9A4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01E06-FB94-4D5C-B058-6F6C60BE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Different offerings create different marketing opportunities.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F6BC5-0ED7-40DE-8E73-87B46016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p. 4 • SBTE 4</a:t>
            </a:r>
          </a:p>
        </p:txBody>
      </p:sp>
    </p:spTree>
    <p:extLst>
      <p:ext uri="{BB962C8B-B14F-4D97-AF65-F5344CB8AC3E}">
        <p14:creationId xmlns:p14="http://schemas.microsoft.com/office/powerpoint/2010/main" val="1677709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0CAB48-510E-4ED7-90DF-1683C05D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6B2C5-10B5-4E50-A05E-27765C2B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972D0-5616-4C89-BE51-E7E02FB9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Economics: choices under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49710-4625-477B-88DA-EC101A97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73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Connect spending choices to 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96E61-820C-46F0-801A-DA87A23E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57D0E-ACC3-4BF5-83DA-03FEDD6C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971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62735-A372-42F3-853A-D58C45D3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192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UNLIMITED WANTS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04C79-1DD6-4D5B-8503-8750A9D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853D4-551E-42AC-A631-4A7456F4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19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LIMITED RESOURCES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9E0CB-A132-4FD3-8C43-6901212C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19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CHOICES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C4DDC-7D3D-4483-8F37-763EF532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0B534-BBE4-401B-839C-A80CDD6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B7913-E0EC-45C4-92A9-F07C0C96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908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Individuals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AFE1E-2576-4FC2-9F85-F8FDBD69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2590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How will I use money, time, or attention?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355EB-5E07-4EB6-998A-B6697496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7AB5B-D3BF-4F49-BB52-43527864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E8ACD-270C-4D35-91B4-5A7527D4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908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Businesses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3C33F2-E40A-45E8-8177-FAF5AA6C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67125"/>
            <a:ext cx="2590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What will we produce, invest in, and market?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45D59-B185-4172-850F-ADE78ABF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885D7-8C92-404D-98A0-3F6FA80D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9471A-98C0-4E11-82E6-318236A2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908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Governments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E0BE1-EA00-4D9D-9277-8BF44FDC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2590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How will resources and services be provided?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75004-DA57-4548-962C-D87F5709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6288B-5941-4CF9-B2F9-300A2FB4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 fictional examples; no personal finances required.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EA3A3-4665-487A-B11A-63E8E6BF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p. 5</a:t>
            </a:r>
          </a:p>
        </p:txBody>
      </p:sp>
    </p:spTree>
    <p:extLst>
      <p:ext uri="{BB962C8B-B14F-4D97-AF65-F5344CB8AC3E}">
        <p14:creationId xmlns:p14="http://schemas.microsoft.com/office/powerpoint/2010/main" val="103612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16BA2-8D8E-4135-B68A-8BBC653B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65352-0BFD-436C-B2B9-86BBC2A2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391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BUSINESS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98DA0-EE73-4731-8764-F2F1C0ED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Profit and business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0AFDE-F0E8-45D5-81AE-CCE70AC1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06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Explain why businesses 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690C6-7E0C-4CE7-BC8F-E2300E50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DAB8B-8D03-4027-8FCE-D8690E75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933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88CA4-DD36-425B-8D73-6AC4CABF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1925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PROFIT = amount earned − amount spent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14B15-4F13-490A-9850-4C1DCC45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Business activity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38965-2044-4FD4-B002-D7C9553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=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1B57A-1926-4DEE-9338-D196490C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an action that helps generate profit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E50BB-ACBE-4C30-86C4-692C25EF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EF3F5-2377-4ECE-A49C-8975F954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Next: operational • investing • financial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1B9A7-E7AD-4C85-A634-0CB28C7F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704EF-363B-43D7-88FE-82CE4BC5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Net worth and profit are different ideas—keep the terms separate.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18C5D-F976-4021-992C-76C44F4D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p. 5</a:t>
            </a:r>
          </a:p>
        </p:txBody>
      </p:sp>
    </p:spTree>
    <p:extLst>
      <p:ext uri="{BB962C8B-B14F-4D97-AF65-F5344CB8AC3E}">
        <p14:creationId xmlns:p14="http://schemas.microsoft.com/office/powerpoint/2010/main" val="1462980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9B176-3F3A-46A7-A223-BA61B20A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F1AC3-CB1A-4D9F-876D-8AE51C77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16400-6B81-42FE-BD0D-53BD01E4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Three types of business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5695E-BD76-4059-B8E4-FC78CBFC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23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Compare purpose and time horizon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43C56-E876-431A-92AB-8C662894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84C36-76CD-4630-9D6A-8F8BA9FA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EA563-C06D-4EF5-8147-A2AE8112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525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474B8-5662-4600-B1D5-588AD471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D6413-9791-4501-AC28-D6415489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38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32630-5B03-44B9-8461-763E44BE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625E2-7BE9-47A1-B6B4-89C8CAE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Run the business today.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Produce • serve • research • administer • hire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366F5-A27A-47A1-953F-39180578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E48E7-5C7C-41D4-96D1-4AE649DB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9525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9CD0C-086C-4E8C-B524-50D9508E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0020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CA7EB-89C3-4312-B715-1EE3BCCB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38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5581E-CD3F-4801-A936-9F8EDB8E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574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INVESTING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2164B-5F75-487C-B966-78E9FA91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9555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Build value over time.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Maintain • buy buildings • lend • buy stock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D564B-797A-4A46-BC14-725467CE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396B0-7BE1-456B-9855-186C8A9E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9525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9A841-9A15-4127-A9E1-B54E5D1F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020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E6951-E023-48EB-A0E0-5DEE14F5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38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5B671-42D9-40C2-9AD5-F726B5CC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574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FINANCIAL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3FE58D-ED3B-4557-9AEB-C6226E72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Move money in or out.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Collect sales • repay debt • sell stock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14366-7020-466E-AD75-733E62A4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05375"/>
            <a:ext cx="914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D0762B-534D-4989-B005-D30B6990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2920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real action can overlap. Classify by its main purpose in the scenario.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E1B28-34FD-430A-82D9-649AEFB6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EADE2-1C3C-410E-BAA8-A7E5F3B6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 Figure 1.2 to check the categories.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5C7E23-A389-4316-9036-2BD6CFC9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pp. 5–7 • SBTE 5</a:t>
            </a:r>
          </a:p>
        </p:txBody>
      </p:sp>
    </p:spTree>
    <p:extLst>
      <p:ext uri="{BB962C8B-B14F-4D97-AF65-F5344CB8AC3E}">
        <p14:creationId xmlns:p14="http://schemas.microsoft.com/office/powerpoint/2010/main" val="1985563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F4131-001D-421E-A136-9BD5243A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EF657-E7BA-4AD0-9380-8FDA4B02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085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ONE CATEGORY, FOUR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56B0C-132D-4818-AF7F-75F1793A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Operational functions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B0C9C-2A17-490F-8BB9-081AB1C9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71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See the work inside daily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F8374-6464-44D5-A0E9-5DA4430F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BC693-9DA1-4C0A-BD15-B1D00A7F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571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B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FF776-8D57-4E51-9AE0-0115B0CE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DD17E-D01D-4AB4-BFF6-078BC6B8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F8D09-7857-4B48-81D1-0258C863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create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4DB2C-8A20-4181-815C-AF658E97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571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01597-1C3F-492A-9018-A7D5FCDD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7A48F-6565-4DE8-AA39-F2D1D79B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CFD31-8EB7-4045-A16D-A273CF16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71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meet demand + compete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0FD96-813F-4DA4-B345-7B777C13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2571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C14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EEBB0-03A6-4A6B-BFB1-4968CFAE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FDC4B-3C41-4381-B603-60F4429E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64CF3-CF26-44E9-9778-50B7507B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lead, supervise,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441FC-20B2-4812-B48B-B5774070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2571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1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1E430-E4C8-4119-A45D-2ADFB0C8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A80A1-9158-42C8-8A16-AC715125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593AB-B5AB-4EE5-B7E5-638468A7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71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daily money tasks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52BCE-3D18-41EA-A762-C5DDE327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14875"/>
            <a:ext cx="8858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A80190-D0D8-4A71-B44F-C61D61A5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76800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Which function fixes a software bug? Which studies competitors?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A9619D-86CB-4D65-A250-1AACE2B9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DCF13-B645-4C5A-B5EF-FCF98DD6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Finance can be a daily operational function and part of broader money flow.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AF6B6-46D1-4356-B242-A36F164A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p. 6 • SBTE 6</a:t>
            </a:r>
          </a:p>
        </p:txBody>
      </p:sp>
    </p:spTree>
    <p:extLst>
      <p:ext uri="{BB962C8B-B14F-4D97-AF65-F5344CB8AC3E}">
        <p14:creationId xmlns:p14="http://schemas.microsoft.com/office/powerpoint/2010/main" val="486112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728A27-F455-4E23-A4CA-B7ADECBF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5DA94-D3E7-4EB8-B41B-EB02164C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1627D-7731-44DB-B168-E73D520C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Investing vs. financial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65B5E-CC7F-4E77-9E64-BF765852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71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Use purpose to distinguish them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8BABA-1DBA-4763-B6D3-E3781CC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948B8-3F86-4893-924D-2E8AC41F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4667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6236C-456A-40EF-A6E9-299C453C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9DDAA-9553-4CF3-AFFC-973776FA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1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 resources now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 create value over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9228E-D100-4080-87C2-658CE1D7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6C6FC-9824-4399-8AFA-29B1F4DD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576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E2AE9-55D8-43E2-AC02-91A56C3F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639EF-E9FF-4991-8997-CA238F43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576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equipment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F97B9-4F8D-4910-BCE4-78C9EF94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38674-FCE8-421D-9168-1D67A3D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576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31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8B0CA-4539-49BE-84AA-E1203610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667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E6502-7D59-4161-9F80-BA37FCA0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668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FINANCIAL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AC1F6-8DE2-4417-BD7C-6838C3E1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Money moves into or</a:t>
            </a:r>
          </a:p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out of the business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F4907-D230-437C-96E6-7370B82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19500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9B643-1A9D-4650-8914-5777883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576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6B839-A588-47F6-8174-ADE9D8C5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1047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93A19-8E30-4CF9-B315-D91F860B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payroll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86BDF-BB44-4C6E-8647-E0A19EBF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DB5B9-F6D2-4B50-ADB4-9DB65F3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576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debt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69AC7-F071-435C-9096-185E69AD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Check: paying for an expansion—which purpose is emphasized?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85DCC0-9696-4D5C-B889-89177E7F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B8266E-D57D-43C0-8F43-DD884AA6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Some scenarios overlap; explain the purpose you used.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771AEC-C7C2-4449-8127-B0A3BDD4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pp. 6–7 • SBTE 7</a:t>
            </a:r>
          </a:p>
        </p:txBody>
      </p:sp>
    </p:spTree>
    <p:extLst>
      <p:ext uri="{BB962C8B-B14F-4D97-AF65-F5344CB8AC3E}">
        <p14:creationId xmlns:p14="http://schemas.microsoft.com/office/powerpoint/2010/main" val="14107662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0A224-F761-47EE-8037-1F5A997A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FB030-5583-4DF8-8BCC-014FAFD4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SOCIETY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5EFBD-AF42-4F73-9ED9-3C15D184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How businesses contribute to society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0EDA1-FE66-4BA4-A257-D6A539DE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Organize the three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7C050-D7BF-436C-AE91-8D4B6A74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D8B84-B042-4363-BA48-A3A4A3E4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EE937-4553-462C-BB07-42508D03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081AC-EDF6-4C1E-8B2F-281F7FD8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6687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4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1  PROVIDE 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F774F-548F-4CED-A05F-7FB6BB0A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43125"/>
            <a:ext cx="27813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Meet customer needs and wants.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73B35-19EE-4D13-B104-5169F49B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3789D-8A32-4206-B8C8-E395D495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9D1E1-D1EE-431B-9E03-CB54F214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  CREATE MARKETS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F209C-62A4-4C8C-A93B-16F06963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43125"/>
            <a:ext cx="27813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Connect buyers and sellers for particular offerings.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0B568-291D-4AA4-B6BB-0E517A6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D342D-8421-4CBD-93E1-B953FCBA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50B8D-E154-43E7-BD6E-B4177D3D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6687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7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3  INCREASE BENEFITS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F6738-09B7-40FB-BE17-8D7C1DC0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43125"/>
            <a:ext cx="27813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Employment, wages, taxes, goods, and services support economic activity.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09480-E0D7-40C6-8F99-0A3B5562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CBECB-4A94-49F7-83BC-F3642144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Use one fictional local business: show one contribution from each card.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1547D-8EB9-4061-9EE1-0BAF9863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B371D7-F418-41C2-891A-BFFD1F1A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Contribution does not mean every business decision benefits everyone equally.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866EA-DB17-492D-BD90-B46CFECA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pp. 8–9 • SBTE 8</a:t>
            </a:r>
          </a:p>
        </p:txBody>
      </p:sp>
    </p:spTree>
    <p:extLst>
      <p:ext uri="{BB962C8B-B14F-4D97-AF65-F5344CB8AC3E}">
        <p14:creationId xmlns:p14="http://schemas.microsoft.com/office/powerpoint/2010/main" val="12723801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34C05-B78A-48DA-BF8F-0F4CC858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A006E-D5C4-4FC3-929A-D0ABCE65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QUICK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C955A-9A9D-4437-8E17-4385553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Need or want?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7482F-C036-4C03-B8BD-8193AFBB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14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Differentiate two customer motivations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6962F-4D5E-4DCA-8543-3CA90930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DAD3F-6070-4523-9688-9EB6032C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4572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E7CE9-0DC3-4F15-A881-2D83802A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621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ECONOMIC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E1837-7663-44FE-97EF-001BEF0E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Essential to survival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3F754-AECA-44B3-B7A2-CFE48522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290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food • shelter • clothing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69725-1ACB-4984-B4C8-8E729E89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572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D72A2-54CF-4281-967C-58C7E848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621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ECONOMIC WANT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48E16-8D74-49C8-B8EE-D43AE803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Desired, but not essential to survival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C91ED-7BE1-44AF-8C78-466D3006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7662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smartphone • streaming • extras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AC79A-84FC-4310-A64D-42A41268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577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product can feel important and still be a want in the textbook definition.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2E89B-AB3E-4D48-8E21-DAA2676B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B8696-C871-4F67-9FA8-CD382FD9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 the chapter definition; avoid judging students’ circumstances.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58DC8-2CCB-4503-A775-B796FEF4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p. 8</a:t>
            </a:r>
          </a:p>
        </p:txBody>
      </p:sp>
    </p:spTree>
    <p:extLst>
      <p:ext uri="{BB962C8B-B14F-4D97-AF65-F5344CB8AC3E}">
        <p14:creationId xmlns:p14="http://schemas.microsoft.com/office/powerpoint/2010/main" val="18558146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18FC28-830F-48E8-8C91-0856C047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AEB90-E779-4C87-861B-124FD90E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485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CUSTOMER 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C0B8E-813A-4027-AD4D-84CDC059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purpose of marketing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5995B-234E-4F8D-925A-3A874AA5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3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Start with customers, then coordinate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AF3AE-07BF-445C-8021-D1C34FC8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4CA61-4540-48F0-8EFC-0CD3E414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76375"/>
            <a:ext cx="9906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54A7A-6C43-48EF-A456-F22FF35A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66875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DEFINE CUSTOMER WANTS + NEEDS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45417-E7D5-4D9D-95CB-1C96A3E8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288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BCD41-84F0-4A7E-9C77-A4077E02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8763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556A0-9F13-4D33-8BDB-820574A3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385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DELIVER GOODS + SERVICES THAT FULFILL THEM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7F4E5-A3D7-4189-A9AE-571E0802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0005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82F22-4ED5-4746-8C3B-B411B772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7429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0C964-9FE7-4C93-920E-F42F4A9A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625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Use research and evidence—not guessing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145A0-499C-42F3-BA04-623D27AF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CDC41-F6D8-45E7-BBAE-AFA729FB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If marketing misreads customers, production, management, and finance can suffer.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CE606-B69A-4894-8268-B8D913F5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p. 10</a:t>
            </a:r>
          </a:p>
        </p:txBody>
      </p:sp>
    </p:spTree>
    <p:extLst>
      <p:ext uri="{BB962C8B-B14F-4D97-AF65-F5344CB8AC3E}">
        <p14:creationId xmlns:p14="http://schemas.microsoft.com/office/powerpoint/2010/main" val="17140954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E1978-6A0C-460F-B227-A2CC3B50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62A8B-CA6E-4DC6-8378-F48B300B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ACADEMIC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CF509-5A3F-4048-8469-CA6593BF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marketing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884AA-138E-4B3E-AADC-8307D1CF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770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Connect customer needs, goals, and profit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0AEB7-8490-4A68-A4F9-6DB664AF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14/23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058cec4ba4b14"/>
          <a:stretch xmlns:a="http://schemas.openxmlformats.org/drawingml/2006/main"/>
        </p:blipFill>
        <p:spPr>
          <a:xfrm xmlns:a="http://schemas.openxmlformats.org/drawingml/2006/main">
            <a:off x="1476375" y="1298017"/>
            <a:ext cx="5905500" cy="3595216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FDA29-820C-42D0-98A5-07DAFAA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424AD-A886-44B4-B005-EFB3A9F0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95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2FEEC-05D3-4E11-8859-7313771C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668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Academic 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87EE3-1226-476D-92AE-5D7C9015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43125"/>
            <a:ext cx="2876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A method of selling that analyzes customer wants and needs and aims to fulfill them better than competitors.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CCECD-6216-4710-8F23-17686BE7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3333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C5D1F-03AB-4B45-A837-7854F158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62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Point to the element missing from a scenario.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1468D-3CED-4F09-A1DE-E37ECA67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FDD11-4E84-4FD8-B816-9177C0A3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three elements must work together.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54F79-95FD-4BDE-8570-B8A4563D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pp. 10–11 • SBTE 9</a:t>
            </a:r>
          </a:p>
        </p:txBody>
      </p:sp>
    </p:spTree>
    <p:extLst>
      <p:ext uri="{BB962C8B-B14F-4D97-AF65-F5344CB8AC3E}">
        <p14:creationId xmlns:p14="http://schemas.microsoft.com/office/powerpoint/2010/main" val="11014468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C7099-C390-434F-A3E9-ECC0449F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C8FFF-1A68-4689-8D58-25460B79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E9313-FA13-4AE8-B21E-74BF42EC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marketing mix: four coordinated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50FD6-565C-45FE-97BB-8BC2D63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Name the 4 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9060E-5FC9-4D82-9FC6-2BDC6158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2761B-1E6B-478E-8DED-8D644D5E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D2EAF-D095-4DC3-B61B-6418345F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4F458-D3EB-478A-9A14-97A2E1D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1925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80AD3-267A-48DE-8112-C4230B13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95500"/>
            <a:ext cx="4495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What are we offering?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D7B89-DAF9-45CF-AC20-C6A7B216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287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45C9F-AB0D-4E76-AD1F-862C0C2E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28750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252FE-B759-4B53-B165-DF37B340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1925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3B475-DAE7-47B3-A45E-0BEC8D4F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95500"/>
            <a:ext cx="4495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What will customers pay?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6FF27-B6FB-4988-B3D2-31E328C9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661A2-079F-46CF-B39C-E2EA0147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8915F-D29A-4AA4-B39F-34E92196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10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CDACA-E08A-448F-9C1B-CAB86D64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86250"/>
            <a:ext cx="4495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How and where will it reach them?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210DF-AF35-47DF-91E9-1889D1CE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1950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E2837-4B1C-4026-9E7D-4A3EFC0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19500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A6C02-E11A-4F5A-BF05-9BD089AA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10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PROMOTION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A9E7D4-7EBF-4813-8FE2-7C3BDC48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86250"/>
            <a:ext cx="4495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What message will influence awareness/action?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4774DC-899E-4588-9273-329FF6A7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E75E4-A662-47EE-A114-4BFFFA9D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weak P can undermine the whole mix.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97936E-BE04-46E3-B65B-EA73A874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pp. 11–12 • SBTE 10</a:t>
            </a:r>
          </a:p>
        </p:txBody>
      </p:sp>
    </p:spTree>
    <p:extLst>
      <p:ext uri="{BB962C8B-B14F-4D97-AF65-F5344CB8AC3E}">
        <p14:creationId xmlns:p14="http://schemas.microsoft.com/office/powerpoint/2010/main" val="13490741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92D87-468B-4064-B80E-3888CAC5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8AFB8-C62B-48E4-8B1E-11288542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4 Ps • PART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5FA89-E3DE-4DF9-8FC3-57818B68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 + price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A2CF0-A242-4A33-9EC1-84491AEA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85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Apply two Ps to one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0A930-7518-4E1E-8DAE-0F3E4452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39344-98D0-4B26-8340-1F137115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1CBB0-D98F-4B9E-A859-B20A9705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62318-F96E-4757-8537-46CE27EE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28875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Features • components • color • shape • size • intended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D75F1-CB6A-432F-A67E-2039CC48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79B01-271C-47EF-906F-142FFC87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3AB89-BB04-4CB0-BCC6-1BC2A29D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336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Expected payment • customer value • competitor pricing • business costs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EE175-16EE-45C8-84D1-34080EC7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Check: change one feature OR price for a fictional backpack. Explain why.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E1E17-4BC2-41BB-956D-8A7F604A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18407-3CF9-4032-93E8-32CF066A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explanation must connect to a customer need or business constraint.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32EEE-7772-4467-BF4C-0B8F36C1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pp. 11–12</a:t>
            </a:r>
          </a:p>
        </p:txBody>
      </p:sp>
    </p:spTree>
    <p:extLst>
      <p:ext uri="{BB962C8B-B14F-4D97-AF65-F5344CB8AC3E}">
        <p14:creationId xmlns:p14="http://schemas.microsoft.com/office/powerpoint/2010/main" val="3083791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5C4BA-E80B-482E-8ADD-8D3FCBB7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BF890-3D14-4F43-AFCB-7A23C4E0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4 Ps • 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356E7-537D-48E6-B5AC-035265EF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Place + promotion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960FC-251D-461D-ACF6-80536CD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Apply the other two 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BE07D-A512-4EE1-8514-601C0218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B6A9B-0F63-4208-8676-2D37A5FF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52CEC-556B-4B13-9DC8-768A45A6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PLACE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37A03-3DD7-4CDB-9E3C-F3B40ACD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28875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Path to end-user • channels • where/when/how customers buy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2D5E9-CA80-40D4-B213-155602F3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CD22C-F718-47A1-8332-A23A66DD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PROMOTION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B030C-B2E7-4D21-94AB-26BFA49A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Messages • advertising • sales • personal selling • awareness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B3083-D877-4173-8E1B-6F8492B8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Check: Which P solves late delivery? Which P changes the message?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64B11-B262-469F-90CE-35F2BFFC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544AE-BF95-4350-83AD-B0164C68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Place is distribution—not only a physical location.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890C7-DF1F-4799-83B9-78BD52DA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p. 12</a:t>
            </a:r>
          </a:p>
        </p:txBody>
      </p:sp>
    </p:spTree>
    <p:extLst>
      <p:ext uri="{BB962C8B-B14F-4D97-AF65-F5344CB8AC3E}">
        <p14:creationId xmlns:p14="http://schemas.microsoft.com/office/powerpoint/2010/main" val="619536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AAE4DB-C11F-4505-9D45-FCD43559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F5D79-EB11-4C5B-A5A7-7DB4B868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OVERVIEW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CEC63-3F3C-4805-B6E2-F4FDE44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Seven marketing functions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A10C7-283F-4F0B-A306-B9569B12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97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See the system before the details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8349C-D6DF-43D9-9A93-72468660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5F3B0-FE3E-4B26-85E5-B773E5E1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B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5A988-A3E0-4A0A-AC0B-7722B317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10341-4F4B-4FF2-ABD4-F9876816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001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6B216-29FE-456B-92AE-DFF2C590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move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0A6BF-2D47-4213-987E-27C15F79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8509A-B88E-4286-B25D-80B4180A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08DBC-BE6B-4FDD-8A2D-11503B93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4001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77C51-61F5-497C-A504-AD49972B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gather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52234-3633-41CC-A803-657E8DCA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33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C14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6965F-A2A6-487D-B389-DB5B0B21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33500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D8F0B-1DC4-494D-BD3E-FBE17B12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4001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E4188-9657-4C82-9DF4-2EF06335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coordinate + fund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1A5DF-1AA5-4956-A917-62213A92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33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1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90750-FFF3-4D9C-B2D8-BDEBB06E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33500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128D3-85B4-4B59-B46E-7E73BAFA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4001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728F0-EC6C-4F3D-A839-C35A50C8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set value/payment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6D6A0-9C05-4609-A8EB-75909C1C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86125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7A5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A55924-A0A1-4A2D-9DE8-0D2DABC3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86125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7A5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332D9-7E23-4C42-B77D-9BD985FE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528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PRODUCT/SERVICE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A7D54F-D394-455A-9F64-1AFBAB3C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design solutions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19094-872E-4E0C-971D-D03EDD93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B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0A24C2-4E24-43D4-8C98-CBE6CA50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893A1-EE2F-4010-B683-6F06AB55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528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PROMOTION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C54F0-07BB-4863-97D5-5C9912A3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send messages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D0DB59-4E26-45D9-81BB-9834F28A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65CA5-1B87-4C86-9338-719467D0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462894-AEE6-4117-8AAF-DC395B53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E7F77E-2899-4D36-9989-2D2C9A50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complete the exchange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E60D4A-E42A-4E13-818F-6B06156C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A08B33-670E-474A-84DB-C6ACB050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 each function as an action serving the marketing concept.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8998D3-D054-4EE5-B405-25A2A42B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pp. 13–15 • SBTE 11</a:t>
            </a:r>
          </a:p>
        </p:txBody>
      </p:sp>
    </p:spTree>
    <p:extLst>
      <p:ext uri="{BB962C8B-B14F-4D97-AF65-F5344CB8AC3E}">
        <p14:creationId xmlns:p14="http://schemas.microsoft.com/office/powerpoint/2010/main" val="6186804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5A8BE-F5D8-4EFF-8321-429D2C8C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24FCF-9D57-47BA-A160-FCFF6350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DETAIL SET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42DF1-BD76-4EDB-991D-D3972FF4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Functions 1–3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92E08-AB8C-4E76-B7B8-03312E8F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15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Distribution • evidence • coordination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A28B8-0016-49A8-9639-6709F1BF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7EDBF-2B3D-4B61-A22D-D6EDB47F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A0454-8F9D-4A59-B26B-66250449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9525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D1AB1-636E-4FDA-A4A8-F075E3DA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668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56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CHANNEL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32140-1563-4CB2-B1A8-892F6FF2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Decide how, when, and where products travel from producer to customer.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33FF8-5056-48DA-8F45-A6BB2F4D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1AC11-A643-4FDB-A4A9-B0EE52C7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9525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A4E65-AD26-44D3-AF01-F49CAECF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668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MARKETING INFORMATION 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F189A-2759-4BB0-B551-A7318FAF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43125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Gather qualitative and quantitative data; identify customer needs, preferences, competitors, and target market.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B8296-7282-4A29-827C-016F53CF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E1A8B-AC4B-4400-BD17-E5AD7CA7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9525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C791D-106A-44C0-9F66-815D2470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668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MARKETING PLANNING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06E1D-30A4-4B55-93E5-4596B6BB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43125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Coordinate goals, actions, resources, and funding for marketing work.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A31F9-EC06-4C2F-8AA4-1B845D21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8763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59A1C-95D6-447B-ABE1-9587956D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625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Use one verb: distribute • research • coordinate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BDE23-88A2-4862-A6EA-965E0C76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46FFC-F566-485E-AD41-0A28C4B1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 market = the specific group a business focuses on selling 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14E46-FC5E-4FD0-9836-A01BBB09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pp. 13–14 • SBTE 12</a:t>
            </a:r>
          </a:p>
        </p:txBody>
      </p:sp>
    </p:spTree>
    <p:extLst>
      <p:ext uri="{BB962C8B-B14F-4D97-AF65-F5344CB8AC3E}">
        <p14:creationId xmlns:p14="http://schemas.microsoft.com/office/powerpoint/2010/main" val="6604902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6BD49-A478-497E-818E-05471E10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906AB-3DB6-4205-8A25-586C4EC9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DETAIL SET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5F34E-E3DD-4734-BE06-46BE2063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Functions 4–7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87654-F3E1-47CA-B262-927B6ADF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1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Price • design • message • exchange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F02C9-3054-4562-B1EF-B0912BC7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F49CD-E84B-46CC-9BEB-EB19852E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AAA47-4ADC-4DFF-AFEA-82CED5DA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9525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67949-78CD-4FF0-93BC-D50FD554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0FA88-7F88-449F-9CFC-1B514C00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209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Align price with customers, costs, competitors, and market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EF8E7-D460-4209-949B-A9DC59AC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F4555-C5BA-44EB-A006-98641CA1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9525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7A5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1C4CC-9431-4CE7-9F2A-CF209FF0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192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PRODUCT + SERVICE 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7D3AE-6776-4DB0-B627-995B55B7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95500"/>
            <a:ext cx="2209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Design or improve features that solve customer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E0E54-D764-4A88-AB64-F85CF2AA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E5978-A0A2-40CA-82BC-F16F9CE3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9525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26BC9-A033-426E-8A19-7366810B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PROMOTION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9D7E5-753B-456F-9FE8-6C0D82F3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2209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Create messages that influence awareness and purchases.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EA1AA-27A1-4956-864D-8F8AE1C2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36248-4B46-4A71-B8ED-1D3585EC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9525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97928-C7C1-47DD-8AC6-D656D4DD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192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SELLING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29A86-C13D-4962-A30D-414DF69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95500"/>
            <a:ext cx="2209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Align the functions to complete the exchange with the target customer.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0185A-3B63-4F74-AC21-31FCC123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8572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F82087-E102-4922-B249-852BFD3E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101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Use one verb: price • design • communicate • exchange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30C36-E3E3-4174-A2E3-1CE61E5E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5F8A3-0D09-4301-AFB4-6EFAEA26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Each function supports customer needs, company goals, and profits.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0E5D5-01A6-4E4D-87D0-E88DD9B5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TEXTBOOK pp. 14–15 • SBTE 13</a:t>
            </a:r>
          </a:p>
        </p:txBody>
      </p:sp>
    </p:spTree>
    <p:extLst>
      <p:ext uri="{BB962C8B-B14F-4D97-AF65-F5344CB8AC3E}">
        <p14:creationId xmlns:p14="http://schemas.microsoft.com/office/powerpoint/2010/main" val="1850307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451DAA-C807-40D0-966E-6A15CC7A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56CCB-A5FB-478B-B53F-8304D217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CUMULATIVE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EA90B-DFAD-4628-A1D3-ED03CDB7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Chapter 1 retrieval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670B9-1FBF-4999-9B6B-1A8FC444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744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Use the same concepts before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F22B4-88FF-4896-8C7F-74BE5B9A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21/23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0E0F9-3169-4DE4-8503-5204AA43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B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806AA-2264-4501-A4A3-90B879CC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3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7EAB8-C804-49CA-B4EC-43214657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295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F54CE-6346-4EBC-AA8C-35A4F361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Classify: good / service / idea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CFF3B-20F8-4D12-ACE1-BEAC2264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F3DCC-DD9C-4B26-909F-9C5BF9AC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24000"/>
            <a:ext cx="523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DBB45-B7D5-492B-A3C4-FD80F677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562100"/>
            <a:ext cx="295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0C5BE-D6DA-4FBE-B5CF-2E6AB2F9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19250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Explain: operational / investing / financial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B7D3F-82F7-4772-9EAD-4F5D344E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33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C14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198D3-19C7-47F9-93ED-FA528612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523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FAD14-5D96-4E84-863C-1CBE6C8D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62100"/>
            <a:ext cx="295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96C35-F341-4053-852B-39F3751D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Apply: customer needs + goals + profits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E9E3F-CB09-4E13-AFAF-1160A29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1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1CE9C-A10D-43C0-8B70-3D2946BD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523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520A1-523C-4CBB-B769-C88350C4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295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713EB-5A90-4110-8CA5-C97B06AA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Build: product / price / place / promotion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3CA64-CD54-46F0-AC08-2E42695B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7A5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5E199-8CBD-416D-96F1-368F64F8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14750"/>
            <a:ext cx="523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7A5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305790-36D8-4FFA-AC6A-5A3EF18B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752850"/>
            <a:ext cx="295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60B153-E746-46DE-A221-5BE29481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0000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Choose: one of seven functions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28BC37-FA54-42B1-8AF8-CFC4EF64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2A4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27B6CE-E273-46DE-B837-B0920BE0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523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17946B-73A9-4A4F-8C0A-3A80F25E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52850"/>
            <a:ext cx="295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3B146-5DA5-4C87-887B-F4F57BC1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Support: cite the textbook page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DF3915-600C-46F9-9E25-2063322A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49DD47-593C-458A-AE7F-EB3794D8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Words, brief explanations, or diagrams are allowed; academic meaning must stay accurate.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1EBCB3-D53B-44FB-823C-081FBF8A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SBTE 14 • CHAPTER REVIEW</a:t>
            </a:r>
          </a:p>
        </p:txBody>
      </p:sp>
    </p:spTree>
    <p:extLst>
      <p:ext uri="{BB962C8B-B14F-4D97-AF65-F5344CB8AC3E}">
        <p14:creationId xmlns:p14="http://schemas.microsoft.com/office/powerpoint/2010/main" val="7219089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72E0A-7543-41CE-B2D4-FAB8B20B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586E2-F5C8-4B53-9A8C-9BB0BEB9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CATCH-UP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4BD58-C57E-4823-9774-1A488FC3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Where we are / what you need / what to do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77A1E-E916-4F93-A5E5-62AE170B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15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Re-enter without stopping the class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054F-10BA-4A15-8337-7ECFD901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22/23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90B3C-1AB9-4962-ADF5-18824B94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5786B-4909-43B0-A985-1383E485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9525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776F8-B2B0-4A96-99E7-F5D36CCA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668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WHERE WE 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2BD7B-C493-42BB-9AF6-F6C177D7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43125"/>
            <a:ext cx="28765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Block: ____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Page/heading: ____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Slide: 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3FF45-2644-4579-BBAA-4F9F0E3D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88F5E-B6E9-4982-A081-10DCDDD4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9525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68AF0-739B-449E-ACB8-DE7F25EC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668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WHAT YOU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B2FCC-0C1E-4B5F-AEE9-4C74FD19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43125"/>
            <a:ext cx="28765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Textbook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Chapter 1 notes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Terms to Know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Chapter #1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D267A-B5B4-4FA2-ACB7-FCD81556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7637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F6689-0D41-4A79-9C2D-66DD1A0D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76375"/>
            <a:ext cx="9525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FFB98-49C7-4792-8AC8-20239BBB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6668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WHAT TO DO NEXT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0E26B-D24F-4CCA-9DD6-87B7B9A1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43125"/>
            <a:ext cx="28765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1 Open the page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2 Check your last heading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3 Complete the next marked item</a:t>
            </a:r>
          </a:p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4 Rejoin at JOIN 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6AEAE-F175-4DF2-8FBD-426452C4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50F1F-51BF-4F71-B934-CD561DFE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4825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Ask for help with the exact page or sentence—not “What did I miss?”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6BF11-CD99-46DC-B46A-9CE6A59F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E5065-779D-451F-88D3-309A856C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Update separately for Block 1 and Block 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F72A0-5D12-43AD-BE9A-DE71C90B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DAILY USE</a:t>
            </a:r>
          </a:p>
        </p:txBody>
      </p:sp>
    </p:spTree>
    <p:extLst>
      <p:ext uri="{BB962C8B-B14F-4D97-AF65-F5344CB8AC3E}">
        <p14:creationId xmlns:p14="http://schemas.microsoft.com/office/powerpoint/2010/main" val="17438492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6FD75-B306-43C7-BB31-2F66CB16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43400-ABEB-40A9-A76C-4247EB9E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TEACHER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B58F4-BCE2-4B01-9CD2-98E24D1A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Matched comparison: keep learning constant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8D1A6-5076-43D0-BFD4-703FF2A8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9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Reflect on access—not decoration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F252E-D7C5-4884-8BEC-A3F62A8F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23/23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97332-4D7A-4C6F-979B-EA9AE871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6D413-2CA9-4C4B-AD69-B6CFAA80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95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8661D-5068-41F5-9D68-0F0999C1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KEEP THE SAME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736C4-747F-4E71-A562-45CA8064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4305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Concept • reading • time • vocabulary • check • expectations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E2475-2BFC-4FE6-925B-9A15C413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AEC84-F545-4626-AA35-A67FF9CE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95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58D16-A6FA-45E3-8096-FABB3744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CHANGE THE ACCESS 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2F50A-F987-44EB-95CB-9FE2A0A6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305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Relatable example • prediction • visual organization • response choices • page cues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F8680-0799-43B8-800F-64A999E4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24375"/>
            <a:ext cx="895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94F45-9FB6-4B74-9982-23DCBABE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14875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8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Observe: start time • response rate • clarifications • reading progress • vocabulary accuracy • exit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5D627-6832-4EB3-8AF3-A47DEE2B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17DB6-DC3E-4C56-9854-4883DB31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 not collect personally identifiable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A95C3-600A-471B-B676-8411FD42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READY FOR CLASSROOM TEST</a:t>
            </a:r>
          </a:p>
        </p:txBody>
      </p:sp>
    </p:spTree>
    <p:extLst>
      <p:ext uri="{BB962C8B-B14F-4D97-AF65-F5344CB8AC3E}">
        <p14:creationId xmlns:p14="http://schemas.microsoft.com/office/powerpoint/2010/main" val="70706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2026-09-17T15:20:25.0210000Z</dcterms:created>
  <dcterms:modified xsi:type="dcterms:W3CDTF">2026-09-17T15:20:25.0210000Z</dcterms:modified>
</coreProperties>
</file>