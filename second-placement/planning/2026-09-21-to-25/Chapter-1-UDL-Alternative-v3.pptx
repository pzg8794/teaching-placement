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ccf0bfc344443" /><Relationship Type="http://schemas.openxmlformats.org/officeDocument/2006/relationships/extended-properties" Target="/docProps/app.xml" Id="R1a7ba8807ab64f53" /><Relationship Type="http://schemas.openxmlformats.org/officeDocument/2006/relationships/officeDocument" Target="/ppt/presentation.xml" Id="R28f19b777486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4a2b6666994005"/>
  </p:sldMasterIdLst>
  <p:notesMasterIdLst>
    <p:notesMasterId xmlns:r="http://schemas.openxmlformats.org/officeDocument/2006/relationships" r:id="Rf72aabba17cf4640"/>
  </p:notesMasterIdLst>
  <p:sldIdLst>
    <p:sldId xmlns:r="http://schemas.openxmlformats.org/officeDocument/2006/relationships" id="256" r:id="Rb94c661a2abb4c48"/>
    <p:sldId xmlns:r="http://schemas.openxmlformats.org/officeDocument/2006/relationships" id="257" r:id="Re388ccfbc8db4e18"/>
    <p:sldId xmlns:r="http://schemas.openxmlformats.org/officeDocument/2006/relationships" id="258" r:id="R3152be7b65f2475b"/>
    <p:sldId xmlns:r="http://schemas.openxmlformats.org/officeDocument/2006/relationships" id="259" r:id="Rd6a3e9fb8ca346bb"/>
    <p:sldId xmlns:r="http://schemas.openxmlformats.org/officeDocument/2006/relationships" id="260" r:id="R0a68f679b63540dc"/>
    <p:sldId xmlns:r="http://schemas.openxmlformats.org/officeDocument/2006/relationships" id="261" r:id="R0e1e28b57ca644f1"/>
    <p:sldId xmlns:r="http://schemas.openxmlformats.org/officeDocument/2006/relationships" id="262" r:id="R8548b9b1fa1047d1"/>
    <p:sldId xmlns:r="http://schemas.openxmlformats.org/officeDocument/2006/relationships" id="263" r:id="R98f2ee68f48c4487"/>
    <p:sldId xmlns:r="http://schemas.openxmlformats.org/officeDocument/2006/relationships" id="264" r:id="Rfdc6910fa5204768"/>
    <p:sldId xmlns:r="http://schemas.openxmlformats.org/officeDocument/2006/relationships" id="265" r:id="Rb5f6d29e41c445d2"/>
    <p:sldId xmlns:r="http://schemas.openxmlformats.org/officeDocument/2006/relationships" id="266" r:id="Rbd3d2d457b5648cf"/>
    <p:sldId xmlns:r="http://schemas.openxmlformats.org/officeDocument/2006/relationships" id="267" r:id="R29a581e81a0e4327"/>
    <p:sldId xmlns:r="http://schemas.openxmlformats.org/officeDocument/2006/relationships" id="268" r:id="Rdb49897e87074a77"/>
    <p:sldId xmlns:r="http://schemas.openxmlformats.org/officeDocument/2006/relationships" id="269" r:id="R065bfdc8dbb349b1"/>
    <p:sldId xmlns:r="http://schemas.openxmlformats.org/officeDocument/2006/relationships" id="270" r:id="R931abff5f1754346"/>
    <p:sldId xmlns:r="http://schemas.openxmlformats.org/officeDocument/2006/relationships" id="271" r:id="Rdadaefb6a82f4a70"/>
    <p:sldId xmlns:r="http://schemas.openxmlformats.org/officeDocument/2006/relationships" id="272" r:id="R603edfc2423149bc"/>
    <p:sldId xmlns:r="http://schemas.openxmlformats.org/officeDocument/2006/relationships" id="273" r:id="R4d61ea59b611479e"/>
    <p:sldId xmlns:r="http://schemas.openxmlformats.org/officeDocument/2006/relationships" id="274" r:id="R7a470d7d49cf4bc2"/>
    <p:sldId xmlns:r="http://schemas.openxmlformats.org/officeDocument/2006/relationships" id="275" r:id="R8407b4b3bf014988"/>
    <p:sldId xmlns:r="http://schemas.openxmlformats.org/officeDocument/2006/relationships" id="276" r:id="R9941823c9e8c44d9"/>
    <p:sldId xmlns:r="http://schemas.openxmlformats.org/officeDocument/2006/relationships" id="277" r:id="R507af460efa44365"/>
    <p:sldId xmlns:r="http://schemas.openxmlformats.org/officeDocument/2006/relationships" id="278" r:id="R29c09c73c5d34243"/>
    <p:sldId xmlns:r="http://schemas.openxmlformats.org/officeDocument/2006/relationships" id="279" r:id="Rc2485e0a45004725"/>
    <p:sldId xmlns:r="http://schemas.openxmlformats.org/officeDocument/2006/relationships" id="280" r:id="Ra579d49f28dd4a66"/>
    <p:sldId xmlns:r="http://schemas.openxmlformats.org/officeDocument/2006/relationships" id="281" r:id="R0a1348b8627245da"/>
    <p:sldId xmlns:r="http://schemas.openxmlformats.org/officeDocument/2006/relationships" id="282" r:id="R39c23731f0664462"/>
    <p:sldId xmlns:r="http://schemas.openxmlformats.org/officeDocument/2006/relationships" id="283" r:id="Rf11497fb54a54855"/>
    <p:sldId xmlns:r="http://schemas.openxmlformats.org/officeDocument/2006/relationships" id="284" r:id="R75e26f0ddd4e41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98939605b4fa4" /><Relationship Type="http://schemas.openxmlformats.org/officeDocument/2006/relationships/slideMaster" Target="/ppt/slideMasters/slideMaster1.xml" Id="Re64a2b6666994005" /><Relationship Type="http://schemas.openxmlformats.org/officeDocument/2006/relationships/notesMaster" Target="/ppt/notesMasters/notesMaster1.xml" Id="Rf72aabba17cf4640" /><Relationship Type="http://schemas.openxmlformats.org/officeDocument/2006/relationships/presProps" Target="/ppt/presProps.xml" Id="R0f96c514798e46c1" /><Relationship Type="http://schemas.openxmlformats.org/officeDocument/2006/relationships/tableStyles" Target="/ppt/tableStyles.xml" Id="R833d10fc4c8d489e" /><Relationship Type="http://schemas.openxmlformats.org/officeDocument/2006/relationships/slide" Target="/ppt/slides/slide1.xml" Id="Rb94c661a2abb4c48" /><Relationship Type="http://schemas.openxmlformats.org/officeDocument/2006/relationships/slide" Target="/ppt/slides/slide2.xml" Id="Re388ccfbc8db4e18" /><Relationship Type="http://schemas.openxmlformats.org/officeDocument/2006/relationships/slide" Target="/ppt/slides/slide3.xml" Id="R3152be7b65f2475b" /><Relationship Type="http://schemas.openxmlformats.org/officeDocument/2006/relationships/slide" Target="/ppt/slides/slide4.xml" Id="Rd6a3e9fb8ca346bb" /><Relationship Type="http://schemas.openxmlformats.org/officeDocument/2006/relationships/slide" Target="/ppt/slides/slide5.xml" Id="R0a68f679b63540dc" /><Relationship Type="http://schemas.openxmlformats.org/officeDocument/2006/relationships/slide" Target="/ppt/slides/slide6.xml" Id="R0e1e28b57ca644f1" /><Relationship Type="http://schemas.openxmlformats.org/officeDocument/2006/relationships/slide" Target="/ppt/slides/slide7.xml" Id="R8548b9b1fa1047d1" /><Relationship Type="http://schemas.openxmlformats.org/officeDocument/2006/relationships/slide" Target="/ppt/slides/slide8.xml" Id="R98f2ee68f48c4487" /><Relationship Type="http://schemas.openxmlformats.org/officeDocument/2006/relationships/slide" Target="/ppt/slides/slide9.xml" Id="Rfdc6910fa5204768" /><Relationship Type="http://schemas.openxmlformats.org/officeDocument/2006/relationships/slide" Target="/ppt/slides/slide10.xml" Id="Rb5f6d29e41c445d2" /><Relationship Type="http://schemas.openxmlformats.org/officeDocument/2006/relationships/slide" Target="/ppt/slides/slide11.xml" Id="Rbd3d2d457b5648cf" /><Relationship Type="http://schemas.openxmlformats.org/officeDocument/2006/relationships/slide" Target="/ppt/slides/slide12.xml" Id="R29a581e81a0e4327" /><Relationship Type="http://schemas.openxmlformats.org/officeDocument/2006/relationships/slide" Target="/ppt/slides/slide13.xml" Id="Rdb49897e87074a77" /><Relationship Type="http://schemas.openxmlformats.org/officeDocument/2006/relationships/slide" Target="/ppt/slides/slide14.xml" Id="R065bfdc8dbb349b1" /><Relationship Type="http://schemas.openxmlformats.org/officeDocument/2006/relationships/slide" Target="/ppt/slides/slide15.xml" Id="R931abff5f1754346" /><Relationship Type="http://schemas.openxmlformats.org/officeDocument/2006/relationships/slide" Target="/ppt/slides/slide16.xml" Id="Rdadaefb6a82f4a70" /><Relationship Type="http://schemas.openxmlformats.org/officeDocument/2006/relationships/slide" Target="/ppt/slides/slide17.xml" Id="R603edfc2423149bc" /><Relationship Type="http://schemas.openxmlformats.org/officeDocument/2006/relationships/slide" Target="/ppt/slides/slide18.xml" Id="R4d61ea59b611479e" /><Relationship Type="http://schemas.openxmlformats.org/officeDocument/2006/relationships/slide" Target="/ppt/slides/slide19.xml" Id="R7a470d7d49cf4bc2" /><Relationship Type="http://schemas.openxmlformats.org/officeDocument/2006/relationships/slide" Target="/ppt/slides/slide20.xml" Id="R8407b4b3bf014988" /><Relationship Type="http://schemas.openxmlformats.org/officeDocument/2006/relationships/slide" Target="/ppt/slides/slide21.xml" Id="R9941823c9e8c44d9" /><Relationship Type="http://schemas.openxmlformats.org/officeDocument/2006/relationships/slide" Target="/ppt/slides/slide22.xml" Id="R507af460efa44365" /><Relationship Type="http://schemas.openxmlformats.org/officeDocument/2006/relationships/slide" Target="/ppt/slides/slide23.xml" Id="R29c09c73c5d34243" /><Relationship Type="http://schemas.openxmlformats.org/officeDocument/2006/relationships/slide" Target="/ppt/slides/slide24.xml" Id="Rc2485e0a45004725" /><Relationship Type="http://schemas.openxmlformats.org/officeDocument/2006/relationships/slide" Target="/ppt/slides/slide25.xml" Id="Ra579d49f28dd4a66" /><Relationship Type="http://schemas.openxmlformats.org/officeDocument/2006/relationships/slide" Target="/ppt/slides/slide26.xml" Id="R0a1348b8627245da" /><Relationship Type="http://schemas.openxmlformats.org/officeDocument/2006/relationships/slide" Target="/ppt/slides/slide27.xml" Id="R39c23731f0664462" /><Relationship Type="http://schemas.openxmlformats.org/officeDocument/2006/relationships/slide" Target="/ppt/slides/slide28.xml" Id="Rf11497fb54a54855" /><Relationship Type="http://schemas.openxmlformats.org/officeDocument/2006/relationships/slide" Target="/ppt/slides/slide29.xml" Id="R75e26f0ddd4e41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2c1309f9c244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9f66329ec43bd" /><Relationship Type="http://schemas.openxmlformats.org/officeDocument/2006/relationships/notesMaster" Target="/ppt/notesMasters/notesMaster1.xml" Id="R57ad256cdf20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9322b8beb426d" /><Relationship Type="http://schemas.openxmlformats.org/officeDocument/2006/relationships/notesMaster" Target="/ppt/notesMasters/notesMaster1.xml" Id="R5f678d4661ef4a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5cc5a9f5a4e14" /><Relationship Type="http://schemas.openxmlformats.org/officeDocument/2006/relationships/notesMaster" Target="/ppt/notesMasters/notesMaster1.xml" Id="Rdb3737a748624e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2bd67bf234d47" /><Relationship Type="http://schemas.openxmlformats.org/officeDocument/2006/relationships/notesMaster" Target="/ppt/notesMasters/notesMaster1.xml" Id="R94ae9e4522c1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28cca258484a64" /><Relationship Type="http://schemas.openxmlformats.org/officeDocument/2006/relationships/notesMaster" Target="/ppt/notesMasters/notesMaster1.xml" Id="R6ca0b9c3b183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5bcea660b42d0" /><Relationship Type="http://schemas.openxmlformats.org/officeDocument/2006/relationships/notesMaster" Target="/ppt/notesMasters/notesMaster1.xml" Id="R694d0949090d44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1f08984f4444f" /><Relationship Type="http://schemas.openxmlformats.org/officeDocument/2006/relationships/notesMaster" Target="/ppt/notesMasters/notesMaster1.xml" Id="Re711c11ede9a4e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8a00e1110d4f71" /><Relationship Type="http://schemas.openxmlformats.org/officeDocument/2006/relationships/notesMaster" Target="/ppt/notesMasters/notesMaster1.xml" Id="Rd1be05c3d93342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28ea08777414c" /><Relationship Type="http://schemas.openxmlformats.org/officeDocument/2006/relationships/notesMaster" Target="/ppt/notesMasters/notesMaster1.xml" Id="R79ee94d550bd42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a0fcb266144d6f" /><Relationship Type="http://schemas.openxmlformats.org/officeDocument/2006/relationships/notesMaster" Target="/ppt/notesMasters/notesMaster1.xml" Id="R7212d82ccbbf48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4dfb8c40d14ca7" /><Relationship Type="http://schemas.openxmlformats.org/officeDocument/2006/relationships/notesMaster" Target="/ppt/notesMasters/notesMaster1.xml" Id="R9e5a8be344734d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6a93c535184395" /><Relationship Type="http://schemas.openxmlformats.org/officeDocument/2006/relationships/notesMaster" Target="/ppt/notesMasters/notesMaster1.xml" Id="R0c8540e430e641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a46f488ed64624" /><Relationship Type="http://schemas.openxmlformats.org/officeDocument/2006/relationships/notesMaster" Target="/ppt/notesMasters/notesMaster1.xml" Id="R631abf6409ab4b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3bac49472d43ec" /><Relationship Type="http://schemas.openxmlformats.org/officeDocument/2006/relationships/notesMaster" Target="/ppt/notesMasters/notesMaster1.xml" Id="Rd55a58cfb9a148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d13ea69aff4c49" /><Relationship Type="http://schemas.openxmlformats.org/officeDocument/2006/relationships/notesMaster" Target="/ppt/notesMasters/notesMaster1.xml" Id="R6eda74fb955d44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bfb10f853448a4" /><Relationship Type="http://schemas.openxmlformats.org/officeDocument/2006/relationships/notesMaster" Target="/ppt/notesMasters/notesMaster1.xml" Id="R7c3be197243c45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612216b72b4ea0" /><Relationship Type="http://schemas.openxmlformats.org/officeDocument/2006/relationships/notesMaster" Target="/ppt/notesMasters/notesMaster1.xml" Id="Rf50318ef067d4e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bf5d93ed3c4f3f" /><Relationship Type="http://schemas.openxmlformats.org/officeDocument/2006/relationships/notesMaster" Target="/ppt/notesMasters/notesMaster1.xml" Id="Rcb27a27a9d7a48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e15ec15d094891" /><Relationship Type="http://schemas.openxmlformats.org/officeDocument/2006/relationships/notesMaster" Target="/ppt/notesMasters/notesMaster1.xml" Id="Rc5e5f4c0ce204d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a22f8f1aa84fd5" /><Relationship Type="http://schemas.openxmlformats.org/officeDocument/2006/relationships/notesMaster" Target="/ppt/notesMasters/notesMaster1.xml" Id="R5aa0ed13ec3c4e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0e7518b5fa481a" /><Relationship Type="http://schemas.openxmlformats.org/officeDocument/2006/relationships/notesMaster" Target="/ppt/notesMasters/notesMaster1.xml" Id="Rdc09de6ec29d40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71883192c04e9f" /><Relationship Type="http://schemas.openxmlformats.org/officeDocument/2006/relationships/notesMaster" Target="/ppt/notesMasters/notesMaster1.xml" Id="R29af7cc3c47144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9f7ac9ba134f39" /><Relationship Type="http://schemas.openxmlformats.org/officeDocument/2006/relationships/notesMaster" Target="/ppt/notesMasters/notesMaster1.xml" Id="Rd805ad11c66c46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0fef9aebc04fd2" /><Relationship Type="http://schemas.openxmlformats.org/officeDocument/2006/relationships/notesMaster" Target="/ppt/notesMasters/notesMaster1.xml" Id="R69c06066a5a54c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49c52d3c164e61" /><Relationship Type="http://schemas.openxmlformats.org/officeDocument/2006/relationships/notesMaster" Target="/ppt/notesMasters/notesMaster1.xml" Id="Rfb6d8f12044949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83905928be54042" /><Relationship Type="http://schemas.openxmlformats.org/officeDocument/2006/relationships/notesMaster" Target="/ppt/notesMasters/notesMaster1.xml" Id="R3b5e69c4c53646c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d5b9fd1ea1449b" /><Relationship Type="http://schemas.openxmlformats.org/officeDocument/2006/relationships/notesMaster" Target="/ppt/notesMasters/notesMaster1.xml" Id="Rca61ef01ad2f40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debeabbcf7408f" /><Relationship Type="http://schemas.openxmlformats.org/officeDocument/2006/relationships/notesMaster" Target="/ppt/notesMasters/notesMaster1.xml" Id="Rc39c93b426894c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f2855d095ad4438" /><Relationship Type="http://schemas.openxmlformats.org/officeDocument/2006/relationships/notesMaster" Target="/ppt/notesMasters/notesMaster1.xml" Id="Rb71af1f1fb9a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3 · SBTE 2–3; original SBTE deck remains content authority.</a:t>
            </a:r>
          </a:p>
          <a:p xmlns:a="http://schemas.openxmlformats.org/drawingml/2006/main">
            <a:r>
              <a:t>PITER SAYS: “Look at the picture. A hoodie, a shop, and your choices” Pause 10 seconds. Then connect one noticed detail to CHAPTER 1 LEARNING TARGETS. Read and explain the academic language.</a:t>
            </a:r>
          </a:p>
          <a:p xmlns:a="http://schemas.openxmlformats.org/drawingml/2006/main">
            <a:r>
              <a:t>CHECK: Which choice could make this product work better?</a:t>
            </a:r>
          </a:p>
          <a:p xmlns:a="http://schemas.openxmlformats.org/drawingml/2006/main">
            <a:r>
              <a:t>EXPECTED: Any supported customer-oriented choice. Invite a fictional example instead of asking students about their own purchases.</a:t>
            </a:r>
          </a:p>
          <a:p xmlns:a="http://schemas.openxmlformats.org/drawingml/2006/main">
            <a:r>
              <a:t>MISCONCEPTION / SOURCE DETAIL: Teacher guide to the full chapter. Use only the current section’s chunk; never present all slides in one lesson. Discussion prompts from SBTE 2 remain in notes: How might marketing affect a fictional purchase? What work do marketers do? How does marketing affect society? How are wants and needs considered?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Teacher guide to the full chapter. Use only the current section’s chunk; never present all slides in one lesson. Discussion prompts from SBTE 2 remain in notes: How might marketing affect a fictional purchase? What work do marketers do? How does marketing affect society? How are wants and needs considered?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What does the business actually do?” Pause 10 seconds. Then connect one noticed detail to BUSINESS. Read and explain the academic language.</a:t>
            </a:r>
          </a:p>
          <a:p xmlns:a="http://schemas.openxmlformats.org/drawingml/2006/main">
            <a:r>
              <a:t>CHECK: Point to a good or paid service a shop could offer.</a:t>
            </a:r>
          </a:p>
          <a:p xmlns:a="http://schemas.openxmlformats.org/drawingml/2006/main">
            <a:r>
              <a:t>EXPECTED: Food is a good; paid repair is a service. Both can be products.</a:t>
            </a:r>
          </a:p>
          <a:p xmlns:a="http://schemas.openxmlformats.org/drawingml/2006/main">
            <a:r>
              <a:t>MISCONCEPTION / SOURCE DETAIL: Business also means a particular company or organization; source examples include Amazon and Walmart.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Business also means a particular company or organization; source examples include Amazon and Walmart.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How would customers find it?” Pause 10 seconds. Then connect one noticed detail to MARKETING. Read and explain the academic language.</a:t>
            </a:r>
          </a:p>
          <a:p xmlns:a="http://schemas.openxmlformats.org/drawingml/2006/main">
            <a:r>
              <a:t>CHECK: Name one marketing task beyond advertising.</a:t>
            </a:r>
          </a:p>
          <a:p xmlns:a="http://schemas.openxmlformats.org/drawingml/2006/main">
            <a:r>
              <a:t>EXPECTED: Selling or distribution.</a:t>
            </a:r>
          </a:p>
          <a:p xmlns:a="http://schemas.openxmlformats.org/drawingml/2006/main">
            <a:r>
              <a:t>MISCONCEPTION / SOURCE DETAIL: Describe the pickup scene; contrast making the hoodie with getting the finished product to the customer. Keep source definition alongside concrete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Describe the pickup scene; contrast making the hoodie with getting the finished product to the customer. Keep source definition alongside concrete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An item, a task, or a message?” Pause 10 seconds. Then connect one noticed detail to GOODS · SERVICES · IDEAS. Read and explain the academic language.</a:t>
            </a:r>
          </a:p>
          <a:p xmlns:a="http://schemas.openxmlformats.org/drawingml/2006/main">
            <a:r>
              <a:t>CHECK: Classify the recycling MESSAGE, then its paper poster.</a:t>
            </a:r>
          </a:p>
          <a:p xmlns:a="http://schemas.openxmlformats.org/drawingml/2006/main">
            <a:r>
              <a:t>EXPECTED: Message = idea; physical poster can be a good.</a:t>
            </a:r>
          </a:p>
          <a:p xmlns:a="http://schemas.openxmlformats.org/drawingml/2006/main">
            <a:r>
              <a:t>MISCONCEPTION / SOURCE DETAIL: Use all three market panels verbally: food, paid bicycle repair, community recycling idea. Source examples include food/clothing/furniture, car repair/financial advice/housecleaning, and voting or charitable giving.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Use all three market panels verbally: food, paid bicycle repair, community recycling idea. Source examples include food/clothing/furniture, car repair/financial advice/housecleaning, and voting or charitable giving.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5 · textbook support; original SBTE deck remains content authority.</a:t>
            </a:r>
          </a:p>
          <a:p xmlns:a="http://schemas.openxmlformats.org/drawingml/2006/main">
            <a:r>
              <a:t>PITER SAYS: “Look at the picture. Why can’t the event do everything?” Pause 10 seconds. Then connect one noticed detail to ECONOMICS. Read and explain the academic language.</a:t>
            </a:r>
          </a:p>
          <a:p xmlns:a="http://schemas.openxmlformats.org/drawingml/2006/main">
            <a:r>
              <a:t>CHECK: Name one trade-off without using your own finances.</a:t>
            </a:r>
          </a:p>
          <a:p xmlns:a="http://schemas.openxmlformats.org/drawingml/2006/main">
            <a:r>
              <a:t>EXPECTED: For example spend on extra controllers versus seating.</a:t>
            </a:r>
          </a:p>
          <a:p xmlns:a="http://schemas.openxmlformats.org/drawingml/2006/main">
            <a:r>
              <a:t>MISCONCEPTION / SOURCE DETAIL: Economics studies decisions by individuals, businesses, governments, including production, consumption and transfer of wealth. Do not ask for personal financial information.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Economics studies decisions by individuals, businesses, governments, including production, consumption and transfer of wealth. Do not ask for personal financial information.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5 · textbook support; original SBTE deck remains content authority.</a:t>
            </a:r>
          </a:p>
          <a:p xmlns:a="http://schemas.openxmlformats.org/drawingml/2006/main">
            <a:r>
              <a:t>PITER SAYS: “Look at the picture. Selling $100 does not mean keeping $100” Pause 10 seconds. Then connect one noticed detail to PROFIT AND NET WORTH. Read and explain the academic language.</a:t>
            </a:r>
          </a:p>
          <a:p xmlns:a="http://schemas.openxmlformats.org/drawingml/2006/main">
            <a:r>
              <a:t>CHECK: Is a loan something the business owns or owes?</a:t>
            </a:r>
          </a:p>
          <a:p xmlns:a="http://schemas.openxmlformats.org/drawingml/2006/main">
            <a:r>
              <a:t>EXPECTED: Owes: liability. Cash/equipment can be assets.</a:t>
            </a:r>
          </a:p>
          <a:p xmlns:a="http://schemas.openxmlformats.org/drawingml/2006/main">
            <a:r>
              <a:t>MISCONCEPTION / SOURCE DETAIL: All numbers fictional. Net worth is a stock of value; profit measures a period’s gain. Explain assets owned and liabilities owed. Do not conflate sales, cash, profit, and net worth.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All numbers fictional. Net worth is a stock of value; profit measures a period’s gain. Explain assets owned and liabilities owed. Do not conflate sales, cash, profit, and net worth.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5–7 · SBTE 5–7; original SBTE deck remains content authority.</a:t>
            </a:r>
          </a:p>
          <a:p xmlns:a="http://schemas.openxmlformats.org/drawingml/2006/main">
            <a:r>
              <a:t>PITER SAYS: “Look at the picture. Same shop. Different kinds of work.” Pause 10 seconds. Then connect one noticed detail to BUSINESS ACTIVITIES. Read and explain the academic language.</a:t>
            </a:r>
          </a:p>
          <a:p xmlns:a="http://schemas.openxmlformats.org/drawingml/2006/main">
            <a:r>
              <a:t>CHECK: Match making pizza, buying property, collecting payment.</a:t>
            </a:r>
          </a:p>
          <a:p xmlns:a="http://schemas.openxmlformats.org/drawingml/2006/main">
            <a:r>
              <a:t>EXPECTED: Operational; investing; financial.</a:t>
            </a:r>
          </a:p>
          <a:p xmlns:a="http://schemas.openxmlformats.org/drawingml/2006/main">
            <a:r>
              <a:t>MISCONCEPTION / SOURCE DETAIL: The source categories overlap. Focus on the scenario’s emphasis; do not claim every activity belongs exclusively to one category. Use source table Figure 1.2 for maintenance, buildings, loans, stock, sales and debts.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The source categories overlap. Focus on the scenario’s emphasis; do not claim every activity belongs exclusively to one category. Use source table Figure 1.2 for maintenance, buildings, loans, stock, sales and debts.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5–6 · SBTE 6; original SBTE deck remains content authority.</a:t>
            </a:r>
          </a:p>
          <a:p xmlns:a="http://schemas.openxmlformats.org/drawingml/2006/main">
            <a:r>
              <a:t>PITER SAYS: “Look at the picture. Who keeps the shop running today?” Pause 10 seconds. Then connect one noticed detail to OPERATIONAL FUNCTIONS. Read and explain the academic language.</a:t>
            </a:r>
          </a:p>
          <a:p xmlns:a="http://schemas.openxmlformats.org/drawingml/2006/main">
            <a:r>
              <a:t>CHECK: Where would paying employees fit?</a:t>
            </a:r>
          </a:p>
          <a:p xmlns:a="http://schemas.openxmlformats.org/drawingml/2006/main">
            <a:r>
              <a:t>EXPECTED: Finance within operational functions; also money movement.</a:t>
            </a:r>
          </a:p>
          <a:p xmlns:a="http://schemas.openxmlformats.org/drawingml/2006/main">
            <a:r>
              <a:t>MISCONCEPTION / SOURCE DETAIL: Retain source software-production example: developing software, hiring engineers, fixing bugs. Marketing includes competitor research, trends, social media. Management includes leading, supervising and planning.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Retain source software-production example: developing software, hiring engineers, fixing bugs. Marketing includes competitor research, trends, social media. Management includes leading, supervising and planning.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6 · SBTE 7; original SBTE deck remains content authority.</a:t>
            </a:r>
          </a:p>
          <a:p xmlns:a="http://schemas.openxmlformats.org/drawingml/2006/main">
            <a:r>
              <a:t>PITER SAYS: “Look at the picture. What might help the shop grow?” Pause 10 seconds. Then connect one noticed detail to INVESTING ACTIVITIES. Read and explain the academic language.</a:t>
            </a:r>
          </a:p>
          <a:p xmlns:a="http://schemas.openxmlformats.org/drawingml/2006/main">
            <a:r>
              <a:t>CHECK: Does an investment guarantee a gain?</a:t>
            </a:r>
          </a:p>
          <a:p xmlns:a="http://schemas.openxmlformats.org/drawingml/2006/main">
            <a:r>
              <a:t>EXPECTED: No. Future benefit is an aim, not a guarantee.</a:t>
            </a:r>
          </a:p>
          <a:p xmlns:a="http://schemas.openxmlformats.org/drawingml/2006/main">
            <a:r>
              <a:t>MISCONCEPTION / SOURCE DETAIL: Preserve stocks, bonds, mutual funds and real estate as source examples; the text also discusses upgrades and advertisements as investments in future growth. Do not turn this into personal investment advice.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Preserve stocks, bonds, mutual funds and real estate as source examples; the text also discusses upgrades and advertisements as investments in future growth. Do not turn this into personal investment advice.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7 · SBTE 7; original SBTE deck remains content authority.</a:t>
            </a:r>
          </a:p>
          <a:p xmlns:a="http://schemas.openxmlformats.org/drawingml/2006/main">
            <a:r>
              <a:t>PITER SAYS: “Look at the picture. Follow the money” Pause 10 seconds. Then connect one noticed detail to FINANCIAL ACTIVITIES. Read and explain the academic language.</a:t>
            </a:r>
          </a:p>
          <a:p xmlns:a="http://schemas.openxmlformats.org/drawingml/2006/main">
            <a:r>
              <a:t>CHECK: Name one input and one output for the pizza shop.</a:t>
            </a:r>
          </a:p>
          <a:p xmlns:a="http://schemas.openxmlformats.org/drawingml/2006/main">
            <a:r>
              <a:t>EXPECTED: Customer payments in; wages or supplier payments out.</a:t>
            </a:r>
          </a:p>
          <a:p xmlns:a="http://schemas.openxmlformats.org/drawingml/2006/main">
            <a:r>
              <a:t>MISCONCEPTION / SOURCE DETAIL: Source pp. 6–7 and SBTE 6–7 overlap in financial terminology. Explain the emphasis without silently replacing it with an accounting cash-flow taxonomy.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Source pp. 6–7 and SBTE 6–7 overlap in financial terminology. Explain the emphasis without silently replacing it with an accounting cash-flow taxonomy.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8–9 · SBTE 8; original SBTE deck remains content authority.</a:t>
            </a:r>
          </a:p>
          <a:p xmlns:a="http://schemas.openxmlformats.org/drawingml/2006/main">
            <a:r>
              <a:t>PITER SAYS: “Look at the picture. Who benefits besides the customer?” Pause 10 seconds. Then connect one noticed detail to BUSINESSES AND SOCIETY. Read and explain the academic language.</a:t>
            </a:r>
          </a:p>
          <a:p xmlns:a="http://schemas.openxmlformats.org/drawingml/2006/main">
            <a:r>
              <a:t>CHECK: How could a neighborhood shop affect the community?</a:t>
            </a:r>
          </a:p>
          <a:p xmlns:a="http://schemas.openxmlformats.org/drawingml/2006/main">
            <a:r>
              <a:t>EXPECTED: Products, jobs/wages, exchange opportunities, taxes funding public services.</a:t>
            </a:r>
          </a:p>
          <a:p xmlns:a="http://schemas.openxmlformats.org/drawingml/2006/main">
            <a:r>
              <a:t>MISCONCEPTION / SOURCE DETAIL: Read all three roles. Physical, virtual and specialty markets are source examples. Discuss benefits with conditions; no claims that all businesses benefit everyone equally. Keep social-welfare discussion source-focused and avoid asking about family circumstances.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Read all three roles. Physical, virtual and specialty markets are source examples. Discuss benefits with conditions; no claims that all businesses benefit everyone equally. Keep social-welfare discussion source-focused and avoid asking about family circumstances.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8 · SBTE 8 support; original SBTE deck remains content authority.</a:t>
            </a:r>
          </a:p>
          <a:p xmlns:a="http://schemas.openxmlformats.org/drawingml/2006/main">
            <a:r>
              <a:t>PITER SAYS: “Look at the picture. Warm clothing or this exact hoodie?” Pause 10 seconds. Then connect one noticed detail to ECONOMIC NEEDS AND WANTS. Read and explain the academic language.</a:t>
            </a:r>
          </a:p>
          <a:p xmlns:a="http://schemas.openxmlformats.org/drawingml/2006/main">
            <a:r>
              <a:t>CHECK: Could the situation change what someone needs?</a:t>
            </a:r>
          </a:p>
          <a:p xmlns:a="http://schemas.openxmlformats.org/drawingml/2006/main">
            <a:r>
              <a:t>EXPECTED: Yes, context changes practical access needs; use the textbook economic distinction.</a:t>
            </a:r>
          </a:p>
          <a:p xmlns:a="http://schemas.openxmlformats.org/drawingml/2006/main">
            <a:r>
              <a:t>MISCONCEPTION / SOURCE DETAIL: Textbook classifies smartphone/internet as economic wants. Acknowledge that school participation may require digital access; do not imply students can simply complete digital work without it. Maintain academic definition and flag contextual tension.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Textbook classifies smartphone/internet as economic wants. Acknowledge that school participation may require digital access; do not imply students can simply complete digital work without it. Maintain academic definition and flag contextual tension.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10 · SBTE 9; original SBTE deck remains content authority.</a:t>
            </a:r>
          </a:p>
          <a:p xmlns:a="http://schemas.openxmlformats.org/drawingml/2006/main">
            <a:r>
              <a:t>PITER SAYS: “Look at the picture. Would YOUR favorite work for everyone?” Pause 10 seconds. Then connect one noticed detail to PURPOSE OF MARKETING. Read and explain the academic language.</a:t>
            </a:r>
          </a:p>
          <a:p xmlns:a="http://schemas.openxmlformats.org/drawingml/2006/main">
            <a:r>
              <a:t>CHECK: What would you ask before making 200 hoodies?</a:t>
            </a:r>
          </a:p>
          <a:p xmlns:a="http://schemas.openxmlformats.org/drawingml/2006/main">
            <a:r>
              <a:t>EXPECTED: Ask likely users about fit, comfort, intended use or preferred features.</a:t>
            </a:r>
          </a:p>
          <a:p xmlns:a="http://schemas.openxmlformats.org/drawingml/2006/main">
            <a:r>
              <a:t>MISCONCEPTION / SOURCE DETAIL: Customer-oriented decisions affect production, management and finance. Do not assume all teens want merchandise. Reference fictional scenario inspired by Sep. 17 announcements.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Customer-oriented decisions affect production, management and finance. Do not assume all teens want merchandise. Reference fictional scenario inspired by Sep. 17 announcements.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10–11 · SBTE 9; original SBTE deck remains content authority.</a:t>
            </a:r>
          </a:p>
          <a:p xmlns:a="http://schemas.openxmlformats.org/drawingml/2006/main">
            <a:r>
              <a:t>PITER SAYS: “Look at the picture. Customer choice meets business reality” Pause 10 seconds. Then connect one noticed detail to MARKETING CONCEPT. Read and explain the academic language.</a:t>
            </a:r>
          </a:p>
          <a:p xmlns:a="http://schemas.openxmlformats.org/drawingml/2006/main">
            <a:r>
              <a:t>CHECK: A comfortable hoodie costs more to make. What must the shop consider?</a:t>
            </a:r>
          </a:p>
          <a:p xmlns:a="http://schemas.openxmlformats.org/drawingml/2006/main">
            <a:r>
              <a:t>EXPECTED: Customer value/needs, company goals and revenue minus expenses.</a:t>
            </a:r>
          </a:p>
          <a:p xmlns:a="http://schemas.openxmlformats.org/drawingml/2006/main">
            <a:r>
              <a:t>MISCONCEPTION / SOURCE DETAIL: Method of selling analyzes wants and needs and aims to satisfy them better than competitors. All three elements matter. Apply p. 9 Jack’s tortilla case after reading: customers, national expansion goals, distribution costs/profit. Preserve the case rather than replacing it with hoodies.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Method of selling analyzes wants and needs and aims to satisfy them better than competitors. All three elements matter. Apply p. 9 Jack’s tortilla case after reading: customers, national expansion goals, distribution costs/profit. Preserve the case rather than replacing it with hoodies.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10 · textbook support; original SBTE deck remains content authority.</a:t>
            </a:r>
          </a:p>
          <a:p xmlns:a="http://schemas.openxmlformats.org/drawingml/2006/main">
            <a:r>
              <a:t>PITER SAYS: “Look at the picture. 30 out of 100 hoodie sales” Pause 10 seconds. Then connect one noticed detail to MARKET SHARE. Read and explain the academic language.</a:t>
            </a:r>
          </a:p>
          <a:p xmlns:a="http://schemas.openxmlformats.org/drawingml/2006/main">
            <a:r>
              <a:t>CHECK: If its sales rise, must its share rise too?</a:t>
            </a:r>
          </a:p>
          <a:p xmlns:a="http://schemas.openxmlformats.org/drawingml/2006/main">
            <a:r>
              <a:t>EXPECTED: No. Total market sales may grow faster.</a:t>
            </a:r>
          </a:p>
          <a:p xmlns:a="http://schemas.openxmlformats.org/drawingml/2006/main">
            <a:r>
              <a:t>MISCONCEPTION / SOURCE DETAIL: Fictional units in the same period and defined market. Market share = company sales / total market sales ×100 using consistent measure. Source pie analogy can support explanation. Market share is not profit.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Fictional units in the same period and defined market. Market share = company sales / total market sales ×100 using consistent measure. Source pie analogy can support explanation. Market share is not profit.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11–12 · SBTE 10; original SBTE deck remains content authority.</a:t>
            </a:r>
          </a:p>
          <a:p xmlns:a="http://schemas.openxmlformats.org/drawingml/2006/main">
            <a:r>
              <a:t>PITER SAYS: “Look at the picture. Which decision are we making?” Pause 10 seconds. Then connect one noticed detail to MARKETING MIX: THE 4 Ps. Read and explain the academic language.</a:t>
            </a:r>
          </a:p>
          <a:p xmlns:a="http://schemas.openxmlformats.org/drawingml/2006/main">
            <a:r>
              <a:t>CHECK: A late delivery: which P needs attention?</a:t>
            </a:r>
          </a:p>
          <a:p xmlns:a="http://schemas.openxmlformats.org/drawingml/2006/main">
            <a:r>
              <a:t>EXPECTED: Place, especially timing/distribution.</a:t>
            </a:r>
          </a:p>
          <a:p xmlns:a="http://schemas.openxmlformats.org/drawingml/2006/main">
            <a:r>
              <a:t>MISCONCEPTION / SOURCE DETAIL: Preview map; the next screens unpack each P only as needed. Preserve all four; source order product, promotion, price, place.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Preview map; the next screens unpack each P only as needed. Preserve all four; source order product, promotion, price, place.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Use the fictional school-event popcorn order to match Tuesday’s entry. A package feature is Product; the poster is Promotion; delivery timing is Place. Preserve all source definitions, reading and source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11 · SBTE 10; original SBTE deck remains content authority.</a:t>
            </a:r>
          </a:p>
          <a:p xmlns:a="http://schemas.openxmlformats.org/drawingml/2006/main">
            <a:r>
              <a:t>PITER SAYS: “Look at the picture. Soft fabric? Better resealable packaging?” Pause 10 seconds. Then connect one noticed detail to PRODUCT. Read and explain the academic language.</a:t>
            </a:r>
          </a:p>
          <a:p xmlns:a="http://schemas.openxmlformats.org/drawingml/2006/main">
            <a:r>
              <a:t>CHECK: Name a feature, then the customer problem it could solve.</a:t>
            </a:r>
          </a:p>
          <a:p xmlns:a="http://schemas.openxmlformats.org/drawingml/2006/main">
            <a:r>
              <a:t>EXPECTED: For example a secure pocket helps carry keys.</a:t>
            </a:r>
          </a:p>
          <a:p xmlns:a="http://schemas.openxmlformats.org/drawingml/2006/main">
            <a:r>
              <a:t>MISCONCEPTION / SOURCE DETAIL: Source includes changing components, color, shape, size and intended use. Comfort/access needs vary; do not prescribe one style for neurodivergent students.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Source includes changing components, color, shape, size and intended use. Comfort/access needs vary; do not prescribe one style for neurodivergent students.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Use the fictional school-event popcorn order to match Tuesday’s entry. A package feature is Product; the poster is Promotion; delivery timing is Place. Preserve all source definitions, reading and source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11 · SBTE 10; original SBTE deck remains content authority.</a:t>
            </a:r>
          </a:p>
          <a:p xmlns:a="http://schemas.openxmlformats.org/drawingml/2006/main">
            <a:r>
              <a:t>PITER SAYS: “Look at the picture. How would anyone hear about it?” Pause 10 seconds. Then connect one noticed detail to PROMOTION. Read and explain the academic language.</a:t>
            </a:r>
          </a:p>
          <a:p xmlns:a="http://schemas.openxmlformats.org/drawingml/2006/main">
            <a:r>
              <a:t>CHECK: How is the MESSAGE different from the snack?</a:t>
            </a:r>
          </a:p>
          <a:p xmlns:a="http://schemas.openxmlformats.org/drawingml/2006/main">
            <a:r>
              <a:t>EXPECTED: Message communicates/persuades; snack is the product.</a:t>
            </a:r>
          </a:p>
          <a:p xmlns:a="http://schemas.openxmlformats.org/drawingml/2006/main">
            <a:r>
              <a:t>MISCONCEPTION / SOURCE DETAIL: Picture is a community-message analogy, not a snack ad. Keep source advertising, sales, markdowns, personal selling and time-sensitive email example. Return to the text’s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Picture is a community-message analogy, not a snack ad. Keep source advertising, sales, markdowns, personal selling and time-sensitive email example. Return to the text’s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Use the fictional school-event popcorn order to match Tuesday’s entry. A package feature is Product; the poster is Promotion; delivery timing is Place. Preserve all source definitions, reading and source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12 · SBTE 10; original SBTE deck remains content authority.</a:t>
            </a:r>
          </a:p>
          <a:p xmlns:a="http://schemas.openxmlformats.org/drawingml/2006/main">
            <a:r>
              <a:t>PITER SAYS: “Look at the picture. The price has to work on both sides” Pause 10 seconds. Then connect one noticed detail to PRICE. Read and explain the academic language.</a:t>
            </a:r>
          </a:p>
          <a:p xmlns:a="http://schemas.openxmlformats.org/drawingml/2006/main">
            <a:r>
              <a:t>CHECK: If a product sells below its cost, what happens?</a:t>
            </a:r>
          </a:p>
          <a:p xmlns:a="http://schemas.openxmlformats.org/drawingml/2006/main">
            <a:r>
              <a:t>EXPECTED: It does not cover that cost; profits may fall or a loss results.</a:t>
            </a:r>
          </a:p>
          <a:p xmlns:a="http://schemas.openxmlformats.org/drawingml/2006/main">
            <a:r>
              <a:t>MISCONCEPTION / SOURCE DETAIL: No personal budgets collected. Fictional figures only. A business does not control all market conditions. Source: competitors and perceived value influence price.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No personal budgets collected. Fictional figures only. A business does not control all market conditions. Source: competitors and perceived value influence price.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12 · SBTE 10; original SBTE deck remains content authority.</a:t>
            </a:r>
          </a:p>
          <a:p xmlns:a="http://schemas.openxmlformats.org/drawingml/2006/main">
            <a:r>
              <a:t>PITER SAYS: “Look at the picture. It arrives after you need it” Pause 10 seconds. Then connect one noticed detail to PLACE. Read and explain the academic language.</a:t>
            </a:r>
          </a:p>
          <a:p xmlns:a="http://schemas.openxmlformats.org/drawingml/2006/main">
            <a:r>
              <a:t>CHECK: Could online ordering still require a physical distribution plan?</a:t>
            </a:r>
          </a:p>
          <a:p xmlns:a="http://schemas.openxmlformats.org/drawingml/2006/main">
            <a:r>
              <a:t>EXPECTED: Yes: supply, transport and pickup/delivery still matter.</a:t>
            </a:r>
          </a:p>
          <a:p xmlns:a="http://schemas.openxmlformats.org/drawingml/2006/main">
            <a:r>
              <a:t>MISCONCEPTION / SOURCE DETAIL: Retain textbook 24-hour delivery example and its consequence for satisfaction/reputation. Also preserve SFMOMA text-service reading as a historical textbook example, not a claim that service remains available.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Retain textbook 24-hour delivery example and its consequence for satisfaction/reputation. Also preserve SFMOMA text-service reading as a historical textbook example, not a claim that service remains available.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Use the fictional school-event popcorn order to match Tuesday’s entry. A package feature is Product; the poster is Promotion; delivery timing is Place. Preserve all source definitions, reading and source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13–15 · SBTE 11; original SBTE deck remains content authority.</a:t>
            </a:r>
          </a:p>
          <a:p xmlns:a="http://schemas.openxmlformats.org/drawingml/2006/main">
            <a:r>
              <a:t>PITER SAYS: “Look at the picture. Seven jobs behind one offer” Pause 10 seconds. Then connect one noticed detail to MARKETING FUNCTIONS. Read and explain the academic language.</a:t>
            </a:r>
          </a:p>
          <a:p xmlns:a="http://schemas.openxmlformats.org/drawingml/2006/main">
            <a:r>
              <a:t>CHECK: Which job learns what people want?</a:t>
            </a:r>
          </a:p>
          <a:p xmlns:a="http://schemas.openxmlformats.org/drawingml/2006/main">
            <a:r>
              <a:t>EXPECTED: MIM/market research.</a:t>
            </a:r>
          </a:p>
          <a:p xmlns:a="http://schemas.openxmlformats.org/drawingml/2006/main">
            <a:r>
              <a:t>MISCONCEPTION / SOURCE DETAIL: Read full academic names aloud. Show this as an overview, not a memorization race. Each function supports customer needs, goals and profits. All seven receive their own screen.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Read full academic names aloud. Show this as an overview, not a memorization race. Each function supports customer needs, goals and profits. All seven receive their own screen.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13 · SBTE 12; original SBTE deck remains content authority.</a:t>
            </a:r>
          </a:p>
          <a:p xmlns:a="http://schemas.openxmlformats.org/drawingml/2006/main">
            <a:r>
              <a:t>PITER SAYS: “Look at the picture. The product is ready. The route isn’t.” Pause 10 seconds. Then connect one noticed detail to CHANNEL MANAGEMENT. Read and explain the academic language.</a:t>
            </a:r>
          </a:p>
          <a:p xmlns:a="http://schemas.openxmlformats.org/drawingml/2006/main">
            <a:r>
              <a:t>CHECK: Why does an inaccessible pickup time matter?</a:t>
            </a:r>
          </a:p>
          <a:p xmlns:a="http://schemas.openxmlformats.org/drawingml/2006/main">
            <a:r>
              <a:t>EXPECTED: Customers cannot receive products when needed.</a:t>
            </a:r>
          </a:p>
          <a:p xmlns:a="http://schemas.openxmlformats.org/drawingml/2006/main">
            <a:r>
              <a:t>MISCONCEPTION / SOURCE DETAIL: Relate to place, suppliers, outlets and customer location. Figure 1.4 farm website/market stalls example remains required reading.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Relate to place, suppliers, outlets and customer location. Figure 1.4 farm website/market stalls example remains required reading.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A fictional bicycle-repair business. Slide 22 concerns pickup/return arrangements, while slide 26 concerns improving service quality. Preserve the textbook examples in reading.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13 · SBTE 12; original SBTE deck remains content authority.</a:t>
            </a:r>
          </a:p>
          <a:p xmlns:a="http://schemas.openxmlformats.org/drawingml/2006/main">
            <a:r>
              <a:t>PITER SAYS: “Look at the picture. Ask before assuming” Pause 10 seconds. Then connect one noticed detail to MARKETING INFORMATION MANAGEMENT. Read and explain the academic language.</a:t>
            </a:r>
          </a:p>
          <a:p xmlns:a="http://schemas.openxmlformats.org/drawingml/2006/main">
            <a:r>
              <a:t>CHECK: “Play, watch, or neither?” Why include all three?</a:t>
            </a:r>
          </a:p>
          <a:p xmlns:a="http://schemas.openxmlformats.org/drawingml/2006/main">
            <a:r>
              <a:t>EXPECTED: Avoids assuming universal interest; helps identify an audience.</a:t>
            </a:r>
          </a:p>
          <a:p xmlns:a="http://schemas.openxmlformats.org/drawingml/2006/main">
            <a:r>
              <a:t>MISCONCEPTION / SOURCE DETAIL: Include preferences, needs, competitors, and target grouping by age, behavior or geography as source content. A specific group is not everyone of that age. Figure 1.4 video-production/nonprofit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Include preferences, needs, competitors, and target grouping by age, behavior or geography as source content. A specific group is not everyone of that age. Figure 1.4 video-production/nonprofit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13–14 · SBTE 12; original SBTE deck remains content authority.</a:t>
            </a:r>
          </a:p>
          <a:p xmlns:a="http://schemas.openxmlformats.org/drawingml/2006/main">
            <a:r>
              <a:t>PITER SAYS: “Look at the picture. How could the event pay its costs?” Pause 10 seconds. Then connect one noticed detail to MARKETING PLANNING. Read and explain the academic language.</a:t>
            </a:r>
          </a:p>
          <a:p xmlns:a="http://schemas.openxmlformats.org/drawingml/2006/main">
            <a:r>
              <a:t>CHECK: Which funding route creates debt?</a:t>
            </a:r>
          </a:p>
          <a:p xmlns:a="http://schemas.openxmlformats.org/drawingml/2006/main">
            <a:r>
              <a:t>EXPECTED: Debt financing/loan.</a:t>
            </a:r>
          </a:p>
          <a:p xmlns:a="http://schemas.openxmlformats.org/drawingml/2006/main">
            <a:r>
              <a:t>MISCONCEPTION / SOURCE DETAIL: Do not substitute a generic calendar plan for this source’s emphasis on funding. Start-up capital, materials, expenses and production decisions matter. Figure 1.4 medical-device borrowing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Do not substitute a generic calendar plan for this source’s emphasis on funding. Start-up capital, materials, expenses and production decisions matter. Figure 1.4 medical-device borrowing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How much should it cost?” Pause 10 seconds. Then connect one noticed detail to PRICING. Read and explain the academic language.</a:t>
            </a:r>
          </a:p>
          <a:p xmlns:a="http://schemas.openxmlformats.org/drawingml/2006/main">
            <a:r>
              <a:t>CHECK: What is the difference between price and pricing?</a:t>
            </a:r>
          </a:p>
          <a:p xmlns:a="http://schemas.openxmlformats.org/drawingml/2006/main">
            <a:r>
              <a:t>EXPECTED: Price is the amount; pricing is the decision process.</a:t>
            </a:r>
          </a:p>
          <a:p xmlns:a="http://schemas.openxmlformats.org/drawingml/2006/main">
            <a:r>
              <a:t>MISCONCEPTION / SOURCE DETAIL: Discuss too low to cover costs and too high for likely buyers. Figure 1.4 computer options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Discuss too low to cover costs and too high for likely buyers. Figure 1.4 computer options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People like it—except the unreliable repair” Pause 10 seconds. Then connect one noticed detail to PRODUCT AND SERVICE MANAGEMENT. Read and explain the academic language.</a:t>
            </a:r>
          </a:p>
          <a:p xmlns:a="http://schemas.openxmlformats.org/drawingml/2006/main">
            <a:r>
              <a:t>CHECK: What could change? How might the cost change?</a:t>
            </a:r>
          </a:p>
          <a:p xmlns:a="http://schemas.openxmlformats.org/drawingml/2006/main">
            <a:r>
              <a:t>EXPECTED: Change seam/material; added costs affect profitability.</a:t>
            </a:r>
          </a:p>
          <a:p xmlns:a="http://schemas.openxmlformats.org/drawingml/2006/main">
            <a:r>
              <a:t>MISCONCEPTION / SOURCE DETAIL: Offer different preferences without implying all users share sensitivities. Retain source Figure 1.4 nail-polish durability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Offer different preferences without implying all users share sensitivities. Retain source Figure 1.4 nail-polish durability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  <a:p xmlns:a="http://schemas.openxmlformats.org/drawingml/2006/main">
            <a:r>
              <a:t>SCENARIO UPDATE: A fictional bicycle-repair business. Slide 22 concerns pickup/return arrangements, while slide 26 concerns improving service quality. Preserve the textbook examples in reading.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A message can change someone’s choice” Pause 10 seconds. Then connect one noticed detail to PROMOTION. Read and explain the academic language.</a:t>
            </a:r>
          </a:p>
          <a:p xmlns:a="http://schemas.openxmlformats.org/drawingml/2006/main">
            <a:r>
              <a:t>CHECK: Which clue in an ad could appeal to its audience?</a:t>
            </a:r>
          </a:p>
          <a:p xmlns:a="http://schemas.openxmlformats.org/drawingml/2006/main">
            <a:r>
              <a:t>EXPECTED: A relevant message, benefit, image or setting.</a:t>
            </a:r>
          </a:p>
          <a:p xmlns:a="http://schemas.openxmlformats.org/drawingml/2006/main">
            <a:r>
              <a:t>MISCONCEPTION / SOURCE DETAIL: Campaign image illustrates communication; distinguish the promotional act from the advertised product. Figure 1.4 food/social connection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Campaign image illustrates communication; distinguish the promotional act from the advertised product. Figure 1.4 food/social connection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“Which option would work for you?”” Pause 10 seconds. Then connect one noticed detail to SELLING. Read and explain the academic language.</a:t>
            </a:r>
          </a:p>
          <a:p xmlns:a="http://schemas.openxmlformats.org/drawingml/2006/main">
            <a:r>
              <a:t>CHECK: How could asking a question help a sale?</a:t>
            </a:r>
          </a:p>
          <a:p xmlns:a="http://schemas.openxmlformats.org/drawingml/2006/main">
            <a:r>
              <a:t>EXPECTED: It reveals needs and helps a suitable recommendation.</a:t>
            </a:r>
          </a:p>
          <a:p xmlns:a="http://schemas.openxmlformats.org/drawingml/2006/main">
            <a:r>
              <a:t>MISCONCEPTION / SOURCE DETAIL: A customer-service mindset, relationships and feeling valued matter. Do not imply persuasion means pressure. Retain source pharmaceutical sample/sales presentation example in Figure 1.4.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A customer-service mindset, relationships and feeling valued matter. Do not imply persuasion means pressure. Retain source pharmaceutical sample/sales presentation example in Figure 1.4.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15–16 · SBTE 14; original SBTE deck remains content authority.</a:t>
            </a:r>
          </a:p>
          <a:p xmlns:a="http://schemas.openxmlformats.org/drawingml/2006/main">
            <a:r>
              <a:t>PITER SAYS: “Look at the picture. Now prove the connection in the text” Pause 10 seconds. Then connect one noticed detail to CHAPTER 1 APPLICATION. Read and explain the academic language.</a:t>
            </a:r>
          </a:p>
          <a:p xmlns:a="http://schemas.openxmlformats.org/drawingml/2006/main">
            <a:r>
              <a:t>CHECK: Example: farm pickup routes support customer access.</a:t>
            </a:r>
          </a:p>
          <a:p xmlns:a="http://schemas.openxmlformats.org/drawingml/2006/main">
            <a:r>
              <a:t>EXPECTED: Accurate function plus a supported marketing-concept relationship.</a:t>
            </a:r>
          </a:p>
          <a:p xmlns:a="http://schemas.openxmlformats.org/drawingml/2006/main">
            <a:r>
              <a:t>MISCONCEPTION / SOURCE DETAIL: Preserve source chapter review categories: Define Key Terms, Test Your Knowledge, Read and Write, Listen and Speak, Create and Design, Chapter Assessment. Use actual Teams assignment prompts; do not invent unseen questions. Record exact slide/page/paragraph reached by each section.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Preserve source chapter review categories: Define Key Terms, Test Your Knowledge, Read and Write, Listen and Speak, Create and Design, Chapter Assessment. Use actual Teams assignment prompts; do not invent unseen questions. Record exact slide/page/paragraph reached by each section.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f8aec5fe7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fb42cc5a44edf" /><Relationship Type="http://schemas.openxmlformats.org/officeDocument/2006/relationships/slideLayout" Target="/ppt/slideLayouts/slideLayout1.xml" Id="R38a7c6baa575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7c6baa575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63d0efc6e40b9" /><Relationship Type="http://schemas.openxmlformats.org/officeDocument/2006/relationships/image" Target="/ppt/media/image.jpeg" Id="R1a5aa34bea8141f9" /><Relationship Type="http://schemas.openxmlformats.org/officeDocument/2006/relationships/notesSlide" Target="/ppt/notesSlides/notesSlide1.xml" Id="R94fbe863850d46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57466332049a8" /><Relationship Type="http://schemas.openxmlformats.org/officeDocument/2006/relationships/image" Target="/ppt/media/image2.jpeg" Id="Rf0f61ed0e1a94942" /><Relationship Type="http://schemas.openxmlformats.org/officeDocument/2006/relationships/notesSlide" Target="/ppt/notesSlides/notesSlide2.xml" Id="Rcccaa5752d5f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3c1b67b7948cd" /><Relationship Type="http://schemas.openxmlformats.org/officeDocument/2006/relationships/image" Target="/ppt/media/image3.jpeg" Id="Rf0aced7d652744c5" /><Relationship Type="http://schemas.openxmlformats.org/officeDocument/2006/relationships/notesSlide" Target="/ppt/notesSlides/notesSlide3.xml" Id="R1d82090dea53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a2a9ddb084ca9" /><Relationship Type="http://schemas.openxmlformats.org/officeDocument/2006/relationships/image" Target="/ppt/media/image4.jpeg" Id="R71100c6f4cef4401" /><Relationship Type="http://schemas.openxmlformats.org/officeDocument/2006/relationships/notesSlide" Target="/ppt/notesSlides/notesSlide4.xml" Id="R821f538c1288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2b9f89b534ed6" /><Relationship Type="http://schemas.openxmlformats.org/officeDocument/2006/relationships/image" Target="/ppt/media/image5.jpeg" Id="R51ff54f3e4db4134" /><Relationship Type="http://schemas.openxmlformats.org/officeDocument/2006/relationships/notesSlide" Target="/ppt/notesSlides/notesSlide5.xml" Id="R304c43724a9642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89fe486e4c04" /><Relationship Type="http://schemas.openxmlformats.org/officeDocument/2006/relationships/image" Target="/ppt/media/image6.jpeg" Id="Rae16f6a9dd774ec6" /><Relationship Type="http://schemas.openxmlformats.org/officeDocument/2006/relationships/notesSlide" Target="/ppt/notesSlides/notesSlide6.xml" Id="Rcc0116e45c4d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b6db00f864b1a" /><Relationship Type="http://schemas.openxmlformats.org/officeDocument/2006/relationships/image" Target="/ppt/media/image7.jpeg" Id="R2674e5251bbb481a" /><Relationship Type="http://schemas.openxmlformats.org/officeDocument/2006/relationships/notesSlide" Target="/ppt/notesSlides/notesSlide7.xml" Id="Re87f5e20313141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74d2d3a304f7a" /><Relationship Type="http://schemas.openxmlformats.org/officeDocument/2006/relationships/image" Target="/ppt/media/image8.jpeg" Id="R50850f0b76394238" /><Relationship Type="http://schemas.openxmlformats.org/officeDocument/2006/relationships/notesSlide" Target="/ppt/notesSlides/notesSlide8.xml" Id="R7238d09576b440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e04e2fe1d4b26" /><Relationship Type="http://schemas.openxmlformats.org/officeDocument/2006/relationships/image" Target="/ppt/media/image9.jpeg" Id="R7b4683cb87d04dcb" /><Relationship Type="http://schemas.openxmlformats.org/officeDocument/2006/relationships/notesSlide" Target="/ppt/notesSlides/notesSlide9.xml" Id="Rfdfbd60ca48449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0777ec0384935" /><Relationship Type="http://schemas.openxmlformats.org/officeDocument/2006/relationships/image" Target="/ppt/media/image10.jpeg" Id="R44338940974b4d6e" /><Relationship Type="http://schemas.openxmlformats.org/officeDocument/2006/relationships/notesSlide" Target="/ppt/notesSlides/notesSlide10.xml" Id="Rf62f8aeebf3443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402897e044120" /><Relationship Type="http://schemas.openxmlformats.org/officeDocument/2006/relationships/image" Target="/ppt/media/image11.jpeg" Id="R69156a22f24f4b2c" /><Relationship Type="http://schemas.openxmlformats.org/officeDocument/2006/relationships/notesSlide" Target="/ppt/notesSlides/notesSlide11.xml" Id="R980bf64fcf1b47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41066c12045f3" /><Relationship Type="http://schemas.openxmlformats.org/officeDocument/2006/relationships/image" Target="/ppt/media/image12.jpeg" Id="R0c3a1db5e53c4389" /><Relationship Type="http://schemas.openxmlformats.org/officeDocument/2006/relationships/notesSlide" Target="/ppt/notesSlides/notesSlide12.xml" Id="Rb9bd3e47fdaa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e72b3385c4b2e" /><Relationship Type="http://schemas.openxmlformats.org/officeDocument/2006/relationships/image" Target="/ppt/media/image13.jpeg" Id="R7ca7e64bbc394d8d" /><Relationship Type="http://schemas.openxmlformats.org/officeDocument/2006/relationships/notesSlide" Target="/ppt/notesSlides/notesSlide13.xml" Id="R24cbdf7eafa34c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e38840484bca" /><Relationship Type="http://schemas.openxmlformats.org/officeDocument/2006/relationships/image" Target="/ppt/media/image14.jpeg" Id="Re85e85c844634058" /><Relationship Type="http://schemas.openxmlformats.org/officeDocument/2006/relationships/notesSlide" Target="/ppt/notesSlides/notesSlide14.xml" Id="R614051344ea94a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7682b35b4a6d" /><Relationship Type="http://schemas.openxmlformats.org/officeDocument/2006/relationships/image" Target="/ppt/media/image15.jpeg" Id="R937b7b76c27c44f4" /><Relationship Type="http://schemas.openxmlformats.org/officeDocument/2006/relationships/notesSlide" Target="/ppt/notesSlides/notesSlide15.xml" Id="R9ef89e8d4e7c44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c9813caa64bba" /><Relationship Type="http://schemas.openxmlformats.org/officeDocument/2006/relationships/image" Target="/ppt/media/image16.jpeg" Id="R84dc7f03054e4ec2" /><Relationship Type="http://schemas.openxmlformats.org/officeDocument/2006/relationships/notesSlide" Target="/ppt/notesSlides/notesSlide16.xml" Id="Rd4fc38437acc4e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48bf13dd9415d" /><Relationship Type="http://schemas.openxmlformats.org/officeDocument/2006/relationships/image" Target="/ppt/media/image17.jpeg" Id="Rc49523a08b984f22" /><Relationship Type="http://schemas.openxmlformats.org/officeDocument/2006/relationships/notesSlide" Target="/ppt/notesSlides/notesSlide17.xml" Id="R6f7ee8ead3d6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64ab2d9c54194" /><Relationship Type="http://schemas.openxmlformats.org/officeDocument/2006/relationships/image" Target="/ppt/media/image18.jpeg" Id="Rc3d4526e43e34651" /><Relationship Type="http://schemas.openxmlformats.org/officeDocument/2006/relationships/notesSlide" Target="/ppt/notesSlides/notesSlide18.xml" Id="R0ef9b1e551bd45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2a1e801f4556" /><Relationship Type="http://schemas.openxmlformats.org/officeDocument/2006/relationships/image" Target="/ppt/media/image19.jpeg" Id="Rfc24ff0770c84acf" /><Relationship Type="http://schemas.openxmlformats.org/officeDocument/2006/relationships/notesSlide" Target="/ppt/notesSlides/notesSlide19.xml" Id="Ra82ba796bd8546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0e0b8e30b48a0" /><Relationship Type="http://schemas.openxmlformats.org/officeDocument/2006/relationships/image" Target="/ppt/media/image20.jpeg" Id="R22046e7bcbb84f23" /><Relationship Type="http://schemas.openxmlformats.org/officeDocument/2006/relationships/notesSlide" Target="/ppt/notesSlides/notesSlide20.xml" Id="R6cd026847dec41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31173e30c45bc" /><Relationship Type="http://schemas.openxmlformats.org/officeDocument/2006/relationships/image" Target="/ppt/media/image21.jpeg" Id="R064cbc9b5b2f4f1f" /><Relationship Type="http://schemas.openxmlformats.org/officeDocument/2006/relationships/notesSlide" Target="/ppt/notesSlides/notesSlide21.xml" Id="R6146afb0262844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828bbddca46f8" /><Relationship Type="http://schemas.openxmlformats.org/officeDocument/2006/relationships/image" Target="/ppt/media/image22.jpeg" Id="R8bd2f00de1d24332" /><Relationship Type="http://schemas.openxmlformats.org/officeDocument/2006/relationships/notesSlide" Target="/ppt/notesSlides/notesSlide22.xml" Id="R67837138883b41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51c9cae8540cb" /><Relationship Type="http://schemas.openxmlformats.org/officeDocument/2006/relationships/image" Target="/ppt/media/image23.jpeg" Id="R17e29f54ee174b76" /><Relationship Type="http://schemas.openxmlformats.org/officeDocument/2006/relationships/notesSlide" Target="/ppt/notesSlides/notesSlide23.xml" Id="Re7fe0d1fa72e47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b510ece674a7f" /><Relationship Type="http://schemas.openxmlformats.org/officeDocument/2006/relationships/image" Target="/ppt/media/image24.jpeg" Id="Rbb5c2d7099d34e35" /><Relationship Type="http://schemas.openxmlformats.org/officeDocument/2006/relationships/notesSlide" Target="/ppt/notesSlides/notesSlide24.xml" Id="R3466453abe194e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3a5c1d5c42c0" /><Relationship Type="http://schemas.openxmlformats.org/officeDocument/2006/relationships/image" Target="/ppt/media/image25.jpeg" Id="R24c1e1ecbcba41c4" /><Relationship Type="http://schemas.openxmlformats.org/officeDocument/2006/relationships/notesSlide" Target="/ppt/notesSlides/notesSlide25.xml" Id="Rdf10e5d4288746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6e4378fac4500" /><Relationship Type="http://schemas.openxmlformats.org/officeDocument/2006/relationships/image" Target="/ppt/media/image26.jpeg" Id="R828cb27773814ab2" /><Relationship Type="http://schemas.openxmlformats.org/officeDocument/2006/relationships/notesSlide" Target="/ppt/notesSlides/notesSlide26.xml" Id="R9bbb27ca36d042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b663bf17244b7" /><Relationship Type="http://schemas.openxmlformats.org/officeDocument/2006/relationships/image" Target="/ppt/media/image27.jpeg" Id="R610a106aee874e42" /><Relationship Type="http://schemas.openxmlformats.org/officeDocument/2006/relationships/notesSlide" Target="/ppt/notesSlides/notesSlide27.xml" Id="Ra5d285df85ab40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7704a75f241d6" /><Relationship Type="http://schemas.openxmlformats.org/officeDocument/2006/relationships/image" Target="/ppt/media/image28.jpeg" Id="R5c5e11f3dd2b4d20" /><Relationship Type="http://schemas.openxmlformats.org/officeDocument/2006/relationships/notesSlide" Target="/ppt/notesSlides/notesSlide28.xml" Id="R06f495df15a4467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d9ba91754a5d" /><Relationship Type="http://schemas.openxmlformats.org/officeDocument/2006/relationships/image" Target="/ppt/media/image29.jpeg" Id="Rca9039a4a8fc45e8" /><Relationship Type="http://schemas.openxmlformats.org/officeDocument/2006/relationships/notesSlide" Target="/ppt/notesSlides/notesSlide29.xml" Id="R7758c0b3e0fa44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BC186-F8D7-4C75-8BE2-0B899A3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4CC9C-2E42-44B3-89DE-A92E385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3 · SBTE 2–3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C904-ED13-42E0-BDF1-2383ED6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hoodie, a shop, and your choices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aa34bea8141f9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16DB-EEEA-4261-B77D-2A5C80E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LEARNING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502F4-2CBC-494F-9F58-CA156F0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Differentiate business and marketing.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marketing’s purpose.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the marketing mix.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52B44-9ED6-493D-A55C-CE3C299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4760F-7E8D-4B9F-A30E-B5C2752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choice could make this product work better?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83686-E71E-497C-B2F6-93AF598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3 · SBTE 2–3     Think quietly, then point, write, or explain.     1/29</a:t>
            </a:r>
          </a:p>
        </p:txBody>
      </p:sp>
    </p:spTree>
    <p:extLst>
      <p:ext uri="{BB962C8B-B14F-4D97-AF65-F5344CB8AC3E}">
        <p14:creationId xmlns:p14="http://schemas.microsoft.com/office/powerpoint/2010/main" val="282042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FDAB4-799E-49C3-AF88-06A1B34F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BDF6F-83AF-4468-BF42-5E08EDD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5C864-2560-4EDC-9FC7-B49D5B5D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does the business actually do?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61ed0e1a9494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A5213-2C6C-46A8-9328-2FF3353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7992A-A27E-490E-ACFD-EE3F701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Makes, sells, or provides products in exchange for money.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product is something that can be bought or sold.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EDAAD-9917-43B7-ABC9-282C3A49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00A1-C907-4CCA-8981-4F6D897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Point to a good or paid service a shop could offer.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83BD1-348C-4810-9EF4-3725413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2/29</a:t>
            </a:r>
          </a:p>
        </p:txBody>
      </p:sp>
    </p:spTree>
    <p:extLst>
      <p:ext uri="{BB962C8B-B14F-4D97-AF65-F5344CB8AC3E}">
        <p14:creationId xmlns:p14="http://schemas.microsoft.com/office/powerpoint/2010/main" val="1996127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4E50A-E573-49F4-B8C9-819EFBD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BD4DE-1E4F-4A36-BFB2-16A9749A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3A709-6AB8-4FB2-B620-530CC20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would customers find it?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ced7d652744c5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43500-CE2F-4AED-A28D-DF10A01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2301-9314-4DD6-938F-506B044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Promoting, selling, and distributing a product or service.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hoodie needs more than a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D3253-93F8-45D8-920C-1558E8D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0D810-0534-4634-AE4E-879ACEB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marketing task beyond advertising.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46499-4927-4BF6-93E8-6B336DD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3/29</a:t>
            </a:r>
          </a:p>
        </p:txBody>
      </p:sp>
    </p:spTree>
    <p:extLst>
      <p:ext uri="{BB962C8B-B14F-4D97-AF65-F5344CB8AC3E}">
        <p14:creationId xmlns:p14="http://schemas.microsoft.com/office/powerpoint/2010/main" val="1260552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E9E8-B3C8-47B0-B910-C9AE5B5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CDBF-2D2B-4D91-9924-D2100C81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BF07-74E0-40CA-8822-E978156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An item, a task, or a message?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00c6f4cef4401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9D52E-5210-4E8E-9EE6-63880838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GOODS · SERVICES ·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5D72-ED1F-4D2E-BF82-3594CB7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Good: a tangible item for sale.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Service: a task performed for money.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Idea: a thought or opinion.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BDD9-FF12-4B8E-8A38-F9B7AB0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76427-054C-4A9D-BB81-DF9E5FA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Classify the recycling MESSAGE, then its paper poster.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815B-8AC5-4BE6-9A76-E86FCCF8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4/29</a:t>
            </a:r>
          </a:p>
        </p:txBody>
      </p:sp>
    </p:spTree>
    <p:extLst>
      <p:ext uri="{BB962C8B-B14F-4D97-AF65-F5344CB8AC3E}">
        <p14:creationId xmlns:p14="http://schemas.microsoft.com/office/powerpoint/2010/main" val="1702029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7A401-7916-4616-B836-90046E95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8AEDE-A222-41DE-9EFE-719D794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5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21274-7458-4851-8973-62335C1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Why can’t the event do everything?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f54f3e4db413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8BFD-720B-45E1-998B-905A85AE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E7A1B-6590-4F55-8468-EA756B6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Unlimited wants meet limited resources.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event has limited money, time, and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57897-9605-44DB-9759-C959510B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C94EE-E405-47DD-9F5D-C0EC33FA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trade-off without using your own finances.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B5FBF-DBE8-4660-AEFC-4218287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5 · textbook support     Think quietly, then point, write, or explain.     5/29</a:t>
            </a:r>
          </a:p>
        </p:txBody>
      </p:sp>
    </p:spTree>
    <p:extLst>
      <p:ext uri="{BB962C8B-B14F-4D97-AF65-F5344CB8AC3E}">
        <p14:creationId xmlns:p14="http://schemas.microsoft.com/office/powerpoint/2010/main" val="68554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E75A-F778-4D09-B316-EE09AA27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4814-3ADF-4473-B3A2-EAC395DB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5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41CD-7565-4925-BCE2-3A5FB4C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Selling $100 does not mean keeping $100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f6a9dd774ec6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021ED-553D-4074-9F3F-945544C7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PROFIT AND NET WORTH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538A3-29EA-45C3-AB11-3BC634D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Profit = revenue − expenses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$100 − $70 = $30 profit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Net worth = assets − liabilities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BE5A-D406-4648-955C-7120495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6EA2E-6B5D-4549-B124-1334DAB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Is a loan something the business owns or owes?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C9F43-5A91-4FA2-B2E7-68E8559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5 · textbook support     Think quietly, then point, write, or explain.     6/29</a:t>
            </a:r>
          </a:p>
        </p:txBody>
      </p:sp>
    </p:spTree>
    <p:extLst>
      <p:ext uri="{BB962C8B-B14F-4D97-AF65-F5344CB8AC3E}">
        <p14:creationId xmlns:p14="http://schemas.microsoft.com/office/powerpoint/2010/main" val="2020554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69515-E0C9-49AF-A8F3-51EAB60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588E8-62D2-4647-9C47-9973DE8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5–7 · SBTE 5–7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E556-C8F1-4A9A-8E44-1D33736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Same shop. Different kinds of work.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4e5251bbb481a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BA0E3-6D33-4F7F-845A-B4605AD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86876-7813-417D-AE15-B3E7A35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Operational: daily work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Investing: build value over time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Financial: money in and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903E9-0A44-49AA-84FB-8C3FDA9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763D-D01C-4E81-9256-1A52D96E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Match making pizza, buying property, collecting payment.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7719C-24C6-4F95-B436-4C13F4E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5–7 · SBTE 5–7     Think quietly, then point, write, or explain.     7/29</a:t>
            </a:r>
          </a:p>
        </p:txBody>
      </p:sp>
    </p:spTree>
    <p:extLst>
      <p:ext uri="{BB962C8B-B14F-4D97-AF65-F5344CB8AC3E}">
        <p14:creationId xmlns:p14="http://schemas.microsoft.com/office/powerpoint/2010/main" val="1480212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41A75-DFEB-44F1-AF69-D0050AE9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A085-6D9C-4DF0-A64E-61FE9A6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5–6 · SBTE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D14A5-25A2-4B33-84F6-B0C841A4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Who keeps the shop running today?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50f0b76394238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56EDC-2AEE-4CC5-BD6C-3C0B4006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OPERATIONAL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87398-2052-41FC-9E8B-A5AD627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Production makes products.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responds to demand.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Management directs work.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Finance handles daily money tasks.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E77E8-3ACA-45CC-93C8-B40EF2C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E9545-1192-457C-B9DC-FFD3D2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Where would paying employees fit?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49556-7744-4121-AE11-350BF7F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5–6 · SBTE 6     Think quietly, then point, write, or explain.     8/29</a:t>
            </a:r>
          </a:p>
        </p:txBody>
      </p:sp>
    </p:spTree>
    <p:extLst>
      <p:ext uri="{BB962C8B-B14F-4D97-AF65-F5344CB8AC3E}">
        <p14:creationId xmlns:p14="http://schemas.microsoft.com/office/powerpoint/2010/main" val="1715926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5407E-7C44-4534-8BA4-255693A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D0CA-2709-4B45-810C-E99FB7E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6 · SBTE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F7ECF-5C41-43A5-A9B8-F8DA19C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might help the shop grow?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683cb87d04dcb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21FE7-8356-4B67-88F4-0A73E44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INVESTING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69BED-7B44-48A9-9459-70D13D1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money with the aim of building wealth over time.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Example: purchase a building.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74EF9-A7DB-49BE-AC59-7A96FCF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31A15-1616-42C5-9480-A1C56B4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Does an investment guarantee a gain?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01684-AEF3-4883-8C03-8B607BAE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6 · SBTE 7     Think quietly, then point, write, or explain.     9/29</a:t>
            </a:r>
          </a:p>
        </p:txBody>
      </p:sp>
    </p:spTree>
    <p:extLst>
      <p:ext uri="{BB962C8B-B14F-4D97-AF65-F5344CB8AC3E}">
        <p14:creationId xmlns:p14="http://schemas.microsoft.com/office/powerpoint/2010/main" val="953669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A5CE8-54AA-4C8C-BE9D-0394813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B6FA-776E-4CCA-A34E-3E22811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7 · SBTE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391FD-815D-4FED-B064-C667AF8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Follow the money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38940974b4d6e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3F6A0-326C-4D88-918B-625DBA5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FINANCIAL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E2EE-99C7-4C02-B1D0-2BB5DE5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Money comes in through sales.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Money goes out to suppliers or employees.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537C-C4A9-4E27-99C6-948AF792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CDF0-A1F4-492D-BF04-1E9936C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input and one output for the pizza shop.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63654-149C-42C3-9161-7D7B38EC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7 · SBTE 7     Think quietly, then point, write, or explain.     10/29</a:t>
            </a:r>
          </a:p>
        </p:txBody>
      </p:sp>
    </p:spTree>
    <p:extLst>
      <p:ext uri="{BB962C8B-B14F-4D97-AF65-F5344CB8AC3E}">
        <p14:creationId xmlns:p14="http://schemas.microsoft.com/office/powerpoint/2010/main" val="1193282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5F902-BA0D-4569-BCE1-C6F60338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F10C1-A81F-47A6-B683-EBBF15E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8–9 · SBTE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84158-34AF-4B56-9E27-583BF334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Who benefits besides the customer?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56a22f24f4b2c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720D5-E254-4A85-ACCA-7C16D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BUSINESSES AND SOCIETY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BC5BE-B5FF-4C33-9754-8EA9866C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Provide products.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Create markets for exchange.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Support employment, wages, and taxes.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517DD-E5BE-407E-A880-A118C33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2E1B1-A959-475E-BA90-FE889B0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a neighborhood shop affect the community?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E91C3-D6C6-46AC-883A-B57E805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8–9 · SBTE 8     Think quietly, then point, write, or explain.     11/29</a:t>
            </a:r>
          </a:p>
        </p:txBody>
      </p:sp>
    </p:spTree>
    <p:extLst>
      <p:ext uri="{BB962C8B-B14F-4D97-AF65-F5344CB8AC3E}">
        <p14:creationId xmlns:p14="http://schemas.microsoft.com/office/powerpoint/2010/main" val="987571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14789-D52D-43EE-BF00-D82F4012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28DD8-BD4D-42AC-8F22-26656C2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8 · SBTE 8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AB206-7C06-45CA-A47B-6AA7A86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Warm clothing or this exact hoodie?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a1db5e53c4389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749D1-FCA3-42FE-A323-87C21531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ECONOMIC NEEDS AND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6E2D-4290-41AF-8454-2989A15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Need: essential to survival.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Want: something desired.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Clothing can meet a need; a particular style can be a want.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9E42C-0010-4B75-AD34-EEDAFB1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15AE1-EED6-46EB-9351-7637640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Could the situation change what someone needs?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75958-C450-4D4D-941A-1E481A7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8 · SBTE 8 support     Think quietly, then point, write, or explain.     12/29</a:t>
            </a:r>
          </a:p>
        </p:txBody>
      </p:sp>
    </p:spTree>
    <p:extLst>
      <p:ext uri="{BB962C8B-B14F-4D97-AF65-F5344CB8AC3E}">
        <p14:creationId xmlns:p14="http://schemas.microsoft.com/office/powerpoint/2010/main" val="365798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0621-20E8-4513-9D32-C5AC41E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A5FA-AE93-4289-B969-B69F2EF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10 · SBTE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5B24-FA61-4112-9011-1657C00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YOUR favorite work for everyone?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7e64bbc394d8d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D2317-0B0C-458F-AC4C-A7D5DC92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PURPOSE OF 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3D73-55E8-4693-A53C-726F9299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Understand customer wants and needs.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research and evidence to deliver products that meet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7756-A50C-4BED-B856-1564D13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3599C-9BA8-4C93-9950-3D0C7821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would you ask before making 200 hoodies?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531D6-E32A-4FB5-A275-54F1777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10 · SBTE 9     Think quietly, then point, write, or explain.     13/29</a:t>
            </a:r>
          </a:p>
        </p:txBody>
      </p:sp>
    </p:spTree>
    <p:extLst>
      <p:ext uri="{BB962C8B-B14F-4D97-AF65-F5344CB8AC3E}">
        <p14:creationId xmlns:p14="http://schemas.microsoft.com/office/powerpoint/2010/main" val="467963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26375-DDF0-4A14-97B2-F904D47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B6A9-A436-43EB-9E53-8141026E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10–11 · SBTE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75C0B-906C-43CA-A97B-069C19D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choice meets business reality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e85c844634058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D26A3-A4AA-425A-8AE2-3784E23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BDB85-E53D-4CDA-BB81-1C8B1427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needs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Company goals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Profits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A69C2-0154-4D21-B01A-DD2A811A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49E77-9812-4D4B-A439-3119D0C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comfortable hoodie costs more to make. What must the shop consider?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401B6-48D1-4742-BB3A-F1078BB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Think quietly, then point, write, or explain.     14/29</a:t>
            </a:r>
          </a:p>
        </p:txBody>
      </p:sp>
    </p:spTree>
    <p:extLst>
      <p:ext uri="{BB962C8B-B14F-4D97-AF65-F5344CB8AC3E}">
        <p14:creationId xmlns:p14="http://schemas.microsoft.com/office/powerpoint/2010/main" val="1652005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F7DC-20FB-447E-AAB5-88273EF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C3AAC-E762-48DB-BE05-874B31D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10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695BE-4E73-4BB5-8292-62B5DE7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30 out of 100 hoodie sales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b7b76c27c44f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8FC7E-233F-4D3D-8A98-5CA4A251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 SHARE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B9A9E-A605-40A4-B86F-7699574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If one shop sells 30 of 100 hoodies in the defined market, its share is 30%.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DCD45-6D1E-43D6-B512-0818778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B29B5-0581-4908-BD4B-00929411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If its sales rise, must its share rise too?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FE930-B358-45E8-B21B-15A01475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10 · textbook support     Think quietly, then point, write, or explain.     15/29</a:t>
            </a:r>
          </a:p>
        </p:txBody>
      </p:sp>
    </p:spTree>
    <p:extLst>
      <p:ext uri="{BB962C8B-B14F-4D97-AF65-F5344CB8AC3E}">
        <p14:creationId xmlns:p14="http://schemas.microsoft.com/office/powerpoint/2010/main" val="155716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9069F-7FC3-4BBC-A474-56C59E5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CA79E-7D47-4106-B007-1CDC8D5F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11–12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FF332-2F5A-4B94-A286-368EFDB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decision are we making?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c7f03054e4ec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10132-BFBE-4BE9-9697-F75DD33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MIX: THE 4 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3453E-FCB1-4082-8177-931A210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Product: what customers receive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Promotion: how it is communicated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Price: what customers pay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Place: how it reaches them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76B7-FD70-41C1-A28D-EF27D94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A2474-DFE9-4C41-99BB-94AF775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late delivery: which P needs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F148-8960-4E4D-953F-097255A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Think quietly, then point, write, or explain.     16/29</a:t>
            </a:r>
          </a:p>
        </p:txBody>
      </p:sp>
    </p:spTree>
    <p:extLst>
      <p:ext uri="{BB962C8B-B14F-4D97-AF65-F5344CB8AC3E}">
        <p14:creationId xmlns:p14="http://schemas.microsoft.com/office/powerpoint/2010/main" val="13331889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2C44C-132E-4999-8695-A132CCD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9C08D-BD68-4453-B1F1-2FF28F6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11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2E7D0-A079-4842-B7B8-6F658B2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snack package would work better?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523a08b984f2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39E6-DD2A-453A-9AF6-A9E74870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966EC-0A1F-486C-A334-7B036EE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Features of goods and services can change to meet customers’ wants and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E1CF8-F131-4310-9742-B161CD2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4D9C0-312C-4D6A-97E5-B4F6A05C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a feature, then the customer problem it could solve.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726A2-2B27-4D4B-BEF8-EA27E54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11 · SBTE 10     Think quietly, then point, write, or explain.     17/29</a:t>
            </a:r>
          </a:p>
        </p:txBody>
      </p:sp>
    </p:spTree>
    <p:extLst>
      <p:ext uri="{BB962C8B-B14F-4D97-AF65-F5344CB8AC3E}">
        <p14:creationId xmlns:p14="http://schemas.microsoft.com/office/powerpoint/2010/main" val="1104682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50DFC-DAD5-4906-9D66-0E3F4EC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C65E0-C73E-42E6-AB5C-757B414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11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2312A-232D-442E-BAB9-3BCBAC1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would anyone hear about it?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526e43e34651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D5998-BE4B-457F-A306-42E0EE8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B53C8-9F28-441C-9D3F-58C762D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Communication intended to interest customers.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Examples: an advertisement or a sales message.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432D-6FDD-48CC-9F2E-8F0E975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677F-B870-4336-A889-E55934D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is the MESSAGE different from the snack?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5934E-A308-42E6-BB59-C4EF2CA6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11 · SBTE 10     Think quietly, then point, write, or explain.     18/29</a:t>
            </a:r>
          </a:p>
        </p:txBody>
      </p:sp>
    </p:spTree>
    <p:extLst>
      <p:ext uri="{BB962C8B-B14F-4D97-AF65-F5344CB8AC3E}">
        <p14:creationId xmlns:p14="http://schemas.microsoft.com/office/powerpoint/2010/main" val="11284592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1C2DC-1658-44EC-9609-7212ED2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302E7-5F02-4572-A05F-493689D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8564-71CE-4838-95DF-5055B55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price has to work on both sides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4ff0770c84acf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6DC48-C14A-4BBA-9B95-5A1ED53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268F7-F9AC-4FC1-8F0C-640D756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amount charged for a good or service.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Consider customer value, costs, and competitors.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5ADB-F0D9-4F06-AA76-9DFFA36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5BCEE-C2E9-4D91-9051-1E46BD6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If a product sells below its cost, what happens?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1EADD-20D0-4B5D-98EC-BA7BA6F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12 · SBTE 10     Think quietly, then point, write, or explain.     19/29</a:t>
            </a:r>
          </a:p>
        </p:txBody>
      </p:sp>
    </p:spTree>
    <p:extLst>
      <p:ext uri="{BB962C8B-B14F-4D97-AF65-F5344CB8AC3E}">
        <p14:creationId xmlns:p14="http://schemas.microsoft.com/office/powerpoint/2010/main" val="1520318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CCDD7-41F6-4E53-85B9-E06587A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0D150-4DCA-4D0A-80D5-CDCE4D4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61A3-3968-4685-8F12-6B74C79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snack delivery misses the event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46e7bcbb84f23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8AEE6-FE0B-4696-98FC-BE6C39F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4C735-D779-4B0C-A0AC-6AF2424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path from producer to customer.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Where, when, and how the product arrives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4B3E-6B43-4674-B383-5C66D2D6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F9DE-815C-4CDE-A9B1-E108E868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Could online ordering still require a physical distribution plan?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E4C82-75F6-47D9-8F7C-9A38263A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12 · SBTE 10     Think quietly, then point, write, or explain.     20/29</a:t>
            </a:r>
          </a:p>
        </p:txBody>
      </p:sp>
    </p:spTree>
    <p:extLst>
      <p:ext uri="{BB962C8B-B14F-4D97-AF65-F5344CB8AC3E}">
        <p14:creationId xmlns:p14="http://schemas.microsoft.com/office/powerpoint/2010/main" val="13198657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4BC76-F017-4639-AF84-4924EFD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F951E-ADA0-4032-8C93-D6B1EF4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13–15 · SBTE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93E05-700D-4C2C-A445-D09F4AE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Seven jobs behind one offer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cbc9b5b2f4f1f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8C9EF-69C6-4FB0-AC45-B8D4B5F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307A6-AA4C-4EE2-9604-5486353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Channel management • MIM • Marketing planning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Pricing • Product/service management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Promotion • Selling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091D4-6DAF-4CE3-B624-3EB54E2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27424-2AA9-4315-8084-9389136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job learns what people want?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40B8-7AEC-4D14-886E-6E2268F8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     Think quietly, then point, write, or explain.     21/29</a:t>
            </a:r>
          </a:p>
        </p:txBody>
      </p:sp>
    </p:spTree>
    <p:extLst>
      <p:ext uri="{BB962C8B-B14F-4D97-AF65-F5344CB8AC3E}">
        <p14:creationId xmlns:p14="http://schemas.microsoft.com/office/powerpoint/2010/main" val="8986852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C6421-1A8A-4EFB-8105-22D3CE9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63CE6-A9BD-4977-9243-9713125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13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92005-EA67-45EF-A0E9-6552E42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repaired bike needs a pickup plan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2f00de1d2433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404AB-71E8-467F-9138-BDCB0D3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CHANNEL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EFBB1-6F9F-420C-A6B1-5202BCD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Coordinate how, when, and where products travel from producers to customers.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BC87D-9BC3-4589-AD06-8C59228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34190-234E-49D4-B781-14EFB40A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Why does an inaccessible pickup time matter?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1FB29-E043-4326-A0C8-B33D736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13 · SBTE 12     Think quietly, then point, write, or explain.     22/29</a:t>
            </a:r>
          </a:p>
        </p:txBody>
      </p:sp>
    </p:spTree>
    <p:extLst>
      <p:ext uri="{BB962C8B-B14F-4D97-AF65-F5344CB8AC3E}">
        <p14:creationId xmlns:p14="http://schemas.microsoft.com/office/powerpoint/2010/main" val="7541797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7154A-0B6D-4266-81A2-A4C278DA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8700-0232-4982-8854-F109BEC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13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BEF16-E852-41B8-B784-E433778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Ask before assuming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29f54ee174b76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EC0EB-724E-424C-9F7E-8241FD0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INFORMATION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71F56-D776-4A12-9238-AE279A7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 research gathers qualitative and quantitative evidence.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Target market: the group a business focuses on selling 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FC58F-DBC8-46DF-A49F-95C6BF7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0B594-35D4-4C92-B83E-D48F448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“Play, watch, or neither?” Why include all three?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D8EF4-0476-475D-9221-87D7992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13 · SBTE 12     Think quietly, then point, write, or explain.     23/29</a:t>
            </a:r>
          </a:p>
        </p:txBody>
      </p:sp>
    </p:spTree>
    <p:extLst>
      <p:ext uri="{BB962C8B-B14F-4D97-AF65-F5344CB8AC3E}">
        <p14:creationId xmlns:p14="http://schemas.microsoft.com/office/powerpoint/2010/main" val="2794276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296D8-144E-4689-932D-7032B75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95C6A-7DF6-4C7B-A90C-0BA53E0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13–14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9DB3-2A71-42DA-AC36-C44054A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the event pay its costs?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c2d7099d34e35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F84F8-88D0-4F36-868B-88CB9E9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23A8A-2544-4EEA-BF7F-92CD03E0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Secure and allocate the funds to produce, market, and sell.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Equity: ownership investment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Debt: loans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Crowdfunding: many small 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E79CD-2B74-475E-BABF-14B517B5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B31A3-3119-4E0A-8D13-48CEF19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funding route creates debt?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60B3E-1657-485A-B337-88135A3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13–14 · SBTE 12     Think quietly, then point, write, or explain.     24/29</a:t>
            </a:r>
          </a:p>
        </p:txBody>
      </p:sp>
    </p:spTree>
    <p:extLst>
      <p:ext uri="{BB962C8B-B14F-4D97-AF65-F5344CB8AC3E}">
        <p14:creationId xmlns:p14="http://schemas.microsoft.com/office/powerpoint/2010/main" val="15849840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088B-3135-436B-A538-82C38630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FEBF2-F9FC-4E18-A25C-0018CC3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9C316-68D3-4DFC-A8F6-4C76322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much should it cost?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1e1ecbcba41c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679D-5A33-44CC-8698-226CF48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63DF-504E-41CB-AABA-9FF1CAB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customer evidence and market conditions to set a price that supports profit.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2283F-EF9A-4361-9473-3D3D730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751E-ED90-4736-B1BB-2D39746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is the difference between price and pricing?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45EC5-70A1-432E-B6DE-F0CE6FB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25/29</a:t>
            </a:r>
          </a:p>
        </p:txBody>
      </p:sp>
    </p:spTree>
    <p:extLst>
      <p:ext uri="{BB962C8B-B14F-4D97-AF65-F5344CB8AC3E}">
        <p14:creationId xmlns:p14="http://schemas.microsoft.com/office/powerpoint/2010/main" val="3079456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AAED1-70E5-472A-B403-AD22ADA7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A60E-1C3A-4300-9BAF-FFEE529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11CA3-4A32-4DB6-BECA-3A237C8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Customers want a more reliable repair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cb27773814ab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2A1AC-67A2-437D-9191-BB21135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PRODUCT AND SERVICE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E60B-56DE-4B61-B161-A028D7B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customer problems and preferences to improve features or develop a solution.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D83A3-F6F3-40C4-9355-0F7AF12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553BE-F24E-4369-A6DD-87F84A2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could change? How might the cost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341FA-D503-498D-8C74-94F63AE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26/29</a:t>
            </a:r>
          </a:p>
        </p:txBody>
      </p:sp>
    </p:spTree>
    <p:extLst>
      <p:ext uri="{BB962C8B-B14F-4D97-AF65-F5344CB8AC3E}">
        <p14:creationId xmlns:p14="http://schemas.microsoft.com/office/powerpoint/2010/main" val="12340449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72F8B-5468-4CCF-8E8C-0270125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226A-008D-4CAC-877F-A3B5643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53E32-94B2-4F29-83BB-238D510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message can change someone’s choice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a106aee874e4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300BE-F3E2-4D7D-8909-299B3D1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3A5B1-D0FB-4B95-9C79-209BD4D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Send messages that influence purchasing.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Store design and advertisements can both communicate.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57B5B-169D-4A78-88BF-AC391CC4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7F8CB-83D3-4B43-979F-1A6C5FE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clue in an ad could appeal to its audience?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8328C-A09D-408B-AE8C-919ABCD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27/29</a:t>
            </a:r>
          </a:p>
        </p:txBody>
      </p:sp>
    </p:spTree>
    <p:extLst>
      <p:ext uri="{BB962C8B-B14F-4D97-AF65-F5344CB8AC3E}">
        <p14:creationId xmlns:p14="http://schemas.microsoft.com/office/powerpoint/2010/main" val="2470967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6DEC1-E288-47E4-BCC8-3394B69E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2F0E4-9172-435F-A1CC-A7CC82D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6415C-5A40-4C63-96A3-6B229E80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“Which option would work for you?”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e11f3dd2b4d20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454D-BFAB-41D1-95F3-12C8863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SELLING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B194A-34A2-4303-9CA9-A9D19EC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Help match the product to the target customer at the right place, price, and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DE61B-5D07-4A1A-B8FC-70E1311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F6115-4BCE-4E3B-90CF-70B1664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asking a question help a sale?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ECAB-63F1-46EF-8B9C-F90C45D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28/29</a:t>
            </a:r>
          </a:p>
        </p:txBody>
      </p:sp>
    </p:spTree>
    <p:extLst>
      <p:ext uri="{BB962C8B-B14F-4D97-AF65-F5344CB8AC3E}">
        <p14:creationId xmlns:p14="http://schemas.microsoft.com/office/powerpoint/2010/main" val="10997383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F59BC-F924-402B-8F3D-2A384CE0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9E952-44E3-493B-9FCC-E44630C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15–16 · SBTE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5D14C-BDCF-4D03-A65D-F24B41F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Now prove the connection in the text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039a4a8fc45e8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B633-A019-44DF-81F2-747637B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1ED61-9282-4322-A71B-1BFAAC7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 Figure 1.4 example.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its function.</a:t>
            </a:r>
          </a:p>
          <a:p xmlns:a="http://schemas.openxmlformats.org/drawingml/2006/main">
            <a:pPr>
              <a:buNone/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its link to needs, goals, or profits.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C5095-FDB1-446A-BCFC-2EF17D26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7279A-50AB-4163-B7DF-8334F6C8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Example: farm pickup routes support customer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AB451-0135-47B5-8C2D-5B3D8604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15–16 · SBTE 14     Think quietly, then point, write, or explain.     29/29</a:t>
            </a:r>
          </a:p>
        </p:txBody>
      </p:sp>
    </p:spTree>
    <p:extLst>
      <p:ext uri="{BB962C8B-B14F-4D97-AF65-F5344CB8AC3E}">
        <p14:creationId xmlns:p14="http://schemas.microsoft.com/office/powerpoint/2010/main" val="1950585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2026-09-18T00:20:40.9220000Z</dcterms:created>
  <dcterms:modified xsi:type="dcterms:W3CDTF">2026-09-18T00:20:40.9220000Z</dcterms:modified>
</coreProperties>
</file>