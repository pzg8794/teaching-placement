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d31075c9fa46ed" /><Relationship Type="http://schemas.openxmlformats.org/officeDocument/2006/relationships/extended-properties" Target="/docProps/app.xml" Id="Rd506e74de39f4a50" /><Relationship Type="http://schemas.openxmlformats.org/officeDocument/2006/relationships/officeDocument" Target="/ppt/presentation.xml" Id="R518b8684de7740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7b42a505074fdc"/>
  </p:sldMasterIdLst>
  <p:notesMasterIdLst>
    <p:notesMasterId xmlns:r="http://schemas.openxmlformats.org/officeDocument/2006/relationships" r:id="R61019d8961994afe"/>
  </p:notesMasterIdLst>
  <p:sldIdLst>
    <p:sldId xmlns:r="http://schemas.openxmlformats.org/officeDocument/2006/relationships" id="256" r:id="R4ae38b23a96f4576"/>
    <p:sldId xmlns:r="http://schemas.openxmlformats.org/officeDocument/2006/relationships" id="257" r:id="R7d6077af2cc74591"/>
    <p:sldId xmlns:r="http://schemas.openxmlformats.org/officeDocument/2006/relationships" id="258" r:id="Rf997abac1e224b4d"/>
    <p:sldId xmlns:r="http://schemas.openxmlformats.org/officeDocument/2006/relationships" id="259" r:id="Re24386386846419d"/>
    <p:sldId xmlns:r="http://schemas.openxmlformats.org/officeDocument/2006/relationships" id="260" r:id="R6e3a5138a6ea4b77"/>
    <p:sldId xmlns:r="http://schemas.openxmlformats.org/officeDocument/2006/relationships" id="261" r:id="Re992e261b83d4af3"/>
    <p:sldId xmlns:r="http://schemas.openxmlformats.org/officeDocument/2006/relationships" id="262" r:id="R4a7426da988f4ded"/>
    <p:sldId xmlns:r="http://schemas.openxmlformats.org/officeDocument/2006/relationships" id="263" r:id="R0a40611c46f14a70"/>
    <p:sldId xmlns:r="http://schemas.openxmlformats.org/officeDocument/2006/relationships" id="264" r:id="R259177f2e2694585"/>
    <p:sldId xmlns:r="http://schemas.openxmlformats.org/officeDocument/2006/relationships" id="265" r:id="Rcec4c0e6e1cd4dee"/>
    <p:sldId xmlns:r="http://schemas.openxmlformats.org/officeDocument/2006/relationships" id="266" r:id="Rd47dd4ba066e4469"/>
    <p:sldId xmlns:r="http://schemas.openxmlformats.org/officeDocument/2006/relationships" id="267" r:id="Ra72cc0cfcb5044a2"/>
    <p:sldId xmlns:r="http://schemas.openxmlformats.org/officeDocument/2006/relationships" id="268" r:id="Rf54663d281ba4fc0"/>
    <p:sldId xmlns:r="http://schemas.openxmlformats.org/officeDocument/2006/relationships" id="269" r:id="R43f7e2f7b2f943a2"/>
    <p:sldId xmlns:r="http://schemas.openxmlformats.org/officeDocument/2006/relationships" id="270" r:id="R5afdcec6fb8148ac"/>
    <p:sldId xmlns:r="http://schemas.openxmlformats.org/officeDocument/2006/relationships" id="271" r:id="R988c191b99fa4cd4"/>
    <p:sldId xmlns:r="http://schemas.openxmlformats.org/officeDocument/2006/relationships" id="272" r:id="Ra1f920c5bb3b43f3"/>
    <p:sldId xmlns:r="http://schemas.openxmlformats.org/officeDocument/2006/relationships" id="273" r:id="R75c283de288d41af"/>
    <p:sldId xmlns:r="http://schemas.openxmlformats.org/officeDocument/2006/relationships" id="274" r:id="R07a8bf0870594b46"/>
    <p:sldId xmlns:r="http://schemas.openxmlformats.org/officeDocument/2006/relationships" id="275" r:id="R0966aa6c22294fc5"/>
    <p:sldId xmlns:r="http://schemas.openxmlformats.org/officeDocument/2006/relationships" id="276" r:id="R2725f0c53bc7410e"/>
    <p:sldId xmlns:r="http://schemas.openxmlformats.org/officeDocument/2006/relationships" id="277" r:id="Ra44588636c0d421b"/>
    <p:sldId xmlns:r="http://schemas.openxmlformats.org/officeDocument/2006/relationships" id="278" r:id="Rc37fb911725a4bc6"/>
    <p:sldId xmlns:r="http://schemas.openxmlformats.org/officeDocument/2006/relationships" id="279" r:id="R239b322312c14b36"/>
    <p:sldId xmlns:r="http://schemas.openxmlformats.org/officeDocument/2006/relationships" id="280" r:id="Rffff37b7497b408f"/>
    <p:sldId xmlns:r="http://schemas.openxmlformats.org/officeDocument/2006/relationships" id="281" r:id="R79d7837d7a7148fd"/>
    <p:sldId xmlns:r="http://schemas.openxmlformats.org/officeDocument/2006/relationships" id="282" r:id="Rbf91b64c04214e5a"/>
    <p:sldId xmlns:r="http://schemas.openxmlformats.org/officeDocument/2006/relationships" id="283" r:id="R78fd709d0a3047bd"/>
    <p:sldId xmlns:r="http://schemas.openxmlformats.org/officeDocument/2006/relationships" id="284" r:id="R39bd6f376c3046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8a89cac30e4fda" /><Relationship Type="http://schemas.openxmlformats.org/officeDocument/2006/relationships/slideMaster" Target="/ppt/slideMasters/slideMaster1.xml" Id="Rf47b42a505074fdc" /><Relationship Type="http://schemas.openxmlformats.org/officeDocument/2006/relationships/notesMaster" Target="/ppt/notesMasters/notesMaster1.xml" Id="R61019d8961994afe" /><Relationship Type="http://schemas.openxmlformats.org/officeDocument/2006/relationships/presProps" Target="/ppt/presProps.xml" Id="R432c84152ad84eb4" /><Relationship Type="http://schemas.openxmlformats.org/officeDocument/2006/relationships/tableStyles" Target="/ppt/tableStyles.xml" Id="Rd75cf52ffbc84b68" /><Relationship Type="http://schemas.openxmlformats.org/officeDocument/2006/relationships/slide" Target="/ppt/slides/slide1.xml" Id="R4ae38b23a96f4576" /><Relationship Type="http://schemas.openxmlformats.org/officeDocument/2006/relationships/slide" Target="/ppt/slides/slide2.xml" Id="R7d6077af2cc74591" /><Relationship Type="http://schemas.openxmlformats.org/officeDocument/2006/relationships/slide" Target="/ppt/slides/slide3.xml" Id="Rf997abac1e224b4d" /><Relationship Type="http://schemas.openxmlformats.org/officeDocument/2006/relationships/slide" Target="/ppt/slides/slide4.xml" Id="Re24386386846419d" /><Relationship Type="http://schemas.openxmlformats.org/officeDocument/2006/relationships/slide" Target="/ppt/slides/slide5.xml" Id="R6e3a5138a6ea4b77" /><Relationship Type="http://schemas.openxmlformats.org/officeDocument/2006/relationships/slide" Target="/ppt/slides/slide6.xml" Id="Re992e261b83d4af3" /><Relationship Type="http://schemas.openxmlformats.org/officeDocument/2006/relationships/slide" Target="/ppt/slides/slide7.xml" Id="R4a7426da988f4ded" /><Relationship Type="http://schemas.openxmlformats.org/officeDocument/2006/relationships/slide" Target="/ppt/slides/slide8.xml" Id="R0a40611c46f14a70" /><Relationship Type="http://schemas.openxmlformats.org/officeDocument/2006/relationships/slide" Target="/ppt/slides/slide9.xml" Id="R259177f2e2694585" /><Relationship Type="http://schemas.openxmlformats.org/officeDocument/2006/relationships/slide" Target="/ppt/slides/slide10.xml" Id="Rcec4c0e6e1cd4dee" /><Relationship Type="http://schemas.openxmlformats.org/officeDocument/2006/relationships/slide" Target="/ppt/slides/slide11.xml" Id="Rd47dd4ba066e4469" /><Relationship Type="http://schemas.openxmlformats.org/officeDocument/2006/relationships/slide" Target="/ppt/slides/slide12.xml" Id="Ra72cc0cfcb5044a2" /><Relationship Type="http://schemas.openxmlformats.org/officeDocument/2006/relationships/slide" Target="/ppt/slides/slide13.xml" Id="Rf54663d281ba4fc0" /><Relationship Type="http://schemas.openxmlformats.org/officeDocument/2006/relationships/slide" Target="/ppt/slides/slide14.xml" Id="R43f7e2f7b2f943a2" /><Relationship Type="http://schemas.openxmlformats.org/officeDocument/2006/relationships/slide" Target="/ppt/slides/slide15.xml" Id="R5afdcec6fb8148ac" /><Relationship Type="http://schemas.openxmlformats.org/officeDocument/2006/relationships/slide" Target="/ppt/slides/slide16.xml" Id="R988c191b99fa4cd4" /><Relationship Type="http://schemas.openxmlformats.org/officeDocument/2006/relationships/slide" Target="/ppt/slides/slide17.xml" Id="Ra1f920c5bb3b43f3" /><Relationship Type="http://schemas.openxmlformats.org/officeDocument/2006/relationships/slide" Target="/ppt/slides/slide18.xml" Id="R75c283de288d41af" /><Relationship Type="http://schemas.openxmlformats.org/officeDocument/2006/relationships/slide" Target="/ppt/slides/slide19.xml" Id="R07a8bf0870594b46" /><Relationship Type="http://schemas.openxmlformats.org/officeDocument/2006/relationships/slide" Target="/ppt/slides/slide20.xml" Id="R0966aa6c22294fc5" /><Relationship Type="http://schemas.openxmlformats.org/officeDocument/2006/relationships/slide" Target="/ppt/slides/slide21.xml" Id="R2725f0c53bc7410e" /><Relationship Type="http://schemas.openxmlformats.org/officeDocument/2006/relationships/slide" Target="/ppt/slides/slide22.xml" Id="Ra44588636c0d421b" /><Relationship Type="http://schemas.openxmlformats.org/officeDocument/2006/relationships/slide" Target="/ppt/slides/slide23.xml" Id="Rc37fb911725a4bc6" /><Relationship Type="http://schemas.openxmlformats.org/officeDocument/2006/relationships/slide" Target="/ppt/slides/slide24.xml" Id="R239b322312c14b36" /><Relationship Type="http://schemas.openxmlformats.org/officeDocument/2006/relationships/slide" Target="/ppt/slides/slide25.xml" Id="Rffff37b7497b408f" /><Relationship Type="http://schemas.openxmlformats.org/officeDocument/2006/relationships/slide" Target="/ppt/slides/slide26.xml" Id="R79d7837d7a7148fd" /><Relationship Type="http://schemas.openxmlformats.org/officeDocument/2006/relationships/slide" Target="/ppt/slides/slide27.xml" Id="Rbf91b64c04214e5a" /><Relationship Type="http://schemas.openxmlformats.org/officeDocument/2006/relationships/slide" Target="/ppt/slides/slide28.xml" Id="R78fd709d0a3047bd" /><Relationship Type="http://schemas.openxmlformats.org/officeDocument/2006/relationships/slide" Target="/ppt/slides/slide29.xml" Id="R39bd6f376c3046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069f9ba5604d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1cd32d35fe470a" /><Relationship Type="http://schemas.openxmlformats.org/officeDocument/2006/relationships/notesMaster" Target="/ppt/notesMasters/notesMaster1.xml" Id="Re6e1a649d1da47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512fa05ff044a3" /><Relationship Type="http://schemas.openxmlformats.org/officeDocument/2006/relationships/notesMaster" Target="/ppt/notesMasters/notesMaster1.xml" Id="Rdb54442918af40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acf609224d4a03" /><Relationship Type="http://schemas.openxmlformats.org/officeDocument/2006/relationships/notesMaster" Target="/ppt/notesMasters/notesMaster1.xml" Id="Rc986a5d4f03644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a1a34b4ae245db" /><Relationship Type="http://schemas.openxmlformats.org/officeDocument/2006/relationships/notesMaster" Target="/ppt/notesMasters/notesMaster1.xml" Id="R529ca2381c084c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3a3b68b1e64624" /><Relationship Type="http://schemas.openxmlformats.org/officeDocument/2006/relationships/notesMaster" Target="/ppt/notesMasters/notesMaster1.xml" Id="Rabae4fe54c8144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866aa77aeb4ec0" /><Relationship Type="http://schemas.openxmlformats.org/officeDocument/2006/relationships/notesMaster" Target="/ppt/notesMasters/notesMaster1.xml" Id="Rd913c372b4ed4e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72b730c8354595" /><Relationship Type="http://schemas.openxmlformats.org/officeDocument/2006/relationships/notesMaster" Target="/ppt/notesMasters/notesMaster1.xml" Id="R61ca70bc20d949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fbe00e0a6d49a2" /><Relationship Type="http://schemas.openxmlformats.org/officeDocument/2006/relationships/notesMaster" Target="/ppt/notesMasters/notesMaster1.xml" Id="R05888137011245a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66faedf46f840eb" /><Relationship Type="http://schemas.openxmlformats.org/officeDocument/2006/relationships/notesMaster" Target="/ppt/notesMasters/notesMaster1.xml" Id="Ra7dafabf6af7412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18e529a247a40cf" /><Relationship Type="http://schemas.openxmlformats.org/officeDocument/2006/relationships/notesMaster" Target="/ppt/notesMasters/notesMaster1.xml" Id="R522cb768a498465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abe07a47d044d92" /><Relationship Type="http://schemas.openxmlformats.org/officeDocument/2006/relationships/notesMaster" Target="/ppt/notesMasters/notesMaster1.xml" Id="R1eeb5dd5b3104f7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49d751bf45948fd" /><Relationship Type="http://schemas.openxmlformats.org/officeDocument/2006/relationships/notesMaster" Target="/ppt/notesMasters/notesMaster1.xml" Id="R20551d09aa89418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69648c360904e90" /><Relationship Type="http://schemas.openxmlformats.org/officeDocument/2006/relationships/notesMaster" Target="/ppt/notesMasters/notesMaster1.xml" Id="Rada4cd86957744a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4a27e8a197e40bc" /><Relationship Type="http://schemas.openxmlformats.org/officeDocument/2006/relationships/notesMaster" Target="/ppt/notesMasters/notesMaster1.xml" Id="Rf1dafad440c7478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27a8c6e88a5496f" /><Relationship Type="http://schemas.openxmlformats.org/officeDocument/2006/relationships/notesMaster" Target="/ppt/notesMasters/notesMaster1.xml" Id="R76895fb0fc7a463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66d4068c0a64227" /><Relationship Type="http://schemas.openxmlformats.org/officeDocument/2006/relationships/notesMaster" Target="/ppt/notesMasters/notesMaster1.xml" Id="R1c73b3ff97f6473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58f4a38829e4826" /><Relationship Type="http://schemas.openxmlformats.org/officeDocument/2006/relationships/notesMaster" Target="/ppt/notesMasters/notesMaster1.xml" Id="Ra6a1b0943e5b47b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ca72353afeb4869" /><Relationship Type="http://schemas.openxmlformats.org/officeDocument/2006/relationships/notesMaster" Target="/ppt/notesMasters/notesMaster1.xml" Id="R5a26deb097b448c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910a217bfac4266" /><Relationship Type="http://schemas.openxmlformats.org/officeDocument/2006/relationships/notesMaster" Target="/ppt/notesMasters/notesMaster1.xml" Id="Re86e8c93cdf247f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089b9d15fdb4287" /><Relationship Type="http://schemas.openxmlformats.org/officeDocument/2006/relationships/notesMaster" Target="/ppt/notesMasters/notesMaster1.xml" Id="Rabde31f61f784c9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181e7a0c40742d2" /><Relationship Type="http://schemas.openxmlformats.org/officeDocument/2006/relationships/notesMaster" Target="/ppt/notesMasters/notesMaster1.xml" Id="R5c0dc9d63d944fe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de5a083978540c8" /><Relationship Type="http://schemas.openxmlformats.org/officeDocument/2006/relationships/notesMaster" Target="/ppt/notesMasters/notesMaster1.xml" Id="R95c5f5b2b91a4be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08866d8a7c34d10" /><Relationship Type="http://schemas.openxmlformats.org/officeDocument/2006/relationships/notesMaster" Target="/ppt/notesMasters/notesMaster1.xml" Id="R1224ac540ddf4c3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f32a54944804faf" /><Relationship Type="http://schemas.openxmlformats.org/officeDocument/2006/relationships/notesMaster" Target="/ppt/notesMasters/notesMaster1.xml" Id="Rd750f8216dfa49a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e9dad2c48ed4577" /><Relationship Type="http://schemas.openxmlformats.org/officeDocument/2006/relationships/notesMaster" Target="/ppt/notesMasters/notesMaster1.xml" Id="Ra309ccb95958466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d15cfbaae8e4c24" /><Relationship Type="http://schemas.openxmlformats.org/officeDocument/2006/relationships/notesMaster" Target="/ppt/notesMasters/notesMaster1.xml" Id="Rfcc7692b114542e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55b63d99ea44e22" /><Relationship Type="http://schemas.openxmlformats.org/officeDocument/2006/relationships/notesMaster" Target="/ppt/notesMasters/notesMaster1.xml" Id="R1572110f987f42d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ce043a8694f4252" /><Relationship Type="http://schemas.openxmlformats.org/officeDocument/2006/relationships/notesMaster" Target="/ppt/notesMasters/notesMaster1.xml" Id="R3c8d48663904470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4c9688552d34343" /><Relationship Type="http://schemas.openxmlformats.org/officeDocument/2006/relationships/notesMaster" Target="/ppt/notesMasters/notesMaster1.xml" Id="R219c1fc0307342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p. 3 · SBTE 2–3; original SBTE deck remains content authority.</a:t>
            </a:r>
          </a:p>
          <a:p xmlns:a="http://schemas.openxmlformats.org/drawingml/2006/main">
            <a:r>
              <a:t>PITER SAYS: “Look at the picture. A hoodie, a shop, and your choices” Pause 10 seconds. Then connect one noticed detail to CHAPTER 1 LEARNING TARGETS. Read and explain the academic language.</a:t>
            </a:r>
          </a:p>
          <a:p xmlns:a="http://schemas.openxmlformats.org/drawingml/2006/main">
            <a:r>
              <a:t>CHECK: Which choice could make this product work better?</a:t>
            </a:r>
          </a:p>
          <a:p xmlns:a="http://schemas.openxmlformats.org/drawingml/2006/main">
            <a:r>
              <a:t>EXPECTED: Any supported customer-oriented choice. Invite a fictional example instead of asking students about their own purchases.</a:t>
            </a:r>
          </a:p>
          <a:p xmlns:a="http://schemas.openxmlformats.org/drawingml/2006/main">
            <a:r>
              <a:t>MISCONCEPTION / SOURCE DETAIL: Teacher guide to the full chapter. Use only the current section’s chunk; never present all slides in one lesson. Discussion prompts from SBTE 2 remain in notes: How might marketing affect a fictional purchase? What work do marketers do? How does marketing affect society? How are wants and needs considered?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Teacher guide to the full chapter. Use only the current section’s chunk; never present all slides in one lesson. Discussion prompts from SBTE 2 remain in notes: How might marketing affect a fictional purchase? What work do marketers do? How does marketing affect society? How are wants and needs considered?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p. 4 · SBTE 4; original SBTE deck remains content authority.</a:t>
            </a:r>
          </a:p>
          <a:p xmlns:a="http://schemas.openxmlformats.org/drawingml/2006/main">
            <a:r>
              <a:t>PITER SAYS: “Look at the picture. What does the business actually do?” Pause 10 seconds. Then connect one noticed detail to BUSINESS. Read and explain the academic language.</a:t>
            </a:r>
          </a:p>
          <a:p xmlns:a="http://schemas.openxmlformats.org/drawingml/2006/main">
            <a:r>
              <a:t>CHECK: Point to a good or paid service a shop could offer.</a:t>
            </a:r>
          </a:p>
          <a:p xmlns:a="http://schemas.openxmlformats.org/drawingml/2006/main">
            <a:r>
              <a:t>EXPECTED: Food is a good; paid repair is a service. Both can be products.</a:t>
            </a:r>
          </a:p>
          <a:p xmlns:a="http://schemas.openxmlformats.org/drawingml/2006/main">
            <a:r>
              <a:t>MISCONCEPTION / SOURCE DETAIL: Business also means a particular company or organization; source examples include Amazon and Walmart.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Business also means a particular company or organization; source examples include Amazon and Walmart.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p. 4 · SBTE 4; original SBTE deck remains content authority.</a:t>
            </a:r>
          </a:p>
          <a:p xmlns:a="http://schemas.openxmlformats.org/drawingml/2006/main">
            <a:r>
              <a:t>PITER SAYS: “Look at the picture. How would customers find it?” Pause 10 seconds. Then connect one noticed detail to MARKETING. Read and explain the academic language.</a:t>
            </a:r>
          </a:p>
          <a:p xmlns:a="http://schemas.openxmlformats.org/drawingml/2006/main">
            <a:r>
              <a:t>CHECK: Name one marketing task beyond advertising.</a:t>
            </a:r>
          </a:p>
          <a:p xmlns:a="http://schemas.openxmlformats.org/drawingml/2006/main">
            <a:r>
              <a:t>EXPECTED: Selling or distribution.</a:t>
            </a:r>
          </a:p>
          <a:p xmlns:a="http://schemas.openxmlformats.org/drawingml/2006/main">
            <a:r>
              <a:t>MISCONCEPTION / SOURCE DETAIL: Describe the pickup scene; contrast making the hoodie with getting the finished product to the customer. Keep source definition alongside concrete example.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Describe the pickup scene; contrast making the hoodie with getting the finished product to the customer. Keep source definition alongside concrete example.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p. 4 · SBTE 4; original SBTE deck remains content authority.</a:t>
            </a:r>
          </a:p>
          <a:p xmlns:a="http://schemas.openxmlformats.org/drawingml/2006/main">
            <a:r>
              <a:t>PITER SAYS: “Look at the picture. An item, a task, or a message?” Pause 10 seconds. Then connect one noticed detail to GOODS · SERVICES · IDEAS. Read and explain the academic language.</a:t>
            </a:r>
          </a:p>
          <a:p xmlns:a="http://schemas.openxmlformats.org/drawingml/2006/main">
            <a:r>
              <a:t>CHECK: Classify the recycling MESSAGE, then its paper poster.</a:t>
            </a:r>
          </a:p>
          <a:p xmlns:a="http://schemas.openxmlformats.org/drawingml/2006/main">
            <a:r>
              <a:t>EXPECTED: Message = idea; physical poster can be a good.</a:t>
            </a:r>
          </a:p>
          <a:p xmlns:a="http://schemas.openxmlformats.org/drawingml/2006/main">
            <a:r>
              <a:t>MISCONCEPTION / SOURCE DETAIL: Use all three market panels verbally: food, paid bicycle repair, community recycling idea. Source examples include food/clothing/furniture, car repair/financial advice/housecleaning, and voting or charitable giving.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Use all three market panels verbally: food, paid bicycle repair, community recycling idea. Source examples include food/clothing/furniture, car repair/financial advice/housecleaning, and voting or charitable giving.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p. 5 · textbook support; original SBTE deck remains content authority.</a:t>
            </a:r>
          </a:p>
          <a:p xmlns:a="http://schemas.openxmlformats.org/drawingml/2006/main">
            <a:r>
              <a:t>PITER SAYS: “Look at the picture. Why can’t the event do everything?” Pause 10 seconds. Then connect one noticed detail to ECONOMICS. Read and explain the academic language.</a:t>
            </a:r>
          </a:p>
          <a:p xmlns:a="http://schemas.openxmlformats.org/drawingml/2006/main">
            <a:r>
              <a:t>CHECK: Name one trade-off without using your own finances.</a:t>
            </a:r>
          </a:p>
          <a:p xmlns:a="http://schemas.openxmlformats.org/drawingml/2006/main">
            <a:r>
              <a:t>EXPECTED: For example spend on extra controllers versus seating.</a:t>
            </a:r>
          </a:p>
          <a:p xmlns:a="http://schemas.openxmlformats.org/drawingml/2006/main">
            <a:r>
              <a:t>MISCONCEPTION / SOURCE DETAIL: Economics studies decisions by individuals, businesses, governments, including production, consumption and transfer of wealth. Do not ask for personal financial information.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Economics studies decisions by individuals, businesses, governments, including production, consumption and transfer of wealth. Do not ask for personal financial information.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p. 5 · textbook support; original SBTE deck remains content authority.</a:t>
            </a:r>
          </a:p>
          <a:p xmlns:a="http://schemas.openxmlformats.org/drawingml/2006/main">
            <a:r>
              <a:t>PITER SAYS: “Look at the picture. Selling $100 does not mean keeping $100” Pause 10 seconds. Then connect one noticed detail to PROFIT AND NET WORTH. Read and explain the academic language.</a:t>
            </a:r>
          </a:p>
          <a:p xmlns:a="http://schemas.openxmlformats.org/drawingml/2006/main">
            <a:r>
              <a:t>CHECK: Is a loan something the business owns or owes?</a:t>
            </a:r>
          </a:p>
          <a:p xmlns:a="http://schemas.openxmlformats.org/drawingml/2006/main">
            <a:r>
              <a:t>EXPECTED: Owes: liability. Cash/equipment can be assets.</a:t>
            </a:r>
          </a:p>
          <a:p xmlns:a="http://schemas.openxmlformats.org/drawingml/2006/main">
            <a:r>
              <a:t>MISCONCEPTION / SOURCE DETAIL: All numbers fictional. Net worth is a stock of value; profit measures a period’s gain. Explain assets owned and liabilities owed. Do not conflate sales, cash, profit, and net worth.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All numbers fictional. Net worth is a stock of value; profit measures a period’s gain. Explain assets owned and liabilities owed. Do not conflate sales, cash, profit, and net worth.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pp. 5–7 · SBTE 5–7; original SBTE deck remains content authority.</a:t>
            </a:r>
          </a:p>
          <a:p xmlns:a="http://schemas.openxmlformats.org/drawingml/2006/main">
            <a:r>
              <a:t>PITER SAYS: “Look at the picture. Same shop. Different kinds of work.” Pause 10 seconds. Then connect one noticed detail to BUSINESS ACTIVITIES. Read and explain the academic language.</a:t>
            </a:r>
          </a:p>
          <a:p xmlns:a="http://schemas.openxmlformats.org/drawingml/2006/main">
            <a:r>
              <a:t>CHECK: Match making pizza, buying property, collecting payment.</a:t>
            </a:r>
          </a:p>
          <a:p xmlns:a="http://schemas.openxmlformats.org/drawingml/2006/main">
            <a:r>
              <a:t>EXPECTED: Operational; investing; financial.</a:t>
            </a:r>
          </a:p>
          <a:p xmlns:a="http://schemas.openxmlformats.org/drawingml/2006/main">
            <a:r>
              <a:t>MISCONCEPTION / SOURCE DETAIL: The source categories overlap. Focus on the scenario’s emphasis; do not claim every activity belongs exclusively to one category. Use source table Figure 1.2 for maintenance, buildings, loans, stock, sales and debts.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The source categories overlap. Focus on the scenario’s emphasis; do not claim every activity belongs exclusively to one category. Use source table Figure 1.2 for maintenance, buildings, loans, stock, sales and debts.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pp. 5–6 · SBTE 6; original SBTE deck remains content authority.</a:t>
            </a:r>
          </a:p>
          <a:p xmlns:a="http://schemas.openxmlformats.org/drawingml/2006/main">
            <a:r>
              <a:t>PITER SAYS: “Look at the picture. Who keeps the shop running today?” Pause 10 seconds. Then connect one noticed detail to OPERATIONAL FUNCTIONS. Read and explain the academic language.</a:t>
            </a:r>
          </a:p>
          <a:p xmlns:a="http://schemas.openxmlformats.org/drawingml/2006/main">
            <a:r>
              <a:t>CHECK: Where would paying employees fit?</a:t>
            </a:r>
          </a:p>
          <a:p xmlns:a="http://schemas.openxmlformats.org/drawingml/2006/main">
            <a:r>
              <a:t>EXPECTED: Finance within operational functions; also money movement.</a:t>
            </a:r>
          </a:p>
          <a:p xmlns:a="http://schemas.openxmlformats.org/drawingml/2006/main">
            <a:r>
              <a:t>MISCONCEPTION / SOURCE DETAIL: Retain source software-production example: developing software, hiring engineers, fixing bugs. Marketing includes competitor research, trends, social media. Management includes leading, supervising and planning.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Retain source software-production example: developing software, hiring engineers, fixing bugs. Marketing includes competitor research, trends, social media. Management includes leading, supervising and planning.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p. 6 · SBTE 7; original SBTE deck remains content authority.</a:t>
            </a:r>
          </a:p>
          <a:p xmlns:a="http://schemas.openxmlformats.org/drawingml/2006/main">
            <a:r>
              <a:t>PITER SAYS: “Look at the picture. What might help the shop grow?” Pause 10 seconds. Then connect one noticed detail to INVESTING ACTIVITIES. Read and explain the academic language.</a:t>
            </a:r>
          </a:p>
          <a:p xmlns:a="http://schemas.openxmlformats.org/drawingml/2006/main">
            <a:r>
              <a:t>CHECK: Does an investment guarantee a gain?</a:t>
            </a:r>
          </a:p>
          <a:p xmlns:a="http://schemas.openxmlformats.org/drawingml/2006/main">
            <a:r>
              <a:t>EXPECTED: No. Future benefit is an aim, not a guarantee.</a:t>
            </a:r>
          </a:p>
          <a:p xmlns:a="http://schemas.openxmlformats.org/drawingml/2006/main">
            <a:r>
              <a:t>MISCONCEPTION / SOURCE DETAIL: Preserve stocks, bonds, mutual funds and real estate as source examples; the text also discusses upgrades and advertisements as investments in future growth. Do not turn this into personal investment advice.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Preserve stocks, bonds, mutual funds and real estate as source examples; the text also discusses upgrades and advertisements as investments in future growth. Do not turn this into personal investment advice.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p. 7 · SBTE 7; original SBTE deck remains content authority.</a:t>
            </a:r>
          </a:p>
          <a:p xmlns:a="http://schemas.openxmlformats.org/drawingml/2006/main">
            <a:r>
              <a:t>PITER SAYS: “Look at the picture. Follow the money” Pause 10 seconds. Then connect one noticed detail to FINANCIAL ACTIVITIES. Read and explain the academic language.</a:t>
            </a:r>
          </a:p>
          <a:p xmlns:a="http://schemas.openxmlformats.org/drawingml/2006/main">
            <a:r>
              <a:t>CHECK: Name one input and one output for the pizza shop.</a:t>
            </a:r>
          </a:p>
          <a:p xmlns:a="http://schemas.openxmlformats.org/drawingml/2006/main">
            <a:r>
              <a:t>EXPECTED: Customer payments in; wages or supplier payments out.</a:t>
            </a:r>
          </a:p>
          <a:p xmlns:a="http://schemas.openxmlformats.org/drawingml/2006/main">
            <a:r>
              <a:t>MISCONCEPTION / SOURCE DETAIL: Source pp. 6–7 and SBTE 6–7 overlap in financial terminology. Explain the emphasis without silently replacing it with an accounting cash-flow taxonomy.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Source pp. 6–7 and SBTE 6–7 overlap in financial terminology. Explain the emphasis without silently replacing it with an accounting cash-flow taxonomy.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pp. 8–9 · SBTE 8; original SBTE deck remains content authority.</a:t>
            </a:r>
          </a:p>
          <a:p xmlns:a="http://schemas.openxmlformats.org/drawingml/2006/main">
            <a:r>
              <a:t>PITER SAYS: “Look at the picture. Who benefits besides the customer?” Pause 10 seconds. Then connect one noticed detail to BUSINESSES AND SOCIETY. Read and explain the academic language.</a:t>
            </a:r>
          </a:p>
          <a:p xmlns:a="http://schemas.openxmlformats.org/drawingml/2006/main">
            <a:r>
              <a:t>CHECK: How could a neighborhood shop affect the community?</a:t>
            </a:r>
          </a:p>
          <a:p xmlns:a="http://schemas.openxmlformats.org/drawingml/2006/main">
            <a:r>
              <a:t>EXPECTED: Products, jobs/wages, exchange opportunities, taxes funding public services.</a:t>
            </a:r>
          </a:p>
          <a:p xmlns:a="http://schemas.openxmlformats.org/drawingml/2006/main">
            <a:r>
              <a:t>MISCONCEPTION / SOURCE DETAIL: Read all three roles. Physical, virtual and specialty markets are source examples. Discuss benefits with conditions; no claims that all businesses benefit everyone equally. Keep social-welfare discussion source-focused and avoid asking about family circumstances.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Read all three roles. Physical, virtual and specialty markets are source examples. Discuss benefits with conditions; no claims that all businesses benefit everyone equally. Keep social-welfare discussion source-focused and avoid asking about family circumstances.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p. 8 · SBTE 8 support; original SBTE deck remains content authority.</a:t>
            </a:r>
          </a:p>
          <a:p xmlns:a="http://schemas.openxmlformats.org/drawingml/2006/main">
            <a:r>
              <a:t>PITER SAYS: “Look at the picture. Warm clothing or this exact hoodie?” Pause 10 seconds. Then connect one noticed detail to ECONOMIC NEEDS AND WANTS. Read and explain the academic language.</a:t>
            </a:r>
          </a:p>
          <a:p xmlns:a="http://schemas.openxmlformats.org/drawingml/2006/main">
            <a:r>
              <a:t>CHECK: Could the situation change what someone needs?</a:t>
            </a:r>
          </a:p>
          <a:p xmlns:a="http://schemas.openxmlformats.org/drawingml/2006/main">
            <a:r>
              <a:t>EXPECTED: Yes, context changes practical access needs; use the textbook economic distinction.</a:t>
            </a:r>
          </a:p>
          <a:p xmlns:a="http://schemas.openxmlformats.org/drawingml/2006/main">
            <a:r>
              <a:t>MISCONCEPTION / SOURCE DETAIL: Textbook classifies smartphone/internet as economic wants. Acknowledge that school participation may require digital access; do not imply students can simply complete digital work without it. Maintain academic definition and flag contextual tension.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Textbook classifies smartphone/internet as economic wants. Acknowledge that school participation may require digital access; do not imply students can simply complete digital work without it. Maintain academic definition and flag contextual tension.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p. 10 · SBTE 9; original SBTE deck remains content authority.</a:t>
            </a:r>
          </a:p>
          <a:p xmlns:a="http://schemas.openxmlformats.org/drawingml/2006/main">
            <a:r>
              <a:t>PITER SAYS: “Look at the picture. Would YOUR favorite work for everyone?” Pause 10 seconds. Then connect one noticed detail to PURPOSE OF MARKETING. Read and explain the academic language.</a:t>
            </a:r>
          </a:p>
          <a:p xmlns:a="http://schemas.openxmlformats.org/drawingml/2006/main">
            <a:r>
              <a:t>CHECK: What would you ask before making 200 hoodies?</a:t>
            </a:r>
          </a:p>
          <a:p xmlns:a="http://schemas.openxmlformats.org/drawingml/2006/main">
            <a:r>
              <a:t>EXPECTED: Ask likely users about fit, comfort, intended use or preferred features.</a:t>
            </a:r>
          </a:p>
          <a:p xmlns:a="http://schemas.openxmlformats.org/drawingml/2006/main">
            <a:r>
              <a:t>MISCONCEPTION / SOURCE DETAIL: Customer-oriented decisions affect production, management and finance. Do not assume all teens want merchandise. Reference fictional scenario inspired by Sep. 17 announcements.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Customer-oriented decisions affect production, management and finance. Do not assume all teens want merchandise. Reference fictional scenario inspired by Sep. 17 announcements.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pp. 10–11 · SBTE 9; original SBTE deck remains content authority.</a:t>
            </a:r>
          </a:p>
          <a:p xmlns:a="http://schemas.openxmlformats.org/drawingml/2006/main">
            <a:r>
              <a:t>PITER SAYS: “Look at the picture. Customer choice meets business reality” Pause 10 seconds. Then connect one noticed detail to MARKETING CONCEPT. Read and explain the academic language.</a:t>
            </a:r>
          </a:p>
          <a:p xmlns:a="http://schemas.openxmlformats.org/drawingml/2006/main">
            <a:r>
              <a:t>CHECK: A comfortable hoodie costs more to make. What must the shop consider?</a:t>
            </a:r>
          </a:p>
          <a:p xmlns:a="http://schemas.openxmlformats.org/drawingml/2006/main">
            <a:r>
              <a:t>EXPECTED: Customer value/needs, company goals and revenue minus expenses.</a:t>
            </a:r>
          </a:p>
          <a:p xmlns:a="http://schemas.openxmlformats.org/drawingml/2006/main">
            <a:r>
              <a:t>MISCONCEPTION / SOURCE DETAIL: Method of selling analyzes wants and needs and aims to satisfy them better than competitors. All three elements matter. Apply p. 9 Jack’s tortilla case after reading: customers, national expansion goals, distribution costs/profit. Preserve the case rather than replacing it with hoodies.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Method of selling analyzes wants and needs and aims to satisfy them better than competitors. All three elements matter. Apply p. 9 Jack’s tortilla case after reading: customers, national expansion goals, distribution costs/profit. Preserve the case rather than replacing it with hoodies.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p. 10 · textbook support; original SBTE deck remains content authority.</a:t>
            </a:r>
          </a:p>
          <a:p xmlns:a="http://schemas.openxmlformats.org/drawingml/2006/main">
            <a:r>
              <a:t>PITER SAYS: “Look at the picture. 30 out of 100 hoodie sales” Pause 10 seconds. Then connect one noticed detail to MARKET SHARE. Read and explain the academic language.</a:t>
            </a:r>
          </a:p>
          <a:p xmlns:a="http://schemas.openxmlformats.org/drawingml/2006/main">
            <a:r>
              <a:t>CHECK: If its sales rise, must its share rise too?</a:t>
            </a:r>
          </a:p>
          <a:p xmlns:a="http://schemas.openxmlformats.org/drawingml/2006/main">
            <a:r>
              <a:t>EXPECTED: No. Total market sales may grow faster.</a:t>
            </a:r>
          </a:p>
          <a:p xmlns:a="http://schemas.openxmlformats.org/drawingml/2006/main">
            <a:r>
              <a:t>MISCONCEPTION / SOURCE DETAIL: Fictional units in the same period and defined market. Market share = company sales / total market sales ×100 using consistent measure. Source pie analogy can support explanation. Market share is not profit.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Fictional units in the same period and defined market. Market share = company sales / total market sales ×100 using consistent measure. Source pie analogy can support explanation. Market share is not profit.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pp. 11–12 · SBTE 10; original SBTE deck remains content authority.</a:t>
            </a:r>
          </a:p>
          <a:p xmlns:a="http://schemas.openxmlformats.org/drawingml/2006/main">
            <a:r>
              <a:t>PITER SAYS: “Look at the picture. Which decision are we making?” Pause 10 seconds. Then connect one noticed detail to MARKETING MIX: THE 4 Ps. Read and explain the academic language.</a:t>
            </a:r>
          </a:p>
          <a:p xmlns:a="http://schemas.openxmlformats.org/drawingml/2006/main">
            <a:r>
              <a:t>CHECK: A late delivery: which P needs attention?</a:t>
            </a:r>
          </a:p>
          <a:p xmlns:a="http://schemas.openxmlformats.org/drawingml/2006/main">
            <a:r>
              <a:t>EXPECTED: Place, especially timing/distribution.</a:t>
            </a:r>
          </a:p>
          <a:p xmlns:a="http://schemas.openxmlformats.org/drawingml/2006/main">
            <a:r>
              <a:t>MISCONCEPTION / SOURCE DETAIL: Preview map; the next screens unpack each P only as needed. Preserve all four; source order product, promotion, price, place.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Preview map; the next screens unpack each P only as needed. Preserve all four; source order product, promotion, price, place.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p. 11 · SBTE 10; original SBTE deck remains content authority.</a:t>
            </a:r>
          </a:p>
          <a:p xmlns:a="http://schemas.openxmlformats.org/drawingml/2006/main">
            <a:r>
              <a:t>PITER SAYS: “Look at the picture. Soft fabric? Better pockets?” Pause 10 seconds. Then connect one noticed detail to PRODUCT. Read and explain the academic language.</a:t>
            </a:r>
          </a:p>
          <a:p xmlns:a="http://schemas.openxmlformats.org/drawingml/2006/main">
            <a:r>
              <a:t>CHECK: Name a feature, then the customer problem it could solve.</a:t>
            </a:r>
          </a:p>
          <a:p xmlns:a="http://schemas.openxmlformats.org/drawingml/2006/main">
            <a:r>
              <a:t>EXPECTED: For example a secure pocket helps carry keys.</a:t>
            </a:r>
          </a:p>
          <a:p xmlns:a="http://schemas.openxmlformats.org/drawingml/2006/main">
            <a:r>
              <a:t>MISCONCEPTION / SOURCE DETAIL: Source includes changing components, color, shape, size and intended use. Comfort/access needs vary; do not prescribe one style for neurodivergent students.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Source includes changing components, color, shape, size and intended use. Comfort/access needs vary; do not prescribe one style for neurodivergent students.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p. 11 · SBTE 10; original SBTE deck remains content authority.</a:t>
            </a:r>
          </a:p>
          <a:p xmlns:a="http://schemas.openxmlformats.org/drawingml/2006/main">
            <a:r>
              <a:t>PITER SAYS: “Look at the picture. How would anyone hear about it?” Pause 10 seconds. Then connect one noticed detail to PROMOTION. Read and explain the academic language.</a:t>
            </a:r>
          </a:p>
          <a:p xmlns:a="http://schemas.openxmlformats.org/drawingml/2006/main">
            <a:r>
              <a:t>CHECK: How is the MESSAGE different from the hoodie?</a:t>
            </a:r>
          </a:p>
          <a:p xmlns:a="http://schemas.openxmlformats.org/drawingml/2006/main">
            <a:r>
              <a:t>EXPECTED: Message communicates/persuades; hoodie is the product.</a:t>
            </a:r>
          </a:p>
          <a:p xmlns:a="http://schemas.openxmlformats.org/drawingml/2006/main">
            <a:r>
              <a:t>MISCONCEPTION / SOURCE DETAIL: Picture is a community-message analogy, not a hoodie ad. Keep source advertising, sales, markdowns, personal selling and time-sensitive email example. Return to the text’s example.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Picture is a community-message analogy, not a hoodie ad. Keep source advertising, sales, markdowns, personal selling and time-sensitive email example. Return to the text’s example.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p. 12 · SBTE 10; original SBTE deck remains content authority.</a:t>
            </a:r>
          </a:p>
          <a:p xmlns:a="http://schemas.openxmlformats.org/drawingml/2006/main">
            <a:r>
              <a:t>PITER SAYS: “Look at the picture. The price has to work on both sides” Pause 10 seconds. Then connect one noticed detail to PRICE. Read and explain the academic language.</a:t>
            </a:r>
          </a:p>
          <a:p xmlns:a="http://schemas.openxmlformats.org/drawingml/2006/main">
            <a:r>
              <a:t>CHECK: If a product sells below its cost, what happens?</a:t>
            </a:r>
          </a:p>
          <a:p xmlns:a="http://schemas.openxmlformats.org/drawingml/2006/main">
            <a:r>
              <a:t>EXPECTED: It does not cover that cost; profits may fall or a loss results.</a:t>
            </a:r>
          </a:p>
          <a:p xmlns:a="http://schemas.openxmlformats.org/drawingml/2006/main">
            <a:r>
              <a:t>MISCONCEPTION / SOURCE DETAIL: No personal budgets collected. Fictional figures only. A business does not control all market conditions. Source: competitors and perceived value influence price.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No personal budgets collected. Fictional figures only. A business does not control all market conditions. Source: competitors and perceived value influence price.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p. 12 · SBTE 10; original SBTE deck remains content authority.</a:t>
            </a:r>
          </a:p>
          <a:p xmlns:a="http://schemas.openxmlformats.org/drawingml/2006/main">
            <a:r>
              <a:t>PITER SAYS: “Look at the picture. It arrives after you need it” Pause 10 seconds. Then connect one noticed detail to PLACE. Read and explain the academic language.</a:t>
            </a:r>
          </a:p>
          <a:p xmlns:a="http://schemas.openxmlformats.org/drawingml/2006/main">
            <a:r>
              <a:t>CHECK: Could online ordering still require a physical distribution plan?</a:t>
            </a:r>
          </a:p>
          <a:p xmlns:a="http://schemas.openxmlformats.org/drawingml/2006/main">
            <a:r>
              <a:t>EXPECTED: Yes: supply, transport and pickup/delivery still matter.</a:t>
            </a:r>
          </a:p>
          <a:p xmlns:a="http://schemas.openxmlformats.org/drawingml/2006/main">
            <a:r>
              <a:t>MISCONCEPTION / SOURCE DETAIL: Retain textbook 24-hour delivery example and its consequence for satisfaction/reputation. Also preserve SFMOMA text-service reading as a historical textbook example, not a claim that service remains available.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Retain textbook 24-hour delivery example and its consequence for satisfaction/reputation. Also preserve SFMOMA text-service reading as a historical textbook example, not a claim that service remains available.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pp. 13–15 · SBTE 11; original SBTE deck remains content authority.</a:t>
            </a:r>
          </a:p>
          <a:p xmlns:a="http://schemas.openxmlformats.org/drawingml/2006/main">
            <a:r>
              <a:t>PITER SAYS: “Look at the picture. Seven jobs behind one offer” Pause 10 seconds. Then connect one noticed detail to MARKETING FUNCTIONS. Read and explain the academic language.</a:t>
            </a:r>
          </a:p>
          <a:p xmlns:a="http://schemas.openxmlformats.org/drawingml/2006/main">
            <a:r>
              <a:t>CHECK: Which job learns what people want?</a:t>
            </a:r>
          </a:p>
          <a:p xmlns:a="http://schemas.openxmlformats.org/drawingml/2006/main">
            <a:r>
              <a:t>EXPECTED: MIM/market research.</a:t>
            </a:r>
          </a:p>
          <a:p xmlns:a="http://schemas.openxmlformats.org/drawingml/2006/main">
            <a:r>
              <a:t>MISCONCEPTION / SOURCE DETAIL: Read full academic names aloud. Show this as an overview, not a memorization race. Each function supports customer needs, goals and profits. All seven receive their own screen.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Read full academic names aloud. Show this as an overview, not a memorization race. Each function supports customer needs, goals and profits. All seven receive their own screen.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p. 13 · SBTE 12; original SBTE deck remains content authority.</a:t>
            </a:r>
          </a:p>
          <a:p xmlns:a="http://schemas.openxmlformats.org/drawingml/2006/main">
            <a:r>
              <a:t>PITER SAYS: “Look at the picture. The product is ready. The route isn’t.” Pause 10 seconds. Then connect one noticed detail to CHANNEL MANAGEMENT. Read and explain the academic language.</a:t>
            </a:r>
          </a:p>
          <a:p xmlns:a="http://schemas.openxmlformats.org/drawingml/2006/main">
            <a:r>
              <a:t>CHECK: Why does an inaccessible pickup time matter?</a:t>
            </a:r>
          </a:p>
          <a:p xmlns:a="http://schemas.openxmlformats.org/drawingml/2006/main">
            <a:r>
              <a:t>EXPECTED: Customers cannot receive products when needed.</a:t>
            </a:r>
          </a:p>
          <a:p xmlns:a="http://schemas.openxmlformats.org/drawingml/2006/main">
            <a:r>
              <a:t>MISCONCEPTION / SOURCE DETAIL: Relate to place, suppliers, outlets and customer location. Figure 1.4 farm website/market stalls example remains required reading.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Relate to place, suppliers, outlets and customer location. Figure 1.4 farm website/market stalls example remains required reading.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p. 13 · SBTE 12; original SBTE deck remains content authority.</a:t>
            </a:r>
          </a:p>
          <a:p xmlns:a="http://schemas.openxmlformats.org/drawingml/2006/main">
            <a:r>
              <a:t>PITER SAYS: “Look at the picture. Ask before assuming” Pause 10 seconds. Then connect one noticed detail to MARKETING INFORMATION MANAGEMENT. Read and explain the academic language.</a:t>
            </a:r>
          </a:p>
          <a:p xmlns:a="http://schemas.openxmlformats.org/drawingml/2006/main">
            <a:r>
              <a:t>CHECK: “Play, watch, or neither?” Why include all three?</a:t>
            </a:r>
          </a:p>
          <a:p xmlns:a="http://schemas.openxmlformats.org/drawingml/2006/main">
            <a:r>
              <a:t>EXPECTED: Avoids assuming universal interest; helps identify an audience.</a:t>
            </a:r>
          </a:p>
          <a:p xmlns:a="http://schemas.openxmlformats.org/drawingml/2006/main">
            <a:r>
              <a:t>MISCONCEPTION / SOURCE DETAIL: Include preferences, needs, competitors, and target grouping by age, behavior or geography as source content. A specific group is not everyone of that age. Figure 1.4 video-production/nonprofit example.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Include preferences, needs, competitors, and target grouping by age, behavior or geography as source content. A specific group is not everyone of that age. Figure 1.4 video-production/nonprofit example.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pp. 13–14 · SBTE 12; original SBTE deck remains content authority.</a:t>
            </a:r>
          </a:p>
          <a:p xmlns:a="http://schemas.openxmlformats.org/drawingml/2006/main">
            <a:r>
              <a:t>PITER SAYS: “Look at the picture. How could the event pay its costs?” Pause 10 seconds. Then connect one noticed detail to MARKETING PLANNING. Read and explain the academic language.</a:t>
            </a:r>
          </a:p>
          <a:p xmlns:a="http://schemas.openxmlformats.org/drawingml/2006/main">
            <a:r>
              <a:t>CHECK: Which funding route creates debt?</a:t>
            </a:r>
          </a:p>
          <a:p xmlns:a="http://schemas.openxmlformats.org/drawingml/2006/main">
            <a:r>
              <a:t>EXPECTED: Debt financing/loan.</a:t>
            </a:r>
          </a:p>
          <a:p xmlns:a="http://schemas.openxmlformats.org/drawingml/2006/main">
            <a:r>
              <a:t>MISCONCEPTION / SOURCE DETAIL: Do not substitute a generic calendar plan for this source’s emphasis on funding. Start-up capital, materials, expenses and production decisions matter. Figure 1.4 medical-device borrowing example.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Do not substitute a generic calendar plan for this source’s emphasis on funding. Start-up capital, materials, expenses and production decisions matter. Figure 1.4 medical-device borrowing example.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p. 14 · SBTE 13; original SBTE deck remains content authority.</a:t>
            </a:r>
          </a:p>
          <a:p xmlns:a="http://schemas.openxmlformats.org/drawingml/2006/main">
            <a:r>
              <a:t>PITER SAYS: “Look at the picture. How much should it cost?” Pause 10 seconds. Then connect one noticed detail to PRICING. Read and explain the academic language.</a:t>
            </a:r>
          </a:p>
          <a:p xmlns:a="http://schemas.openxmlformats.org/drawingml/2006/main">
            <a:r>
              <a:t>CHECK: What is the difference between price and pricing?</a:t>
            </a:r>
          </a:p>
          <a:p xmlns:a="http://schemas.openxmlformats.org/drawingml/2006/main">
            <a:r>
              <a:t>EXPECTED: Price is the amount; pricing is the decision process.</a:t>
            </a:r>
          </a:p>
          <a:p xmlns:a="http://schemas.openxmlformats.org/drawingml/2006/main">
            <a:r>
              <a:t>MISCONCEPTION / SOURCE DETAIL: Discuss too low to cover costs and too high for likely buyers. Figure 1.4 computer options example.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Discuss too low to cover costs and too high for likely buyers. Figure 1.4 computer options example.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p. 14 · SBTE 13; original SBTE deck remains content authority.</a:t>
            </a:r>
          </a:p>
          <a:p xmlns:a="http://schemas.openxmlformats.org/drawingml/2006/main">
            <a:r>
              <a:t>PITER SAYS: “Look at the picture. People like it—except the scratchy seam” Pause 10 seconds. Then connect one noticed detail to PRODUCT AND SERVICE MANAGEMENT. Read and explain the academic language.</a:t>
            </a:r>
          </a:p>
          <a:p xmlns:a="http://schemas.openxmlformats.org/drawingml/2006/main">
            <a:r>
              <a:t>CHECK: What could change? How might the cost change?</a:t>
            </a:r>
          </a:p>
          <a:p xmlns:a="http://schemas.openxmlformats.org/drawingml/2006/main">
            <a:r>
              <a:t>EXPECTED: Change seam/material; added costs affect profitability.</a:t>
            </a:r>
          </a:p>
          <a:p xmlns:a="http://schemas.openxmlformats.org/drawingml/2006/main">
            <a:r>
              <a:t>MISCONCEPTION / SOURCE DETAIL: Offer different preferences without implying all users share sensitivities. Retain source Figure 1.4 nail-polish durability example.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Offer different preferences without implying all users share sensitivities. Retain source Figure 1.4 nail-polish durability example.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p. 14 · SBTE 13; original SBTE deck remains content authority.</a:t>
            </a:r>
          </a:p>
          <a:p xmlns:a="http://schemas.openxmlformats.org/drawingml/2006/main">
            <a:r>
              <a:t>PITER SAYS: “Look at the picture. A message can change someone’s choice” Pause 10 seconds. Then connect one noticed detail to PROMOTION. Read and explain the academic language.</a:t>
            </a:r>
          </a:p>
          <a:p xmlns:a="http://schemas.openxmlformats.org/drawingml/2006/main">
            <a:r>
              <a:t>CHECK: Which clue in an ad could appeal to its audience?</a:t>
            </a:r>
          </a:p>
          <a:p xmlns:a="http://schemas.openxmlformats.org/drawingml/2006/main">
            <a:r>
              <a:t>EXPECTED: A relevant message, benefit, image or setting.</a:t>
            </a:r>
          </a:p>
          <a:p xmlns:a="http://schemas.openxmlformats.org/drawingml/2006/main">
            <a:r>
              <a:t>MISCONCEPTION / SOURCE DETAIL: Campaign image illustrates communication; distinguish the promotional act from the advertised product. Figure 1.4 food/social connection example.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Campaign image illustrates communication; distinguish the promotional act from the advertised product. Figure 1.4 food/social connection example.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p. 14 · SBTE 13; original SBTE deck remains content authority.</a:t>
            </a:r>
          </a:p>
          <a:p xmlns:a="http://schemas.openxmlformats.org/drawingml/2006/main">
            <a:r>
              <a:t>PITER SAYS: “Look at the picture. “Which option would work for you?”” Pause 10 seconds. Then connect one noticed detail to SELLING. Read and explain the academic language.</a:t>
            </a:r>
          </a:p>
          <a:p xmlns:a="http://schemas.openxmlformats.org/drawingml/2006/main">
            <a:r>
              <a:t>CHECK: How could asking a question help a sale?</a:t>
            </a:r>
          </a:p>
          <a:p xmlns:a="http://schemas.openxmlformats.org/drawingml/2006/main">
            <a:r>
              <a:t>EXPECTED: It reveals needs and helps a suitable recommendation.</a:t>
            </a:r>
          </a:p>
          <a:p xmlns:a="http://schemas.openxmlformats.org/drawingml/2006/main">
            <a:r>
              <a:t>MISCONCEPTION / SOURCE DETAIL: A customer-service mindset, relationships and feeling valued matter. Do not imply persuasion means pressure. Retain source pharmaceutical sample/sales presentation example in Figure 1.4.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A customer-service mindset, relationships and feeling valued matter. Do not imply persuasion means pressure. Retain source pharmaceutical sample/sales presentation example in Figure 1.4.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Chapter 1, printed pp. 15–16 · SBTE 14; original SBTE deck remains content authority.</a:t>
            </a:r>
          </a:p>
          <a:p xmlns:a="http://schemas.openxmlformats.org/drawingml/2006/main">
            <a:r>
              <a:t>PITER SAYS: “Look at the picture. Now prove the connection in the text” Pause 10 seconds. Then connect one noticed detail to CHAPTER 1 APPLICATION. Read and explain the academic language.</a:t>
            </a:r>
          </a:p>
          <a:p xmlns:a="http://schemas.openxmlformats.org/drawingml/2006/main">
            <a:r>
              <a:t>CHECK: Example: farm pickup routes support customer access.</a:t>
            </a:r>
          </a:p>
          <a:p xmlns:a="http://schemas.openxmlformats.org/drawingml/2006/main">
            <a:r>
              <a:t>EXPECTED: Accurate function plus a supported marketing-concept relationship.</a:t>
            </a:r>
          </a:p>
          <a:p xmlns:a="http://schemas.openxmlformats.org/drawingml/2006/main">
            <a:r>
              <a:t>MISCONCEPTION / SOURCE DETAIL: Preserve source chapter review categories: Define Key Terms, Test Your Knowledge, Read and Write, Listen and Speak, Create and Design, Chapter Assessment. Use actual Teams assignment prompts; do not invent unseen questions. Record exact slide/page/paragraph reached by each section.</a:t>
            </a:r>
          </a:p>
          <a:p xmlns:a="http://schemas.openxmlformats.org/drawingml/2006/main">
            <a:r>
              <a:t>STOP: After one explanation and the matched check, move to the assigned textbook heading. Allow approximately 60–90 seconds per selected concept screen; do not present the full library in one class. Protect the scheduled reading.</a:t>
            </a:r>
          </a:p>
          <a:p xmlns:a="http://schemas.openxmlformats.org/drawingml/2006/main">
            <a:r>
              <a:t>SBTE HANDOFF: “Can you connect this example to our notes?” SBTE gives a 20-second correction or collects whole-class responses while Piter teaches.</a:t>
            </a:r>
          </a:p>
          <a:p xmlns:a="http://schemas.openxmlformats.org/drawingml/2006/main">
            <a:r>
              <a:t>LESSON COMPARISON: Same concept, source reading, instructional time and check in both formats. Compare the access format, not more support time or easier questions. An alternative response mode preserves the explanation requirement.</a:t>
            </a:r>
          </a:p>
          <a:p xmlns:a="http://schemas.openxmlformats.org/drawingml/2006/main">
            <a:r>
              <a:t>TEACHER SOURCE EXAMPLES: Preserve source chapter review categories: Define Key Terms, Test Your Knowledge, Read and Write, Listen and Speak, Create and Design, Chapter Assessment. Use actual Teams assignment prompts; do not invent unseen questions. Record exact slide/page/paragraph reached by each section.</a:t>
            </a:r>
          </a:p>
          <a:p xmlns:a="http://schemas.openxmlformats.org/drawingml/2006/main">
            <a:r>
              <a:t>ACCESS: Read the short directions and describe the relevant visual aloud. Offer pointing, fingers, a written letter, or a quiet spoken response. Do not require eye contact, public disclosure, a phone, or speed. Keep printed response options available. No flashing, animation, or audible countdown.</a:t>
            </a:r>
          </a:p>
          <a:p xmlns:a="http://schemas.openxmlformats.org/drawingml/2006/main">
            <a:r>
              <a:t>VISUAL SOURCE: Fictional generated illustrations; not actual students, school events, products, or prices. Repeated images intentionally preserve the scenario between prediction and academic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75b8eebd0242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cb8671c6464f1a" /><Relationship Type="http://schemas.openxmlformats.org/officeDocument/2006/relationships/slideLayout" Target="/ppt/slideLayouts/slideLayout1.xml" Id="R0631da422a1646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31da422a1646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c51b171a334e64" /><Relationship Type="http://schemas.openxmlformats.org/officeDocument/2006/relationships/image" Target="/ppt/media/image.jpeg" Id="R757f9fdf487e44a8" /><Relationship Type="http://schemas.openxmlformats.org/officeDocument/2006/relationships/notesSlide" Target="/ppt/notesSlides/notesSlide1.xml" Id="Re44b800586754a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28ae12adb04d5b" /><Relationship Type="http://schemas.openxmlformats.org/officeDocument/2006/relationships/image" Target="/ppt/media/image2.jpeg" Id="Racb2394bd1f44288" /><Relationship Type="http://schemas.openxmlformats.org/officeDocument/2006/relationships/notesSlide" Target="/ppt/notesSlides/notesSlide2.xml" Id="R90164bfec8d748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3f624b09504663" /><Relationship Type="http://schemas.openxmlformats.org/officeDocument/2006/relationships/image" Target="/ppt/media/image3.jpeg" Id="R81b72036724b4de4" /><Relationship Type="http://schemas.openxmlformats.org/officeDocument/2006/relationships/notesSlide" Target="/ppt/notesSlides/notesSlide3.xml" Id="R0a76d311f66446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850fb376d649e5" /><Relationship Type="http://schemas.openxmlformats.org/officeDocument/2006/relationships/image" Target="/ppt/media/image4.jpeg" Id="Rb55625d3e38141cc" /><Relationship Type="http://schemas.openxmlformats.org/officeDocument/2006/relationships/notesSlide" Target="/ppt/notesSlides/notesSlide4.xml" Id="R716e2eb8985a47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b5a7c178d741c2" /><Relationship Type="http://schemas.openxmlformats.org/officeDocument/2006/relationships/image" Target="/ppt/media/image5.jpeg" Id="R550c7001396b44e9" /><Relationship Type="http://schemas.openxmlformats.org/officeDocument/2006/relationships/notesSlide" Target="/ppt/notesSlides/notesSlide5.xml" Id="Ra4dacef6f07d4a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f02d0a32c34b9b" /><Relationship Type="http://schemas.openxmlformats.org/officeDocument/2006/relationships/image" Target="/ppt/media/image6.jpeg" Id="R36f5c3de860b4a5b" /><Relationship Type="http://schemas.openxmlformats.org/officeDocument/2006/relationships/notesSlide" Target="/ppt/notesSlides/notesSlide6.xml" Id="R09f95534ec5741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443117c8574117" /><Relationship Type="http://schemas.openxmlformats.org/officeDocument/2006/relationships/image" Target="/ppt/media/image7.jpeg" Id="Re956797e0d304e4c" /><Relationship Type="http://schemas.openxmlformats.org/officeDocument/2006/relationships/notesSlide" Target="/ppt/notesSlides/notesSlide7.xml" Id="Rf7b7a26ec0614e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b31c9ede664442" /><Relationship Type="http://schemas.openxmlformats.org/officeDocument/2006/relationships/image" Target="/ppt/media/image8.jpeg" Id="R510c3c744cbe4059" /><Relationship Type="http://schemas.openxmlformats.org/officeDocument/2006/relationships/notesSlide" Target="/ppt/notesSlides/notesSlide8.xml" Id="R429473e6161149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f1bf21fc024768" /><Relationship Type="http://schemas.openxmlformats.org/officeDocument/2006/relationships/image" Target="/ppt/media/image9.jpeg" Id="R4b7e26eb1a4d4494" /><Relationship Type="http://schemas.openxmlformats.org/officeDocument/2006/relationships/notesSlide" Target="/ppt/notesSlides/notesSlide9.xml" Id="R0a1d0d598daf4b6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b556b22d204ca6" /><Relationship Type="http://schemas.openxmlformats.org/officeDocument/2006/relationships/image" Target="/ppt/media/image10.jpeg" Id="R7bef0104533944d3" /><Relationship Type="http://schemas.openxmlformats.org/officeDocument/2006/relationships/notesSlide" Target="/ppt/notesSlides/notesSlide10.xml" Id="Rb8afee7737c44b0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6f686c70ef452e" /><Relationship Type="http://schemas.openxmlformats.org/officeDocument/2006/relationships/image" Target="/ppt/media/image11.jpeg" Id="R365e9b7fe43c4e5a" /><Relationship Type="http://schemas.openxmlformats.org/officeDocument/2006/relationships/notesSlide" Target="/ppt/notesSlides/notesSlide11.xml" Id="Raea3b19129cc4e5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e47882423249d0" /><Relationship Type="http://schemas.openxmlformats.org/officeDocument/2006/relationships/image" Target="/ppt/media/image12.jpeg" Id="Rd1905541f82d4533" /><Relationship Type="http://schemas.openxmlformats.org/officeDocument/2006/relationships/notesSlide" Target="/ppt/notesSlides/notesSlide12.xml" Id="Ra1839624bb9140e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0defd08f0a4e6e" /><Relationship Type="http://schemas.openxmlformats.org/officeDocument/2006/relationships/image" Target="/ppt/media/image13.jpeg" Id="R7d14edec4a0847d1" /><Relationship Type="http://schemas.openxmlformats.org/officeDocument/2006/relationships/notesSlide" Target="/ppt/notesSlides/notesSlide13.xml" Id="R7195b489e9e44dd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628d6c5e134c39" /><Relationship Type="http://schemas.openxmlformats.org/officeDocument/2006/relationships/image" Target="/ppt/media/image14.jpeg" Id="Rea1a23312f8d4df0" /><Relationship Type="http://schemas.openxmlformats.org/officeDocument/2006/relationships/notesSlide" Target="/ppt/notesSlides/notesSlide14.xml" Id="Rfee35fdc70db4f4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372bc41a3e4134" /><Relationship Type="http://schemas.openxmlformats.org/officeDocument/2006/relationships/image" Target="/ppt/media/image15.jpeg" Id="Re6176c771a8643f2" /><Relationship Type="http://schemas.openxmlformats.org/officeDocument/2006/relationships/notesSlide" Target="/ppt/notesSlides/notesSlide15.xml" Id="R241ba6e700514c3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b332c2865244ef" /><Relationship Type="http://schemas.openxmlformats.org/officeDocument/2006/relationships/image" Target="/ppt/media/image16.jpeg" Id="Rc286b97661a9465a" /><Relationship Type="http://schemas.openxmlformats.org/officeDocument/2006/relationships/notesSlide" Target="/ppt/notesSlides/notesSlide16.xml" Id="Rd43d074847c8448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47f8e1f1743fb" /><Relationship Type="http://schemas.openxmlformats.org/officeDocument/2006/relationships/image" Target="/ppt/media/image17.jpeg" Id="R0ed20fee01fc4fe4" /><Relationship Type="http://schemas.openxmlformats.org/officeDocument/2006/relationships/notesSlide" Target="/ppt/notesSlides/notesSlide17.xml" Id="Rae0e43f75692437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c37d2b0ab9441a" /><Relationship Type="http://schemas.openxmlformats.org/officeDocument/2006/relationships/image" Target="/ppt/media/image18.jpeg" Id="R8373e50a69ef42bf" /><Relationship Type="http://schemas.openxmlformats.org/officeDocument/2006/relationships/notesSlide" Target="/ppt/notesSlides/notesSlide18.xml" Id="R11a915d7fb6a4f8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0bd96322a14e15" /><Relationship Type="http://schemas.openxmlformats.org/officeDocument/2006/relationships/image" Target="/ppt/media/image19.jpeg" Id="R0fbdd461f1ae4cd5" /><Relationship Type="http://schemas.openxmlformats.org/officeDocument/2006/relationships/notesSlide" Target="/ppt/notesSlides/notesSlide19.xml" Id="R844fccf3ebf049a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c04eb3a7334834" /><Relationship Type="http://schemas.openxmlformats.org/officeDocument/2006/relationships/image" Target="/ppt/media/image20.jpeg" Id="R17bf159eb4e046b7" /><Relationship Type="http://schemas.openxmlformats.org/officeDocument/2006/relationships/notesSlide" Target="/ppt/notesSlides/notesSlide20.xml" Id="R761e3bbcb8da445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4278e0f3724ab9" /><Relationship Type="http://schemas.openxmlformats.org/officeDocument/2006/relationships/image" Target="/ppt/media/image21.jpeg" Id="R7c28367d211e4917" /><Relationship Type="http://schemas.openxmlformats.org/officeDocument/2006/relationships/notesSlide" Target="/ppt/notesSlides/notesSlide21.xml" Id="Rd6e516eaa5df4e6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ff47c99adf4732" /><Relationship Type="http://schemas.openxmlformats.org/officeDocument/2006/relationships/image" Target="/ppt/media/image22.jpeg" Id="R0c8e984c13044914" /><Relationship Type="http://schemas.openxmlformats.org/officeDocument/2006/relationships/notesSlide" Target="/ppt/notesSlides/notesSlide22.xml" Id="R9b37b270460844e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22f74fb5bd4aab" /><Relationship Type="http://schemas.openxmlformats.org/officeDocument/2006/relationships/image" Target="/ppt/media/image23.jpeg" Id="R62331a257a1f472e" /><Relationship Type="http://schemas.openxmlformats.org/officeDocument/2006/relationships/notesSlide" Target="/ppt/notesSlides/notesSlide23.xml" Id="R0bfe684bab1342c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750ae7044b48cd" /><Relationship Type="http://schemas.openxmlformats.org/officeDocument/2006/relationships/image" Target="/ppt/media/image24.jpeg" Id="Reca41e1ec5fd475d" /><Relationship Type="http://schemas.openxmlformats.org/officeDocument/2006/relationships/notesSlide" Target="/ppt/notesSlides/notesSlide24.xml" Id="R44b909e0e51648f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58aca83e8d43ce" /><Relationship Type="http://schemas.openxmlformats.org/officeDocument/2006/relationships/image" Target="/ppt/media/image25.jpeg" Id="Rf8389696ecc349fc" /><Relationship Type="http://schemas.openxmlformats.org/officeDocument/2006/relationships/notesSlide" Target="/ppt/notesSlides/notesSlide25.xml" Id="R40388f8538684c7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f4c28d09b94f24" /><Relationship Type="http://schemas.openxmlformats.org/officeDocument/2006/relationships/image" Target="/ppt/media/image26.jpeg" Id="Re61fa5aa6b804f52" /><Relationship Type="http://schemas.openxmlformats.org/officeDocument/2006/relationships/notesSlide" Target="/ppt/notesSlides/notesSlide26.xml" Id="Rf7bdd0291a17421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5a99903a944837" /><Relationship Type="http://schemas.openxmlformats.org/officeDocument/2006/relationships/image" Target="/ppt/media/image27.jpeg" Id="Ra6b53f0f9ca340f1" /><Relationship Type="http://schemas.openxmlformats.org/officeDocument/2006/relationships/notesSlide" Target="/ppt/notesSlides/notesSlide27.xml" Id="R13bd009c35ae429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7db1c52b304f5a" /><Relationship Type="http://schemas.openxmlformats.org/officeDocument/2006/relationships/image" Target="/ppt/media/image28.jpeg" Id="R69fe42b7867c4b85" /><Relationship Type="http://schemas.openxmlformats.org/officeDocument/2006/relationships/notesSlide" Target="/ppt/notesSlides/notesSlide28.xml" Id="R2b474f716bf4484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39569b5aa74098" /><Relationship Type="http://schemas.openxmlformats.org/officeDocument/2006/relationships/image" Target="/ppt/media/image29.jpeg" Id="Raf9aa43ef6e4434f" /><Relationship Type="http://schemas.openxmlformats.org/officeDocument/2006/relationships/notesSlide" Target="/ppt/notesSlides/notesSlide29.xml" Id="Rc87b5ed2640f4c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DBC186-F8D7-4C75-8BE2-0B899A38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04CC9C-2E42-44B3-89DE-A92E3858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p. 3 · SBTE 2–3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3C904-ED13-42E0-BDF1-2383ED65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A hoodie, a shop, and your choices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7f9fdf487e44a8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5B16DB-EEEA-4261-B77D-2A5C80E6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LEARNING TARGETS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0502F4-2CBC-494F-9F58-CA156F09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Differentiate business and marketing.</a:t>
            </a:r>
          </a:p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Explain marketing’s purpose.</a:t>
            </a:r>
          </a:p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Explain the marketing mix.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B52B44-9ED6-493D-A55C-CE3C2998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A4760F-7E8D-4B9F-A30E-B5C27527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Which choice could make this product work better?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C83686-E71E-497C-B2F6-93AF5985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p. 3 · SBTE 2–3     Think quietly, then point, write, or explain.     1/29</a:t>
            </a:r>
          </a:p>
        </p:txBody>
      </p:sp>
    </p:spTree>
    <p:extLst>
      <p:ext uri="{BB962C8B-B14F-4D97-AF65-F5344CB8AC3E}">
        <p14:creationId xmlns:p14="http://schemas.microsoft.com/office/powerpoint/2010/main" val="2820422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6FDAB4-799E-49C3-AF88-06A1B34F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DBDF6F-83AF-4468-BF42-5E08EDDB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p. 4 · SBTE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25C864-2560-4EDC-9FC7-B49D5B5D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What does the business actually do?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b2394bd1f44288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8A5213-2C6C-46A8-9328-2FF33539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BUSINESS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B7992A-A27E-490E-ACFD-EE3F701E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Makes, sells, or provides products in exchange for money.</a:t>
            </a:r>
          </a:p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A product is something that can be bought or sold.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0EDAAD-9917-43B7-ABC9-282C3A49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BE00A1-C907-4CCA-8981-4F6D897E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Point to a good or paid service a shop could offer.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683BD1-348C-4810-9EF4-3725413F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p. 4 · SBTE 4     Think quietly, then point, write, or explain.     2/29</a:t>
            </a:r>
          </a:p>
        </p:txBody>
      </p:sp>
    </p:spTree>
    <p:extLst>
      <p:ext uri="{BB962C8B-B14F-4D97-AF65-F5344CB8AC3E}">
        <p14:creationId xmlns:p14="http://schemas.microsoft.com/office/powerpoint/2010/main" val="19961276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54E50A-E573-49F4-B8C9-819EFBDB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DBD4DE-1E4F-4A36-BFB2-16A9749A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p. 4 · SBTE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83A709-6AB8-4FB2-B620-530CC200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How would customers find it?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b72036724b4de4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643500-CE2F-4AED-A28D-DF10A018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MARKETING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F12301-9314-4DD6-938F-506B0442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Promoting, selling, and distributing a product or service.</a:t>
            </a:r>
          </a:p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A hoodie needs more than a design.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5D3253-93F8-45D8-920C-1558E8D9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A0D810-0534-4634-AE4E-879ACEB6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Name one marketing task beyond advertising.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D46499-4927-4BF6-93E8-6B336DD0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p. 4 · SBTE 4     Think quietly, then point, write, or explain.     3/29</a:t>
            </a:r>
          </a:p>
        </p:txBody>
      </p:sp>
    </p:spTree>
    <p:extLst>
      <p:ext uri="{BB962C8B-B14F-4D97-AF65-F5344CB8AC3E}">
        <p14:creationId xmlns:p14="http://schemas.microsoft.com/office/powerpoint/2010/main" val="12605522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DDE9E8-B3C8-47B0-B910-C9AE5B5F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ACCDBF-2D2B-4D91-9924-D2100C81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p. 4 · SBTE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DBF07-74E0-40CA-8822-E978156B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An item, a task, or a message?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5625d3e38141cc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89D52E-5210-4E8E-9EE6-63880838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GOODS · SERVICES · IDEAS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B65D72-ED1F-4D2E-BF82-3594CB7B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Good: a tangible item for sale.</a:t>
            </a:r>
          </a:p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Service: a task performed for money.</a:t>
            </a:r>
          </a:p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Idea: a thought or opinion.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1CBDD9-FF12-4B8E-8A38-F9B7AB02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176427-054C-4A9D-BB81-DF9E5FA0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Classify the recycling MESSAGE, then its paper poster.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6D815B-8AC5-4BE6-9A76-E86FCCF8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p. 4 · SBTE 4     Think quietly, then point, write, or explain.     4/29</a:t>
            </a:r>
          </a:p>
        </p:txBody>
      </p:sp>
    </p:spTree>
    <p:extLst>
      <p:ext uri="{BB962C8B-B14F-4D97-AF65-F5344CB8AC3E}">
        <p14:creationId xmlns:p14="http://schemas.microsoft.com/office/powerpoint/2010/main" val="17020292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C7A401-7916-4616-B836-90046E95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C8AEDE-A222-41DE-9EFE-719D794F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p. 5 · textbook support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D21274-7458-4851-8973-62335C1C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Why can’t the event do everything?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0c7001396b44e9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38BFD-720B-45E1-998B-905A85AE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ECONOMICS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E7A1B-6590-4F55-8468-EA756B6E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Unlimited wants meet limited resources.</a:t>
            </a:r>
          </a:p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A fictional event has limited money, time, and space.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A57897-9605-44DB-9759-C959510B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CC94EE-E405-47DD-9F5D-C0EC33FA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Name one trade-off without using your own finances.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7B5FBF-DBE8-4660-AEFC-42182870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p. 5 · textbook support     Think quietly, then point, write, or explain.     5/29</a:t>
            </a:r>
          </a:p>
        </p:txBody>
      </p:sp>
    </p:spTree>
    <p:extLst>
      <p:ext uri="{BB962C8B-B14F-4D97-AF65-F5344CB8AC3E}">
        <p14:creationId xmlns:p14="http://schemas.microsoft.com/office/powerpoint/2010/main" val="685545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5AE75A-F778-4D09-B316-EE09AA27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344814-3ADF-4473-B3A2-EAC395DB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p. 5 · textbook support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CD41CD-7565-4925-BCE2-3A5FB4CF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Selling $100 does not mean keeping $100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f5c3de860b4a5b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1021ED-553D-4074-9F3F-945544C7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PROFIT AND NET WORTH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6538A3-29EA-45C3-AB11-3BC634D4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Profit = revenue − expenses</a:t>
            </a:r>
          </a:p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$100 − $70 = $30 profit</a:t>
            </a:r>
          </a:p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Net worth = assets − liabilities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CDBE5A-D406-4648-955C-71204951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36EA2E-6B5D-4549-B124-1334DABD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Is a loan something the business owns or owes?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BC9F43-5A91-4FA2-B2E7-68E85593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p. 5 · textbook support     Think quietly, then point, write, or explain.     6/29</a:t>
            </a:r>
          </a:p>
        </p:txBody>
      </p:sp>
    </p:spTree>
    <p:extLst>
      <p:ext uri="{BB962C8B-B14F-4D97-AF65-F5344CB8AC3E}">
        <p14:creationId xmlns:p14="http://schemas.microsoft.com/office/powerpoint/2010/main" val="20205545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D69515-E0C9-49AF-A8F3-51EAB60A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E588E8-62D2-4647-9C47-9973DE89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pp. 5–7 · SBTE 5–7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17E556-C8F1-4A9A-8E44-1D337368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Same shop. Different kinds of work.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56797e0d304e4c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9BA0E3-6D33-4F7F-845A-B4605ADF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BUSINESS ACTIVITIES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586876-7813-417D-AE15-B3E7A35E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Operational: daily work</a:t>
            </a:r>
          </a:p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Investing: build value over time</a:t>
            </a:r>
          </a:p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Financial: money in and out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1903E9-0A44-49AA-84FB-8C3FDA97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6D763D-D01C-4E81-9256-1A52D96E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Match making pizza, buying property, collecting payment.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87719C-24C6-4F95-B436-4C13F4E9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pp. 5–7 · SBTE 5–7     Think quietly, then point, write, or explain.     7/29</a:t>
            </a:r>
          </a:p>
        </p:txBody>
      </p:sp>
    </p:spTree>
    <p:extLst>
      <p:ext uri="{BB962C8B-B14F-4D97-AF65-F5344CB8AC3E}">
        <p14:creationId xmlns:p14="http://schemas.microsoft.com/office/powerpoint/2010/main" val="14802128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541A75-DFEB-44F1-AF69-D0050AE9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3A085-6D9C-4DF0-A64E-61FE9A6F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pp. 5–6 · SBTE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3D14A5-25A2-4B33-84F6-B0C841A4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Who keeps the shop running today?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0c3c744cbe4059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156EDC-2AEE-4CC5-BD6C-3C0B4006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OPERATIONAL FUNCTIONS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787398-2052-41FC-9E8B-A5AD627F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Production makes products.</a:t>
            </a:r>
          </a:p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Marketing responds to demand.</a:t>
            </a:r>
          </a:p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Management directs work.</a:t>
            </a:r>
          </a:p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Finance handles daily money tasks.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1E77E8-3ACA-45CC-93C8-B40EF2C2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AE9545-1192-457C-B9DC-FFD3D2F3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Where would paying employees fit?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E49556-7744-4121-AE11-350BF7FF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pp. 5–6 · SBTE 6     Think quietly, then point, write, or explain.     8/29</a:t>
            </a:r>
          </a:p>
        </p:txBody>
      </p:sp>
    </p:spTree>
    <p:extLst>
      <p:ext uri="{BB962C8B-B14F-4D97-AF65-F5344CB8AC3E}">
        <p14:creationId xmlns:p14="http://schemas.microsoft.com/office/powerpoint/2010/main" val="17159269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05407E-7C44-4534-8BA4-255693A2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49D0CA-2709-4B45-810C-E99FB7E1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p. 6 · SBTE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F7ECF-5C41-43A5-A9B8-F8DA19CB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What might help the shop grow?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7e26eb1a4d4494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721FE7-8356-4B67-88F4-0A73E442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INVESTING ACTIVITIES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569BED-7B44-48A9-9459-70D13D15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Use money with the aim of building wealth over time.</a:t>
            </a:r>
          </a:p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Example: purchase a building.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D74EF9-A7DB-49BE-AC59-7A96FCFF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D31A15-1616-42C5-9480-A1C56B4B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Does an investment guarantee a gain?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801684-AEF3-4883-8C03-8B607BAE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p. 6 · SBTE 7     Think quietly, then point, write, or explain.     9/29</a:t>
            </a:r>
          </a:p>
        </p:txBody>
      </p:sp>
    </p:spTree>
    <p:extLst>
      <p:ext uri="{BB962C8B-B14F-4D97-AF65-F5344CB8AC3E}">
        <p14:creationId xmlns:p14="http://schemas.microsoft.com/office/powerpoint/2010/main" val="9536699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EA5CE8-54AA-4C8C-BE9D-03948132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98B6FA-776E-4CCA-A34E-3E22811D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p. 7 · SBTE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8391FD-815D-4FED-B064-C667AF83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Follow the money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ef0104533944d3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A3F6A0-326C-4D88-918B-625DBA5D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FINANCIAL ACTIVITIES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71E2EE-99C7-4C02-B1D0-2BB5DE55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Money comes in through sales.</a:t>
            </a:r>
          </a:p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Money goes out to suppliers or employees.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B4537C-C4A9-4E27-99C6-948AF792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24CDF0-A1F4-492D-BF04-1E9936C6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Name one input and one output for the pizza shop.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963654-149C-42C3-9161-7D7B38EC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p. 7 · SBTE 7     Think quietly, then point, write, or explain.     10/29</a:t>
            </a:r>
          </a:p>
        </p:txBody>
      </p:sp>
    </p:spTree>
    <p:extLst>
      <p:ext uri="{BB962C8B-B14F-4D97-AF65-F5344CB8AC3E}">
        <p14:creationId xmlns:p14="http://schemas.microsoft.com/office/powerpoint/2010/main" val="11932820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85F902-BA0D-4569-BCE1-C6F60338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DF10C1-A81F-47A6-B683-EBBF15E6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pp. 8–9 · SBTE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F84158-34AF-4B56-9E27-583BF334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Who benefits besides the customer?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5e9b7fe43c4e5a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0720D5-E254-4A85-ACCA-7C16D9F2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BUSINESSES AND SOCIETY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1BC5BE-B5FF-4C33-9754-8EA9866C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Provide products.</a:t>
            </a:r>
          </a:p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Create markets for exchange.</a:t>
            </a:r>
          </a:p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Support employment, wages, and taxes.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2517DD-E5BE-407E-A880-A118C333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52E1B1-A959-475E-BA90-FE889B06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How could a neighborhood shop affect the community?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EE91C3-D6C6-46AC-883A-B57E8053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pp. 8–9 · SBTE 8     Think quietly, then point, write, or explain.     11/29</a:t>
            </a:r>
          </a:p>
        </p:txBody>
      </p:sp>
    </p:spTree>
    <p:extLst>
      <p:ext uri="{BB962C8B-B14F-4D97-AF65-F5344CB8AC3E}">
        <p14:creationId xmlns:p14="http://schemas.microsoft.com/office/powerpoint/2010/main" val="9875710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914789-D52D-43EE-BF00-D82F4012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828DD8-BD4D-42AC-8F22-26656C21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p. 8 · SBTE 8 support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AAB206-7C06-45CA-A47B-6AA7A869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Warm clothing or this exact hoodie?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905541f82d4533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5749D1-FCA3-42FE-A323-87C21531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ECONOMIC NEEDS AND WANTS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B6E2D-4290-41AF-8454-2989A15A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Need: essential to survival.</a:t>
            </a:r>
          </a:p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Want: something desired.</a:t>
            </a:r>
          </a:p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Clothing can meet a need; a particular style can be a want.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39E42C-0010-4B75-AD34-EEDAFB14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B15AE1-EED6-46EB-9351-7637640B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Could the situation change what someone needs?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C75958-C450-4D4D-941A-1E481A7E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p. 8 · SBTE 8 support     Think quietly, then point, write, or explain.     12/29</a:t>
            </a:r>
          </a:p>
        </p:txBody>
      </p:sp>
    </p:spTree>
    <p:extLst>
      <p:ext uri="{BB962C8B-B14F-4D97-AF65-F5344CB8AC3E}">
        <p14:creationId xmlns:p14="http://schemas.microsoft.com/office/powerpoint/2010/main" val="3657988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970621-20E8-4513-9D32-C5AC41EC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EA5FA-AE93-4289-B969-B69F2EF3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p. 10 · SBTE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F85B24-FA61-4112-9011-1657C001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Would YOUR favorite work for everyone?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14edec4a0847d1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D2317-0B0C-458F-AC4C-A7D5DC92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PURPOSE OF MARKETING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93D73-55E8-4693-A53C-726F9299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Understand customer wants and needs.</a:t>
            </a:r>
          </a:p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Use research and evidence to deliver products that meet them.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437756-A50C-4BED-B856-1564D13C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B3599C-9BA8-4C93-9950-3D0C7821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What would you ask before making 200 hoodies?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1531D6-E32A-4FB5-A275-54F17779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p. 10 · SBTE 9     Think quietly, then point, write, or explain.     13/29</a:t>
            </a:r>
          </a:p>
        </p:txBody>
      </p:sp>
    </p:spTree>
    <p:extLst>
      <p:ext uri="{BB962C8B-B14F-4D97-AF65-F5344CB8AC3E}">
        <p14:creationId xmlns:p14="http://schemas.microsoft.com/office/powerpoint/2010/main" val="4679632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C26375-DDF0-4A14-97B2-F904D47B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1AB6A9-A436-43EB-9E53-8141026E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pp. 10–11 · SBTE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175C0B-906C-43CA-A97B-069C19D6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Customer choice meets business reality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1a23312f8d4df0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DD26A3-A4AA-425A-8AE2-3784E237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MARKETING CONCEPT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BBDB85-E53D-4CDA-BB81-1C8B1427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Customer needs</a:t>
            </a:r>
          </a:p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Company goals</a:t>
            </a:r>
          </a:p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Profits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4A69C2-0154-4D21-B01A-DD2A811A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D49E77-9812-4D4B-A439-3119D0CA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A comfortable hoodie costs more to make. What must the shop consider?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7401B6-48D1-4742-BB3A-F1078BBC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pp. 10–11 · SBTE 9     Think quietly, then point, write, or explain.     14/29</a:t>
            </a:r>
          </a:p>
        </p:txBody>
      </p:sp>
    </p:spTree>
    <p:extLst>
      <p:ext uri="{BB962C8B-B14F-4D97-AF65-F5344CB8AC3E}">
        <p14:creationId xmlns:p14="http://schemas.microsoft.com/office/powerpoint/2010/main" val="165200559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9DF7DC-20FB-447E-AAB5-88273EF9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5C3AAC-E762-48DB-BE05-874B31DD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p. 10 · textbook support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7695BE-4E73-4BB5-8292-62B5DE7D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30 out of 100 hoodie sales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176c771a8643f2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E8FC7E-233F-4D3D-8A98-5CA4A251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MARKET SHARE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BB9A9E-A605-40A4-B86F-76995744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If one shop sells 30 of 100 hoodies in the defined market, its share is 30%.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3DCD45-6D1E-43D6-B512-0818778F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AB29B5-0581-4908-BD4B-00929411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If its sales rise, must its share rise too?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DFE930-B358-45E8-B21B-15A01475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p. 10 · textbook support     Think quietly, then point, write, or explain.     15/29</a:t>
            </a:r>
          </a:p>
        </p:txBody>
      </p:sp>
    </p:spTree>
    <p:extLst>
      <p:ext uri="{BB962C8B-B14F-4D97-AF65-F5344CB8AC3E}">
        <p14:creationId xmlns:p14="http://schemas.microsoft.com/office/powerpoint/2010/main" val="15571606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69069F-7FC3-4BBC-A474-56C59E58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DCA79E-7D47-4106-B007-1CDC8D5F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pp. 11–12 · SBTE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6FF332-2F5A-4B94-A286-368EFDB6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Which decision are we making?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86b97661a9465a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710132-BFBE-4BE9-9697-F75DD33A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MARKETING MIX: THE 4 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23453E-FCB1-4082-8177-931A210C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Product: what customers receive</a:t>
            </a:r>
          </a:p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Promotion: how it is communicated</a:t>
            </a:r>
          </a:p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Price: what customers pay</a:t>
            </a:r>
          </a:p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Place: how it reaches them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F176B7-FD70-41C1-A28D-EF27D94F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CA2474-DFE9-4C41-99BB-94AF775E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A late delivery: which P needs attention?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96F148-8960-4E4D-953F-097255AA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pp. 11–12 · SBTE 10     Think quietly, then point, write, or explain.     16/29</a:t>
            </a:r>
          </a:p>
        </p:txBody>
      </p:sp>
    </p:spTree>
    <p:extLst>
      <p:ext uri="{BB962C8B-B14F-4D97-AF65-F5344CB8AC3E}">
        <p14:creationId xmlns:p14="http://schemas.microsoft.com/office/powerpoint/2010/main" val="133318893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02C44C-132E-4999-8695-A132CCD5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09C08D-BD68-4453-B1F1-2FF28F61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p. 11 · SBTE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82E7D0-A079-4842-B7B8-6F658B24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Soft fabric? Better pockets?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d20fee01fc4fe4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C739E6-DD2A-453A-9AF6-A9E74870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5966EC-0A1F-486C-A334-7B036EE5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Features of goods and services can change to meet customers’ wants and needs.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AE1CF8-F131-4310-9742-B161CD21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64D9C0-312C-4D6A-97E5-B4F6A05C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Name a feature, then the customer problem it could solve.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8726A2-2B27-4D4B-BEF8-EA27E545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p. 11 · SBTE 10     Think quietly, then point, write, or explain.     17/29</a:t>
            </a:r>
          </a:p>
        </p:txBody>
      </p:sp>
    </p:spTree>
    <p:extLst>
      <p:ext uri="{BB962C8B-B14F-4D97-AF65-F5344CB8AC3E}">
        <p14:creationId xmlns:p14="http://schemas.microsoft.com/office/powerpoint/2010/main" val="11046822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F50DFC-DAD5-4906-9D66-0E3F4ECB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CC65E0-C73E-42E6-AB5C-757B4143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p. 11 · SBTE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42312A-232D-442E-BAB9-3BCBAC17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How would anyone hear about it?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73e50a69ef42bf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BD5998-BE4B-457F-A306-42E0EE81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PROMOTION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6B53C8-9F28-441C-9D3F-58C762D5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Communication intended to interest customers.</a:t>
            </a:r>
          </a:p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Examples: an advertisement or a sales message.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D3432D-6FDD-48CC-9F2E-8F0E975F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61677F-B870-4336-A889-E55934D9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How is the MESSAGE different from the hoodie?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45934E-A308-42E6-BB59-C4EF2CA6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p. 11 · SBTE 10     Think quietly, then point, write, or explain.     18/29</a:t>
            </a:r>
          </a:p>
        </p:txBody>
      </p:sp>
    </p:spTree>
    <p:extLst>
      <p:ext uri="{BB962C8B-B14F-4D97-AF65-F5344CB8AC3E}">
        <p14:creationId xmlns:p14="http://schemas.microsoft.com/office/powerpoint/2010/main" val="112845928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E1C2DC-1658-44EC-9609-7212ED28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E302E7-5F02-4572-A05F-493689DF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p. 12 · SBTE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D8564-71CE-4838-95DF-5055B55D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The price has to work on both sides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bdd461f1ae4cd5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06DC48-C14A-4BBA-9B95-5A1ED53D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PRICE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7268F7-F9AC-4FC1-8F0C-640D7560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The amount charged for a good or service.</a:t>
            </a:r>
          </a:p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Consider customer value, costs, and competitors.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A95ADB-F0D9-4F06-AA76-9DFFA36E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45BCEE-C2E9-4D91-9051-1E46BD6C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If a product sells below its cost, what happens?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E1EADD-20D0-4B5D-98EC-BA7BA6F1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p. 12 · SBTE 10     Think quietly, then point, write, or explain.     19/29</a:t>
            </a:r>
          </a:p>
        </p:txBody>
      </p:sp>
    </p:spTree>
    <p:extLst>
      <p:ext uri="{BB962C8B-B14F-4D97-AF65-F5344CB8AC3E}">
        <p14:creationId xmlns:p14="http://schemas.microsoft.com/office/powerpoint/2010/main" val="152031801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6CCDD7-41F6-4E53-85B9-E06587A7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30D150-4DCA-4D0A-80D5-CDCE4D49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p. 12 · SBTE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1261A3-3968-4685-8F12-6B74C796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It arrives after you need it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bf159eb4e046b7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48AEE6-FE0B-4696-98FC-BE6C39F3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PLACE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A4C735-D779-4B0C-A0AC-6AF24247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The path from producer to customer.</a:t>
            </a:r>
          </a:p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Where, when, and how the product arrives matter.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F34B3E-6B43-4674-B383-5C66D2D6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AFF9DE-815C-4CDE-A9B1-E108E868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Could online ordering still require a physical distribution plan?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BE4C82-75F6-47D9-8F7C-9A38263A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p. 12 · SBTE 10     Think quietly, then point, write, or explain.     20/29</a:t>
            </a:r>
          </a:p>
        </p:txBody>
      </p:sp>
    </p:spTree>
    <p:extLst>
      <p:ext uri="{BB962C8B-B14F-4D97-AF65-F5344CB8AC3E}">
        <p14:creationId xmlns:p14="http://schemas.microsoft.com/office/powerpoint/2010/main" val="131986577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74BC76-F017-4639-AF84-4924EFD4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3F951E-ADA0-4032-8C93-D6B1EF4A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pp. 13–15 · SBTE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593E05-700D-4C2C-A445-D09F4AE2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Seven jobs behind one offer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28367d211e4917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F8C9EF-69C6-4FB0-AC45-B8D4B5F9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MARKETING FUNCTIONS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9307A6-AA4C-4EE2-9604-54863537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Channel management • MIM • Marketing planning</a:t>
            </a:r>
          </a:p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Pricing • Product/service management</a:t>
            </a:r>
          </a:p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Promotion • Selling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B091D4-6DAF-4CE3-B624-3EB54E2F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327424-2AA9-4315-8084-93891362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Which job learns what people want?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D940B8-7AEC-4D14-886E-6E2268F8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pp. 13–15 · SBTE 11     Think quietly, then point, write, or explain.     21/29</a:t>
            </a:r>
          </a:p>
        </p:txBody>
      </p:sp>
    </p:spTree>
    <p:extLst>
      <p:ext uri="{BB962C8B-B14F-4D97-AF65-F5344CB8AC3E}">
        <p14:creationId xmlns:p14="http://schemas.microsoft.com/office/powerpoint/2010/main" val="89868525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EC6421-1A8A-4EFB-8105-22D3CE92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663CE6-A9BD-4977-9243-97131259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p. 13 · SBTE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E92005-EA67-45EF-A0E9-6552E426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The product is ready. The route isn’t.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8e984c13044914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C404AB-71E8-467F-9138-BDCB0D34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CHANNEL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DEFBB1-6F9F-420C-A6B1-5202BCDA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Coordinate how, when, and where products travel from producers to customers.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DBC87D-9BC3-4589-AD06-8C592283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A34190-234E-49D4-B781-14EFB40A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Why does an inaccessible pickup time matter?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D1FB29-E043-4326-A0C8-B33D7367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p. 13 · SBTE 12     Think quietly, then point, write, or explain.     22/29</a:t>
            </a:r>
          </a:p>
        </p:txBody>
      </p:sp>
    </p:spTree>
    <p:extLst>
      <p:ext uri="{BB962C8B-B14F-4D97-AF65-F5344CB8AC3E}">
        <p14:creationId xmlns:p14="http://schemas.microsoft.com/office/powerpoint/2010/main" val="75417975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37154A-0B6D-4266-81A2-A4C278DA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18700-0232-4982-8854-F109BECA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p. 13 · SBTE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BBEF16-E852-41B8-B784-E433778B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Ask before assuming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331a257a1f472e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CEC0EB-724E-424C-9F7E-8241FD00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MARKETING INFORMATION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071F56-D776-4A12-9238-AE279A79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Market research gathers qualitative and quantitative evidence.</a:t>
            </a:r>
          </a:p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Target market: the group a business focuses on selling 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FFC58F-DBC8-46DF-A49F-95C6BF70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00B594-35D4-4C92-B83E-D48F4480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“Play, watch, or neither?” Why include all three?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6D8EF4-0476-475D-9221-87D79920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p. 13 · SBTE 12     Think quietly, then point, write, or explain.     23/29</a:t>
            </a:r>
          </a:p>
        </p:txBody>
      </p:sp>
    </p:spTree>
    <p:extLst>
      <p:ext uri="{BB962C8B-B14F-4D97-AF65-F5344CB8AC3E}">
        <p14:creationId xmlns:p14="http://schemas.microsoft.com/office/powerpoint/2010/main" val="27942760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2296D8-144E-4689-932D-7032B75F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895C6A-7DF6-4C7B-A90C-0BA53E0A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pp. 13–14 · SBTE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A09DB3-2A71-42DA-AC36-C44054AD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How could the event pay its costs?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a41e1ec5fd475d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8F84F8-88D0-4F36-868B-88CB9E9B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MARKETING 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A23A8A-2544-4EEA-BF7F-92CD03E0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Secure and allocate the funds to produce, market, and sell.</a:t>
            </a:r>
          </a:p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Equity: ownership investment</a:t>
            </a:r>
          </a:p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Debt: loans</a:t>
            </a:r>
          </a:p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Crowdfunding: many small contributions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AE79CD-2B74-475E-BABF-14B517B5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CB31A3-3119-4E0A-8D13-48CEF194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Which funding route creates debt?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F60B3E-1657-485A-B337-88135A3C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pp. 13–14 · SBTE 12     Think quietly, then point, write, or explain.     24/29</a:t>
            </a:r>
          </a:p>
        </p:txBody>
      </p:sp>
    </p:spTree>
    <p:extLst>
      <p:ext uri="{BB962C8B-B14F-4D97-AF65-F5344CB8AC3E}">
        <p14:creationId xmlns:p14="http://schemas.microsoft.com/office/powerpoint/2010/main" val="158498400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92088B-3135-436B-A538-82C38630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CFEBF2-F9FC-4E18-A25C-0018CC36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p. 14 · SBTE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29C316-68D3-4DFC-A8F6-4C76322D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How much should it cost?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389696ecc349fc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74679D-5A33-44CC-8698-226CF485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PRICING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BB63DF-504E-41CB-AABA-9FF1CAB1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Use customer evidence and market conditions to set a price that supports profit.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22283F-EF9A-4361-9473-3D3D730F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7B751E-ED90-4736-B1BB-2D397460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What is the difference between price and pricing?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345EC5-70A1-432E-B6DE-F0CE6FBE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p. 14 · SBTE 13     Think quietly, then point, write, or explain.     25/29</a:t>
            </a:r>
          </a:p>
        </p:txBody>
      </p:sp>
    </p:spTree>
    <p:extLst>
      <p:ext uri="{BB962C8B-B14F-4D97-AF65-F5344CB8AC3E}">
        <p14:creationId xmlns:p14="http://schemas.microsoft.com/office/powerpoint/2010/main" val="30794565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CAAED1-70E5-472A-B403-AD22ADA7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63A60E-1C3A-4300-9BAF-FFEE5295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p. 14 · SBTE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E11CA3-4A32-4DB6-BECA-3A237C89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People like it—except the scratchy seam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1fa5aa6b804f52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B2A1AC-67A2-437D-9191-BB21135F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PRODUCT AND SERVICE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8BE60B-56DE-4B61-B161-A028D7BC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Use customer problems and preferences to improve features or develop a solution.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9D83A3-F6F3-40C4-9355-0F7AF125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9553BE-F24E-4369-A6DD-87F84A2D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What could change? How might the cost change?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4341FA-D503-498D-8C74-94F63AE4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p. 14 · SBTE 13     Think quietly, then point, write, or explain.     26/29</a:t>
            </a:r>
          </a:p>
        </p:txBody>
      </p:sp>
    </p:spTree>
    <p:extLst>
      <p:ext uri="{BB962C8B-B14F-4D97-AF65-F5344CB8AC3E}">
        <p14:creationId xmlns:p14="http://schemas.microsoft.com/office/powerpoint/2010/main" val="123404493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372F8B-5468-4CCF-8E8C-02701256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7226A-008D-4CAC-877F-A3B5643B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p. 14 · SBTE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453E32-94B2-4F29-83BB-238D510E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A message can change someone’s choice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b53f0f9ca340f1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9300BE-F3E2-4D7D-8909-299B3D14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PROMOTION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D3A5B1-D0FB-4B95-9C79-209BD4DA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Send messages that influence purchasing.</a:t>
            </a:r>
          </a:p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Store design and advertisements can both communicate.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457B5B-169D-4A78-88BF-AC391CC4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D7F8CB-83D3-4B43-979F-1A6C5FE0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Which clue in an ad could appeal to its audience?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88328C-A09D-408B-AE8C-919ABCD4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p. 14 · SBTE 13     Think quietly, then point, write, or explain.     27/29</a:t>
            </a:r>
          </a:p>
        </p:txBody>
      </p:sp>
    </p:spTree>
    <p:extLst>
      <p:ext uri="{BB962C8B-B14F-4D97-AF65-F5344CB8AC3E}">
        <p14:creationId xmlns:p14="http://schemas.microsoft.com/office/powerpoint/2010/main" val="24709674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C6DEC1-E288-47E4-BCC8-3394B69E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A2F0E4-9172-435F-A1CC-A7CC82D4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p. 14 · SBTE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26415C-5A40-4C63-96A3-6B229E80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“Which option would work for you?”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fe42b7867c4b85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1F454D-BFAB-41D1-95F3-12C8863A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SELLING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5B194A-34A2-4303-9CA9-A9D19EC4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Help match the product to the target customer at the right place, price, and time.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4DE61B-5D07-4A1A-B8FC-70E13114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1F6115-4BCE-4E3B-90CF-70B16649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How could asking a question help a sale?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98ECAB-63F1-46EF-8B9C-F90C45D2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p. 14 · SBTE 13     Think quietly, then point, write, or explain.     28/29</a:t>
            </a:r>
          </a:p>
        </p:txBody>
      </p:sp>
    </p:spTree>
    <p:extLst>
      <p:ext uri="{BB962C8B-B14F-4D97-AF65-F5344CB8AC3E}">
        <p14:creationId xmlns:p14="http://schemas.microsoft.com/office/powerpoint/2010/main" val="109973838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8F59BC-F924-402B-8F3D-2A384CE0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99E952-44E3-493B-9FCC-E44630CF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· pp. 15–16 · SBTE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5D14C-BDCF-4D03-A65D-F24B41FB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Now prove the connection in the text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9aa43ef6e4434f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5143500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24B633-A019-44DF-81F2-747637B2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D1ED61-9282-4322-A71B-1BFAAC7D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39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Choose one Figure 1.4 example.</a:t>
            </a:r>
          </a:p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Name its function.</a:t>
            </a:r>
          </a:p>
          <a:p xmlns:a="http://schemas.openxmlformats.org/drawingml/2006/main">
            <a:pPr>
              <a:defRPr sz="2250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Explain its link to needs, goals, or profits.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5C5095-FDB1-446A-BCFC-2EF17D26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B7279A-50AB-4163-B7DF-8334F6C8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Example: farm pickup routes support customer access.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4AB451-0135-47B5-8C2D-5B3D8604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pp. 15–16 · SBTE 14     Think quietly, then point, write, or explain.     29/29</a:t>
            </a:r>
          </a:p>
        </p:txBody>
      </p:sp>
    </p:spTree>
    <p:extLst>
      <p:ext uri="{BB962C8B-B14F-4D97-AF65-F5344CB8AC3E}">
        <p14:creationId xmlns:p14="http://schemas.microsoft.com/office/powerpoint/2010/main" val="19505854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2026-09-18T00:06:37.3240000Z</dcterms:created>
  <dcterms:modified xsi:type="dcterms:W3CDTF">2026-09-18T00:06:37.3240000Z</dcterms:modified>
</coreProperties>
</file>