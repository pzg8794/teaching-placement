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937b0ccc804f90" /><Relationship Type="http://schemas.openxmlformats.org/officeDocument/2006/relationships/extended-properties" Target="/docProps/app.xml" Id="R24bedd0c841f44f7" /><Relationship Type="http://schemas.openxmlformats.org/officeDocument/2006/relationships/officeDocument" Target="/ppt/presentation.xml" Id="R4d41584a72d041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eb5ed15b034eb5"/>
  </p:sldMasterIdLst>
  <p:notesMasterIdLst>
    <p:notesMasterId xmlns:r="http://schemas.openxmlformats.org/officeDocument/2006/relationships" r:id="R1a246002f1b54a65"/>
  </p:notesMasterIdLst>
  <p:sldIdLst>
    <p:sldId xmlns:r="http://schemas.openxmlformats.org/officeDocument/2006/relationships" id="256" r:id="R3586a89fb8f74eaa"/>
    <p:sldId xmlns:r="http://schemas.openxmlformats.org/officeDocument/2006/relationships" id="257" r:id="Rd5680cc5b377438c"/>
    <p:sldId xmlns:r="http://schemas.openxmlformats.org/officeDocument/2006/relationships" id="258" r:id="Rf95159ed62db40dc"/>
    <p:sldId xmlns:r="http://schemas.openxmlformats.org/officeDocument/2006/relationships" id="259" r:id="R0107f40b56464f72"/>
    <p:sldId xmlns:r="http://schemas.openxmlformats.org/officeDocument/2006/relationships" id="260" r:id="R98adfa84ce9a4415"/>
    <p:sldId xmlns:r="http://schemas.openxmlformats.org/officeDocument/2006/relationships" id="261" r:id="Rda2459f043314597"/>
    <p:sldId xmlns:r="http://schemas.openxmlformats.org/officeDocument/2006/relationships" id="262" r:id="R3409c5aabe8d4e27"/>
    <p:sldId xmlns:r="http://schemas.openxmlformats.org/officeDocument/2006/relationships" id="263" r:id="Ra494f9c845064187"/>
    <p:sldId xmlns:r="http://schemas.openxmlformats.org/officeDocument/2006/relationships" id="264" r:id="Rbd1586d3783c46c5"/>
    <p:sldId xmlns:r="http://schemas.openxmlformats.org/officeDocument/2006/relationships" id="265" r:id="R37ecaf70c61c4d2d"/>
    <p:sldId xmlns:r="http://schemas.openxmlformats.org/officeDocument/2006/relationships" id="266" r:id="Rc21800678a5a41c5"/>
    <p:sldId xmlns:r="http://schemas.openxmlformats.org/officeDocument/2006/relationships" id="267" r:id="Rf81819f55adf41fc"/>
    <p:sldId xmlns:r="http://schemas.openxmlformats.org/officeDocument/2006/relationships" id="268" r:id="R3382056a6c224063"/>
    <p:sldId xmlns:r="http://schemas.openxmlformats.org/officeDocument/2006/relationships" id="269" r:id="R4d6839e0d1ee4531"/>
    <p:sldId xmlns:r="http://schemas.openxmlformats.org/officeDocument/2006/relationships" id="270" r:id="R18f7b186d25d46fc"/>
    <p:sldId xmlns:r="http://schemas.openxmlformats.org/officeDocument/2006/relationships" id="271" r:id="R17c7aa3064fe418c"/>
    <p:sldId xmlns:r="http://schemas.openxmlformats.org/officeDocument/2006/relationships" id="272" r:id="R1b61e7f336d3456b"/>
    <p:sldId xmlns:r="http://schemas.openxmlformats.org/officeDocument/2006/relationships" id="273" r:id="R2ce0624978ae4d2d"/>
    <p:sldId xmlns:r="http://schemas.openxmlformats.org/officeDocument/2006/relationships" id="274" r:id="R0bc5b257ba32499a"/>
    <p:sldId xmlns:r="http://schemas.openxmlformats.org/officeDocument/2006/relationships" id="275" r:id="R86d1b292e50540e5"/>
    <p:sldId xmlns:r="http://schemas.openxmlformats.org/officeDocument/2006/relationships" id="276" r:id="R91c003baad4e4a1e"/>
    <p:sldId xmlns:r="http://schemas.openxmlformats.org/officeDocument/2006/relationships" id="277" r:id="R7d724a62058c4d07"/>
    <p:sldId xmlns:r="http://schemas.openxmlformats.org/officeDocument/2006/relationships" id="278" r:id="Rc43fbea2065d4f74"/>
    <p:sldId xmlns:r="http://schemas.openxmlformats.org/officeDocument/2006/relationships" id="279" r:id="Reb0ee71626544c96"/>
    <p:sldId xmlns:r="http://schemas.openxmlformats.org/officeDocument/2006/relationships" id="280" r:id="Rf2794f40be604314"/>
    <p:sldId xmlns:r="http://schemas.openxmlformats.org/officeDocument/2006/relationships" id="281" r:id="R21d2cf4d2e4a43c8"/>
    <p:sldId xmlns:r="http://schemas.openxmlformats.org/officeDocument/2006/relationships" id="282" r:id="R1ba63f89c78344d3"/>
    <p:sldId xmlns:r="http://schemas.openxmlformats.org/officeDocument/2006/relationships" id="283" r:id="R6af400295d3d4db5"/>
    <p:sldId xmlns:r="http://schemas.openxmlformats.org/officeDocument/2006/relationships" id="284" r:id="R8592b0d6d3484823"/>
    <p:sldId xmlns:r="http://schemas.openxmlformats.org/officeDocument/2006/relationships" id="285" r:id="Rb27451d522694b44"/>
    <p:sldId xmlns:r="http://schemas.openxmlformats.org/officeDocument/2006/relationships" id="286" r:id="R1a8495d1cb3846de"/>
    <p:sldId xmlns:r="http://schemas.openxmlformats.org/officeDocument/2006/relationships" id="287" r:id="Rd04416c7feaa499e"/>
    <p:sldId xmlns:r="http://schemas.openxmlformats.org/officeDocument/2006/relationships" id="288" r:id="Rf580f170b5634b0b"/>
    <p:sldId xmlns:r="http://schemas.openxmlformats.org/officeDocument/2006/relationships" id="289" r:id="Re4f4325906cb473a"/>
    <p:sldId xmlns:r="http://schemas.openxmlformats.org/officeDocument/2006/relationships" id="290" r:id="R7a16d72de3c34ec3"/>
    <p:sldId xmlns:r="http://schemas.openxmlformats.org/officeDocument/2006/relationships" id="291" r:id="Rb482708520f84c8c"/>
    <p:sldId xmlns:r="http://schemas.openxmlformats.org/officeDocument/2006/relationships" id="292" r:id="R196325af13604f8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da3e011621443a" /><Relationship Type="http://schemas.openxmlformats.org/officeDocument/2006/relationships/slideMaster" Target="/ppt/slideMasters/slideMaster1.xml" Id="R06eb5ed15b034eb5" /><Relationship Type="http://schemas.openxmlformats.org/officeDocument/2006/relationships/notesMaster" Target="/ppt/notesMasters/notesMaster1.xml" Id="R1a246002f1b54a65" /><Relationship Type="http://schemas.openxmlformats.org/officeDocument/2006/relationships/presProps" Target="/ppt/presProps.xml" Id="Rb5e0deaeb0ca4afd" /><Relationship Type="http://schemas.openxmlformats.org/officeDocument/2006/relationships/tableStyles" Target="/ppt/tableStyles.xml" Id="R98eed5faa7754edb" /><Relationship Type="http://schemas.openxmlformats.org/officeDocument/2006/relationships/slide" Target="/ppt/slides/slide1.xml" Id="R3586a89fb8f74eaa" /><Relationship Type="http://schemas.openxmlformats.org/officeDocument/2006/relationships/slide" Target="/ppt/slides/slide2.xml" Id="Rd5680cc5b377438c" /><Relationship Type="http://schemas.openxmlformats.org/officeDocument/2006/relationships/slide" Target="/ppt/slides/slide3.xml" Id="Rf95159ed62db40dc" /><Relationship Type="http://schemas.openxmlformats.org/officeDocument/2006/relationships/slide" Target="/ppt/slides/slide4.xml" Id="R0107f40b56464f72" /><Relationship Type="http://schemas.openxmlformats.org/officeDocument/2006/relationships/slide" Target="/ppt/slides/slide5.xml" Id="R98adfa84ce9a4415" /><Relationship Type="http://schemas.openxmlformats.org/officeDocument/2006/relationships/slide" Target="/ppt/slides/slide6.xml" Id="Rda2459f043314597" /><Relationship Type="http://schemas.openxmlformats.org/officeDocument/2006/relationships/slide" Target="/ppt/slides/slide7.xml" Id="R3409c5aabe8d4e27" /><Relationship Type="http://schemas.openxmlformats.org/officeDocument/2006/relationships/slide" Target="/ppt/slides/slide8.xml" Id="Ra494f9c845064187" /><Relationship Type="http://schemas.openxmlformats.org/officeDocument/2006/relationships/slide" Target="/ppt/slides/slide9.xml" Id="Rbd1586d3783c46c5" /><Relationship Type="http://schemas.openxmlformats.org/officeDocument/2006/relationships/slide" Target="/ppt/slides/slide10.xml" Id="R37ecaf70c61c4d2d" /><Relationship Type="http://schemas.openxmlformats.org/officeDocument/2006/relationships/slide" Target="/ppt/slides/slide11.xml" Id="Rc21800678a5a41c5" /><Relationship Type="http://schemas.openxmlformats.org/officeDocument/2006/relationships/slide" Target="/ppt/slides/slide12.xml" Id="Rf81819f55adf41fc" /><Relationship Type="http://schemas.openxmlformats.org/officeDocument/2006/relationships/slide" Target="/ppt/slides/slide13.xml" Id="R3382056a6c224063" /><Relationship Type="http://schemas.openxmlformats.org/officeDocument/2006/relationships/slide" Target="/ppt/slides/slide14.xml" Id="R4d6839e0d1ee4531" /><Relationship Type="http://schemas.openxmlformats.org/officeDocument/2006/relationships/slide" Target="/ppt/slides/slide15.xml" Id="R18f7b186d25d46fc" /><Relationship Type="http://schemas.openxmlformats.org/officeDocument/2006/relationships/slide" Target="/ppt/slides/slide16.xml" Id="R17c7aa3064fe418c" /><Relationship Type="http://schemas.openxmlformats.org/officeDocument/2006/relationships/slide" Target="/ppt/slides/slide17.xml" Id="R1b61e7f336d3456b" /><Relationship Type="http://schemas.openxmlformats.org/officeDocument/2006/relationships/slide" Target="/ppt/slides/slide18.xml" Id="R2ce0624978ae4d2d" /><Relationship Type="http://schemas.openxmlformats.org/officeDocument/2006/relationships/slide" Target="/ppt/slides/slide19.xml" Id="R0bc5b257ba32499a" /><Relationship Type="http://schemas.openxmlformats.org/officeDocument/2006/relationships/slide" Target="/ppt/slides/slide20.xml" Id="R86d1b292e50540e5" /><Relationship Type="http://schemas.openxmlformats.org/officeDocument/2006/relationships/slide" Target="/ppt/slides/slide21.xml" Id="R91c003baad4e4a1e" /><Relationship Type="http://schemas.openxmlformats.org/officeDocument/2006/relationships/slide" Target="/ppt/slides/slide22.xml" Id="R7d724a62058c4d07" /><Relationship Type="http://schemas.openxmlformats.org/officeDocument/2006/relationships/slide" Target="/ppt/slides/slide23.xml" Id="Rc43fbea2065d4f74" /><Relationship Type="http://schemas.openxmlformats.org/officeDocument/2006/relationships/slide" Target="/ppt/slides/slide24.xml" Id="Reb0ee71626544c96" /><Relationship Type="http://schemas.openxmlformats.org/officeDocument/2006/relationships/slide" Target="/ppt/slides/slide25.xml" Id="Rf2794f40be604314" /><Relationship Type="http://schemas.openxmlformats.org/officeDocument/2006/relationships/slide" Target="/ppt/slides/slide26.xml" Id="R21d2cf4d2e4a43c8" /><Relationship Type="http://schemas.openxmlformats.org/officeDocument/2006/relationships/slide" Target="/ppt/slides/slide27.xml" Id="R1ba63f89c78344d3" /><Relationship Type="http://schemas.openxmlformats.org/officeDocument/2006/relationships/slide" Target="/ppt/slides/slide28.xml" Id="R6af400295d3d4db5" /><Relationship Type="http://schemas.openxmlformats.org/officeDocument/2006/relationships/slide" Target="/ppt/slides/slide29.xml" Id="R8592b0d6d3484823" /><Relationship Type="http://schemas.openxmlformats.org/officeDocument/2006/relationships/slide" Target="/ppt/slides/slide30.xml" Id="Rb27451d522694b44" /><Relationship Type="http://schemas.openxmlformats.org/officeDocument/2006/relationships/slide" Target="/ppt/slides/slide31.xml" Id="R1a8495d1cb3846de" /><Relationship Type="http://schemas.openxmlformats.org/officeDocument/2006/relationships/slide" Target="/ppt/slides/slide32.xml" Id="Rd04416c7feaa499e" /><Relationship Type="http://schemas.openxmlformats.org/officeDocument/2006/relationships/slide" Target="/ppt/slides/slide33.xml" Id="Rf580f170b5634b0b" /><Relationship Type="http://schemas.openxmlformats.org/officeDocument/2006/relationships/slide" Target="/ppt/slides/slide34.xml" Id="Re4f4325906cb473a" /><Relationship Type="http://schemas.openxmlformats.org/officeDocument/2006/relationships/slide" Target="/ppt/slides/slide35.xml" Id="R7a16d72de3c34ec3" /><Relationship Type="http://schemas.openxmlformats.org/officeDocument/2006/relationships/slide" Target="/ppt/slides/slide36.xml" Id="Rb482708520f84c8c" /><Relationship Type="http://schemas.openxmlformats.org/officeDocument/2006/relationships/slide" Target="/ppt/slides/slide37.xml" Id="R196325af13604f8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c2bdee97aa428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c601f048134064" /><Relationship Type="http://schemas.openxmlformats.org/officeDocument/2006/relationships/notesMaster" Target="/ppt/notesMasters/notesMaster1.xml" Id="Ra710012a49cc43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cedd40cb4a40b9" /><Relationship Type="http://schemas.openxmlformats.org/officeDocument/2006/relationships/notesMaster" Target="/ppt/notesMasters/notesMaster1.xml" Id="Raf5dbffd57ea4b6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aa5d655cab4090" /><Relationship Type="http://schemas.openxmlformats.org/officeDocument/2006/relationships/notesMaster" Target="/ppt/notesMasters/notesMaster1.xml" Id="Raf36ce8f535a47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7f2125ed8b4f37" /><Relationship Type="http://schemas.openxmlformats.org/officeDocument/2006/relationships/notesMaster" Target="/ppt/notesMasters/notesMaster1.xml" Id="R61b00fef380848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dd67c35f874c83" /><Relationship Type="http://schemas.openxmlformats.org/officeDocument/2006/relationships/notesMaster" Target="/ppt/notesMasters/notesMaster1.xml" Id="Rbb0471019c6b41d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43aa8458e6d4152" /><Relationship Type="http://schemas.openxmlformats.org/officeDocument/2006/relationships/notesMaster" Target="/ppt/notesMasters/notesMaster1.xml" Id="Rfbf7ec142a8549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6a07622ae44d93" /><Relationship Type="http://schemas.openxmlformats.org/officeDocument/2006/relationships/notesMaster" Target="/ppt/notesMasters/notesMaster1.xml" Id="R1aab1e144b4a48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463ff8b05046c8" /><Relationship Type="http://schemas.openxmlformats.org/officeDocument/2006/relationships/notesMaster" Target="/ppt/notesMasters/notesMaster1.xml" Id="R955aa5e367e946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3574d05fa3d42a4" /><Relationship Type="http://schemas.openxmlformats.org/officeDocument/2006/relationships/notesMaster" Target="/ppt/notesMasters/notesMaster1.xml" Id="Rd58d521ab8bb4ce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f4e9e44cb44a28" /><Relationship Type="http://schemas.openxmlformats.org/officeDocument/2006/relationships/notesMaster" Target="/ppt/notesMasters/notesMaster1.xml" Id="R34c4030f66794a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608e45de7804201" /><Relationship Type="http://schemas.openxmlformats.org/officeDocument/2006/relationships/notesMaster" Target="/ppt/notesMasters/notesMaster1.xml" Id="R88478e9b226f418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fca6631b894d5b" /><Relationship Type="http://schemas.openxmlformats.org/officeDocument/2006/relationships/notesMaster" Target="/ppt/notesMasters/notesMaster1.xml" Id="R32be80c9b3364d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824cbfee54743a6" /><Relationship Type="http://schemas.openxmlformats.org/officeDocument/2006/relationships/notesMaster" Target="/ppt/notesMasters/notesMaster1.xml" Id="Rc4ddf2299600467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22fddf965cb4e9c" /><Relationship Type="http://schemas.openxmlformats.org/officeDocument/2006/relationships/notesMaster" Target="/ppt/notesMasters/notesMaster1.xml" Id="R7ae0f9d0d2894ad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ec2c7b83db64432" /><Relationship Type="http://schemas.openxmlformats.org/officeDocument/2006/relationships/notesMaster" Target="/ppt/notesMasters/notesMaster1.xml" Id="Rdfd4309b57dc431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b85d7b2a1e542c7" /><Relationship Type="http://schemas.openxmlformats.org/officeDocument/2006/relationships/notesMaster" Target="/ppt/notesMasters/notesMaster1.xml" Id="R3ec39c5fff334b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fad00b8c8284f37" /><Relationship Type="http://schemas.openxmlformats.org/officeDocument/2006/relationships/notesMaster" Target="/ppt/notesMasters/notesMaster1.xml" Id="R432c575fa3fc4c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670b1a65b8941d9" /><Relationship Type="http://schemas.openxmlformats.org/officeDocument/2006/relationships/notesMaster" Target="/ppt/notesMasters/notesMaster1.xml" Id="Raf39310f99554f2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31309f8107c49cc" /><Relationship Type="http://schemas.openxmlformats.org/officeDocument/2006/relationships/notesMaster" Target="/ppt/notesMasters/notesMaster1.xml" Id="R5a2c97b4aeb24ba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4fcde8f56064bb3" /><Relationship Type="http://schemas.openxmlformats.org/officeDocument/2006/relationships/notesMaster" Target="/ppt/notesMasters/notesMaster1.xml" Id="R705cd93775db444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0c3d0f3c6984bfa" /><Relationship Type="http://schemas.openxmlformats.org/officeDocument/2006/relationships/notesMaster" Target="/ppt/notesMasters/notesMaster1.xml" Id="R0ebb041d79814a4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c5c24565ad247b8" /><Relationship Type="http://schemas.openxmlformats.org/officeDocument/2006/relationships/notesMaster" Target="/ppt/notesMasters/notesMaster1.xml" Id="Rc06af0b3ac3b45f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f1a18efb2064715" /><Relationship Type="http://schemas.openxmlformats.org/officeDocument/2006/relationships/notesMaster" Target="/ppt/notesMasters/notesMaster1.xml" Id="Rffc9ca42db2e4624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84893c8e836481d" /><Relationship Type="http://schemas.openxmlformats.org/officeDocument/2006/relationships/notesMaster" Target="/ppt/notesMasters/notesMaster1.xml" Id="Rf2954467c3c54e2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b7af335638a4b0e" /><Relationship Type="http://schemas.openxmlformats.org/officeDocument/2006/relationships/notesMaster" Target="/ppt/notesMasters/notesMaster1.xml" Id="R10d47c1d81b54db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f56686110634d28" /><Relationship Type="http://schemas.openxmlformats.org/officeDocument/2006/relationships/notesMaster" Target="/ppt/notesMasters/notesMaster1.xml" Id="R2de6649b2f3f46a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ac707be4dee4a3b" /><Relationship Type="http://schemas.openxmlformats.org/officeDocument/2006/relationships/notesMaster" Target="/ppt/notesMasters/notesMaster1.xml" Id="R4f9d2ee743654e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638ce9611464a1d" /><Relationship Type="http://schemas.openxmlformats.org/officeDocument/2006/relationships/notesMaster" Target="/ppt/notesMasters/notesMaster1.xml" Id="R9489d47ee63e4cf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589e0f2244a4d90" /><Relationship Type="http://schemas.openxmlformats.org/officeDocument/2006/relationships/notesMaster" Target="/ppt/notesMasters/notesMaster1.xml" Id="R65b6218abe2140a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ca819ee7a80447a" /><Relationship Type="http://schemas.openxmlformats.org/officeDocument/2006/relationships/notesMaster" Target="/ppt/notesMasters/notesMaster1.xml" Id="R56abbb85685d4b0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96bf18ac8ea4034" /><Relationship Type="http://schemas.openxmlformats.org/officeDocument/2006/relationships/notesMaster" Target="/ppt/notesMasters/notesMaster1.xml" Id="Rc150556256d444b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5a797684bac45e3" /><Relationship Type="http://schemas.openxmlformats.org/officeDocument/2006/relationships/notesMaster" Target="/ppt/notesMasters/notesMaster1.xml" Id="Rcf1780a35a1f491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f9134e4d4641d1" /><Relationship Type="http://schemas.openxmlformats.org/officeDocument/2006/relationships/notesMaster" Target="/ppt/notesMasters/notesMaster1.xml" Id="R018c2aeb7986479a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67690fd165f422f" /><Relationship Type="http://schemas.openxmlformats.org/officeDocument/2006/relationships/notesMaster" Target="/ppt/notesMasters/notesMaster1.xml" Id="Re9bacea1c4d94700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827d484467748f3" /><Relationship Type="http://schemas.openxmlformats.org/officeDocument/2006/relationships/notesMaster" Target="/ppt/notesMasters/notesMaster1.xml" Id="Rf1ce9c7b611544e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9a5b453f56aa4684" /><Relationship Type="http://schemas.openxmlformats.org/officeDocument/2006/relationships/notesMaster" Target="/ppt/notesMasters/notesMaster1.xml" Id="R2d5b596c72044f3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737445fbb5342a8" /><Relationship Type="http://schemas.openxmlformats.org/officeDocument/2006/relationships/notesMaster" Target="/ppt/notesMasters/notesMaster1.xml" Id="R56c3bf9ea7ff4a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Before Monday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This is the working week deck. Confirm the pacing and any required note-slide wording with the supervising teacher.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Hide or delete unused day sections only after the supervising teacher confirms the week's endpoint.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Use only the agenda, brain teaser, concept titles, and practice slide for each day.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Chapter 1 Introduction to Business and Marketing, pages 4-15.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Planning slide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Students should see the same sequence daily so they know what comes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Use this routine to trim or carry content when classes move at different speeds.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Keep the brain teaser, one or two concept slides, reading, and the exit sentence.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transcript: brain teaser, 2-4 notes slides, reading, vocabulary, aligned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Today we will use the same routine and focus on pages 4-5.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Leave the agenda visible during attendance. State the checkpoint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checkpoint and skip the full agenda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Chapter 1 pacing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0:02-0:07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Think independently for one minute before partner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Run one minute silent think, two minutes partner talk, and take two or three shares.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One minute think, one partner answer, one whole-class share.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starter routine and the day's Chapter 1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0:07-0:10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Business includes making, selling, and providing products in exchange for money. The word can also name a company or organization.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What business activity happened before you arrived at school?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0:10-0:13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 product is anything that can be bought or sold. It may be a good, a service, or an idea.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example is hardest to classify, and why?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0:13-0:16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Marketing promotes, sells, and distributes products or services. It helps connect what a business offers with customer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part of the starter was connected to marketing?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0:16-0:19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Choose one business. Name one good, one service, and one idea it could offer.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0:19-0:39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reading, vocabulary, and review all use today's same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Read, circulate during vocabulary, then collect or hear the aligned review response. Record the stopping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the reading, model one vocabulary card, and use the exit sentence as the only written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routine and Chapter 1, pages 4-5.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Today we will use the same routine and focus on pages 5-7.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Leave the agenda visible during attendance. State the checkpoint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checkpoint and skip the full agenda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Chapter 1 pacing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0:02-0:07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Think independently for one minute before partner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Run one minute silent think, two minutes partner talk, and take two or three shares.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One minute think, one partner answer, one whole-class share.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starter routine and the day's Chapter 1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0:07-0:10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Economics studies how people, businesses, and governments make decisions about unlimited wants with limited resources.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What resource is most limited in the student-run shop?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0:10-0:13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 profit is the financial gain left after subtracting the amount spent from the amount earned. Business activities help a company generate profit.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Why does a business need to watch both money earned and money spent?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0:13-0:16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Buying new equipment is which activity? Defend your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0:16-0:19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function would lead employees and plan the next month?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5-6.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0:19-0:39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reading, vocabulary, and review all use today's same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Read, circulate during vocabulary, then collect or hear the aligned review response. Record the stopping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the reading, model one vocabulary card, and use the exit sentence as the only written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routine and Chapter 1, pages 5-7.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Today we will use the same routine and focus on pages 8-9.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Leave the agenda visible during attendance. State the checkpoint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checkpoint and skip the full agenda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Chapter 1 pacing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0:02-0:07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Think independently for one minute before partner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Run one minute silent think, two minutes partner talk, and take two or three shares.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One minute think, one partner answer, one whole-class share.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starter routine and the day's Chapter 1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0:07-0:10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contribution is easiest to see in your chosen business?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0:10-0:13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 need is essential to survival. A want is desired but not essential. Businesses provide products that can serve both.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Can the same product involve both a need and a want? Explain.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0:13-0:16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A market is a place where goods and services are exchanged. Markets may be physical, virtual, broad, or specialized.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What type of market did you use most recently?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0:16-0:19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Businesses employ people, pay wages, pay taxes, and make goods and services available. Those actions influence spending and standards of living.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Trace one effect from a job to another part of the economy.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0:19-0:39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reading, vocabulary, and review all use today's same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Read, circulate during vocabulary, then collect or hear the aligned review response. Record the stopping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the reading, model one vocabulary card, and use the exit sentence as the only written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routine and Chapter 1, pages 8-9.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Today we will use the same routine and focus on page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Leave the agenda visible during attendance. State the checkpoint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checkpoint and skip the full agenda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Chapter 1 pacing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0:02-0:07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Think independently for one minute before partner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Run one minute silent think, two minutes partner talk, and take two or three shares.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One minute think, one partner answer, one whole-class share.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starter routine and the day's Chapter 1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0:07-0:10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Marketing defines customer wants and needs and helps deliver goods and services that fulfill them.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What could happen if the business guesses wrong about customer needs?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0:10-0:13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marketing concept is a method of selling that analyzes customer wants and needs and aims to fulfill them better than competitors.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Where do you see research, customers, and competition in the example?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0:13-0:16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What happens if one element is ignored?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0:16-0:19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Market share is the percentage of the market for a product or service that a company supplies.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Does market share describe one sale or a portion of the whole market?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0:19-0:39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reading, vocabulary, and review all use today's same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Read, circulate during vocabulary, then collect or hear the aligned review response. Record the stopping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the reading, model one vocabulary card, and use the exit sentence as the only written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routine and Chapter 1, page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0:00-0:02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Today we will use the same routine and focus on pages 11-15.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Leave the agenda visible during attendance. State the checkpoint before moving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checkpoint and skip the full agenda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transcript and Chapter 1 pacing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0:02-0:07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Think independently for one minute before partner talk.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Run one minute silent think, two minutes partner talk, and take two or three shares.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One minute think, one partner answer, one whole-class share.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starter routine and the day's Chapter 1 concept.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0:07-0:10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P did you change in the snack scenario?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11-12.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0:10-0:13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Product decisions shape features and services that satisfy customers. Promotion sends messages that build interest and influence purchases.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change affects the product itself, and which communicates about 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0:13-0:16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Price is the expected payment. Place is the path and timing used to move a product from producers to customers.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How can a strong price fail when place is weak?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0:16-0:19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Read each category and connect it to the day's brain teaser.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Teach one example, then ask the check question: Which function would research a target market?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Read the bold title, give one example, take one response, and move 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Chapter 1 Introduction to Business and Marketing, page 13-15.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TIME: 0:19-0:39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SAY: The reading, vocabulary, and review all use today's same ideas.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DO: Read, circulate during vocabulary, then collect or hear the aligned review response. Record the stopping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LOW-ENERGY OPTION: Assign the reading, model one vocabulary card, and use the exit sentence as the only written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September 10 STBE routine and Chapter 1, pages 11-15.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d7ba5244240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04f57ea3714a19" /><Relationship Type="http://schemas.openxmlformats.org/officeDocument/2006/relationships/slideLayout" Target="/ppt/slideLayouts/slideLayout1.xml" Id="Rb0cdd75754da44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cdd75754da44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8bcc974444e02" /><Relationship Type="http://schemas.openxmlformats.org/officeDocument/2006/relationships/notesSlide" Target="/ppt/notesSlides/notesSlide1.xml" Id="R34cfaecec8b14f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58d48e9e3d4e86" /><Relationship Type="http://schemas.openxmlformats.org/officeDocument/2006/relationships/notesSlide" Target="/ppt/notesSlides/notesSlide2.xml" Id="R90d20b68e8fc48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83dfe549841fe" /><Relationship Type="http://schemas.openxmlformats.org/officeDocument/2006/relationships/notesSlide" Target="/ppt/notesSlides/notesSlide3.xml" Id="R646debe4451440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bdbf173ef419c" /><Relationship Type="http://schemas.openxmlformats.org/officeDocument/2006/relationships/notesSlide" Target="/ppt/notesSlides/notesSlide4.xml" Id="R16cfe39ede6048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c21cf9bf14842" /><Relationship Type="http://schemas.openxmlformats.org/officeDocument/2006/relationships/notesSlide" Target="/ppt/notesSlides/notesSlide5.xml" Id="R736c0b39379b471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de9f0719e348fb" /><Relationship Type="http://schemas.openxmlformats.org/officeDocument/2006/relationships/notesSlide" Target="/ppt/notesSlides/notesSlide6.xml" Id="R4c4f7d5a8eb442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2f89c36fae42ed" /><Relationship Type="http://schemas.openxmlformats.org/officeDocument/2006/relationships/notesSlide" Target="/ppt/notesSlides/notesSlide7.xml" Id="R8fa543e2be7a46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38d93815d64943" /><Relationship Type="http://schemas.openxmlformats.org/officeDocument/2006/relationships/notesSlide" Target="/ppt/notesSlides/notesSlide8.xml" Id="Rce41a9a6b6624d7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92d03360334804" /><Relationship Type="http://schemas.openxmlformats.org/officeDocument/2006/relationships/notesSlide" Target="/ppt/notesSlides/notesSlide9.xml" Id="Rf7a66a318cbf4f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d44d6dda14ffd" /><Relationship Type="http://schemas.openxmlformats.org/officeDocument/2006/relationships/notesSlide" Target="/ppt/notesSlides/notesSlide10.xml" Id="R1dfde834f3b8478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14443a5654337" /><Relationship Type="http://schemas.openxmlformats.org/officeDocument/2006/relationships/notesSlide" Target="/ppt/notesSlides/notesSlide11.xml" Id="Re935fa588f8f4d2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e423aac0b4cc4" /><Relationship Type="http://schemas.openxmlformats.org/officeDocument/2006/relationships/notesSlide" Target="/ppt/notesSlides/notesSlide12.xml" Id="Rff13fee5b95c4a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c8078aaab43a5" /><Relationship Type="http://schemas.openxmlformats.org/officeDocument/2006/relationships/notesSlide" Target="/ppt/notesSlides/notesSlide13.xml" Id="R217b44bb5e4e4f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dae60962194449" /><Relationship Type="http://schemas.openxmlformats.org/officeDocument/2006/relationships/notesSlide" Target="/ppt/notesSlides/notesSlide14.xml" Id="Rd9173f936b334a2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f5c051f754146" /><Relationship Type="http://schemas.openxmlformats.org/officeDocument/2006/relationships/notesSlide" Target="/ppt/notesSlides/notesSlide15.xml" Id="R44fe6e96fb704f6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4c504b1d0049a0" /><Relationship Type="http://schemas.openxmlformats.org/officeDocument/2006/relationships/notesSlide" Target="/ppt/notesSlides/notesSlide16.xml" Id="R8a232a3cdfc54f6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a1d3d1fe94537" /><Relationship Type="http://schemas.openxmlformats.org/officeDocument/2006/relationships/notesSlide" Target="/ppt/notesSlides/notesSlide17.xml" Id="Rd713a9f6df1d497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e0cd09f1146a2" /><Relationship Type="http://schemas.openxmlformats.org/officeDocument/2006/relationships/notesSlide" Target="/ppt/notesSlides/notesSlide18.xml" Id="Raf712081a69a4d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6401341974329" /><Relationship Type="http://schemas.openxmlformats.org/officeDocument/2006/relationships/notesSlide" Target="/ppt/notesSlides/notesSlide19.xml" Id="R0a0384e0fb0942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5a1c7f51a4353" /><Relationship Type="http://schemas.openxmlformats.org/officeDocument/2006/relationships/notesSlide" Target="/ppt/notesSlides/notesSlide20.xml" Id="R9212c355823d4c2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f1b585a6c464b" /><Relationship Type="http://schemas.openxmlformats.org/officeDocument/2006/relationships/notesSlide" Target="/ppt/notesSlides/notesSlide21.xml" Id="Rb08f9dbb3d9643e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9b0003cdc48af" /><Relationship Type="http://schemas.openxmlformats.org/officeDocument/2006/relationships/notesSlide" Target="/ppt/notesSlides/notesSlide22.xml" Id="Rb75e71d8a53846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acb04246664a49" /><Relationship Type="http://schemas.openxmlformats.org/officeDocument/2006/relationships/notesSlide" Target="/ppt/notesSlides/notesSlide23.xml" Id="Rbbfb45df0ee347f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e0bcb6060439d" /><Relationship Type="http://schemas.openxmlformats.org/officeDocument/2006/relationships/notesSlide" Target="/ppt/notesSlides/notesSlide24.xml" Id="Rd1307461d5ae4335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551a6ab64a40cd" /><Relationship Type="http://schemas.openxmlformats.org/officeDocument/2006/relationships/notesSlide" Target="/ppt/notesSlides/notesSlide25.xml" Id="Rf1fc265d7887426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a5d333b614c30" /><Relationship Type="http://schemas.openxmlformats.org/officeDocument/2006/relationships/notesSlide" Target="/ppt/notesSlides/notesSlide26.xml" Id="Rf8515b8ca3424f5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d5377dd9e3402c" /><Relationship Type="http://schemas.openxmlformats.org/officeDocument/2006/relationships/notesSlide" Target="/ppt/notesSlides/notesSlide27.xml" Id="Rc394304eb246405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45c0d15f4442c1" /><Relationship Type="http://schemas.openxmlformats.org/officeDocument/2006/relationships/notesSlide" Target="/ppt/notesSlides/notesSlide28.xml" Id="R26fa0a119f8f4d1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9e8383014477e" /><Relationship Type="http://schemas.openxmlformats.org/officeDocument/2006/relationships/notesSlide" Target="/ppt/notesSlides/notesSlide29.xml" Id="R6f949677669f49f8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6b51f105243a7" /><Relationship Type="http://schemas.openxmlformats.org/officeDocument/2006/relationships/notesSlide" Target="/ppt/notesSlides/notesSlide30.xml" Id="R31199603fa924b2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acef761974cb4" /><Relationship Type="http://schemas.openxmlformats.org/officeDocument/2006/relationships/notesSlide" Target="/ppt/notesSlides/notesSlide31.xml" Id="R357c9f668d3c4e7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3c0e80249424f" /><Relationship Type="http://schemas.openxmlformats.org/officeDocument/2006/relationships/notesSlide" Target="/ppt/notesSlides/notesSlide32.xml" Id="Rf900372d255b475d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99744e3544168" /><Relationship Type="http://schemas.openxmlformats.org/officeDocument/2006/relationships/notesSlide" Target="/ppt/notesSlides/notesSlide33.xml" Id="Rc4608c3b75ff47e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15f6465d764d38" /><Relationship Type="http://schemas.openxmlformats.org/officeDocument/2006/relationships/notesSlide" Target="/ppt/notesSlides/notesSlide34.xml" Id="R075572196a2b4044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03555f88c4736" /><Relationship Type="http://schemas.openxmlformats.org/officeDocument/2006/relationships/notesSlide" Target="/ppt/notesSlides/notesSlide35.xml" Id="Rf838c21034224904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574a653954db2" /><Relationship Type="http://schemas.openxmlformats.org/officeDocument/2006/relationships/notesSlide" Target="/ppt/notesSlides/notesSlide36.xml" Id="R1bee63dc89c6404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21e57c9a74f78" /><Relationship Type="http://schemas.openxmlformats.org/officeDocument/2006/relationships/notesSlide" Target="/ppt/notesSlides/notesSlide37.xml" Id="Rb210853fffcc44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C37B8-1D2F-4531-BF60-206695B2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WEEK DECK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F4F0CB-DC0D-441B-8F59-793B3C80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76300"/>
            <a:ext cx="781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6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Chapter 1 Introduction to Business and 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CE639-8377-4D56-AC1A-14D35B34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526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Monday September 14 through Friday September 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78DCA4-ECD2-485F-9B1D-FBA1D83E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76575"/>
            <a:ext cx="7524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16213E"/>
            </a:solidFill>
            <a:prstDash val="solid"/>
          </a:ln>
        </p:spPr>
        <p:txBody>
          <a:bodyPr xmlns:a="http://schemas.openxmlformats.org/drawingml/2006/main" wrap="square" lIns="209550" tIns="114300" rIns="20955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Daily routine: brain teaser, 2-4 notes slides, reading, vocabulary, and an aligned review question.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3CA9A3-9B3B-457D-B3C6-07AEB540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0030B9-99CF-4997-B10B-442A0268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0477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643E0-4E7F-42EA-A59F-71D212711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83832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Notice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E9A99-7AD7-4A58-B7A7-7B94B1069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43125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2D020-EAE4-49CD-A87C-ED202EBF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1431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950D17-F453-47B9-B29F-2788FD902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933700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Learn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50B0F-1FEF-490D-A352-CF8FC842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74295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DF0DEB-1A04-4426-AD35-8C98FFE5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B6A43-0EEF-4105-BFA9-BA41D13B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29075"/>
            <a:ext cx="1952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Apply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19B024-8B8A-463C-A9AE-D08EB7D63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CHAPTER 1 WEEK DRAFT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4265A1-5F7F-4F6B-B083-6EC722C3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996DD8-F4DF-4D33-8A5F-17072C4B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57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838B9-73BF-4401-A5CB-73C7852C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F7D4BD-B95E-49AA-A10A-C9933AC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</p:spTree>
    <p:extLst>
      <p:ext uri="{BB962C8B-B14F-4D97-AF65-F5344CB8AC3E}">
        <p14:creationId xmlns:p14="http://schemas.microsoft.com/office/powerpoint/2010/main" val="14795129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7409952-D630-4B7F-A7B9-508A732B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WEEK ROUTINE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3D01C0-FE74-4D02-B9F3-F060A102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One predictable structure every 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030A9-8911-4464-9EC5-4F35DBBBE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E079C7-D3C7-4BEF-A55E-921505AD3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CHAPTER 1 WEEK DRAFT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2FBD1-25EA-4A9E-8EA0-AFEFCDF0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ED76D2-B76B-4218-94D8-2C782D63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9782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C3ACF0-6EEA-48F3-8FE9-FD4805A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F153E-2DFF-4FFB-9920-987D9D93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57B6D-8DF2-4058-BB74-24BDF27F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17145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CE0288-F379-4EE9-A086-E4AE6ACB7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57450"/>
            <a:ext cx="2114550" cy="22479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3243F-4450-4F0F-AE75-F42D355B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57450"/>
            <a:ext cx="76200" cy="2247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C00A47-BF39-4BCA-911B-1AA145E7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03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BRAIN TEASER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D110EE-04E6-4801-A0F3-DD2DEA07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Think first, then discuss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14185-680A-450D-9399-A2863A28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8D14B6-EC97-4118-B649-FE01BE31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2114550" cy="22479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02ACFD-068C-49AC-ABFA-5CCF1501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457450"/>
            <a:ext cx="76200" cy="2247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6A57F4-315B-42A4-A274-0ADF9DD1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6003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D8FB7C-2BE6-4A01-8CAB-B7663AAA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099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Two to four focused slides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3BCB9-664F-408F-817A-51CD6F4C3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7145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086E5F-BA68-471F-9AFC-3F2F2108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57450"/>
            <a:ext cx="2114550" cy="22479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BE7B1-F5D6-4E71-AA38-C0F2FE48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457450"/>
            <a:ext cx="76200" cy="2247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6A0A32-8073-4ACD-8197-BF51EA57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03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2043D5-7F7B-40CF-9A6B-89728FA8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099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Two to three pages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E300DC-007F-4DAB-8186-1E59BE8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7145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18106E-F507-4D01-9463-2FB059B3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57450"/>
            <a:ext cx="2114550" cy="22479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0079E0-E152-4126-84B4-943701C6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457450"/>
            <a:ext cx="76200" cy="2247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27FC32-6839-4A2C-B022-487F47BF9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6003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A0DF17-010F-4F20-801A-B5823567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099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Picture first, reveal after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13947-F746-4B1D-8051-9C313628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1714500"/>
            <a:ext cx="5524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1B004-6F18-41C2-94A3-5DB2EA71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2114550" cy="22479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321DFD-017A-4B53-BB93-34406305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57450"/>
            <a:ext cx="76200" cy="2247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095D12-E129-458A-824A-A3CA8EAB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60032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1577EB-C3FB-4D4C-8D34-C637E8F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009900"/>
            <a:ext cx="17907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Answer from today's content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D579F7-4325-4FEA-B5B8-16A7C7DB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0058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6213E"/>
          </a:solidFill>
          <a:ln xmlns:a="http://schemas.openxmlformats.org/drawingml/2006/main" w="0">
            <a:solidFill>
              <a:srgbClr val="16213E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Pacing rule: record the actual stopping point. Carry work forward instead of rushing the last activity.</a:t>
            </a:r>
          </a:p>
        </p:txBody>
      </p:sp>
    </p:spTree>
    <p:extLst>
      <p:ext uri="{BB962C8B-B14F-4D97-AF65-F5344CB8AC3E}">
        <p14:creationId xmlns:p14="http://schemas.microsoft.com/office/powerpoint/2010/main" val="9778961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714CB7-8A1B-4636-AFE5-17215207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70770-829E-4253-A502-78F8839D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Monday September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95EA0-D0C8-4720-AEC6-7152C9F1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23509-0ECD-4181-ABCA-B5FDB0B1C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 PAGES 4-5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0C696-29CF-4B9A-9136-6CB605B62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246DA6-7DD1-408F-A659-0D2A6F26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4673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AA348C-4B42-492E-89AE-A4A0B8E2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8A90A-809B-4CE8-BB93-21E6AB74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6E62F-36D5-40D0-8306-338EFA94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7CB5FE-2204-4AEE-A6A1-F7300FC3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05F66-AF20-4202-90FC-6D5CAA3CD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9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Attendance and brain teaser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627A62-4F34-4D6F-BCC1-0E1B9037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D3CFD-0064-4BE7-AA70-A86B1B6D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194DB-6630-4608-9CDC-D9E864FD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Four Chapter 1 notes slides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17AE1-9085-43D3-8B4B-EB492F78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3C8E39-09E6-4498-A88C-13BFE044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AD5CD-5B66-490C-B96E-D4146A66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4-5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6C1C0D-7834-40C5-B5BD-0F67945A5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A3000-4D49-4550-8A49-AACF45BD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62F8D6-04AD-4409-B0A5-BD443593B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Vocabulary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C3E7D4-BAF7-4957-A618-3ECC56CF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44DB51-E974-4A6F-9040-2A19D5AC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E786E-B18A-494A-A4F9-582F4F7A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Aligned review and 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E4F9EA-4D4A-41E7-BEF7-C838648C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D30F56-E591-45D7-A708-F797B9921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76200" cy="2686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3986E1-44DA-44B0-8814-812557CD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TODAY'S 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2E35CD-A31A-49F9-875E-CEF194AB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105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Explain the difference between business, product, and marketing, then classify a good, service, and idea.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E0436B-290C-4F6E-A7BC-3516395FC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39-minute class  |  Adjust to the live stopping point</a:t>
            </a:r>
          </a:p>
        </p:txBody>
      </p:sp>
    </p:spTree>
    <p:extLst>
      <p:ext uri="{BB962C8B-B14F-4D97-AF65-F5344CB8AC3E}">
        <p14:creationId xmlns:p14="http://schemas.microsoft.com/office/powerpoint/2010/main" val="1821178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533D72-295A-452A-865B-E971BEB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BRAIN TEASER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6C2D1-4739-4215-913C-5B6FD4ED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What influenced the purchase?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53CC5A-547A-4256-9178-A167DF0E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63CC5A-790B-45F1-8912-C0C1EE3F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438453-4866-4C53-8533-A7D2B21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BD0BF7-649A-4DDE-8911-86181D7B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9564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8571AA-11A7-4548-8910-0864442D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2D6007-9A9F-463F-A2F7-4AF44D1F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883394-D5EE-4BED-88D3-FA8041937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1040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Think about the last product you purchased. A fictional example is fine.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E03BF-E36B-4615-965C-14DF3CB5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7536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266700" tIns="114300" rIns="2667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did you notice first, and what made the product feel useful or worth the price?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83713-A851-4AA0-B795-310FB8E0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  THINK  60 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6487D8-6F4D-41EA-9384-73ACD19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2 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2C70C5-C325-4C05-9BF6-E3D8E24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  SHARE ONE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56C5A-687F-47CE-89C5-6CDD8213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Be ready to name one influence and explain your reason.</a:t>
            </a:r>
          </a:p>
        </p:txBody>
      </p:sp>
    </p:spTree>
    <p:extLst>
      <p:ext uri="{BB962C8B-B14F-4D97-AF65-F5344CB8AC3E}">
        <p14:creationId xmlns:p14="http://schemas.microsoft.com/office/powerpoint/2010/main" val="13724940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A0FA0-D070-4091-B716-F413BA61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NOTES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A44FAF-B3B9-454B-A42B-25EDE74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DD3E2-F464-45BB-ABF7-E595849C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7C70D-A8C3-4BB9-8C30-49D1EC79A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NOTES  PAGES 4-5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B1B15-5B7B-43A0-8B56-12285462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F541F7-9204-45E3-B9B5-0FFF22E2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24456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50AF8F-BF7E-4010-BAE6-EAFD3093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8BF7FB-C3AA-4ED3-B5A3-F9BF08C67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875BC9-CD0C-4AC2-89CC-1284B62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B04D4-608E-4D0A-9754-F759F1F5A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BA015F-8EA8-4368-B3D4-81F41B360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2E858-1310-498A-A71A-32029413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Business includes making, selling, and providing products in exchange for money. The word can also name a company or organization.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81B1A8-6FF5-48CE-AA23-6E9423A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DF8395-A994-4D13-A8F2-8B1F8C77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C3FFAA-2AD3-48F0-9103-288E773C7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7FCFF6-AE9F-43CB-B58F-17102F7F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cafe buys ingredients, prepares drinks, serves customers, and receives payment.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DAF0E-9EDA-4797-BB72-D7707E24C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What business activity happened before you arrived at school?</a:t>
            </a:r>
          </a:p>
        </p:txBody>
      </p:sp>
    </p:spTree>
    <p:extLst>
      <p:ext uri="{BB962C8B-B14F-4D97-AF65-F5344CB8AC3E}">
        <p14:creationId xmlns:p14="http://schemas.microsoft.com/office/powerpoint/2010/main" val="11955738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9ACED1-3D0A-4CE3-B763-B4F26016A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NOTES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81B49-DFFA-4AA7-A9AC-C9EC2C8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Product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86C937-DEC2-465B-95B5-684C5E45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16FC25-7828-4611-8EC2-F505A881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NOTES  PAGES 4-5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2B38F9-3341-4210-AF30-1340D40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E2D67B-D5E9-4B96-856C-12B6D175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29347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39084A-8F19-4087-8D58-7C28BEAC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9B940-C833-4909-BEF8-878C5533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8697C-7D05-461A-9A84-89390B2C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E9B44-9DC9-4233-B327-AED563C6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A77AE7-1483-48F0-8A62-E4090D94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10705-1BC3-4D6A-85AB-97C33C81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product is anything that can be bought or sold. It may be a good, a service, or an idea.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B30DEB-5025-420A-BB06-ED8D9058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A7B120-A3FE-4D8A-BE4B-8A953C107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F24AC-591B-44F6-B6BD-9F018237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ECE883-39E5-44AF-8244-B53D4793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laptop, a repair appointment, and a public-awareness campaign can all be products.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EE055-8631-4AFB-AA5C-C49D3D7E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example is hardest to classify, and why?</a:t>
            </a:r>
          </a:p>
        </p:txBody>
      </p:sp>
    </p:spTree>
    <p:extLst>
      <p:ext uri="{BB962C8B-B14F-4D97-AF65-F5344CB8AC3E}">
        <p14:creationId xmlns:p14="http://schemas.microsoft.com/office/powerpoint/2010/main" val="5562414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F7F3B6-FF03-4374-857C-5BE6750E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NOTES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E31A6E-220A-4B99-8676-F2D53E8E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3AAA58-6C63-4494-BEBE-80323FCB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DA99F-5520-442B-A001-93A508BD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NOTES  PAGES 4-5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543988-0751-48C9-94F0-D781767B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23AC50-2CB0-4C0F-9D28-0516F49D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34238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52E2A-25AC-453C-9E30-A63A404A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748273-3226-4C5A-A846-6B5486A9F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494F70-D83A-4419-AA73-ADB9315C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5BFA3C-49CB-45A3-BA92-9E3B3939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D3A2E-55C9-4537-A7A9-A8A2D1D7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81FBB-7C30-45B7-968D-88C4E03A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Marketing promotes, sells, and distributes products or services. It helps connect what a business offers with customer decisions.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79DCF0-CF5A-4415-A737-B308449D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79F1A0-2DBB-43BF-9F40-57A3EC5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A239AD-27D6-415A-8C03-12C988D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922B5-C0F5-4611-A14A-17DC6191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cafe's reviews, packaging, location, and service can all influence the customer's choice.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0B6143-0239-4789-95D2-2218C47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part of the starter was connected to marketing?</a:t>
            </a:r>
          </a:p>
        </p:txBody>
      </p:sp>
    </p:spTree>
    <p:extLst>
      <p:ext uri="{BB962C8B-B14F-4D97-AF65-F5344CB8AC3E}">
        <p14:creationId xmlns:p14="http://schemas.microsoft.com/office/powerpoint/2010/main" val="154603160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A2E9AA-530C-4D63-8DC9-B51D14E3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NOTES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A48D7-72E4-4726-8ED4-061706A8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Goods services and ideas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07A12-00F6-47FE-8643-20260702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62375-BFEE-449C-870C-121979968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NOTES  PAGES 4-5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3DE013-F87A-4DDD-8626-EA3736A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20E6B7-8CB9-49CE-B695-44B97614B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39129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CA87D-A1AD-4971-9D5A-9A05678B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AEFFD-10BF-4C57-9AF7-005594E2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C36596-D6EA-4285-9689-131040C9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FB297-4717-4755-82C0-8647515B5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41D774-6945-4B23-9DCD-F3E52198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GOOD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5A36D-4FD7-4F04-AEEB-9A84506A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tangible item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Examples: food, clothing, furniture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E5B3C-94A8-480C-9CF3-A0090E93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D1F16-2ED5-4022-AF85-073113AC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ACB0E2-B34F-47B8-BA5B-9880ACAEE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451C6A-CC86-4CC6-A0C0-364C5B09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task performed for money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Examples: repair, advising, cleaning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CA287-FC94-4D77-93D7-32742615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804745-B2C1-42A5-A1A1-3175BBB1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30609-2051-4DED-AB20-5B90D7A2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8F601D-A5D1-4C9A-B14A-8E2D37AE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formulated thought or opinion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Examples: a campaign or cause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0042D-973C-41D0-9EF6-A4CFA2F3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Choose one business. Name one good, one service, and one idea it could offer.</a:t>
            </a:r>
          </a:p>
        </p:txBody>
      </p:sp>
    </p:spTree>
    <p:extLst>
      <p:ext uri="{BB962C8B-B14F-4D97-AF65-F5344CB8AC3E}">
        <p14:creationId xmlns:p14="http://schemas.microsoft.com/office/powerpoint/2010/main" val="5156663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6E68A1-4388-46F3-80DD-A6B0362A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MONDAY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577178-BDDA-49EB-8289-F2D0213E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Read then build vocabulary then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FE4DE-FFA8-4286-891E-5C3A9B38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F2F48-E902-4057-BDAC-7DBFBE10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MONDAY PRACTICE  PAGES 4-5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C9A40-EDBE-48A7-9C64-7D44350B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0D02A-4FDB-47A5-B4D3-43DD4A7E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44020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483A86-F59E-4F01-9AC0-C2D74849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E4F5D-0774-4675-89CF-65BDFB6F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DE3F1A-43F4-43C8-A261-7BEBB089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4B531E-BFE8-4580-A804-A5415BA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86BDE-DA2A-4873-8E5D-90007DD7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C9F127-5814-4B48-898F-4F5E16CA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4-5. Pause after the economics definition. Mark one sentence that helps separate business from marketing.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815140-C336-492A-A53C-445F3EA7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F143AD-8A46-4ADF-9D9E-B717B0F4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F692F-86F1-4856-8271-1D91201F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AE4FE5-CAB9-47B0-984E-C9668AD3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Create or continue cards for: business, product, marketing, good, service, idea. Model business first. The picture must not reveal the term.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EA4D3D-9229-4693-AF48-7B773346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F8CC85-0DB4-4EDC-A1D1-DD2F8CE43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95FA32-99D0-42D2-B84E-A0CDD10D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B32E2-9F34-4EED-85A4-428335F2F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Classify three examples as a good, service, or idea. Then explain one choice in a complete sentence.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DADB23-34BD-4D64-8AA9-3A44C649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Exit: Business is ______. Marketing helps by ______.</a:t>
            </a:r>
          </a:p>
        </p:txBody>
      </p:sp>
    </p:spTree>
    <p:extLst>
      <p:ext uri="{BB962C8B-B14F-4D97-AF65-F5344CB8AC3E}">
        <p14:creationId xmlns:p14="http://schemas.microsoft.com/office/powerpoint/2010/main" val="6380825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896DB3-D95F-4B58-9FDE-420884EA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5F76B-4C76-4626-BCA8-3002D4CE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Tuesday September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62F0F6-2888-4A73-A897-05829B6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95DB3E-2352-41C8-8E9F-7177BCEC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 PAGES 5-7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6DBE26-C067-4AEF-A5D9-3F9906164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B761DB-53AB-4331-A4F9-AEF1CEA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48912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A1840-C4EA-4641-9A44-1158B93F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C98AA-8500-43CC-9205-3FA133E4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60683-6022-4E68-BD27-344BC031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13FC7B-4B01-4146-8FCB-187B4BDF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26C8D3-0D6D-4B5F-B7BC-CFADE3F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9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Attendance and brain teaser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106A19-CF66-429F-ABB9-A029AA71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6AD2A-C208-4EA9-BFF6-B310183A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C9C0D7-866A-4CF6-84A7-9D583D8B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Four Chapter 1 notes slides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2AC7FF-1C36-4F73-B42C-1CE36C48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BB26FE-7624-43F2-8A6A-3526A046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782641-8DEB-4E62-A856-E23C1385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5-7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CB5AE-D090-43D0-82E6-1D930DC5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096E25-5A73-4F0B-A1E8-6746E6ED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A0586-D20B-4248-A85F-E91CEF6E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Vocabulary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2A3A94-518F-4110-8AD3-B88F6E26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9619E5-ACBD-4CA4-B87B-B6D78DB4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3AE75-F76D-42BE-AA24-4B7F9B3B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Aligned review and 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D93DF1-43C2-48D4-9CC9-2E0A07F2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DF6B3C-37F1-4B0F-8F34-793A8570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76200" cy="2686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CE70927-C3C7-42F0-9BB7-3565830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TODAY'S 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FD54AA-9263-4878-8C61-7CB182D7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105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Explain how limited resources shape decisions and sort an example as operational, investing, or financial.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ECF2D-B56E-433F-94C4-604C7BCF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39-minute class  |  Adjust to the live stopping point</a:t>
            </a:r>
          </a:p>
        </p:txBody>
      </p:sp>
    </p:spTree>
    <p:extLst>
      <p:ext uri="{BB962C8B-B14F-4D97-AF65-F5344CB8AC3E}">
        <p14:creationId xmlns:p14="http://schemas.microsoft.com/office/powerpoint/2010/main" val="14236377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AEF1B-D296-451D-9F69-13CD285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BRAIN TEASER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8F128-22C3-434C-8D20-9CABE96F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Limited resources require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27ECE-E08A-4F04-8EC0-F7C019C1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B33F7-303F-4507-A25E-1303A9C0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E7245C-F297-40B5-ACF4-29CF3B4A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044C8-07ED-461A-91B9-3B9DB10C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53803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AD7837-75F3-4522-87AC-E8D5F5DD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27D348-82E0-4A37-9F16-CEAEF009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4558A3-90D0-4F92-BC29-7D14C620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1040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A student-run shop has $100 and four hours before opening.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E816AB-BBD2-43CA-BC6F-0C40188D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7536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66700" tIns="114300" rIns="2667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should the team spend first, and what must wait? Explain one tradeoff.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640B1A-E435-4358-8C07-3EE08383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  THINK  60 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E68211-76A5-4093-8746-0B0613F7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2 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7A4433-B390-4F96-A5D2-EC7D72F4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  SHARE ONE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D14E4D-C3A0-4598-BCED-911CEB4F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A tradeoff is what you give up when you choose another option.</a:t>
            </a:r>
          </a:p>
        </p:txBody>
      </p:sp>
    </p:spTree>
    <p:extLst>
      <p:ext uri="{BB962C8B-B14F-4D97-AF65-F5344CB8AC3E}">
        <p14:creationId xmlns:p14="http://schemas.microsoft.com/office/powerpoint/2010/main" val="608087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6838D-AF2A-4AB7-8A20-0CBA4D1B1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NOTES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BDA10D-30FC-4D27-B837-693D6C22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Economics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810A5-1F4C-4EC8-A7A6-3FA090B4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3F974-B369-42CF-91CF-C78D8FA5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NOTES  PAGES 5-7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94929-3368-4492-819E-E8C48D83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8492D-E3DB-477C-B385-14FC2598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58694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F48D8-7281-4A19-B078-0B573414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03621-D752-40C7-A8DD-0E5C4D8F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860B2B-9B3C-45F8-96FA-C228F60B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19E76E-48F7-4BE6-B75D-F99D0E4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F924E-C659-45DF-A171-11D8B7BF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DF16FC-4345-4FC0-A1B8-66EA0E9EC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Economics studies how people, businesses, and governments make decisions about unlimited wants with limited resources.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A55B09-E24A-4469-962D-1A60AD5F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9B9A6-A3DE-4FD2-A85F-4B105CA2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87102-F0B5-4D4A-AE05-B3E28D52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8ABA5D-2225-4EA6-8E1A-8538B62A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Time, money, materials, and workers are limited, so every plan includes choices.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C1F7EE-5F95-431B-9F53-8F433760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What resource is most limited in the student-run shop?</a:t>
            </a:r>
          </a:p>
        </p:txBody>
      </p:sp>
    </p:spTree>
    <p:extLst>
      <p:ext uri="{BB962C8B-B14F-4D97-AF65-F5344CB8AC3E}">
        <p14:creationId xmlns:p14="http://schemas.microsoft.com/office/powerpoint/2010/main" val="14814019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519DCC-F27B-4040-918D-28D77DD5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NOTES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63C594-1FB0-4F6A-940D-B500594E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Profit and business activity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1576-A3EF-4BC9-A946-F869D847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768CE7-AFE9-43D9-8727-E064E188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NOTES  PAGES 5-7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CE60EB-E63C-46AB-B930-23AFC475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FFABE0-0943-4699-A207-07AB8E78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63585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A40A8-B237-4D50-A292-DDAB35F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48789-02F0-437E-BA3D-7BB00BBE2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A6870-AEEA-42CB-9B23-4E36632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26B8E3-4CD2-4134-95B7-7548858E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016587-A4C6-4646-B69A-06462056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E5C54-2A36-4DF1-8836-416426D4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profit is the financial gain left after subtracting the amount spent from the amount earned. Business activities help a company generate profit.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069D5-2DEA-495D-B6A5-BC976DA3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4E2220-0D01-43FA-BA00-A78FD415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ABFBF-6FEF-46AC-85E6-B5C156400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597D25-2A8C-43C7-9A14-9A238DDA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If sales bring in $500 and costs are $350, the business has $150 left before any other obligations.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577EF7-9454-4187-A025-AA90EA85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Why does a business need to watch both money earned and money spent?</a:t>
            </a:r>
          </a:p>
        </p:txBody>
      </p:sp>
    </p:spTree>
    <p:extLst>
      <p:ext uri="{BB962C8B-B14F-4D97-AF65-F5344CB8AC3E}">
        <p14:creationId xmlns:p14="http://schemas.microsoft.com/office/powerpoint/2010/main" val="11270775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40CEE-0747-4420-9932-F9CDCAAB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NOTES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2C3D8-498A-41E6-8BFC-F73BEF9D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Three business activities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EECF9E-1139-4098-8955-C33A0478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AECF66-DC0A-4AB3-874E-5615019B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NOTES  PAGES 5-7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10B61-63FA-4331-8658-13D05CC9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D316A1-2BAC-418C-9ED8-15F561E3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68477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77B862-CB29-443E-A1E1-627F7274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09A013-C009-4105-8F72-CECF07FD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EAAB85-B688-4438-B306-9F6A43E4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B5CA5-272A-4B04-B506-834F2B2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89C8D-E443-450F-B6CA-DA6E8A33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OPERATIONAL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79E49-F754-493D-BADB-555C4EBD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Daily work that runs the business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Examples: production, research, hiring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AD891-297B-4400-9D31-E40FA152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BF1D91-000C-4E26-B881-E3D402082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83CEF3-28EB-48D1-9D62-3CC0D846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INVESTING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45AF4-D133-4261-9DC0-13E5A496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Using money to build value over time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Examples: building, equipment, advertising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28E58C-3868-4D0E-9FF6-AA3D3320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29B29-501E-4FDB-8308-D7DC6D8B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580131-4BB9-40DA-8924-FF4FE4DF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FINANCIAL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D21709-A654-420D-BAA3-2137BA0A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Money flowing into and out of the business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Examples: sales, wages, supplier payments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973561-E1E6-45BB-82AD-D45421E1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Buying new equipment is which activity? Defend your choice.</a:t>
            </a:r>
          </a:p>
        </p:txBody>
      </p:sp>
    </p:spTree>
    <p:extLst>
      <p:ext uri="{BB962C8B-B14F-4D97-AF65-F5344CB8AC3E}">
        <p14:creationId xmlns:p14="http://schemas.microsoft.com/office/powerpoint/2010/main" val="10246083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A011CD-3658-4BFD-9D9C-08FDA2F6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NOTES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EDED2D-59AA-4585-A287-4A5648D3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Four operational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E2E070-24BA-4343-9AB0-F9670BE2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A42DE-CEAF-4741-9F79-2A24484B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NOTES  PAGES 5-7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05F30C-D46D-43B4-8DEF-BE645AE3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292E89-692D-4785-8EFB-89C77156C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73368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B7A6F3-BF97-4DC0-801F-11E6DA9D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50B03C-B4D0-42B9-8B18-0D2EB42E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57C2BE-6684-41AF-957C-007B866D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8DAB39-D17B-4234-9B1E-85395C4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83AEDE-BEBB-4EFE-87D5-8182459E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B9670-5B97-42EA-93CF-58F6C982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Creates 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66DFB-77E9-4438-ADB8-F196F221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977A71-432B-4610-AF60-FA1B420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B7747-A599-403D-888C-D6658353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MARKETING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89E10-8E3B-4E30-84C2-2E84637E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Meets demand and competes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8C947-2D83-46B1-A74A-B0CCC009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D15069-3CE6-48A5-B52A-18477C7D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581060-A36F-4688-A100-720E1BDD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EBAA8-361A-4020-8DE7-EDD3EA33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Directs people and plans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54707-2839-41E4-9614-0960DACC2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6B6E27-FCCC-41FF-AA72-FE552F76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4678F3-51E3-412E-B8F1-A79476A4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B429F-4515-4FB9-8547-0AA86B69F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Handles daily money tasks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4FC10-A557-486B-91C5-8C72E7D8D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function would lead employees and plan the next month?</a:t>
            </a:r>
          </a:p>
        </p:txBody>
      </p:sp>
    </p:spTree>
    <p:extLst>
      <p:ext uri="{BB962C8B-B14F-4D97-AF65-F5344CB8AC3E}">
        <p14:creationId xmlns:p14="http://schemas.microsoft.com/office/powerpoint/2010/main" val="840888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DCF27-E617-4E17-8DAB-39DE91C5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TUESDAY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E63C6F-8683-412A-A779-376F0BD3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Read then build vocabulary then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ECF21C-BA59-49F8-98E9-E1F606A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52F202-64A0-42F0-BC76-9408EFA3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TUESDAY PRACTICE  PAGES 5-7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07F5F0-215E-40AA-8A7A-A4DB1BE1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FC205-FD9A-43BC-BD56-81345A2EC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78259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BD69D-C4E7-417D-85B3-A3C45A62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B1FF06-2F9B-46CA-ABF5-76B8B176C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75CF94-7241-4E61-B30E-56FF45D2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73BC21-9EF6-489A-A097-18732063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31CF3-31AC-4298-95C7-A918BB86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E40851-C85D-4A88-9C7E-D6A63085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5-7. Mark one operational, one investing, and one financial example from the text.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49513C-C64D-4635-AD8A-8C1CC181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ABB1FF-2A33-4775-BD98-F29F8D3E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4147E5-046E-4F1D-8291-E6A2023E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FEB977-43DE-4C64-B416-7092E4BF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Add economics. Review Monday's six cards using picture first, then reveal the term and definition.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3C53C-1615-407C-9F5C-5D305A1C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63005E-ADF0-4102-A9AC-959CAF2A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7B2C5D-5592-4EEA-A7DC-037E7A66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EE62CD-B82D-4952-B9AB-CA49B503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Sort four teacher examples by business activity. Write one sentence explaining the most difficult example.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A03B65-6F3E-4FA2-B407-DC2102A01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Exit: A limited resource changes a business decision because ______.</a:t>
            </a:r>
          </a:p>
        </p:txBody>
      </p:sp>
    </p:spTree>
    <p:extLst>
      <p:ext uri="{BB962C8B-B14F-4D97-AF65-F5344CB8AC3E}">
        <p14:creationId xmlns:p14="http://schemas.microsoft.com/office/powerpoint/2010/main" val="20624298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8C1417-A288-406B-87C1-2E7935C7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E5FAB2-6E87-436E-804D-9D2D40065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Wednesday September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609E2-E5DF-4AA8-8D52-8D8E689E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CF8A6-E05A-499A-B4D8-78C83DD1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 PAGES 8-9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750A1-87EC-49F4-87FD-4CA2673B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C9E84-810F-4742-A482-C54CB2C6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83150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B5907-B074-4634-B849-C4A5555B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C197D-9320-496B-8A91-7A5023C3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A69201-DF09-4C8F-9752-B0747C95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A1682A-2282-43A1-8D9F-DA62A1F6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23BF2-715E-4D3D-8D12-81675F21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9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Attendance and brain teaser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A82C6-327E-418E-9CC7-2FC53026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0B36F4-D88F-4ED2-9CFE-B2CB0EFB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71A5C-0E74-4943-AABD-48D72BAF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Four Chapter 1 notes slides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04171-3F3B-412E-8E6F-424BC2E3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67A633-1C8C-4B52-81A6-14CF288C4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C82B02-8EB6-44B9-91A2-5546A262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8-9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75D5BD-206B-43AA-BAC5-6EB16CB76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76C43E-BEBF-40F4-88E4-BBDDA4BD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5A775C-B97F-4C7E-AA29-7A5EBDFD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Vocabulary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A0AA63-A53B-40F0-A661-542285BA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150010-72D7-4ED1-9ABF-44398553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1B20A4-7B4A-4A39-9BAC-81E981C7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Aligned review and 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4E27D4-03C8-47B0-B1EC-BD36A34A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49984-5AFC-46EC-ADF3-59BE203D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76200" cy="2686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E35786-3B19-46CD-B2FF-ED1620DA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TODAY'S 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26EC81-DA42-4D5F-900B-70A5BBC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105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Use one local or fictional business to explain two ways businesses contribute to society.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BF1268-4CBF-4B7B-8D3E-696E1C3A7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39-minute class  |  Adjust to the live stopping point</a:t>
            </a:r>
          </a:p>
        </p:txBody>
      </p:sp>
    </p:spTree>
    <p:extLst>
      <p:ext uri="{BB962C8B-B14F-4D97-AF65-F5344CB8AC3E}">
        <p14:creationId xmlns:p14="http://schemas.microsoft.com/office/powerpoint/2010/main" val="155357959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673C39-7A3B-47B4-A0C5-40ACB32D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BRAIN TEASER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969F02-B31A-4397-921B-283C0ABB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How does one business help a community?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534A2-756A-47B9-9DA4-9E99DB45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AC63C-4B20-41A6-A0F9-5B386E0F8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3F369-9DEF-4679-A051-D1A813D1F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772356-2561-406F-BAE6-F511C634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88041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9992D4-8CDB-4766-94C6-D096FD21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D0DA27-8495-4B4A-B4CA-3A01A73D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464E2-606A-47D3-B399-97AE01D98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1040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Choose a local or fictional business that people use.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072DB8-3064-43DC-9D41-6055806F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7536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66700" tIns="114300" rIns="2667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does it provide besides profit for the owner? Name one effect on people or the community.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71F20-8774-48AC-8442-BC130B5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  THINK  60 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50EE06-85DB-46D8-8B0F-9BF8D296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2 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8D4657-F8A0-4C7C-8DDF-630BEC40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  SHARE ONE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87A4E7-A66B-4715-A061-D30C5FC2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Think about products, markets, jobs, wages, taxes, or quality of life.</a:t>
            </a:r>
          </a:p>
        </p:txBody>
      </p:sp>
    </p:spTree>
    <p:extLst>
      <p:ext uri="{BB962C8B-B14F-4D97-AF65-F5344CB8AC3E}">
        <p14:creationId xmlns:p14="http://schemas.microsoft.com/office/powerpoint/2010/main" val="10410296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FF9E6-E1CF-4ACB-8D78-6CAC8541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NOTES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B5A6A-6EA8-46EA-BD54-E34A5124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Three ways businesses contribute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B0718A-1B04-4011-A0F0-F3CA8383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58B7F-F33D-4FF8-8681-EBB00D27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NOTES  PAGES 8-9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81F0AA-B995-4B6A-8B26-29F27FAF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CA8394-5EB3-44F5-8D78-6F7E8FB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92933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D675D4-C396-4CC8-8C82-4CC5AD88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55DC32-4CD0-4AD8-9739-4ED1D970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C8774B-EFD5-46DC-95E9-0FD2E7B9A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AB8A4B-737A-4B0C-8563-8EA8A633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7E49A-78E6-4321-B70F-DA8E1A40F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PROVIDE PRODUCTS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43C62-1F17-4434-B46E-D258D62B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Meet customer needs and wants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2914E7-1987-4C01-BD70-45641192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C066C-A94B-4BA6-BDE1-76CB3F284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4D785F-4033-4D7D-8D76-B6B5E412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CREATE MARKETS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B86C94-33B7-4B6F-B8B6-667B1AE5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Make exchange possible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7AB72F-67BF-4FB2-B2B3-A5E4D4A90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B1451E-621C-46F9-AD21-1D3C1CB9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CAA2D-EE03-4795-8AD6-6B2C99A1B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ECONOMIC BENEFITS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7DB03-FA5E-4CC9-A699-85DF4687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Support jobs, wages, taxes, and spending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19E5F-0B0D-46B1-99E6-2581D538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contribution is easiest to see in your chosen business?</a:t>
            </a:r>
          </a:p>
        </p:txBody>
      </p:sp>
    </p:spTree>
    <p:extLst>
      <p:ext uri="{BB962C8B-B14F-4D97-AF65-F5344CB8AC3E}">
        <p14:creationId xmlns:p14="http://schemas.microsoft.com/office/powerpoint/2010/main" val="107196511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0D9C6D-CD6B-49D3-AAAA-ECB498BB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NOTES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44190-70AB-4F8D-9B4A-6C61B16A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Products meet needs and wants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C44FE-50CC-40A0-A356-6EA5D0D5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AD8C4D-3ACB-46C4-A2B9-3293ECD0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NOTES  PAGES 8-9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4BD3C0-D1C5-4872-8AA7-8983A567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0BBFF7-550B-4A8D-9BF0-3BD19456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9782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03B124-B462-4FB7-A289-1D0EBF8C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C3B5A8-A665-490F-AB2A-4C1215AC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30FFC1-60A7-4452-85CB-DD1392E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F2262-1EA5-4105-B785-3B05B245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0BB78A-53FD-4D6A-83BF-F8A41DB1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986AA-5002-4132-A1FE-9AB6E49C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need is essential to survival. A want is desired but not essential. Businesses provide products that can serve both.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B5324-C4C0-4ADC-8EA3-CE80D9C0E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955945-926A-4FD8-9368-0C5B4A665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19E97-14FB-499D-AF40-28AF4467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1A73B1-B216-417E-A3AF-C8E7DB79D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Food can meet a need. A particular brand, flavor, or premium feature may satisfy a want.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D679E-4B3D-4CF7-88CB-4F608313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Can the same product involve both a need and a want? Explain.</a:t>
            </a:r>
          </a:p>
        </p:txBody>
      </p:sp>
    </p:spTree>
    <p:extLst>
      <p:ext uri="{BB962C8B-B14F-4D97-AF65-F5344CB8AC3E}">
        <p14:creationId xmlns:p14="http://schemas.microsoft.com/office/powerpoint/2010/main" val="40030775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C94910-C475-41CE-A062-1F1197DA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NOTES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8B2F21-9628-423F-ADCB-4493E298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Businesses create markets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35FDB-918D-4A4E-B88A-D07C4739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86B71-7921-49E9-A396-E8FB1FE5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NOTES  PAGES 8-9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8DF401-F31A-4F35-A356-01B6C99F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C8DF2-A1D5-486F-9255-5790EC8F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02715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1029C8-956F-417D-A6D0-826FBCC66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E944AF-A8F4-4AA1-957D-9E1229A1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4EC9A-5597-41CE-839A-AE95CF86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D384F-2C90-4A06-93DA-8B1F0A25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2953C7-B236-4D57-B5F6-CDA87E0B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E8404-8CFC-4D4F-B70F-7A10024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market is a place where goods and services are exchanged. Markets may be physical, virtual, broad, or specialized.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4200-6CA1-4FAD-B443-79DF3DCE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0D9AB7-4A09-4411-AC27-AE564C36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19FE3-02CB-41DC-8221-4945718D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D81421-CD81-4832-94FD-0DD034C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grocery store is physical and broad. An online specialty shop is virtual and focused.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A59437-F855-4DE1-AAF7-FD63CEBF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What type of market did you use most recently?</a:t>
            </a:r>
          </a:p>
        </p:txBody>
      </p:sp>
    </p:spTree>
    <p:extLst>
      <p:ext uri="{BB962C8B-B14F-4D97-AF65-F5344CB8AC3E}">
        <p14:creationId xmlns:p14="http://schemas.microsoft.com/office/powerpoint/2010/main" val="7979759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D7CD94-9479-4A06-B13A-D1BFC8C5F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NOTES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886D38-B3A7-4C18-B949-A84542AC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Economic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29F7D2-10F5-44F9-8B29-106C0CF0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36F197-C42D-4434-80BF-FEE91887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NOTES  PAGES 8-9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5109E-EBB8-489F-B048-19D2A082E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F44F0-88E6-46F8-9C69-0ADB33283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07606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A79419-5147-4324-8E4D-A54C61A2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E7409-1BF4-40DF-B81A-E67E993D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757DA-B914-479A-891B-572FEADFA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865DA-E47C-44AC-BF4F-3AC6CF17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72ED66-E651-4DA3-BDF2-BF1DAA642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F16BE-C31D-47DB-ACE2-49317BEE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Businesses employ people, pay wages, pay taxes, and make goods and services available. Those actions influence spending and standards of living.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32EE93-87F3-4306-8920-DC3D14E5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8CBE0A-30E4-4643-8292-9E4183DD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F58CD7-ABA6-403E-B148-83CF80AD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1DB2C2-1E28-4BE3-838F-349936C3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An employee uses wages at other businesses, and taxes help fund public services.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3BF3F-66D5-4EBB-9516-AF3C737D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Trace one effect from a job to another part of the economy.</a:t>
            </a:r>
          </a:p>
        </p:txBody>
      </p:sp>
    </p:spTree>
    <p:extLst>
      <p:ext uri="{BB962C8B-B14F-4D97-AF65-F5344CB8AC3E}">
        <p14:creationId xmlns:p14="http://schemas.microsoft.com/office/powerpoint/2010/main" val="82967661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B4DF18-68DC-4AED-8FDD-BE0B8F268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WEDNESDAY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CC3B96-19AC-4E3C-B5CE-9E1581D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Read then build vocabulary then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B5AC6-0047-411B-AC83-A65101D5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96DAD-DA13-4AE1-8313-BE354CA20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WEDNESDAY PRACTICE  PAGES 8-9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C17B2-FF90-44BC-AE06-B6800BA9D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71EB9E-011F-4E92-8C55-5AF36589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12498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6A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3C32E-68DF-49D3-BF6D-2568C437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28EE2B-5F9B-4054-A13F-35FAA0632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C38CC8-B51B-4CEB-94F1-C9F2756A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6180DF-65D9-4405-9AEE-ED587AC0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A485CA-1D91-4CB4-8039-B8C1353A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AC7B11-DFD6-4DFA-8205-B8E7463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8-9. Label one sentence Products, one Markets, and one Economic Benefits.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A12C5-5B60-40D3-89CF-19A96BA9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588396-5798-412B-B3EB-111824CE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18ABE9-A918-4E44-97C2-2EDDEFD8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780EE-E3DC-4A6B-B0F9-E5C2F7F4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No new key term is required. Review business and product, then practice all seven cards from Monday and Tuesday.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A05923-8F35-4D86-A4D2-7E397572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AD2B8C-B086-46C9-BFA7-560F79FB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D89E54-E44B-4DE4-99E8-AC519E93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5151B9-5669-4057-AFEF-A571E8CA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Choose one business and explain two contributions. Use evidence from the reading, then add a concluding connection.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F6AA4-6AA6-40EF-AB4D-8021DE5D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Exit: One business contribution people may overlook is ______ because ______.</a:t>
            </a:r>
          </a:p>
        </p:txBody>
      </p:sp>
    </p:spTree>
    <p:extLst>
      <p:ext uri="{BB962C8B-B14F-4D97-AF65-F5344CB8AC3E}">
        <p14:creationId xmlns:p14="http://schemas.microsoft.com/office/powerpoint/2010/main" val="70663788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1ABF19-A8C7-428F-B958-410E55EB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57420F-6747-406F-A7A9-AE73D9EA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Thursday September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0F684-3845-4540-9357-B781984A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BB3695-4D14-4F9F-B8CC-2AAFD433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 PAGE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446F2-321F-4C0F-8CEC-EDB78BF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A9F2C0-9055-4072-82B0-1FACF8BB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17389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5DC090-0B32-483B-AAE4-81F463C8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E7B917-4E27-4EC9-8694-4CA7122A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7C9C85-B905-4359-ACDA-F4B66BEB2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CE2C6-0F43-452E-B679-363D4DBC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189077-A4F6-4114-8980-70F392D7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9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Attendance and brain teaser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34A40-B5EE-4BFC-84FD-3D58CC2D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6D323B-7C86-4147-9B9D-D627C6461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7FFDB6-34AB-420A-8267-208C2BE4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Four Chapter 1 notes slides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30DCD9-D9A7-4034-BBDA-8D3ED294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50947-C569-45B3-AA05-4EF8FED30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BD01D0-C8C8-4406-BAC4-5FBEBAEE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 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D5747-129D-40E0-89E3-AB4CBACD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F20EBD-919A-4D91-9C34-5A43C36C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4243F-0C8A-461B-BDFC-A0E5A856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Vocabulary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1A2C4D-D04D-4BDA-B722-54CD9ACC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8CE236-93CE-45D3-B0AB-79E171AF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97C6AE-F3D4-4256-9954-0F8078D3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Aligned review and 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38F9B9-2BFA-4239-A620-08652FA2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C63D5E-77F8-4309-9660-2273C2BE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76200" cy="2686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887758-7ADA-4B93-988B-D9BF8205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TODAY'S 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142BE0-FA1D-4033-8D49-89629670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105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Explain the marketing concept's three elements and use market share correctly in a sentence.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5DD578-A6F0-46B0-806E-3952107FF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39-minute class  |  Adjust to the live stopping point</a:t>
            </a:r>
          </a:p>
        </p:txBody>
      </p:sp>
    </p:spTree>
    <p:extLst>
      <p:ext uri="{BB962C8B-B14F-4D97-AF65-F5344CB8AC3E}">
        <p14:creationId xmlns:p14="http://schemas.microsoft.com/office/powerpoint/2010/main" val="63512870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7F6A3-8530-413E-B559-2D6425A5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BRAIN TEASER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ED25E-7BBE-4AEA-87D9-FCE60E40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What breaks when a business ignores customers?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0FFA0F-6F9C-433A-89F8-B2F8F1104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D0CC8B-F031-45B9-9994-611F0CD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D4782-F737-43B4-9A79-D15F7352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6A050-7979-47AF-B120-3AF64858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22280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B4D681-3580-4EBF-BF4A-2A4DC5C84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21663-4BA0-4B8F-AB2B-5F603C3E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37AAF8-18C9-4604-A517-71F10F8BC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1040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A business makes a popular product but ignores repeated customer complaints.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3EA4F-DE3D-4713-8998-00BED992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7536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266700" tIns="114300" rIns="2667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Which part of the marketing concept breaks down, and what problem could follow?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95BCD0-2A3E-42B3-A013-9750AFFA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1  THINK  60 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6DE7C-D7B3-4968-9A07-059DEF18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2 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EAA84-6CFB-459C-A060-994A6C4A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  SHARE ONE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60ABC-70FA-4016-B61A-7559845D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Use customer needs, company goals, or profits in your answer.</a:t>
            </a:r>
          </a:p>
        </p:txBody>
      </p:sp>
    </p:spTree>
    <p:extLst>
      <p:ext uri="{BB962C8B-B14F-4D97-AF65-F5344CB8AC3E}">
        <p14:creationId xmlns:p14="http://schemas.microsoft.com/office/powerpoint/2010/main" val="190431205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445EB9-0AD1-4AD6-B597-62E8DBA0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NOTES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74F63B-057C-487A-AD4F-9B7360CE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Purpose of marketing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82101C-4D96-4A0A-979D-C20F47E3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03F9D-EE89-4A0A-8DDD-88628DF4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NOTES  PAGE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F01A1-4572-4321-A8EE-878CE7F4C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3E5675-543F-48AC-A030-B417F6A8A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27171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83CCD-DC91-4B5D-95C4-5ABF459F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7A34C9-4C4A-4AC3-894B-18EDAB58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AD38F-CD3A-4B7A-9394-FDF7B72B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4BECD-9F59-4F22-ACE8-B1FC0368C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9C3079-D8E5-408E-B4A6-0BDD684D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B092F3-39BE-4088-8E1F-8929150B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Marketing defines customer wants and needs and helps deliver goods and services that fulfill them.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03DD52-EEA0-440C-8B97-76A3286F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CFBDD8-C8E6-4D52-A572-205486BB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63FF8-52F1-416A-A3BD-0D85F663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304416-A88A-4C80-B47A-5FB0F9C8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Research helps a business decide what to make before production, management, and finance commit resources.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6E7BE-C8BC-4491-9B56-D2A56923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What could happen if the business guesses wrong about customer needs?</a:t>
            </a:r>
          </a:p>
        </p:txBody>
      </p:sp>
    </p:spTree>
    <p:extLst>
      <p:ext uri="{BB962C8B-B14F-4D97-AF65-F5344CB8AC3E}">
        <p14:creationId xmlns:p14="http://schemas.microsoft.com/office/powerpoint/2010/main" val="9181302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37AC34-BBE0-44A3-91BC-D1D5353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NOTES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FE7A2-9C59-4689-9522-942A78EE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Marketing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900790-3203-41D8-A3C9-7C66A3EA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214F8-8AF0-414D-92A4-F28828885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NOTES  PAGE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1D87F-CC27-495E-ACF8-A1855712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358AFF-6691-4B93-8ABF-9BE6B91C4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32062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36651B-752A-41CF-9B12-2C17329EE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DD4A5-7CCB-4998-9D9A-A46ECF5A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9D6CB-E20A-488F-A8F5-6CF1D317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9EA55C-5F76-4967-A319-6227DA1D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530222-3F52-4E5C-8789-3E2A18DA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87C092-2CBB-482A-AB2D-77E70078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The marketing concept is a method of selling that analyzes customer wants and needs and aims to fulfill them better than competitors.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05EB2A-DD66-4C60-9647-D9562D80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8F813-0314-4CDB-8686-CC02099F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21AC51-EC7D-43CD-8A27-583D22C5C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5A8C27-7FE9-41BB-B6C2-FAB7C6D26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company changes a product after research shows the current version frustrates customers.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20C2E-847A-452D-BC62-A5DEE63A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Where do you see research, customers, and competition in the example?</a:t>
            </a:r>
          </a:p>
        </p:txBody>
      </p:sp>
    </p:spTree>
    <p:extLst>
      <p:ext uri="{BB962C8B-B14F-4D97-AF65-F5344CB8AC3E}">
        <p14:creationId xmlns:p14="http://schemas.microsoft.com/office/powerpoint/2010/main" val="17088386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C3FD2-87D1-44C5-B5DC-8D1E8A61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NOTES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21A89-3D30-4413-92BA-3EDE786B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Three elements in the marketing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38D0F3-B3D3-43B5-ABF5-6135D061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B9B23-1C76-4675-B9CA-0DE9F2AA8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NOTES  PAGE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2DD9A-15F1-47D7-A376-4B95E2CE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F3992-5690-440B-B21C-71D4324D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36954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9064E-6012-4C00-9079-6D8652BE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8643C5-A275-45CF-8561-BF905BE3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754BA-E00E-40AD-9C04-0CD7641F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2B200A-F397-4BBC-91B1-5304C92B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B40737-6CEE-4414-8486-CB0A1B70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CUSTOMER NEEDS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5E211B-11EF-4FB2-8871-ABEC93B5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Research what people want and need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C47CB3-C44D-465F-983B-1FF75558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6FA252-E8E9-4512-8980-E4173CF3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A9D1F-3D41-41F6-8CDE-6FDEE336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COMPANY GOALS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15E75A-6B7E-44D0-B2D5-6B8CF3CF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Align actions with satisfying customers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19651B-150F-47C0-B823-3894DA91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D3F02-871E-41D6-93F6-C295098A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0FCC2-E3CA-4940-BB35-6F9D6355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PROFITS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DFA497-D90F-4E8E-BD91-4FA433A3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Build returning customers and cover expenses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BF1ED3-71A0-47EE-81D7-E3F49A28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What happens if one element is ignored?</a:t>
            </a:r>
          </a:p>
        </p:txBody>
      </p:sp>
    </p:spTree>
    <p:extLst>
      <p:ext uri="{BB962C8B-B14F-4D97-AF65-F5344CB8AC3E}">
        <p14:creationId xmlns:p14="http://schemas.microsoft.com/office/powerpoint/2010/main" val="190113078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4C7A84-AAD3-4103-A27A-F7EB84DB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NOTES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78DCBB-4BD9-490B-A8C2-3EB15A028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Market share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4C3FD-BEE4-4AD4-A929-40126A90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CBC6E5-69D8-42A7-8B4E-03C791CE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NOTES  PAGE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D53A1E-C587-472D-9508-9D5BCEB6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074A6-5B7B-4817-AA6E-9571734C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41845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FB1971-4D90-4CB8-8E18-26B9B75BD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9EAA6E-B825-4781-9757-7B8C859E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FC1C15-6B35-4EF5-9961-64AFDFE6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AFBD9-685D-43EA-9647-C1F731D4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768D6D-EB0F-4B94-A62D-9B1D6946B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AAE05-43DF-4479-8D42-AAB5DA26C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Market share is the percentage of the market for a product or service that a company supplies.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4317F6-DC81-434C-AC08-6BB3D93D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9518BD-355F-4C42-9495-F789FF97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89D6A2-F1F7-47DF-A26B-4DA7FE5C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9483F5-EE41-4DD5-9F8D-DB3C5C865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company grows its share when it supplies a larger portion of the purchases in that market.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2A008A-9CFD-4A59-A1D8-920AFF3C5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Does market share describe one sale or a portion of the whole market?</a:t>
            </a:r>
          </a:p>
        </p:txBody>
      </p:sp>
    </p:spTree>
    <p:extLst>
      <p:ext uri="{BB962C8B-B14F-4D97-AF65-F5344CB8AC3E}">
        <p14:creationId xmlns:p14="http://schemas.microsoft.com/office/powerpoint/2010/main" val="31022926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92159-D40E-4CF1-80D5-DDBA21CA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THURSDAY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2F1FF-0B6E-4A28-84EA-6D2C056E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Read then build vocabulary then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28096-4F13-4D05-B07D-DDCB42B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D3132-40D9-45C0-B3FD-8DC9D256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THURSDAY PRACTICE  PAGE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0E3FC-C1A3-4C60-A37C-30462F3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20CD7-DBC7-4F1D-B82C-7887E97F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46736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2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0264E-10C7-41AF-B347-2E22B8A6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80F37B-4407-4474-8BFB-780F6C2E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B2D8C-49A9-4834-92DF-0995642CC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CE635A-2282-4011-9CFF-F80D8471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9A4AA2-B26A-44BF-BE71-DC8125905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CB158A-3A38-4EAC-B705-556A0045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 10. Draw a triangle and label customer needs, company goals, and profits. Add one relationship sentence.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A0E6D-A521-4A35-811F-AE3A821F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89F136-F393-4310-87B1-54C07894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E2805-73D5-4571-B209-AEEE278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7B37E-6368-405A-981C-59BCEE6F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Add marketing concept, market share, and market research. Use a meaningful picture that does not contain the term.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B6A0FC-5FCF-4556-A158-BB4CA21D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4301E-DE54-4EDD-94E6-BBE2370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C906A-4905-48E5-A248-9FE3934A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19A86E-9CBA-4776-B2E9-FCC8F1DBE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Use the complaint scenario. Write an opening sentence, one piece of evidence, and a concluding business connection.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D84280-543F-49EA-9EB9-C4F512BD7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Exit: The three marketing-concept elements work together because ______.</a:t>
            </a:r>
          </a:p>
        </p:txBody>
      </p:sp>
    </p:spTree>
    <p:extLst>
      <p:ext uri="{BB962C8B-B14F-4D97-AF65-F5344CB8AC3E}">
        <p14:creationId xmlns:p14="http://schemas.microsoft.com/office/powerpoint/2010/main" val="201058384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92EDDE-CEC1-42A4-BBE3-E7DC1FD9C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AGENDA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C20729-B093-44A0-BE99-78F762B4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Friday September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FD8A3-8A5A-4D57-9830-2CDE5A170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D0849-CE3F-4E19-B594-0D616157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 PAGES 11-15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C9736-EEFF-4686-BF36-1899913D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9435EB-05E0-49DB-91F2-61711576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516277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9D28EB-7972-45F2-9078-EA8889868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BD4931-3533-4BA2-A090-1A848B5C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611DC-FDFF-4793-AA4C-018E2D7C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F0F9A4-1253-46BF-84B9-91D4A638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FD881C-F968-4617-BA5C-E541E452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097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B1B1B"/>
                </a:solidFill>
                <a:latin typeface="Aptos"/>
                <a:ea typeface="Aptos"/>
                <a:cs typeface="Aptos"/>
              </a:rPr>
              <a:t>Attendance and brain teaser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ADB1C-ACB3-4D79-8A98-181BC287F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FADC10-90EA-460B-B8ED-3525FAA8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098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FE623A-7D9C-405D-BF1B-1A752B22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0030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Four Chapter 1 notes slides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A6048-8C77-4136-9940-04EC1A6C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479D14-4DE7-4D3D-B9E4-F159B485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04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C9832-C288-46C7-828C-88E63715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9087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11-15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4CB424-DA9B-4766-BBC6-0EF0E6CB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A2F2CF-3FED-4AE8-B603-6E46EF4A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4F393-A6D4-4861-90AE-CD6C8CC7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Vocabulary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9A6104-84F8-49F6-98E5-85C89D70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806BF7-23D2-49C5-AD44-149E88F3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89F84C-6A3C-4D3C-A48A-55E95A06C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72025"/>
            <a:ext cx="619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Aligned review and exit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6CE1F0-D71A-4785-B78C-2ED664ABC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42900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FE64D6-AC51-41DF-9444-CCC33580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76200" cy="2686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2C4BCE-5121-4A2B-88EF-6948C938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105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TODAY'S CHECKPOINT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648758-9317-4E66-BA8B-857F7384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62200"/>
            <a:ext cx="31051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Apply the 4 Ps to one product and name the seven marketing functions. Carry unfinished functions into Monday.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987246-0859-4939-AD4A-28204082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42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39-minute class  |  Adjust to the live stopping point</a:t>
            </a:r>
          </a:p>
        </p:txBody>
      </p:sp>
    </p:spTree>
    <p:extLst>
      <p:ext uri="{BB962C8B-B14F-4D97-AF65-F5344CB8AC3E}">
        <p14:creationId xmlns:p14="http://schemas.microsoft.com/office/powerpoint/2010/main" val="14305542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AC1AB7-5A94-4373-BE22-048189AE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BRAIN TEASER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B25024-D8D0-4654-A799-1CB03F66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Change one part of the marketing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87AEC-ABD1-4D53-B295-5403A418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7FE57-606C-47C5-AAF5-F1AE5520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STARTER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52453-F2E0-4968-B33F-D908AFDB9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4C0B27-2E7B-47C8-AF5D-4504B038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565189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C26B1C-394F-406E-871A-66EAF9C3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7803C2-F5EA-4605-B548-91EB1DEB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ECECE-05B9-4BB8-9028-402437C5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14500"/>
            <a:ext cx="1040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A new snack tastes good but sells poorly.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8AF58E-E29E-4E03-9EB7-20243F3C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753600" cy="1162050"/>
          </a:xfrm>
          <a:prstGeom xmlns:a="http://schemas.openxmlformats.org/drawingml/2006/main" prst="roundRect">
            <a:avLst>
              <a:gd name="adj" fmla="val 8197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266700" tIns="114300" rIns="266700" bIns="1143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Change one P and explain how the change could help the snack reach its target customer.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69835-CBBF-4832-B454-C0EDD7FA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1  THINK  60 SEC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42268C-8AC9-43E1-9B97-33337CCF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0F4C81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2  PARTNER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04532-94C8-41F4-8548-71E1676A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33875"/>
            <a:ext cx="2762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2D6A4F"/>
            </a:solidFill>
            <a:prstDash val="solid"/>
          </a:ln>
        </p:spPr>
        <p:txBody>
          <a:bodyPr xmlns:a="http://schemas.openxmlformats.org/drawingml/2006/main" wrap="square" lIns="28575" tIns="0" rIns="28575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3  SHARE ONE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488C4-A3EC-4D49-97BB-334234E7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67300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57150" tIns="38100" rIns="5715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Choose product, promotion, price, or place. Explain one cause-and-effect link.</a:t>
            </a:r>
          </a:p>
        </p:txBody>
      </p:sp>
    </p:spTree>
    <p:extLst>
      <p:ext uri="{BB962C8B-B14F-4D97-AF65-F5344CB8AC3E}">
        <p14:creationId xmlns:p14="http://schemas.microsoft.com/office/powerpoint/2010/main" val="144245579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FBBB5E-ADC8-4EE1-A5B1-0BEB8E6F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NOTES 1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ABF2A8-48A4-4AB3-B61F-162D2F35C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Marketing mix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CD2F0E-4848-4594-BA03-624FE29B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F078E8-2355-4605-BAEC-E223E07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NOTES  PAGES 11-15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9E16AC-BD5A-4723-8EC1-B4D0E181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C15E0E-B181-4FED-8309-84D4C432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61410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E99DA-223D-488C-95C8-E2B00BF87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26D88C-A823-4BB0-8BC2-D986FCE1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A8964-3831-4CA6-8A78-82EDE00D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8C62BA-D207-417F-8AA3-37CF6990E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BE3EF-72B0-43EC-967E-5100ECFA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F28062-589C-4C4C-B57A-B2CD4AAF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What the customer receives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17FF73-5B5F-4356-8CB6-1247C2E5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B3BF5E-DC73-4BFA-9C3F-BBCBFBBC1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DE3C7-2066-4D20-A50E-8FB0DE48F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PROMOTION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9FD231-3FA5-4EFC-B65B-33DAA1BC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6638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How customers hear and respond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E5B3E9-8D39-4E5E-A4D1-AB786551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B85C31-83E4-4D00-AA92-84A67DAD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25C77-4A18-43BF-91E4-B5864BEA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37910-15F4-4621-B18A-DC4646999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What customers pay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1E3B02-2A97-49E1-BC93-A709F704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714500"/>
            <a:ext cx="2605088" cy="3143250"/>
          </a:xfrm>
          <a:prstGeom xmlns:a="http://schemas.openxmlformats.org/drawingml/2006/main" prst="roundRect">
            <a:avLst>
              <a:gd name="adj" fmla="val 4388"/>
            </a:avLst>
          </a:prstGeom>
          <a:solidFill xmlns:a="http://schemas.openxmlformats.org/drawingml/2006/main">
            <a:srgbClr val="EAF4EE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BCDAF-F9CB-43E1-A115-79929081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D6A4F"/>
          </a:solidFill>
          <a:ln xmlns:a="http://schemas.openxmlformats.org/drawingml/2006/main" w="0">
            <a:solidFill>
              <a:srgbClr val="2D6A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1A202-55E0-4176-9597-6BD5B99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1857375"/>
            <a:ext cx="2281238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2D6A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D6A4F"/>
                </a:solidFill>
                <a:latin typeface="Aptos"/>
                <a:ea typeface="Aptos"/>
                <a:cs typeface="Aptos"/>
              </a:rPr>
              <a:t>PLACE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32129C-11EA-4009-A432-7C4A722F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5913" y="2266950"/>
            <a:ext cx="2281238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How and where the product reaches them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5E38F5-B914-43F8-997C-89D60162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P did you change in the snack scenario?</a:t>
            </a:r>
          </a:p>
        </p:txBody>
      </p:sp>
    </p:spTree>
    <p:extLst>
      <p:ext uri="{BB962C8B-B14F-4D97-AF65-F5344CB8AC3E}">
        <p14:creationId xmlns:p14="http://schemas.microsoft.com/office/powerpoint/2010/main" val="193111088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BA1E2C-DBDF-4CA7-80E7-AB9E8569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NOTES 2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22651-46AA-45B8-B764-6231402C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Product and promotion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64B1B-FA20-4FD9-AC5E-5FEF8A038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C47B62-231B-4C31-8ADC-07A855B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NOTES  PAGES 11-15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05F4BD-2FAC-4C23-9C62-A17952C3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FDF7A-DD4F-4EC8-AA3B-554792D64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663014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1B5A3-CE19-48A9-9112-6D5945DF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9CE59D-4184-4676-980D-CA75F29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99F1D-DD27-474F-86CC-0B7CEF9E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3AC10-1E7A-4B79-84FC-DC1157CB8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FCED6-681B-45A9-B262-0D174651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742ED-1A10-48CB-8988-BFBC155B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Product decisions shape features and services that satisfy customers. Promotion sends messages that build interest and influence purchases.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3CCCA-F892-408B-886E-12417615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B375F-2979-44BC-AB03-AB44B605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9985F1-769A-4CF2-9013-21CACE572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FBD4ED-7D9F-48B1-8CA5-178D4BA4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The snack could use resealable packaging and a school-safe message aimed at its target customer.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EC69CC-8569-45BC-99B0-346B3117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change affects the product itself, and which communicates about it?</a:t>
            </a:r>
          </a:p>
        </p:txBody>
      </p:sp>
    </p:spTree>
    <p:extLst>
      <p:ext uri="{BB962C8B-B14F-4D97-AF65-F5344CB8AC3E}">
        <p14:creationId xmlns:p14="http://schemas.microsoft.com/office/powerpoint/2010/main" val="120810850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9081D-389F-4D48-9C9B-74BBB41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NOTES 3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635EA-E98A-40B8-A5BF-B73CC65D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Price and place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8A3967-E827-4FA0-A265-1829C94A8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53297-94AD-48D0-ABA8-03617D22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NOTES  PAGES 11-15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C57130-37C2-4220-BCC6-2E48FF83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46555-E2D4-449D-8DFD-B90CD9EB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711926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9DCDC8-E84D-4464-85F4-5A0826F0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B85560-F19B-4217-8551-28FCDDEF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CF2C29-7DA1-4E9C-A8CC-29F3DCC3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5191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B7E7E5-7799-4F10-BA88-67B6CF89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8D5F7D-113B-4277-8CA2-23FEAE753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09750"/>
            <a:ext cx="4867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KEY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3612C-EA08-4DE9-A780-B3D718E2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19325"/>
            <a:ext cx="4867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Price is the expected payment. Place is the path and timing used to move a product from producers to customers.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DE686-85A4-46CD-8D19-C064DC24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5572125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8CD139-B85C-49A2-B5E4-FD5DF8C2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76200" cy="30003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645B2-5C06-4A5C-90D5-412603D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52482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18DDDF-546C-4A21-9CB8-9DDA5C5B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19325"/>
            <a:ext cx="5248275" cy="2314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 lower trial price may help, but customers still cannot buy the snack if it is unavailable where they shop.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5C2DDE-397D-4196-ADEC-34C0FBAE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0958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209550" tIns="76200" rIns="2095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How can a strong price fail when place is weak?</a:t>
            </a:r>
          </a:p>
        </p:txBody>
      </p:sp>
    </p:spTree>
    <p:extLst>
      <p:ext uri="{BB962C8B-B14F-4D97-AF65-F5344CB8AC3E}">
        <p14:creationId xmlns:p14="http://schemas.microsoft.com/office/powerpoint/2010/main" val="180131446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EFD2FB-719B-482D-AEDB-108A20AE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NOTES 4 OF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7CA1D8-5786-4620-A1A3-4E06B72B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Seven marketing functions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14AD4-32CB-44D1-A1EC-E7FC6F299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D1FA18-FCDF-4C3F-8B94-7325BEEE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NOTES  PAGES 11-15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220F2-CA35-4CB7-BE5F-7EB330D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B2D24-31BE-4EC7-9953-2E0F46E77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760838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D39D6A-9188-407D-AC22-CF288D64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3A4D1A-90A4-4396-A50E-B3AAB3DE5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9987B-40E4-4118-8C4D-FFDF36AB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0E7B9-15D1-4E13-AB73-9177027F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3AD8E-1303-404E-8A0D-62429700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1-2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F0A083-3EE5-4983-A44C-45686685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Channel management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Marketing information management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D1635-E628-4832-9513-A655F225D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06FCCE-FBAB-481A-AD74-F176BE4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665AF-50D9-4E99-8191-C6E2A4BA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3-4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B1109-5124-4C38-8DE3-DB6FC82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Marketing planning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Pricing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2B8B3-96BC-4DC3-9CBD-7DC4A71B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54330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2682E0-7231-4909-BD85-C523B17A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D388E-2C80-4925-A497-2326FE73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57375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5-7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6DDA04-EF86-4E62-BFA5-032BB35CE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66950"/>
            <a:ext cx="321945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Product and service management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Promotion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Selling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2FECA4-6213-4E9E-84A2-53B2C5DB0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91125"/>
            <a:ext cx="10191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16213E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213E"/>
                </a:solidFill>
                <a:latin typeface="Aptos"/>
                <a:ea typeface="Aptos"/>
                <a:cs typeface="Aptos"/>
              </a:rPr>
              <a:t>Which function would research a target market?</a:t>
            </a:r>
          </a:p>
        </p:txBody>
      </p:sp>
    </p:spTree>
    <p:extLst>
      <p:ext uri="{BB962C8B-B14F-4D97-AF65-F5344CB8AC3E}">
        <p14:creationId xmlns:p14="http://schemas.microsoft.com/office/powerpoint/2010/main" val="46058404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F88B53-D8C5-48FD-B133-172D65FF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86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FRIDAY PRACTICE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902A-2504-40DC-BD86-3D2371A1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10048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6213E"/>
                </a:solidFill>
                <a:latin typeface="Aptos Display"/>
                <a:ea typeface="Aptos Display"/>
                <a:cs typeface="Aptos Display"/>
              </a:rPr>
              <a:t>Read then build vocabulary then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3B9E2-3A75-4108-BBE4-76FF9B172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953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AC5984-BCF8-4E8B-8B79-6B02864B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5341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577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57786"/>
                </a:solidFill>
                <a:latin typeface="Aptos"/>
                <a:ea typeface="Aptos"/>
                <a:cs typeface="Aptos"/>
              </a:rPr>
              <a:t>FRIDAY PRACTICE  PAGES 11-15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BA5B2-3DB3-409F-85E7-2E8F10CDC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A174D-C9D1-4ED1-AFE4-C7FA9A87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600825"/>
            <a:ext cx="180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18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24A07-8DC3-496F-A2E6-2588B5D5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646747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75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01926D-416D-4193-B2B5-C23DD967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47650"/>
            <a:ext cx="1809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EAF0"/>
          </a:solidFill>
          <a:ln xmlns:a="http://schemas.openxmlformats.org/drawingml/2006/main" w="9525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38100" tIns="0" rIns="381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C9184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C9184A"/>
                </a:solidFill>
                <a:latin typeface="Aptos"/>
                <a:ea typeface="Aptos"/>
                <a:cs typeface="Aptos"/>
              </a:rPr>
              <a:t>DRAFT  STBE CHECK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A0F05-6DBC-464C-B481-5F968E5A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AF3F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85923F-F6D9-4882-9773-EE62285B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4C81"/>
          </a:solidFill>
          <a:ln xmlns:a="http://schemas.openxmlformats.org/drawingml/2006/main" w="0">
            <a:solidFill>
              <a:srgbClr val="0F4C8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98679-C633-4EED-B0C7-33299D57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0F4C8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F4C81"/>
                </a:solidFill>
                <a:latin typeface="Aptos"/>
                <a:ea typeface="Aptos"/>
                <a:cs typeface="Aptos"/>
              </a:rPr>
              <a:t>READ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EF400D-3E50-4170-80F7-DA8833E5C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Read pages 11-15. If time is short, finish the 4 Ps today and carry the seven functions into Monday instead of rushing.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A15EC1-54CF-46B1-B661-7CF5EB14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7F4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B5A96D-F0A5-4DAE-BF72-96846C50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B998B"/>
          </a:solidFill>
          <a:ln xmlns:a="http://schemas.openxmlformats.org/drawingml/2006/main" w="0">
            <a:solidFill>
              <a:srgbClr val="1B998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4BC92-CEDC-415B-9BC8-1BDF7B15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B998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VOCABULARY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8EB525-D68F-4B0B-8390-F37893BB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Add marketing mix, marketing function, and target market. Review all 13 Chapter 1 cards with picture first and answer revealed second.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5D9109-FC7A-41C9-B121-E799A9CB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35242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DCE4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77AFA-A3A8-482E-B4A9-9667BD212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33550"/>
            <a:ext cx="76200" cy="3143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A261"/>
          </a:solidFill>
          <a:ln xmlns:a="http://schemas.openxmlformats.org/drawingml/2006/main" w="0">
            <a:solidFill>
              <a:srgbClr val="F4A26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0541BE-DA70-4EF1-9053-1C84B596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76425"/>
            <a:ext cx="320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F4A26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A261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C32C4C-1407-4F3F-AF20-E03C7E4EF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200400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B1B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B1B1B"/>
                </a:solidFill>
                <a:latin typeface="Aptos"/>
                <a:ea typeface="Aptos"/>
                <a:cs typeface="Aptos"/>
              </a:rPr>
              <a:t>In a group, apply the 4 Ps to the snack. Use one opening sentence, specific evidence, and one concluding business connection.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B8752-81A7-4C07-B38C-804E4247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9700"/>
            <a:ext cx="103632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9184A"/>
          </a:solidFill>
          <a:ln xmlns:a="http://schemas.openxmlformats.org/drawingml/2006/main" w="0">
            <a:solidFill>
              <a:srgbClr val="C9184A"/>
            </a:solidFill>
            <a:prstDash val="solid"/>
          </a:ln>
        </p:spPr>
        <p:txBody>
          <a:bodyPr xmlns:a="http://schemas.openxmlformats.org/drawingml/2006/main" wrap="square" lIns="190500" tIns="76200" rIns="1905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Planned endpoint: page 15. If the functions are unfinished, record the exact stopping point for Monday.</a:t>
            </a:r>
          </a:p>
        </p:txBody>
      </p:sp>
    </p:spTree>
    <p:extLst>
      <p:ext uri="{BB962C8B-B14F-4D97-AF65-F5344CB8AC3E}">
        <p14:creationId xmlns:p14="http://schemas.microsoft.com/office/powerpoint/2010/main" val="7142491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2026-09-11T04:32:00.7410000Z</dcterms:created>
  <dcterms:modified xsi:type="dcterms:W3CDTF">2026-09-11T04:32:00.7410000Z</dcterms:modified>
</coreProperties>
</file>