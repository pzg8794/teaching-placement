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4c0b4ab80746b6" /><Relationship Type="http://schemas.openxmlformats.org/officeDocument/2006/relationships/extended-properties" Target="/docProps/app.xml" Id="R61d15c522abb45d6" /><Relationship Type="http://schemas.openxmlformats.org/officeDocument/2006/relationships/officeDocument" Target="/ppt/presentation.xml" Id="R5e1692c5805245f7" /></Relationships>
</file>

<file path=ppt/presentation.xml><?xml version="1.0" encoding="utf-8"?>
<p:presentation xmlns:p="http://schemas.openxmlformats.org/presentationml/2006/main">
  <p:sldMasterIdLst>
    <p:sldMasterId xmlns:r="http://schemas.openxmlformats.org/officeDocument/2006/relationships" id="2147483648" r:id="R8cec8196bf394a43"/>
  </p:sldMasterIdLst>
  <p:notesMasterIdLst>
    <p:notesMasterId xmlns:r="http://schemas.openxmlformats.org/officeDocument/2006/relationships" r:id="Rab118082263a4a77"/>
  </p:notesMasterIdLst>
  <p:sldIdLst>
    <p:sldId xmlns:r="http://schemas.openxmlformats.org/officeDocument/2006/relationships" id="256" r:id="R08cf1a276c75401c"/>
    <p:sldId xmlns:r="http://schemas.openxmlformats.org/officeDocument/2006/relationships" id="257" r:id="Rb8d0162542134f0d"/>
    <p:sldId xmlns:r="http://schemas.openxmlformats.org/officeDocument/2006/relationships" id="258" r:id="R8f565ec2f98844de"/>
    <p:sldId xmlns:r="http://schemas.openxmlformats.org/officeDocument/2006/relationships" id="259" r:id="R5441fe401e314f81"/>
    <p:sldId xmlns:r="http://schemas.openxmlformats.org/officeDocument/2006/relationships" id="260" r:id="Rc0581278aa454817"/>
    <p:sldId xmlns:r="http://schemas.openxmlformats.org/officeDocument/2006/relationships" id="261" r:id="R3158efeb0ff6402b"/>
    <p:sldId xmlns:r="http://schemas.openxmlformats.org/officeDocument/2006/relationships" id="262" r:id="R8b127804a08d4cf9"/>
    <p:sldId xmlns:r="http://schemas.openxmlformats.org/officeDocument/2006/relationships" id="263" r:id="Ra9f16840a5ff4369"/>
    <p:sldId xmlns:r="http://schemas.openxmlformats.org/officeDocument/2006/relationships" id="264" r:id="R5e41a083485b4db8"/>
    <p:sldId xmlns:r="http://schemas.openxmlformats.org/officeDocument/2006/relationships" id="265" r:id="R03506b9d2b7d4978"/>
    <p:sldId xmlns:r="http://schemas.openxmlformats.org/officeDocument/2006/relationships" id="266" r:id="R0f8c3ce751aa4533"/>
    <p:sldId xmlns:r="http://schemas.openxmlformats.org/officeDocument/2006/relationships" id="267" r:id="Rb312f8c2ba854651"/>
    <p:sldId xmlns:r="http://schemas.openxmlformats.org/officeDocument/2006/relationships" id="268" r:id="Re8811b71d83f49e3"/>
    <p:sldId xmlns:r="http://schemas.openxmlformats.org/officeDocument/2006/relationships" id="269" r:id="Rbc906415030e43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3c00147362427c" /><Relationship Type="http://schemas.openxmlformats.org/officeDocument/2006/relationships/slideMaster" Target="/ppt/slideMasters/slideMaster1.xml" Id="R8cec8196bf394a43" /><Relationship Type="http://schemas.openxmlformats.org/officeDocument/2006/relationships/notesMaster" Target="/ppt/notesMasters/notesMaster1.xml" Id="Rab118082263a4a77" /><Relationship Type="http://schemas.openxmlformats.org/officeDocument/2006/relationships/presProps" Target="/ppt/presProps.xml" Id="Rc4e3e20170914d23" /><Relationship Type="http://schemas.openxmlformats.org/officeDocument/2006/relationships/tableStyles" Target="/ppt/tableStyles.xml" Id="R0d36bde1c2da4573" /><Relationship Type="http://schemas.openxmlformats.org/officeDocument/2006/relationships/slide" Target="/ppt/slides/slide1.xml" Id="R08cf1a276c75401c" /><Relationship Type="http://schemas.openxmlformats.org/officeDocument/2006/relationships/slide" Target="/ppt/slides/slide2.xml" Id="Rb8d0162542134f0d" /><Relationship Type="http://schemas.openxmlformats.org/officeDocument/2006/relationships/slide" Target="/ppt/slides/slide3.xml" Id="R8f565ec2f98844de" /><Relationship Type="http://schemas.openxmlformats.org/officeDocument/2006/relationships/slide" Target="/ppt/slides/slide4.xml" Id="R5441fe401e314f81" /><Relationship Type="http://schemas.openxmlformats.org/officeDocument/2006/relationships/slide" Target="/ppt/slides/slide5.xml" Id="Rc0581278aa454817" /><Relationship Type="http://schemas.openxmlformats.org/officeDocument/2006/relationships/slide" Target="/ppt/slides/slide6.xml" Id="R3158efeb0ff6402b" /><Relationship Type="http://schemas.openxmlformats.org/officeDocument/2006/relationships/slide" Target="/ppt/slides/slide7.xml" Id="R8b127804a08d4cf9" /><Relationship Type="http://schemas.openxmlformats.org/officeDocument/2006/relationships/slide" Target="/ppt/slides/slide8.xml" Id="Ra9f16840a5ff4369" /><Relationship Type="http://schemas.openxmlformats.org/officeDocument/2006/relationships/slide" Target="/ppt/slides/slide9.xml" Id="R5e41a083485b4db8" /><Relationship Type="http://schemas.openxmlformats.org/officeDocument/2006/relationships/slide" Target="/ppt/slides/slide10.xml" Id="R03506b9d2b7d4978" /><Relationship Type="http://schemas.openxmlformats.org/officeDocument/2006/relationships/slide" Target="/ppt/slides/slide11.xml" Id="R0f8c3ce751aa4533" /><Relationship Type="http://schemas.openxmlformats.org/officeDocument/2006/relationships/slide" Target="/ppt/slides/slide12.xml" Id="Rb312f8c2ba854651" /><Relationship Type="http://schemas.openxmlformats.org/officeDocument/2006/relationships/slide" Target="/ppt/slides/slide13.xml" Id="Re8811b71d83f49e3" /><Relationship Type="http://schemas.openxmlformats.org/officeDocument/2006/relationships/slide" Target="/ppt/slides/slide14.xml" Id="Rbc906415030e43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971c3cf2534e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71918445984d2e" /><Relationship Type="http://schemas.openxmlformats.org/officeDocument/2006/relationships/notesMaster" Target="/ppt/notesMasters/notesMaster1.xml" Id="R2768f63ff44749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f395094ae44594" /><Relationship Type="http://schemas.openxmlformats.org/officeDocument/2006/relationships/notesMaster" Target="/ppt/notesMasters/notesMaster1.xml" Id="Rc25ab451bb3c42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95e2ef05aa4f0a" /><Relationship Type="http://schemas.openxmlformats.org/officeDocument/2006/relationships/notesMaster" Target="/ppt/notesMasters/notesMaster1.xml" Id="R37d4504c249b4d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95e402fb044e2a" /><Relationship Type="http://schemas.openxmlformats.org/officeDocument/2006/relationships/notesMaster" Target="/ppt/notesMasters/notesMaster1.xml" Id="R7ab5866ddcb649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a558388d4f4b8a" /><Relationship Type="http://schemas.openxmlformats.org/officeDocument/2006/relationships/notesMaster" Target="/ppt/notesMasters/notesMaster1.xml" Id="R4eebd3d3683740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8b7c69df364cfe" /><Relationship Type="http://schemas.openxmlformats.org/officeDocument/2006/relationships/notesMaster" Target="/ppt/notesMasters/notesMaster1.xml" Id="R0e4082c40c8e4b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6ba02009ae4016" /><Relationship Type="http://schemas.openxmlformats.org/officeDocument/2006/relationships/notesMaster" Target="/ppt/notesMasters/notesMaster1.xml" Id="R8ac29f1103fe49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c746f52d1eb4b52" /><Relationship Type="http://schemas.openxmlformats.org/officeDocument/2006/relationships/notesMaster" Target="/ppt/notesMasters/notesMaster1.xml" Id="Red1596eb4db74a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1bcbf13eb44aee" /><Relationship Type="http://schemas.openxmlformats.org/officeDocument/2006/relationships/notesMaster" Target="/ppt/notesMasters/notesMaster1.xml" Id="R497283b3b36643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37650ad10d4fd5" /><Relationship Type="http://schemas.openxmlformats.org/officeDocument/2006/relationships/notesMaster" Target="/ppt/notesMasters/notesMaster1.xml" Id="Rb6e887c9c13d4e0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582a81545794e88" /><Relationship Type="http://schemas.openxmlformats.org/officeDocument/2006/relationships/notesMaster" Target="/ppt/notesMasters/notesMaster1.xml" Id="Rdcf8c05b78f1498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ea64f6c24194de0" /><Relationship Type="http://schemas.openxmlformats.org/officeDocument/2006/relationships/notesMaster" Target="/ppt/notesMasters/notesMaster1.xml" Id="Rdf412eec73d545c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1bdcdb2c1244622" /><Relationship Type="http://schemas.openxmlformats.org/officeDocument/2006/relationships/notesMaster" Target="/ppt/notesMasters/notesMaster1.xml" Id="Rfbf020191abb4c7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b6215c19df0422d" /><Relationship Type="http://schemas.openxmlformats.org/officeDocument/2006/relationships/notesMaster" Target="/ppt/notesMasters/notesMaster1.xml" Id="Rae1f2ebddc1647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agenda after the SBTE confirms the sequence. Keep the brain teaser to about five minutes so attendance can happen. The vocabulary file and Teams location must come from the SBTE's approved class 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Chapter 1 review question and September 9 planning transcript at 00:12:57–00:13:45. Students may write keywords, sketch, or use a fictional purchase. Ask for two examples, then hand the transition to the SBTE.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only if the SBTE wants the transition into the marketing mix. Accept more than one defensible influence when the student explains the connection.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mirrors the SBTE's support sequence from the placement transcripts. Do not describe it as a new rule or grade. Model one step at a time and pause for students to catch 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exact approved folder location before students act. Archive older work without deleting it. Students who already have an organized system can show the checkpoint instead of rebuilding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the SBTE to confirm the exact naming convention before students rename or save the vocabulary file. The transcript requires meaningful names, but it does not establish a mandatory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live Teams assignment selected by the SBTE. Do not create or post an assignment from this slide. The teacher confirms which file students should download.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SBTE controls the final Teams submission instructions. Pause before the final action if the teacher wants to inspect progress or demonstrate Turn 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quick show, point, or verbal check. Students do not need to speak publicly. This is a readiness check, not a grade unless the SBTE says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as a three-to-five-minute opening while attendance happens. Allow silent thinking first, then invite a partner comparison or two whole-class responses. Connect the answer to the Chapter 1 text rather than treating it as a trivia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as a three-to-five-minute opening while attendance happens. Allow silent thinking first, then invite a partner comparison or two whole-class responses. Connect the answer to the Chapter 1 text rather than treating it as a trivia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as a three-to-five-minute opening while attendance happens. Allow silent thinking first, then invite a partner comparison or two whole-class responses. Connect the answer to the Chapter 1 text rather than treating it as a trivia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as a three-to-five-minute opening while attendance happens. Allow silent thinking first, then invite a partner comparison or two whole-class responses. Connect the answer to the Chapter 1 text rather than treating it as a trivia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as a three-to-five-minute opening while attendance happens. Allow silent thinking first, then invite a partner comparison or two whole-class responses. Connect the answer to the Chapter 1 text rather than treating it as a trivia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7bdc42c5a44f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4d3ed4a96f4cdf" /><Relationship Type="http://schemas.openxmlformats.org/officeDocument/2006/relationships/slideLayout" Target="/ppt/slideLayouts/slideLayout1.xml" Id="R721f3ee818db413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1f3ee818db41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0afca1c147644d1" /><Relationship Type="http://schemas.openxmlformats.org/officeDocument/2006/relationships/notesSlide" Target="/ppt/notesSlides/notesSlide1.xml" Id="R93a3e96dae044a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d34e40953e646eb" /><Relationship Type="http://schemas.openxmlformats.org/officeDocument/2006/relationships/notesSlide" Target="/ppt/notesSlides/notesSlide2.xml" Id="R11d6c2c646c444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93b671d1830493e" /><Relationship Type="http://schemas.openxmlformats.org/officeDocument/2006/relationships/notesSlide" Target="/ppt/notesSlides/notesSlide3.xml" Id="Rac0fa7a3326146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866801861d4bfc" /><Relationship Type="http://schemas.openxmlformats.org/officeDocument/2006/relationships/notesSlide" Target="/ppt/notesSlides/notesSlide4.xml" Id="Rf6ea8abc11c142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e173898dead4941" /><Relationship Type="http://schemas.openxmlformats.org/officeDocument/2006/relationships/notesSlide" Target="/ppt/notesSlides/notesSlide5.xml" Id="Rbb1fbcce75ed4f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ce3805641d84cca" /><Relationship Type="http://schemas.openxmlformats.org/officeDocument/2006/relationships/notesSlide" Target="/ppt/notesSlides/notesSlide6.xml" Id="Rf51827bcbfd841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768842f7a074c78" /><Relationship Type="http://schemas.openxmlformats.org/officeDocument/2006/relationships/notesSlide" Target="/ppt/notesSlides/notesSlide7.xml" Id="R01efeb4a3be644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fca45a0bd8c4177" /><Relationship Type="http://schemas.openxmlformats.org/officeDocument/2006/relationships/notesSlide" Target="/ppt/notesSlides/notesSlide8.xml" Id="R4a4293e4a2ee496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9937e941fba4f6a" /><Relationship Type="http://schemas.openxmlformats.org/officeDocument/2006/relationships/notesSlide" Target="/ppt/notesSlides/notesSlide9.xml" Id="Ra5814dfd644147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dba0f064ee141bd" /><Relationship Type="http://schemas.openxmlformats.org/officeDocument/2006/relationships/notesSlide" Target="/ppt/notesSlides/notesSlide10.xml" Id="R152bb3d5549d483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856fa4fc9c74cc6" /><Relationship Type="http://schemas.openxmlformats.org/officeDocument/2006/relationships/notesSlide" Target="/ppt/notesSlides/notesSlide11.xml" Id="R8687ab6ad48f43c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4697454f04447b5" /><Relationship Type="http://schemas.openxmlformats.org/officeDocument/2006/relationships/notesSlide" Target="/ppt/notesSlides/notesSlide12.xml" Id="R80a8df57db714bc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d13e65540e14583" /><Relationship Type="http://schemas.openxmlformats.org/officeDocument/2006/relationships/notesSlide" Target="/ppt/notesSlides/notesSlide13.xml" Id="R2574378fa04f4cf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39e848855ce43de" /><Relationship Type="http://schemas.openxmlformats.org/officeDocument/2006/relationships/notesSlide" Target="/ppt/notesSlides/notesSlide14.xml" Id="R3c4362949df846bd" /></Relationships>
</file>

<file path=ppt/slides/slide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FFB78B8-2DDB-4F22-BCAF-184FDEE793B0}"/>
              </a:ext>
            </a:extLst>
          </p:cNvPr>
          <p:cNvSpPr>
            <a:spLocks xmlns:a="http://schemas.openxmlformats.org/drawingml/2006/main" noGrp="1"/>
          </p:cNvSpPr>
          <p:nvPr/>
        </p:nvSpPr>
        <p:spPr>
          <a:xfrm xmlns:a="http://schemas.openxmlformats.org/drawingml/2006/main">
            <a:off x="609600" y="3238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7324D"/>
                </a:solidFill>
                <a:latin typeface="Helvetica Neue"/>
                <a:ea typeface="Helvetica Neue"/>
                <a:cs typeface="Helvetica Neue"/>
              </a:defRPr>
            </a:pPr>
            <a:r>
              <a:rPr sz="2550" b="1">
                <a:solidFill>
                  <a:srgbClr val="17324D"/>
                </a:solidFill>
                <a:latin typeface="Helvetica Neue"/>
                <a:ea typeface="Helvetica Neue"/>
                <a:cs typeface="Helvetica Neue"/>
              </a:rPr>
              <a:t>Friday plan: Chapter 1 and Microsoft 365</a:t>
            </a:r>
          </a:p>
        </p:txBody>
      </p:sp>
      <p:sp>
        <p:nvSpPr>
          <p:cNvPr id="2" name="">
            <a:extLst xmlns:a="http://schemas.openxmlformats.org/drawingml/2006/main">
              <a:ext uri="{FF2B5EF4-FFF2-40B4-BE49-F238E27FC236}">
                <a16:creationId xmlns:a16="http://schemas.microsoft.com/office/drawing/2014/main" id="{1A6EE783-9207-449D-983C-07679EF7CB7F}"/>
              </a:ext>
            </a:extLst>
          </p:cNvPr>
          <p:cNvSpPr>
            <a:spLocks xmlns:a="http://schemas.openxmlformats.org/drawingml/2006/main" noGrp="1"/>
          </p:cNvSpPr>
          <p:nvPr/>
        </p:nvSpPr>
        <p:spPr>
          <a:xfrm xmlns:a="http://schemas.openxmlformats.org/drawingml/2006/main">
            <a:off x="11258550" y="43815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878B5"/>
                </a:solidFill>
                <a:latin typeface="Helvetica Neue"/>
                <a:ea typeface="Helvetica Neue"/>
                <a:cs typeface="Helvetica Neue"/>
              </a:defRPr>
            </a:pPr>
            <a:r>
              <a:rPr sz="1275" b="1">
                <a:solidFill>
                  <a:srgbClr val="2878B5"/>
                </a:solidFill>
                <a:latin typeface="Helvetica Neue"/>
                <a:ea typeface="Helvetica Neue"/>
                <a:cs typeface="Helvetica Neue"/>
              </a:rPr>
              <a:t>1</a:t>
            </a:r>
          </a:p>
        </p:txBody>
      </p:sp>
      <p:sp>
        <p:nvSpPr>
          <p:cNvPr id="3" name="">
            <a:extLst xmlns:a="http://schemas.openxmlformats.org/drawingml/2006/main">
              <a:ext uri="{FF2B5EF4-FFF2-40B4-BE49-F238E27FC236}">
                <a16:creationId xmlns:a16="http://schemas.microsoft.com/office/drawing/2014/main" id="{BC58BB06-3410-4313-9BF5-5D1CCB8F6532}"/>
              </a:ext>
            </a:extLst>
          </p:cNvPr>
          <p:cNvSpPr>
            <a:spLocks xmlns:a="http://schemas.openxmlformats.org/drawingml/2006/main" noGrp="1"/>
          </p:cNvSpPr>
          <p:nvPr/>
        </p:nvSpPr>
        <p:spPr>
          <a:xfrm xmlns:a="http://schemas.openxmlformats.org/drawingml/2006/main">
            <a:off x="914400" y="1428750"/>
            <a:ext cx="6572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75" b="0">
                <a:solidFill>
                  <a:srgbClr val="16212B"/>
                </a:solidFill>
                <a:latin typeface="Helvetica Neue"/>
                <a:ea typeface="Helvetica Neue"/>
                <a:cs typeface="Helvetica Neue"/>
              </a:defRPr>
            </a:pPr>
            <a:r>
              <a:rPr sz="2175" b="0">
                <a:solidFill>
                  <a:srgbClr val="16212B"/>
                </a:solidFill>
                <a:latin typeface="Helvetica Neue"/>
                <a:ea typeface="Helvetica Neue"/>
                <a:cs typeface="Helvetica Neue"/>
              </a:rPr>
              <a:t>1  Brain teaser and discussion</a:t>
            </a:r>
          </a:p>
          <a:p xmlns:a="http://schemas.openxmlformats.org/drawingml/2006/main">
            <a:r>
              <a:t/>
            </a:r>
          </a:p>
          <a:p xmlns:a="http://schemas.openxmlformats.org/drawingml/2006/main">
            <a:pPr>
              <a:defRPr sz="2175" b="0">
                <a:solidFill>
                  <a:srgbClr val="16212B"/>
                </a:solidFill>
                <a:latin typeface="Helvetica Neue"/>
                <a:ea typeface="Helvetica Neue"/>
                <a:cs typeface="Helvetica Neue"/>
              </a:defRPr>
            </a:pPr>
            <a:r>
              <a:rPr sz="2175" b="0">
                <a:solidFill>
                  <a:srgbClr val="16212B"/>
                </a:solidFill>
                <a:latin typeface="Helvetica Neue"/>
                <a:ea typeface="Helvetica Neue"/>
                <a:cs typeface="Helvetica Neue"/>
              </a:rPr>
              <a:t>2  Set up a reliable class folder</a:t>
            </a:r>
          </a:p>
          <a:p xmlns:a="http://schemas.openxmlformats.org/drawingml/2006/main">
            <a:r>
              <a:t/>
            </a:r>
          </a:p>
          <a:p xmlns:a="http://schemas.openxmlformats.org/drawingml/2006/main">
            <a:pPr>
              <a:defRPr sz="2175" b="0">
                <a:solidFill>
                  <a:srgbClr val="16212B"/>
                </a:solidFill>
                <a:latin typeface="Helvetica Neue"/>
                <a:ea typeface="Helvetica Neue"/>
                <a:cs typeface="Helvetica Neue"/>
              </a:defRPr>
            </a:pPr>
            <a:r>
              <a:rPr sz="2175" b="0">
                <a:solidFill>
                  <a:srgbClr val="16212B"/>
                </a:solidFill>
                <a:latin typeface="Helvetica Neue"/>
                <a:ea typeface="Helvetica Neue"/>
                <a:cs typeface="Helvetica Neue"/>
              </a:rPr>
              <a:t>3  Download and name the vocabulary file</a:t>
            </a:r>
          </a:p>
          <a:p xmlns:a="http://schemas.openxmlformats.org/drawingml/2006/main">
            <a:r>
              <a:t/>
            </a:r>
          </a:p>
          <a:p xmlns:a="http://schemas.openxmlformats.org/drawingml/2006/main">
            <a:pPr>
              <a:defRPr sz="2175" b="0">
                <a:solidFill>
                  <a:srgbClr val="16212B"/>
                </a:solidFill>
                <a:latin typeface="Helvetica Neue"/>
                <a:ea typeface="Helvetica Neue"/>
                <a:cs typeface="Helvetica Neue"/>
              </a:defRPr>
            </a:pPr>
            <a:r>
              <a:rPr sz="2175" b="0">
                <a:solidFill>
                  <a:srgbClr val="16212B"/>
                </a:solidFill>
                <a:latin typeface="Helvetica Neue"/>
                <a:ea typeface="Helvetica Neue"/>
                <a:cs typeface="Helvetica Neue"/>
              </a:rPr>
              <a:t>4  Practice the Teams submission path</a:t>
            </a:r>
          </a:p>
        </p:txBody>
      </p:sp>
      <p:sp>
        <p:nvSpPr>
          <p:cNvPr id="4" name="">
            <a:extLst xmlns:a="http://schemas.openxmlformats.org/drawingml/2006/main">
              <a:ext uri="{FF2B5EF4-FFF2-40B4-BE49-F238E27FC236}">
                <a16:creationId xmlns:a16="http://schemas.microsoft.com/office/drawing/2014/main" id="{33A4808B-77C1-42A8-B1CD-3E271B38A1B0}"/>
              </a:ext>
            </a:extLst>
          </p:cNvPr>
          <p:cNvSpPr>
            <a:spLocks xmlns:a="http://schemas.openxmlformats.org/drawingml/2006/main" noGrp="1"/>
          </p:cNvSpPr>
          <p:nvPr/>
        </p:nvSpPr>
        <p:spPr>
          <a:xfrm xmlns:a="http://schemas.openxmlformats.org/drawingml/2006/main">
            <a:off x="7905750" y="1809750"/>
            <a:ext cx="3333750" cy="2667000"/>
          </a:xfrm>
          <a:prstGeom xmlns:a="http://schemas.openxmlformats.org/drawingml/2006/main" prst="rect">
            <a:avLst/>
          </a:prstGeom>
          <a:solidFill xmlns:a="http://schemas.openxmlformats.org/drawingml/2006/main">
            <a:srgbClr val="17324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Today’s goal</a:t>
            </a:r>
          </a:p>
          <a:p xmlns:a="http://schemas.openxmlformats.org/drawingml/2006/main">
            <a:r>
              <a:t/>
            </a:r>
          </a:p>
          <a:p xmlns:a="http://schemas.openxmlformats.org/drawingml/2006/main">
            <a:pP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Leave with one file you can find, identify, and submit.</a:t>
            </a:r>
          </a:p>
        </p:txBody>
      </p:sp>
    </p:spTree>
    <p:extLst>
      <p:ext uri="{BB962C8B-B14F-4D97-AF65-F5344CB8AC3E}">
        <p14:creationId xmlns:p14="http://schemas.microsoft.com/office/powerpoint/2010/main" val="1516097798"/>
      </p:ext>
    </p:extLst>
  </p:cSld>
</p:sld>
</file>

<file path=ppt/slides/slide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70EC58-1BE9-4D48-AEC1-23A041A8AE47}"/>
              </a:ext>
            </a:extLst>
          </p:cNvPr>
          <p:cNvSpPr>
            <a:spLocks xmlns:a="http://schemas.openxmlformats.org/drawingml/2006/main" noGrp="1"/>
          </p:cNvSpPr>
          <p:nvPr/>
        </p:nvSpPr>
        <p:spPr>
          <a:xfrm xmlns:a="http://schemas.openxmlformats.org/drawingml/2006/main">
            <a:off x="609600" y="3238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7324D"/>
                </a:solidFill>
                <a:latin typeface="Helvetica Neue"/>
                <a:ea typeface="Helvetica Neue"/>
                <a:cs typeface="Helvetica Neue"/>
              </a:defRPr>
            </a:pPr>
            <a:r>
              <a:rPr sz="2550" b="1">
                <a:solidFill>
                  <a:srgbClr val="17324D"/>
                </a:solidFill>
                <a:latin typeface="Helvetica Neue"/>
                <a:ea typeface="Helvetica Neue"/>
                <a:cs typeface="Helvetica Neue"/>
              </a:rPr>
              <a:t>Brain teaser: what influenced the purchase?</a:t>
            </a:r>
          </a:p>
        </p:txBody>
      </p:sp>
      <p:sp>
        <p:nvSpPr>
          <p:cNvPr id="2" name="">
            <a:extLst xmlns:a="http://schemas.openxmlformats.org/drawingml/2006/main">
              <a:ext uri="{FF2B5EF4-FFF2-40B4-BE49-F238E27FC236}">
                <a16:creationId xmlns:a16="http://schemas.microsoft.com/office/drawing/2014/main" id="{15791E01-03FB-48E2-B622-BC640F837E3C}"/>
              </a:ext>
            </a:extLst>
          </p:cNvPr>
          <p:cNvSpPr>
            <a:spLocks xmlns:a="http://schemas.openxmlformats.org/drawingml/2006/main" noGrp="1"/>
          </p:cNvSpPr>
          <p:nvPr/>
        </p:nvSpPr>
        <p:spPr>
          <a:xfrm xmlns:a="http://schemas.openxmlformats.org/drawingml/2006/main">
            <a:off x="11258550" y="43815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878B5"/>
                </a:solidFill>
                <a:latin typeface="Helvetica Neue"/>
                <a:ea typeface="Helvetica Neue"/>
                <a:cs typeface="Helvetica Neue"/>
              </a:defRPr>
            </a:pPr>
            <a:r>
              <a:rPr sz="1275" b="1">
                <a:solidFill>
                  <a:srgbClr val="2878B5"/>
                </a:solidFill>
                <a:latin typeface="Helvetica Neue"/>
                <a:ea typeface="Helvetica Neue"/>
                <a:cs typeface="Helvetica Neue"/>
              </a:rPr>
              <a:t>2</a:t>
            </a:r>
          </a:p>
        </p:txBody>
      </p:sp>
      <p:sp>
        <p:nvSpPr>
          <p:cNvPr id="3" name="">
            <a:extLst xmlns:a="http://schemas.openxmlformats.org/drawingml/2006/main">
              <a:ext uri="{FF2B5EF4-FFF2-40B4-BE49-F238E27FC236}">
                <a16:creationId xmlns:a16="http://schemas.microsoft.com/office/drawing/2014/main" id="{FD53E3A2-826C-46B9-BDD0-7C98AE4237B4}"/>
              </a:ext>
            </a:extLst>
          </p:cNvPr>
          <p:cNvSpPr>
            <a:spLocks xmlns:a="http://schemas.openxmlformats.org/drawingml/2006/main" noGrp="1"/>
          </p:cNvSpPr>
          <p:nvPr/>
        </p:nvSpPr>
        <p:spPr>
          <a:xfrm xmlns:a="http://schemas.openxmlformats.org/drawingml/2006/main">
            <a:off x="857250" y="13525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325" b="1">
                <a:solidFill>
                  <a:srgbClr val="17324D"/>
                </a:solidFill>
                <a:latin typeface="Helvetica Neue"/>
                <a:ea typeface="Helvetica Neue"/>
                <a:cs typeface="Helvetica Neue"/>
              </a:defRPr>
            </a:pPr>
            <a:r>
              <a:rPr sz="2325" b="1">
                <a:solidFill>
                  <a:srgbClr val="17324D"/>
                </a:solidFill>
                <a:latin typeface="Helvetica Neue"/>
                <a:ea typeface="Helvetica Neue"/>
                <a:cs typeface="Helvetica Neue"/>
              </a:rPr>
              <a:t>Think of the last product you purchased. A fictional example is fine.</a:t>
            </a:r>
          </a:p>
        </p:txBody>
      </p:sp>
      <p:sp>
        <p:nvSpPr>
          <p:cNvPr id="4" name="">
            <a:extLst xmlns:a="http://schemas.openxmlformats.org/drawingml/2006/main">
              <a:ext uri="{FF2B5EF4-FFF2-40B4-BE49-F238E27FC236}">
                <a16:creationId xmlns:a16="http://schemas.microsoft.com/office/drawing/2014/main" id="{FC45E8BC-1215-4618-B7D2-149603E138B2}"/>
              </a:ext>
            </a:extLst>
          </p:cNvPr>
          <p:cNvSpPr>
            <a:spLocks xmlns:a="http://schemas.openxmlformats.org/drawingml/2006/main" noGrp="1"/>
          </p:cNvSpPr>
          <p:nvPr/>
        </p:nvSpPr>
        <p:spPr>
          <a:xfrm xmlns:a="http://schemas.openxmlformats.org/drawingml/2006/main">
            <a:off x="1476375" y="2667000"/>
            <a:ext cx="9239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0">
                <a:solidFill>
                  <a:srgbClr val="16212B"/>
                </a:solidFill>
                <a:latin typeface="Helvetica Neue"/>
                <a:ea typeface="Helvetica Neue"/>
                <a:cs typeface="Helvetica Neue"/>
              </a:defRPr>
            </a:pPr>
            <a:r>
              <a:rPr sz="2100" b="0">
                <a:solidFill>
                  <a:srgbClr val="16212B"/>
                </a:solidFill>
                <a:latin typeface="Helvetica Neue"/>
                <a:ea typeface="Helvetica Neue"/>
                <a:cs typeface="Helvetica Neue"/>
              </a:rPr>
              <a:t>What did you notice first?</a:t>
            </a:r>
          </a:p>
          <a:p xmlns:a="http://schemas.openxmlformats.org/drawingml/2006/main">
            <a:r>
              <a:t/>
            </a:r>
          </a:p>
          <a:p xmlns:a="http://schemas.openxmlformats.org/drawingml/2006/main">
            <a:pPr>
              <a:defRPr sz="2100" b="0">
                <a:solidFill>
                  <a:srgbClr val="16212B"/>
                </a:solidFill>
                <a:latin typeface="Helvetica Neue"/>
                <a:ea typeface="Helvetica Neue"/>
                <a:cs typeface="Helvetica Neue"/>
              </a:defRPr>
            </a:pPr>
            <a:r>
              <a:rPr sz="2100" b="0">
                <a:solidFill>
                  <a:srgbClr val="16212B"/>
                </a:solidFill>
                <a:latin typeface="Helvetica Neue"/>
                <a:ea typeface="Helvetica Neue"/>
                <a:cs typeface="Helvetica Neue"/>
              </a:rPr>
              <a:t>What made the product feel useful or worth the price?</a:t>
            </a:r>
          </a:p>
          <a:p xmlns:a="http://schemas.openxmlformats.org/drawingml/2006/main">
            <a:r>
              <a:t/>
            </a:r>
          </a:p>
          <a:p xmlns:a="http://schemas.openxmlformats.org/drawingml/2006/main">
            <a:pPr>
              <a:defRPr sz="2100" b="0">
                <a:solidFill>
                  <a:srgbClr val="16212B"/>
                </a:solidFill>
                <a:latin typeface="Helvetica Neue"/>
                <a:ea typeface="Helvetica Neue"/>
                <a:cs typeface="Helvetica Neue"/>
              </a:defRPr>
            </a:pPr>
            <a:r>
              <a:rPr sz="2100" b="0">
                <a:solidFill>
                  <a:srgbClr val="16212B"/>
                </a:solidFill>
                <a:latin typeface="Helvetica Neue"/>
                <a:ea typeface="Helvetica Neue"/>
                <a:cs typeface="Helvetica Neue"/>
              </a:rPr>
              <a:t>Where did you see or hear about it?</a:t>
            </a:r>
          </a:p>
        </p:txBody>
      </p:sp>
      <p:sp>
        <p:nvSpPr>
          <p:cNvPr id="5" name="">
            <a:extLst xmlns:a="http://schemas.openxmlformats.org/drawingml/2006/main">
              <a:ext uri="{FF2B5EF4-FFF2-40B4-BE49-F238E27FC236}">
                <a16:creationId xmlns:a16="http://schemas.microsoft.com/office/drawing/2014/main" id="{1FE1F305-7D32-4DED-A41F-23D1F699F725}"/>
              </a:ext>
            </a:extLst>
          </p:cNvPr>
          <p:cNvSpPr>
            <a:spLocks xmlns:a="http://schemas.openxmlformats.org/drawingml/2006/main" noGrp="1"/>
          </p:cNvSpPr>
          <p:nvPr/>
        </p:nvSpPr>
        <p:spPr>
          <a:xfrm xmlns:a="http://schemas.openxmlformats.org/drawingml/2006/main">
            <a:off x="2000250" y="5572125"/>
            <a:ext cx="819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2E7D62"/>
                </a:solidFill>
                <a:latin typeface="Helvetica Neue"/>
                <a:ea typeface="Helvetica Neue"/>
                <a:cs typeface="Helvetica Neue"/>
              </a:defRPr>
            </a:pPr>
            <a:r>
              <a:rPr sz="1575" b="1">
                <a:solidFill>
                  <a:srgbClr val="2E7D62"/>
                </a:solidFill>
                <a:latin typeface="Helvetica Neue"/>
                <a:ea typeface="Helvetica Neue"/>
                <a:cs typeface="Helvetica Neue"/>
              </a:rPr>
              <a:t>Think quietly  •  Pair if invited  •  Share one influence</a:t>
            </a:r>
          </a:p>
        </p:txBody>
      </p:sp>
    </p:spTree>
    <p:extLst>
      <p:ext uri="{BB962C8B-B14F-4D97-AF65-F5344CB8AC3E}">
        <p14:creationId xmlns:p14="http://schemas.microsoft.com/office/powerpoint/2010/main" val="257685674"/>
      </p:ext>
    </p:extLst>
  </p:cSld>
</p:sld>
</file>

<file path=ppt/slides/slide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5F1B1B-E903-4FB4-ADA8-E7BF274C8BDA}"/>
              </a:ext>
            </a:extLst>
          </p:cNvPr>
          <p:cNvSpPr>
            <a:spLocks xmlns:a="http://schemas.openxmlformats.org/drawingml/2006/main" noGrp="1"/>
          </p:cNvSpPr>
          <p:nvPr/>
        </p:nvSpPr>
        <p:spPr>
          <a:xfrm xmlns:a="http://schemas.openxmlformats.org/drawingml/2006/main">
            <a:off x="609600" y="3238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7324D"/>
                </a:solidFill>
                <a:latin typeface="Helvetica Neue"/>
                <a:ea typeface="Helvetica Neue"/>
                <a:cs typeface="Helvetica Neue"/>
              </a:defRPr>
            </a:pPr>
            <a:r>
              <a:rPr sz="2550" b="1">
                <a:solidFill>
                  <a:srgbClr val="17324D"/>
                </a:solidFill>
                <a:latin typeface="Helvetica Neue"/>
                <a:ea typeface="Helvetica Neue"/>
                <a:cs typeface="Helvetica Neue"/>
              </a:rPr>
              <a:t>Marketing influences a customer’s decision</a:t>
            </a:r>
          </a:p>
        </p:txBody>
      </p:sp>
      <p:sp>
        <p:nvSpPr>
          <p:cNvPr id="2" name="">
            <a:extLst xmlns:a="http://schemas.openxmlformats.org/drawingml/2006/main">
              <a:ext uri="{FF2B5EF4-FFF2-40B4-BE49-F238E27FC236}">
                <a16:creationId xmlns:a16="http://schemas.microsoft.com/office/drawing/2014/main" id="{054D6D36-56B5-4A7F-96E9-BC2CBADC8575}"/>
              </a:ext>
            </a:extLst>
          </p:cNvPr>
          <p:cNvSpPr>
            <a:spLocks xmlns:a="http://schemas.openxmlformats.org/drawingml/2006/main" noGrp="1"/>
          </p:cNvSpPr>
          <p:nvPr/>
        </p:nvSpPr>
        <p:spPr>
          <a:xfrm xmlns:a="http://schemas.openxmlformats.org/drawingml/2006/main">
            <a:off x="11258550" y="43815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878B5"/>
                </a:solidFill>
                <a:latin typeface="Helvetica Neue"/>
                <a:ea typeface="Helvetica Neue"/>
                <a:cs typeface="Helvetica Neue"/>
              </a:defRPr>
            </a:pPr>
            <a:r>
              <a:rPr sz="1275" b="1">
                <a:solidFill>
                  <a:srgbClr val="2878B5"/>
                </a:solidFill>
                <a:latin typeface="Helvetica Neue"/>
                <a:ea typeface="Helvetica Neue"/>
                <a:cs typeface="Helvetica Neue"/>
              </a:rPr>
              <a:t>3</a:t>
            </a:r>
          </a:p>
        </p:txBody>
      </p:sp>
      <p:sp>
        <p:nvSpPr>
          <p:cNvPr id="3" name="">
            <a:extLst xmlns:a="http://schemas.openxmlformats.org/drawingml/2006/main">
              <a:ext uri="{FF2B5EF4-FFF2-40B4-BE49-F238E27FC236}">
                <a16:creationId xmlns:a16="http://schemas.microsoft.com/office/drawing/2014/main" id="{592DBC6A-C051-47ED-B368-DB0DCF187E78}"/>
              </a:ext>
            </a:extLst>
          </p:cNvPr>
          <p:cNvSpPr>
            <a:spLocks xmlns:a="http://schemas.openxmlformats.org/drawingml/2006/main" noGrp="1"/>
          </p:cNvSpPr>
          <p:nvPr/>
        </p:nvSpPr>
        <p:spPr>
          <a:xfrm xmlns:a="http://schemas.openxmlformats.org/drawingml/2006/main">
            <a:off x="952500" y="1619250"/>
            <a:ext cx="2190750" cy="590550"/>
          </a:xfrm>
          <a:prstGeom xmlns:a="http://schemas.openxmlformats.org/drawingml/2006/main" prst="rect">
            <a:avLst/>
          </a:prstGeom>
          <a:solidFill xmlns:a="http://schemas.openxmlformats.org/drawingml/2006/main">
            <a:srgbClr val="2878B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PRODUCT</a:t>
            </a:r>
          </a:p>
        </p:txBody>
      </p:sp>
      <p:sp>
        <p:nvSpPr>
          <p:cNvPr id="4" name="">
            <a:extLst xmlns:a="http://schemas.openxmlformats.org/drawingml/2006/main">
              <a:ext uri="{FF2B5EF4-FFF2-40B4-BE49-F238E27FC236}">
                <a16:creationId xmlns:a16="http://schemas.microsoft.com/office/drawing/2014/main" id="{97D679AC-F3B1-4754-85D0-B274F121367E}"/>
              </a:ext>
            </a:extLst>
          </p:cNvPr>
          <p:cNvSpPr>
            <a:spLocks xmlns:a="http://schemas.openxmlformats.org/drawingml/2006/main" noGrp="1"/>
          </p:cNvSpPr>
          <p:nvPr/>
        </p:nvSpPr>
        <p:spPr>
          <a:xfrm xmlns:a="http://schemas.openxmlformats.org/drawingml/2006/main">
            <a:off x="952500" y="2266950"/>
            <a:ext cx="2190750" cy="10953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0">
                <a:solidFill>
                  <a:srgbClr val="16212B"/>
                </a:solidFill>
                <a:latin typeface="Helvetica Neue"/>
                <a:ea typeface="Helvetica Neue"/>
                <a:cs typeface="Helvetica Neue"/>
              </a:defRPr>
            </a:pPr>
            <a:r>
              <a:rPr sz="1725" b="0">
                <a:solidFill>
                  <a:srgbClr val="16212B"/>
                </a:solidFill>
                <a:latin typeface="Helvetica Neue"/>
                <a:ea typeface="Helvetica Neue"/>
                <a:cs typeface="Helvetica Neue"/>
              </a:rPr>
              <a:t>What the customer receives</a:t>
            </a:r>
          </a:p>
        </p:txBody>
      </p:sp>
      <p:sp>
        <p:nvSpPr>
          <p:cNvPr id="5" name="">
            <a:extLst xmlns:a="http://schemas.openxmlformats.org/drawingml/2006/main">
              <a:ext uri="{FF2B5EF4-FFF2-40B4-BE49-F238E27FC236}">
                <a16:creationId xmlns:a16="http://schemas.microsoft.com/office/drawing/2014/main" id="{1BFFCF76-C697-4AA3-903B-4BC836A74668}"/>
              </a:ext>
            </a:extLst>
          </p:cNvPr>
          <p:cNvSpPr>
            <a:spLocks xmlns:a="http://schemas.openxmlformats.org/drawingml/2006/main" noGrp="1"/>
          </p:cNvSpPr>
          <p:nvPr/>
        </p:nvSpPr>
        <p:spPr>
          <a:xfrm xmlns:a="http://schemas.openxmlformats.org/drawingml/2006/main">
            <a:off x="3429000" y="1619250"/>
            <a:ext cx="2190750" cy="590550"/>
          </a:xfrm>
          <a:prstGeom xmlns:a="http://schemas.openxmlformats.org/drawingml/2006/main" prst="rect">
            <a:avLst/>
          </a:prstGeom>
          <a:solidFill xmlns:a="http://schemas.openxmlformats.org/drawingml/2006/main">
            <a:srgbClr val="2E7D6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PRICE</a:t>
            </a:r>
          </a:p>
        </p:txBody>
      </p:sp>
      <p:sp>
        <p:nvSpPr>
          <p:cNvPr id="6" name="">
            <a:extLst xmlns:a="http://schemas.openxmlformats.org/drawingml/2006/main">
              <a:ext uri="{FF2B5EF4-FFF2-40B4-BE49-F238E27FC236}">
                <a16:creationId xmlns:a16="http://schemas.microsoft.com/office/drawing/2014/main" id="{67339342-BDA7-4789-A57A-DCFF2DC35C54}"/>
              </a:ext>
            </a:extLst>
          </p:cNvPr>
          <p:cNvSpPr>
            <a:spLocks xmlns:a="http://schemas.openxmlformats.org/drawingml/2006/main" noGrp="1"/>
          </p:cNvSpPr>
          <p:nvPr/>
        </p:nvSpPr>
        <p:spPr>
          <a:xfrm xmlns:a="http://schemas.openxmlformats.org/drawingml/2006/main">
            <a:off x="3429000" y="2266950"/>
            <a:ext cx="2190750" cy="10953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0">
                <a:solidFill>
                  <a:srgbClr val="16212B"/>
                </a:solidFill>
                <a:latin typeface="Helvetica Neue"/>
                <a:ea typeface="Helvetica Neue"/>
                <a:cs typeface="Helvetica Neue"/>
              </a:defRPr>
            </a:pPr>
            <a:r>
              <a:rPr sz="1725" b="0">
                <a:solidFill>
                  <a:srgbClr val="16212B"/>
                </a:solidFill>
                <a:latin typeface="Helvetica Neue"/>
                <a:ea typeface="Helvetica Neue"/>
                <a:cs typeface="Helvetica Neue"/>
              </a:rPr>
              <a:t>What the customer gives up</a:t>
            </a:r>
          </a:p>
        </p:txBody>
      </p:sp>
      <p:sp>
        <p:nvSpPr>
          <p:cNvPr id="7" name="">
            <a:extLst xmlns:a="http://schemas.openxmlformats.org/drawingml/2006/main">
              <a:ext uri="{FF2B5EF4-FFF2-40B4-BE49-F238E27FC236}">
                <a16:creationId xmlns:a16="http://schemas.microsoft.com/office/drawing/2014/main" id="{5168749F-4523-4F43-8C64-550770CD6D01}"/>
              </a:ext>
            </a:extLst>
          </p:cNvPr>
          <p:cNvSpPr>
            <a:spLocks xmlns:a="http://schemas.openxmlformats.org/drawingml/2006/main" noGrp="1"/>
          </p:cNvSpPr>
          <p:nvPr/>
        </p:nvSpPr>
        <p:spPr>
          <a:xfrm xmlns:a="http://schemas.openxmlformats.org/drawingml/2006/main">
            <a:off x="5905500" y="1619250"/>
            <a:ext cx="2190750" cy="590550"/>
          </a:xfrm>
          <a:prstGeom xmlns:a="http://schemas.openxmlformats.org/drawingml/2006/main" prst="rect">
            <a:avLst/>
          </a:prstGeom>
          <a:solidFill xmlns:a="http://schemas.openxmlformats.org/drawingml/2006/main">
            <a:srgbClr val="17324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PLACE</a:t>
            </a:r>
          </a:p>
        </p:txBody>
      </p:sp>
      <p:sp>
        <p:nvSpPr>
          <p:cNvPr id="8" name="">
            <a:extLst xmlns:a="http://schemas.openxmlformats.org/drawingml/2006/main">
              <a:ext uri="{FF2B5EF4-FFF2-40B4-BE49-F238E27FC236}">
                <a16:creationId xmlns:a16="http://schemas.microsoft.com/office/drawing/2014/main" id="{6EB67D5C-FDA5-41C8-A700-672C7A0DEC34}"/>
              </a:ext>
            </a:extLst>
          </p:cNvPr>
          <p:cNvSpPr>
            <a:spLocks xmlns:a="http://schemas.openxmlformats.org/drawingml/2006/main" noGrp="1"/>
          </p:cNvSpPr>
          <p:nvPr/>
        </p:nvSpPr>
        <p:spPr>
          <a:xfrm xmlns:a="http://schemas.openxmlformats.org/drawingml/2006/main">
            <a:off x="5905500" y="2266950"/>
            <a:ext cx="2190750" cy="10953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0">
                <a:solidFill>
                  <a:srgbClr val="16212B"/>
                </a:solidFill>
                <a:latin typeface="Helvetica Neue"/>
                <a:ea typeface="Helvetica Neue"/>
                <a:cs typeface="Helvetica Neue"/>
              </a:defRPr>
            </a:pPr>
            <a:r>
              <a:rPr sz="1725" b="0">
                <a:solidFill>
                  <a:srgbClr val="16212B"/>
                </a:solidFill>
                <a:latin typeface="Helvetica Neue"/>
                <a:ea typeface="Helvetica Neue"/>
                <a:cs typeface="Helvetica Neue"/>
              </a:rPr>
              <a:t>Where and how it is available</a:t>
            </a:r>
          </a:p>
        </p:txBody>
      </p:sp>
      <p:sp>
        <p:nvSpPr>
          <p:cNvPr id="9" name="">
            <a:extLst xmlns:a="http://schemas.openxmlformats.org/drawingml/2006/main">
              <a:ext uri="{FF2B5EF4-FFF2-40B4-BE49-F238E27FC236}">
                <a16:creationId xmlns:a16="http://schemas.microsoft.com/office/drawing/2014/main" id="{5E5757B0-0DD1-4BA9-AF27-904A3942AE3E}"/>
              </a:ext>
            </a:extLst>
          </p:cNvPr>
          <p:cNvSpPr>
            <a:spLocks xmlns:a="http://schemas.openxmlformats.org/drawingml/2006/main" noGrp="1"/>
          </p:cNvSpPr>
          <p:nvPr/>
        </p:nvSpPr>
        <p:spPr>
          <a:xfrm xmlns:a="http://schemas.openxmlformats.org/drawingml/2006/main">
            <a:off x="8382000" y="1619250"/>
            <a:ext cx="2190750" cy="590550"/>
          </a:xfrm>
          <a:prstGeom xmlns:a="http://schemas.openxmlformats.org/drawingml/2006/main" prst="rect">
            <a:avLst/>
          </a:prstGeom>
          <a:solidFill xmlns:a="http://schemas.openxmlformats.org/drawingml/2006/main">
            <a:srgbClr val="F4B94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Helvetica Neue"/>
                <a:ea typeface="Helvetica Neue"/>
                <a:cs typeface="Helvetica Neue"/>
              </a:defRPr>
            </a:pPr>
            <a:r>
              <a:rPr sz="1800" b="1">
                <a:solidFill>
                  <a:srgbClr val="17324D"/>
                </a:solidFill>
                <a:latin typeface="Helvetica Neue"/>
                <a:ea typeface="Helvetica Neue"/>
                <a:cs typeface="Helvetica Neue"/>
              </a:rPr>
              <a:t>PROMOTION</a:t>
            </a:r>
          </a:p>
        </p:txBody>
      </p:sp>
      <p:sp>
        <p:nvSpPr>
          <p:cNvPr id="10" name="">
            <a:extLst xmlns:a="http://schemas.openxmlformats.org/drawingml/2006/main">
              <a:ext uri="{FF2B5EF4-FFF2-40B4-BE49-F238E27FC236}">
                <a16:creationId xmlns:a16="http://schemas.microsoft.com/office/drawing/2014/main" id="{4C738ED3-E198-4A6D-B6D6-77B29A67E486}"/>
              </a:ext>
            </a:extLst>
          </p:cNvPr>
          <p:cNvSpPr>
            <a:spLocks xmlns:a="http://schemas.openxmlformats.org/drawingml/2006/main" noGrp="1"/>
          </p:cNvSpPr>
          <p:nvPr/>
        </p:nvSpPr>
        <p:spPr>
          <a:xfrm xmlns:a="http://schemas.openxmlformats.org/drawingml/2006/main">
            <a:off x="8382000" y="2266950"/>
            <a:ext cx="2190750" cy="10953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0">
                <a:solidFill>
                  <a:srgbClr val="16212B"/>
                </a:solidFill>
                <a:latin typeface="Helvetica Neue"/>
                <a:ea typeface="Helvetica Neue"/>
                <a:cs typeface="Helvetica Neue"/>
              </a:defRPr>
            </a:pPr>
            <a:r>
              <a:rPr sz="1725" b="0">
                <a:solidFill>
                  <a:srgbClr val="16212B"/>
                </a:solidFill>
                <a:latin typeface="Helvetica Neue"/>
                <a:ea typeface="Helvetica Neue"/>
                <a:cs typeface="Helvetica Neue"/>
              </a:rPr>
              <a:t>How customers learn about it</a:t>
            </a:r>
          </a:p>
        </p:txBody>
      </p:sp>
      <p:sp>
        <p:nvSpPr>
          <p:cNvPr id="11" name="">
            <a:extLst xmlns:a="http://schemas.openxmlformats.org/drawingml/2006/main">
              <a:ext uri="{FF2B5EF4-FFF2-40B4-BE49-F238E27FC236}">
                <a16:creationId xmlns:a16="http://schemas.microsoft.com/office/drawing/2014/main" id="{A0F06575-2CC3-4DDD-8064-77DCDCC37A9A}"/>
              </a:ext>
            </a:extLst>
          </p:cNvPr>
          <p:cNvSpPr>
            <a:spLocks xmlns:a="http://schemas.openxmlformats.org/drawingml/2006/main" noGrp="1"/>
          </p:cNvSpPr>
          <p:nvPr/>
        </p:nvSpPr>
        <p:spPr>
          <a:xfrm xmlns:a="http://schemas.openxmlformats.org/drawingml/2006/main">
            <a:off x="1238250" y="4429125"/>
            <a:ext cx="971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17324D"/>
                </a:solidFill>
                <a:latin typeface="Helvetica Neue"/>
                <a:ea typeface="Helvetica Neue"/>
                <a:cs typeface="Helvetica Neue"/>
              </a:defRPr>
            </a:pPr>
            <a:r>
              <a:rPr sz="2250" b="1">
                <a:solidFill>
                  <a:srgbClr val="17324D"/>
                </a:solidFill>
                <a:latin typeface="Helvetica Neue"/>
                <a:ea typeface="Helvetica Neue"/>
                <a:cs typeface="Helvetica Neue"/>
              </a:rPr>
              <a:t>Which influence mattered most in your example? Explain your reason.</a:t>
            </a:r>
          </a:p>
        </p:txBody>
      </p:sp>
    </p:spTree>
    <p:extLst>
      <p:ext uri="{BB962C8B-B14F-4D97-AF65-F5344CB8AC3E}">
        <p14:creationId xmlns:p14="http://schemas.microsoft.com/office/powerpoint/2010/main" val="323492492"/>
      </p:ext>
    </p:extLst>
  </p:cSld>
</p:sld>
</file>

<file path=ppt/slides/slide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9F42B05-8A33-47F5-BAE0-0D7038E9ABEA}"/>
              </a:ext>
            </a:extLst>
          </p:cNvPr>
          <p:cNvSpPr>
            <a:spLocks xmlns:a="http://schemas.openxmlformats.org/drawingml/2006/main" noGrp="1"/>
          </p:cNvSpPr>
          <p:nvPr/>
        </p:nvSpPr>
        <p:spPr>
          <a:xfrm xmlns:a="http://schemas.openxmlformats.org/drawingml/2006/main">
            <a:off x="609600" y="3238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7324D"/>
                </a:solidFill>
                <a:latin typeface="Helvetica Neue"/>
                <a:ea typeface="Helvetica Neue"/>
                <a:cs typeface="Helvetica Neue"/>
              </a:defRPr>
            </a:pPr>
            <a:r>
              <a:rPr sz="2550" b="1">
                <a:solidFill>
                  <a:srgbClr val="17324D"/>
                </a:solidFill>
                <a:latin typeface="Helvetica Neue"/>
                <a:ea typeface="Helvetica Neue"/>
                <a:cs typeface="Helvetica Neue"/>
              </a:rPr>
              <a:t>Microsoft 365 workflow</a:t>
            </a:r>
          </a:p>
        </p:txBody>
      </p:sp>
      <p:sp>
        <p:nvSpPr>
          <p:cNvPr id="2" name="">
            <a:extLst xmlns:a="http://schemas.openxmlformats.org/drawingml/2006/main">
              <a:ext uri="{FF2B5EF4-FFF2-40B4-BE49-F238E27FC236}">
                <a16:creationId xmlns:a16="http://schemas.microsoft.com/office/drawing/2014/main" id="{F0134B34-EE95-4E35-89E3-063E27DBA091}"/>
              </a:ext>
            </a:extLst>
          </p:cNvPr>
          <p:cNvSpPr>
            <a:spLocks xmlns:a="http://schemas.openxmlformats.org/drawingml/2006/main" noGrp="1"/>
          </p:cNvSpPr>
          <p:nvPr/>
        </p:nvSpPr>
        <p:spPr>
          <a:xfrm xmlns:a="http://schemas.openxmlformats.org/drawingml/2006/main">
            <a:off x="11258550" y="43815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878B5"/>
                </a:solidFill>
                <a:latin typeface="Helvetica Neue"/>
                <a:ea typeface="Helvetica Neue"/>
                <a:cs typeface="Helvetica Neue"/>
              </a:defRPr>
            </a:pPr>
            <a:r>
              <a:rPr sz="1275" b="1">
                <a:solidFill>
                  <a:srgbClr val="2878B5"/>
                </a:solidFill>
                <a:latin typeface="Helvetica Neue"/>
                <a:ea typeface="Helvetica Neue"/>
                <a:cs typeface="Helvetica Neue"/>
              </a:rPr>
              <a:t>4</a:t>
            </a:r>
          </a:p>
        </p:txBody>
      </p:sp>
      <p:sp>
        <p:nvSpPr>
          <p:cNvPr id="3" name="">
            <a:extLst xmlns:a="http://schemas.openxmlformats.org/drawingml/2006/main">
              <a:ext uri="{FF2B5EF4-FFF2-40B4-BE49-F238E27FC236}">
                <a16:creationId xmlns:a16="http://schemas.microsoft.com/office/drawing/2014/main" id="{2A9FD669-EB1B-4558-A0E3-81F890C314A8}"/>
              </a:ext>
            </a:extLst>
          </p:cNvPr>
          <p:cNvSpPr>
            <a:spLocks xmlns:a="http://schemas.openxmlformats.org/drawingml/2006/main" noGrp="1"/>
          </p:cNvSpPr>
          <p:nvPr/>
        </p:nvSpPr>
        <p:spPr>
          <a:xfrm xmlns:a="http://schemas.openxmlformats.org/drawingml/2006/main">
            <a:off x="904875" y="1619250"/>
            <a:ext cx="2095500" cy="666750"/>
          </a:xfrm>
          <a:prstGeom xmlns:a="http://schemas.openxmlformats.org/drawingml/2006/main" prst="rect">
            <a:avLst/>
          </a:prstGeom>
          <a:solidFill xmlns:a="http://schemas.openxmlformats.org/drawingml/2006/main">
            <a:srgbClr val="17324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READ</a:t>
            </a:r>
          </a:p>
        </p:txBody>
      </p:sp>
      <p:sp>
        <p:nvSpPr>
          <p:cNvPr id="4" name="">
            <a:extLst xmlns:a="http://schemas.openxmlformats.org/drawingml/2006/main">
              <a:ext uri="{FF2B5EF4-FFF2-40B4-BE49-F238E27FC236}">
                <a16:creationId xmlns:a16="http://schemas.microsoft.com/office/drawing/2014/main" id="{F050E55B-5A40-40EE-BB8A-93A5167E24B3}"/>
              </a:ext>
            </a:extLst>
          </p:cNvPr>
          <p:cNvSpPr>
            <a:spLocks xmlns:a="http://schemas.openxmlformats.org/drawingml/2006/main" noGrp="1"/>
          </p:cNvSpPr>
          <p:nvPr/>
        </p:nvSpPr>
        <p:spPr>
          <a:xfrm xmlns:a="http://schemas.openxmlformats.org/drawingml/2006/main">
            <a:off x="904875" y="2381250"/>
            <a:ext cx="2095500" cy="15240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0">
                <a:solidFill>
                  <a:srgbClr val="16212B"/>
                </a:solidFill>
                <a:latin typeface="Helvetica Neue"/>
                <a:ea typeface="Helvetica Neue"/>
                <a:cs typeface="Helvetica Neue"/>
              </a:defRPr>
            </a:pPr>
            <a:r>
              <a:rPr sz="1725" b="0">
                <a:solidFill>
                  <a:srgbClr val="16212B"/>
                </a:solidFill>
                <a:latin typeface="Helvetica Neue"/>
                <a:ea typeface="Helvetica Neue"/>
                <a:cs typeface="Helvetica Neue"/>
              </a:rPr>
              <a:t>Read the direction and identify the expected file.</a:t>
            </a:r>
          </a:p>
        </p:txBody>
      </p:sp>
      <p:sp>
        <p:nvSpPr>
          <p:cNvPr id="5" name="">
            <a:extLst xmlns:a="http://schemas.openxmlformats.org/drawingml/2006/main">
              <a:ext uri="{FF2B5EF4-FFF2-40B4-BE49-F238E27FC236}">
                <a16:creationId xmlns:a16="http://schemas.microsoft.com/office/drawing/2014/main" id="{C4E0D088-070D-42A9-8C3A-3952E95B61A0}"/>
              </a:ext>
            </a:extLst>
          </p:cNvPr>
          <p:cNvSpPr>
            <a:spLocks xmlns:a="http://schemas.openxmlformats.org/drawingml/2006/main" noGrp="1"/>
          </p:cNvSpPr>
          <p:nvPr/>
        </p:nvSpPr>
        <p:spPr>
          <a:xfrm xmlns:a="http://schemas.openxmlformats.org/drawingml/2006/main">
            <a:off x="3286125" y="1619250"/>
            <a:ext cx="2095500" cy="666750"/>
          </a:xfrm>
          <a:prstGeom xmlns:a="http://schemas.openxmlformats.org/drawingml/2006/main" prst="rect">
            <a:avLst/>
          </a:prstGeom>
          <a:solidFill xmlns:a="http://schemas.openxmlformats.org/drawingml/2006/main">
            <a:srgbClr val="2878B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TRY</a:t>
            </a:r>
          </a:p>
        </p:txBody>
      </p:sp>
      <p:sp>
        <p:nvSpPr>
          <p:cNvPr id="6" name="">
            <a:extLst xmlns:a="http://schemas.openxmlformats.org/drawingml/2006/main">
              <a:ext uri="{FF2B5EF4-FFF2-40B4-BE49-F238E27FC236}">
                <a16:creationId xmlns:a16="http://schemas.microsoft.com/office/drawing/2014/main" id="{8DD770A5-FC62-45C7-A6A6-BB5056BEC90C}"/>
              </a:ext>
            </a:extLst>
          </p:cNvPr>
          <p:cNvSpPr>
            <a:spLocks xmlns:a="http://schemas.openxmlformats.org/drawingml/2006/main" noGrp="1"/>
          </p:cNvSpPr>
          <p:nvPr/>
        </p:nvSpPr>
        <p:spPr>
          <a:xfrm xmlns:a="http://schemas.openxmlformats.org/drawingml/2006/main">
            <a:off x="3286125" y="2381250"/>
            <a:ext cx="2095500" cy="15240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0">
                <a:solidFill>
                  <a:srgbClr val="16212B"/>
                </a:solidFill>
                <a:latin typeface="Helvetica Neue"/>
                <a:ea typeface="Helvetica Neue"/>
                <a:cs typeface="Helvetica Neue"/>
              </a:defRPr>
            </a:pPr>
            <a:r>
              <a:rPr sz="1725" b="0">
                <a:solidFill>
                  <a:srgbClr val="16212B"/>
                </a:solidFill>
                <a:latin typeface="Helvetica Neue"/>
                <a:ea typeface="Helvetica Neue"/>
                <a:cs typeface="Helvetica Neue"/>
              </a:rPr>
              <a:t>Try the next visible step on your screen.</a:t>
            </a:r>
          </a:p>
        </p:txBody>
      </p:sp>
      <p:sp>
        <p:nvSpPr>
          <p:cNvPr id="7" name="">
            <a:extLst xmlns:a="http://schemas.openxmlformats.org/drawingml/2006/main">
              <a:ext uri="{FF2B5EF4-FFF2-40B4-BE49-F238E27FC236}">
                <a16:creationId xmlns:a16="http://schemas.microsoft.com/office/drawing/2014/main" id="{98CD4248-5C4D-4817-99A4-0CD0C58AF532}"/>
              </a:ext>
            </a:extLst>
          </p:cNvPr>
          <p:cNvSpPr>
            <a:spLocks xmlns:a="http://schemas.openxmlformats.org/drawingml/2006/main" noGrp="1"/>
          </p:cNvSpPr>
          <p:nvPr/>
        </p:nvSpPr>
        <p:spPr>
          <a:xfrm xmlns:a="http://schemas.openxmlformats.org/drawingml/2006/main">
            <a:off x="5667375" y="1619250"/>
            <a:ext cx="2095500" cy="666750"/>
          </a:xfrm>
          <a:prstGeom xmlns:a="http://schemas.openxmlformats.org/drawingml/2006/main" prst="rect">
            <a:avLst/>
          </a:prstGeom>
          <a:solidFill xmlns:a="http://schemas.openxmlformats.org/drawingml/2006/main">
            <a:srgbClr val="2E7D6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CHECK</a:t>
            </a:r>
          </a:p>
        </p:txBody>
      </p:sp>
      <p:sp>
        <p:nvSpPr>
          <p:cNvPr id="8" name="">
            <a:extLst xmlns:a="http://schemas.openxmlformats.org/drawingml/2006/main">
              <a:ext uri="{FF2B5EF4-FFF2-40B4-BE49-F238E27FC236}">
                <a16:creationId xmlns:a16="http://schemas.microsoft.com/office/drawing/2014/main" id="{C49803D3-96E4-4564-A308-8D1B897A42B0}"/>
              </a:ext>
            </a:extLst>
          </p:cNvPr>
          <p:cNvSpPr>
            <a:spLocks xmlns:a="http://schemas.openxmlformats.org/drawingml/2006/main" noGrp="1"/>
          </p:cNvSpPr>
          <p:nvPr/>
        </p:nvSpPr>
        <p:spPr>
          <a:xfrm xmlns:a="http://schemas.openxmlformats.org/drawingml/2006/main">
            <a:off x="5667375" y="2381250"/>
            <a:ext cx="2095500" cy="15240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0">
                <a:solidFill>
                  <a:srgbClr val="16212B"/>
                </a:solidFill>
                <a:latin typeface="Helvetica Neue"/>
                <a:ea typeface="Helvetica Neue"/>
                <a:cs typeface="Helvetica Neue"/>
              </a:defRPr>
            </a:pPr>
            <a:r>
              <a:rPr sz="1725" b="0">
                <a:solidFill>
                  <a:srgbClr val="16212B"/>
                </a:solidFill>
                <a:latin typeface="Helvetica Neue"/>
                <a:ea typeface="Helvetica Neue"/>
                <a:cs typeface="Helvetica Neue"/>
              </a:rPr>
              <a:t>Check the file name and location before moving on.</a:t>
            </a:r>
          </a:p>
        </p:txBody>
      </p:sp>
      <p:sp>
        <p:nvSpPr>
          <p:cNvPr id="9" name="">
            <a:extLst xmlns:a="http://schemas.openxmlformats.org/drawingml/2006/main">
              <a:ext uri="{FF2B5EF4-FFF2-40B4-BE49-F238E27FC236}">
                <a16:creationId xmlns:a16="http://schemas.microsoft.com/office/drawing/2014/main" id="{FAE0CA45-0FA2-44A6-AC7E-6596FBEDE537}"/>
              </a:ext>
            </a:extLst>
          </p:cNvPr>
          <p:cNvSpPr>
            <a:spLocks xmlns:a="http://schemas.openxmlformats.org/drawingml/2006/main" noGrp="1"/>
          </p:cNvSpPr>
          <p:nvPr/>
        </p:nvSpPr>
        <p:spPr>
          <a:xfrm xmlns:a="http://schemas.openxmlformats.org/drawingml/2006/main">
            <a:off x="8048625" y="1619250"/>
            <a:ext cx="2095500" cy="666750"/>
          </a:xfrm>
          <a:prstGeom xmlns:a="http://schemas.openxmlformats.org/drawingml/2006/main" prst="rect">
            <a:avLst/>
          </a:prstGeom>
          <a:solidFill xmlns:a="http://schemas.openxmlformats.org/drawingml/2006/main">
            <a:srgbClr val="F4B94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17324D"/>
                </a:solidFill>
                <a:latin typeface="Helvetica Neue"/>
                <a:ea typeface="Helvetica Neue"/>
                <a:cs typeface="Helvetica Neue"/>
              </a:defRPr>
            </a:pPr>
            <a:r>
              <a:rPr sz="1875" b="1">
                <a:solidFill>
                  <a:srgbClr val="17324D"/>
                </a:solidFill>
                <a:latin typeface="Helvetica Neue"/>
                <a:ea typeface="Helvetica Neue"/>
                <a:cs typeface="Helvetica Neue"/>
              </a:rPr>
              <a:t>ASK</a:t>
            </a:r>
          </a:p>
        </p:txBody>
      </p:sp>
      <p:sp>
        <p:nvSpPr>
          <p:cNvPr id="10" name="">
            <a:extLst xmlns:a="http://schemas.openxmlformats.org/drawingml/2006/main">
              <a:ext uri="{FF2B5EF4-FFF2-40B4-BE49-F238E27FC236}">
                <a16:creationId xmlns:a16="http://schemas.microsoft.com/office/drawing/2014/main" id="{41E0C196-C2E3-4D1E-A34E-87378A98F333}"/>
              </a:ext>
            </a:extLst>
          </p:cNvPr>
          <p:cNvSpPr>
            <a:spLocks xmlns:a="http://schemas.openxmlformats.org/drawingml/2006/main" noGrp="1"/>
          </p:cNvSpPr>
          <p:nvPr/>
        </p:nvSpPr>
        <p:spPr>
          <a:xfrm xmlns:a="http://schemas.openxmlformats.org/drawingml/2006/main">
            <a:off x="8048625" y="2381250"/>
            <a:ext cx="2095500" cy="15240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0">
                <a:solidFill>
                  <a:srgbClr val="16212B"/>
                </a:solidFill>
                <a:latin typeface="Helvetica Neue"/>
                <a:ea typeface="Helvetica Neue"/>
                <a:cs typeface="Helvetica Neue"/>
              </a:defRPr>
            </a:pPr>
            <a:r>
              <a:rPr sz="1725" b="0">
                <a:solidFill>
                  <a:srgbClr val="16212B"/>
                </a:solidFill>
                <a:latin typeface="Helvetica Neue"/>
                <a:ea typeface="Helvetica Neue"/>
                <a:cs typeface="Helvetica Neue"/>
              </a:rPr>
              <a:t>Ask a nearby peer, then ask the teacher if you still need help.</a:t>
            </a:r>
          </a:p>
        </p:txBody>
      </p:sp>
      <p:sp>
        <p:nvSpPr>
          <p:cNvPr id="11" name="">
            <a:extLst xmlns:a="http://schemas.openxmlformats.org/drawingml/2006/main">
              <a:ext uri="{FF2B5EF4-FFF2-40B4-BE49-F238E27FC236}">
                <a16:creationId xmlns:a16="http://schemas.microsoft.com/office/drawing/2014/main" id="{8A6CC321-0574-4654-B241-F1B2C44E4769}"/>
              </a:ext>
            </a:extLst>
          </p:cNvPr>
          <p:cNvSpPr>
            <a:spLocks xmlns:a="http://schemas.openxmlformats.org/drawingml/2006/main" noGrp="1"/>
          </p:cNvSpPr>
          <p:nvPr/>
        </p:nvSpPr>
        <p:spPr>
          <a:xfrm xmlns:a="http://schemas.openxmlformats.org/drawingml/2006/main">
            <a:off x="1619250" y="4857750"/>
            <a:ext cx="895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Keep your own work. Collaboration helps you move forward.</a:t>
            </a:r>
          </a:p>
        </p:txBody>
      </p:sp>
    </p:spTree>
    <p:extLst>
      <p:ext uri="{BB962C8B-B14F-4D97-AF65-F5344CB8AC3E}">
        <p14:creationId xmlns:p14="http://schemas.microsoft.com/office/powerpoint/2010/main" val="101333044"/>
      </p:ext>
    </p:extLst>
  </p:cSld>
</p:sld>
</file>

<file path=ppt/slides/slide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24A3FC-E6F5-4E50-A824-C6B4BDA0D5AA}"/>
              </a:ext>
            </a:extLst>
          </p:cNvPr>
          <p:cNvSpPr>
            <a:spLocks xmlns:a="http://schemas.openxmlformats.org/drawingml/2006/main" noGrp="1"/>
          </p:cNvSpPr>
          <p:nvPr/>
        </p:nvSpPr>
        <p:spPr>
          <a:xfrm xmlns:a="http://schemas.openxmlformats.org/drawingml/2006/main">
            <a:off x="609600" y="3238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7324D"/>
                </a:solidFill>
                <a:latin typeface="Helvetica Neue"/>
                <a:ea typeface="Helvetica Neue"/>
                <a:cs typeface="Helvetica Neue"/>
              </a:defRPr>
            </a:pPr>
            <a:r>
              <a:rPr sz="2550" b="1">
                <a:solidFill>
                  <a:srgbClr val="17324D"/>
                </a:solidFill>
                <a:latin typeface="Helvetica Neue"/>
                <a:ea typeface="Helvetica Neue"/>
                <a:cs typeface="Helvetica Neue"/>
              </a:rPr>
              <a:t>Class folder setup</a:t>
            </a:r>
          </a:p>
        </p:txBody>
      </p:sp>
      <p:sp>
        <p:nvSpPr>
          <p:cNvPr id="2" name="">
            <a:extLst xmlns:a="http://schemas.openxmlformats.org/drawingml/2006/main">
              <a:ext uri="{FF2B5EF4-FFF2-40B4-BE49-F238E27FC236}">
                <a16:creationId xmlns:a16="http://schemas.microsoft.com/office/drawing/2014/main" id="{1C1A9873-B1AB-4437-84BD-BCA8192B8437}"/>
              </a:ext>
            </a:extLst>
          </p:cNvPr>
          <p:cNvSpPr>
            <a:spLocks xmlns:a="http://schemas.openxmlformats.org/drawingml/2006/main" noGrp="1"/>
          </p:cNvSpPr>
          <p:nvPr/>
        </p:nvSpPr>
        <p:spPr>
          <a:xfrm xmlns:a="http://schemas.openxmlformats.org/drawingml/2006/main">
            <a:off x="11258550" y="43815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878B5"/>
                </a:solidFill>
                <a:latin typeface="Helvetica Neue"/>
                <a:ea typeface="Helvetica Neue"/>
                <a:cs typeface="Helvetica Neue"/>
              </a:defRPr>
            </a:pPr>
            <a:r>
              <a:rPr sz="1275" b="1">
                <a:solidFill>
                  <a:srgbClr val="2878B5"/>
                </a:solidFill>
                <a:latin typeface="Helvetica Neue"/>
                <a:ea typeface="Helvetica Neue"/>
                <a:cs typeface="Helvetica Neue"/>
              </a:rPr>
              <a:t>5</a:t>
            </a:r>
          </a:p>
        </p:txBody>
      </p:sp>
      <p:sp>
        <p:nvSpPr>
          <p:cNvPr id="3" name="">
            <a:extLst xmlns:a="http://schemas.openxmlformats.org/drawingml/2006/main">
              <a:ext uri="{FF2B5EF4-FFF2-40B4-BE49-F238E27FC236}">
                <a16:creationId xmlns:a16="http://schemas.microsoft.com/office/drawing/2014/main" id="{3F7378F1-84EA-4E72-BBF9-10BE600069A6}"/>
              </a:ext>
            </a:extLst>
          </p:cNvPr>
          <p:cNvSpPr>
            <a:spLocks xmlns:a="http://schemas.openxmlformats.org/drawingml/2006/main" noGrp="1"/>
          </p:cNvSpPr>
          <p:nvPr/>
        </p:nvSpPr>
        <p:spPr>
          <a:xfrm xmlns:a="http://schemas.openxmlformats.org/drawingml/2006/main">
            <a:off x="952500" y="1524000"/>
            <a:ext cx="2952750" cy="666750"/>
          </a:xfrm>
          <a:prstGeom xmlns:a="http://schemas.openxmlformats.org/drawingml/2006/main" prst="rect">
            <a:avLst/>
          </a:prstGeom>
          <a:solidFill xmlns:a="http://schemas.openxmlformats.org/drawingml/2006/main">
            <a:srgbClr val="17324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Your Files</a:t>
            </a:r>
          </a:p>
        </p:txBody>
      </p:sp>
      <p:sp>
        <p:nvSpPr>
          <p:cNvPr id="4" name="">
            <a:extLst xmlns:a="http://schemas.openxmlformats.org/drawingml/2006/main">
              <a:ext uri="{FF2B5EF4-FFF2-40B4-BE49-F238E27FC236}">
                <a16:creationId xmlns:a16="http://schemas.microsoft.com/office/drawing/2014/main" id="{9935A921-95D7-4FB8-897E-7EADA8BE4FE0}"/>
              </a:ext>
            </a:extLst>
          </p:cNvPr>
          <p:cNvSpPr>
            <a:spLocks xmlns:a="http://schemas.openxmlformats.org/drawingml/2006/main" noGrp="1"/>
          </p:cNvSpPr>
          <p:nvPr/>
        </p:nvSpPr>
        <p:spPr>
          <a:xfrm xmlns:a="http://schemas.openxmlformats.org/drawingml/2006/main">
            <a:off x="952500" y="2333625"/>
            <a:ext cx="4191000" cy="26670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0">
                <a:solidFill>
                  <a:srgbClr val="16212B"/>
                </a:solidFill>
                <a:latin typeface="Helvetica Neue"/>
                <a:ea typeface="Helvetica Neue"/>
                <a:cs typeface="Helvetica Neue"/>
              </a:defRPr>
            </a:pPr>
            <a:r>
              <a:rPr sz="2100" b="0">
                <a:solidFill>
                  <a:srgbClr val="16212B"/>
                </a:solidFill>
                <a:latin typeface="Helvetica Neue"/>
                <a:ea typeface="Helvetica Neue"/>
                <a:cs typeface="Helvetica Neue"/>
              </a:rPr>
              <a:t>CURRENT CLASSES</a:t>
            </a:r>
          </a:p>
          <a:p xmlns:a="http://schemas.openxmlformats.org/drawingml/2006/main">
            <a:pPr>
              <a:defRPr sz="2100" b="0">
                <a:solidFill>
                  <a:srgbClr val="16212B"/>
                </a:solidFill>
                <a:latin typeface="Helvetica Neue"/>
                <a:ea typeface="Helvetica Neue"/>
                <a:cs typeface="Helvetica Neue"/>
              </a:defRPr>
            </a:pPr>
            <a:r>
              <a:rPr sz="2100" b="0">
                <a:solidFill>
                  <a:srgbClr val="16212B"/>
                </a:solidFill>
                <a:latin typeface="Helvetica Neue"/>
                <a:ea typeface="Helvetica Neue"/>
                <a:cs typeface="Helvetica Neue"/>
              </a:rPr>
              <a:t>Marketing or Business</a:t>
            </a:r>
          </a:p>
          <a:p xmlns:a="http://schemas.openxmlformats.org/drawingml/2006/main">
            <a:r>
              <a:t/>
            </a:r>
          </a:p>
          <a:p xmlns:a="http://schemas.openxmlformats.org/drawingml/2006/main">
            <a:pPr>
              <a:defRPr sz="2100" b="0">
                <a:solidFill>
                  <a:srgbClr val="16212B"/>
                </a:solidFill>
                <a:latin typeface="Helvetica Neue"/>
                <a:ea typeface="Helvetica Neue"/>
                <a:cs typeface="Helvetica Neue"/>
              </a:defRPr>
            </a:pPr>
            <a:r>
              <a:rPr sz="2100" b="0">
                <a:solidFill>
                  <a:srgbClr val="16212B"/>
                </a:solidFill>
                <a:latin typeface="Helvetica Neue"/>
                <a:ea typeface="Helvetica Neue"/>
                <a:cs typeface="Helvetica Neue"/>
              </a:rPr>
              <a:t>ARCHIVE</a:t>
            </a:r>
          </a:p>
          <a:p xmlns:a="http://schemas.openxmlformats.org/drawingml/2006/main">
            <a:pPr>
              <a:defRPr sz="2100" b="0">
                <a:solidFill>
                  <a:srgbClr val="16212B"/>
                </a:solidFill>
                <a:latin typeface="Helvetica Neue"/>
                <a:ea typeface="Helvetica Neue"/>
                <a:cs typeface="Helvetica Neue"/>
              </a:defRPr>
            </a:pPr>
            <a:r>
              <a:rPr sz="2100" b="0">
                <a:solidFill>
                  <a:srgbClr val="16212B"/>
                </a:solidFill>
                <a:latin typeface="Helvetica Neue"/>
                <a:ea typeface="Helvetica Neue"/>
                <a:cs typeface="Helvetica Neue"/>
              </a:rPr>
              <a:t>Older or unrelated school files</a:t>
            </a:r>
          </a:p>
        </p:txBody>
      </p:sp>
      <p:sp>
        <p:nvSpPr>
          <p:cNvPr id="5" name="">
            <a:extLst xmlns:a="http://schemas.openxmlformats.org/drawingml/2006/main">
              <a:ext uri="{FF2B5EF4-FFF2-40B4-BE49-F238E27FC236}">
                <a16:creationId xmlns:a16="http://schemas.microsoft.com/office/drawing/2014/main" id="{826028D8-641B-4F49-8553-F1D0575D6C67}"/>
              </a:ext>
            </a:extLst>
          </p:cNvPr>
          <p:cNvSpPr>
            <a:spLocks xmlns:a="http://schemas.openxmlformats.org/drawingml/2006/main" noGrp="1"/>
          </p:cNvSpPr>
          <p:nvPr/>
        </p:nvSpPr>
        <p:spPr>
          <a:xfrm xmlns:a="http://schemas.openxmlformats.org/drawingml/2006/main">
            <a:off x="6429375" y="1619250"/>
            <a:ext cx="3429000" cy="571500"/>
          </a:xfrm>
          <a:prstGeom xmlns:a="http://schemas.openxmlformats.org/drawingml/2006/main" prst="rect">
            <a:avLst/>
          </a:prstGeom>
          <a:solidFill xmlns:a="http://schemas.openxmlformats.org/drawingml/2006/main">
            <a:srgbClr val="F4B94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17324D"/>
                </a:solidFill>
                <a:latin typeface="Helvetica Neue"/>
                <a:ea typeface="Helvetica Neue"/>
                <a:cs typeface="Helvetica Neue"/>
              </a:defRPr>
            </a:pPr>
            <a:r>
              <a:rPr sz="1950" b="1">
                <a:solidFill>
                  <a:srgbClr val="17324D"/>
                </a:solidFill>
                <a:latin typeface="Helvetica Neue"/>
                <a:ea typeface="Helvetica Neue"/>
                <a:cs typeface="Helvetica Neue"/>
              </a:rPr>
              <a:t>Checkpoint</a:t>
            </a:r>
          </a:p>
        </p:txBody>
      </p:sp>
      <p:sp>
        <p:nvSpPr>
          <p:cNvPr id="6" name="">
            <a:extLst xmlns:a="http://schemas.openxmlformats.org/drawingml/2006/main">
              <a:ext uri="{FF2B5EF4-FFF2-40B4-BE49-F238E27FC236}">
                <a16:creationId xmlns:a16="http://schemas.microsoft.com/office/drawing/2014/main" id="{A5807D0E-5978-4DC6-8FE3-F6A75BAF183C}"/>
              </a:ext>
            </a:extLst>
          </p:cNvPr>
          <p:cNvSpPr>
            <a:spLocks xmlns:a="http://schemas.openxmlformats.org/drawingml/2006/main" noGrp="1"/>
          </p:cNvSpPr>
          <p:nvPr/>
        </p:nvSpPr>
        <p:spPr>
          <a:xfrm xmlns:a="http://schemas.openxmlformats.org/drawingml/2006/main">
            <a:off x="6191250" y="2381250"/>
            <a:ext cx="4095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0">
                <a:solidFill>
                  <a:srgbClr val="16212B"/>
                </a:solidFill>
                <a:latin typeface="Helvetica Neue"/>
                <a:ea typeface="Helvetica Neue"/>
                <a:cs typeface="Helvetica Neue"/>
              </a:defRPr>
            </a:pPr>
            <a:r>
              <a:rPr sz="2025" b="0">
                <a:solidFill>
                  <a:srgbClr val="16212B"/>
                </a:solidFill>
                <a:latin typeface="Helvetica Neue"/>
                <a:ea typeface="Helvetica Neue"/>
                <a:cs typeface="Helvetica Neue"/>
              </a:rPr>
              <a:t>Can you open the class folder?</a:t>
            </a:r>
          </a:p>
          <a:p xmlns:a="http://schemas.openxmlformats.org/drawingml/2006/main">
            <a:r>
              <a:t/>
            </a:r>
          </a:p>
          <a:p xmlns:a="http://schemas.openxmlformats.org/drawingml/2006/main">
            <a:pPr>
              <a:defRPr sz="2025" b="0">
                <a:solidFill>
                  <a:srgbClr val="16212B"/>
                </a:solidFill>
                <a:latin typeface="Helvetica Neue"/>
                <a:ea typeface="Helvetica Neue"/>
                <a:cs typeface="Helvetica Neue"/>
              </a:defRPr>
            </a:pPr>
            <a:r>
              <a:rPr sz="2025" b="0">
                <a:solidFill>
                  <a:srgbClr val="16212B"/>
                </a:solidFill>
                <a:latin typeface="Helvetica Neue"/>
                <a:ea typeface="Helvetica Neue"/>
                <a:cs typeface="Helvetica Neue"/>
              </a:rPr>
              <a:t>Does it have a clear course name?</a:t>
            </a:r>
          </a:p>
          <a:p xmlns:a="http://schemas.openxmlformats.org/drawingml/2006/main">
            <a:r>
              <a:t/>
            </a:r>
          </a:p>
          <a:p xmlns:a="http://schemas.openxmlformats.org/drawingml/2006/main">
            <a:pPr>
              <a:defRPr sz="2025" b="0">
                <a:solidFill>
                  <a:srgbClr val="16212B"/>
                </a:solidFill>
                <a:latin typeface="Helvetica Neue"/>
                <a:ea typeface="Helvetica Neue"/>
                <a:cs typeface="Helvetica Neue"/>
              </a:defRPr>
            </a:pPr>
            <a:r>
              <a:rPr sz="2025" b="0">
                <a:solidFill>
                  <a:srgbClr val="16212B"/>
                </a:solidFill>
                <a:latin typeface="Helvetica Neue"/>
                <a:ea typeface="Helvetica Neue"/>
                <a:cs typeface="Helvetica Neue"/>
              </a:rPr>
              <a:t>Did you preserve older work in Archive?</a:t>
            </a:r>
          </a:p>
        </p:txBody>
      </p:sp>
    </p:spTree>
    <p:extLst>
      <p:ext uri="{BB962C8B-B14F-4D97-AF65-F5344CB8AC3E}">
        <p14:creationId xmlns:p14="http://schemas.microsoft.com/office/powerpoint/2010/main" val="1112949933"/>
      </p:ext>
    </p:extLst>
  </p:cSld>
</p:sld>
</file>

<file path=ppt/slides/slide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8EC9CFB-6163-439B-9D22-C7A073EF1D8F}"/>
              </a:ext>
            </a:extLst>
          </p:cNvPr>
          <p:cNvSpPr>
            <a:spLocks xmlns:a="http://schemas.openxmlformats.org/drawingml/2006/main" noGrp="1"/>
          </p:cNvSpPr>
          <p:nvPr/>
        </p:nvSpPr>
        <p:spPr>
          <a:xfrm xmlns:a="http://schemas.openxmlformats.org/drawingml/2006/main">
            <a:off x="609600" y="3238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7324D"/>
                </a:solidFill>
                <a:latin typeface="Helvetica Neue"/>
                <a:ea typeface="Helvetica Neue"/>
                <a:cs typeface="Helvetica Neue"/>
              </a:defRPr>
            </a:pPr>
            <a:r>
              <a:rPr sz="2550" b="1">
                <a:solidFill>
                  <a:srgbClr val="17324D"/>
                </a:solidFill>
                <a:latin typeface="Helvetica Neue"/>
                <a:ea typeface="Helvetica Neue"/>
                <a:cs typeface="Helvetica Neue"/>
              </a:rPr>
              <a:t>Meaningful file names</a:t>
            </a:r>
          </a:p>
        </p:txBody>
      </p:sp>
      <p:sp>
        <p:nvSpPr>
          <p:cNvPr id="2" name="">
            <a:extLst xmlns:a="http://schemas.openxmlformats.org/drawingml/2006/main">
              <a:ext uri="{FF2B5EF4-FFF2-40B4-BE49-F238E27FC236}">
                <a16:creationId xmlns:a16="http://schemas.microsoft.com/office/drawing/2014/main" id="{3AD5434F-E122-47C8-BEF7-E464DA728BD4}"/>
              </a:ext>
            </a:extLst>
          </p:cNvPr>
          <p:cNvSpPr>
            <a:spLocks xmlns:a="http://schemas.openxmlformats.org/drawingml/2006/main" noGrp="1"/>
          </p:cNvSpPr>
          <p:nvPr/>
        </p:nvSpPr>
        <p:spPr>
          <a:xfrm xmlns:a="http://schemas.openxmlformats.org/drawingml/2006/main">
            <a:off x="11258550" y="43815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878B5"/>
                </a:solidFill>
                <a:latin typeface="Helvetica Neue"/>
                <a:ea typeface="Helvetica Neue"/>
                <a:cs typeface="Helvetica Neue"/>
              </a:defRPr>
            </a:pPr>
            <a:r>
              <a:rPr sz="1275" b="1">
                <a:solidFill>
                  <a:srgbClr val="2878B5"/>
                </a:solidFill>
                <a:latin typeface="Helvetica Neue"/>
                <a:ea typeface="Helvetica Neue"/>
                <a:cs typeface="Helvetica Neue"/>
              </a:rPr>
              <a:t>6</a:t>
            </a:r>
          </a:p>
        </p:txBody>
      </p:sp>
      <p:sp>
        <p:nvSpPr>
          <p:cNvPr id="3" name="">
            <a:extLst xmlns:a="http://schemas.openxmlformats.org/drawingml/2006/main">
              <a:ext uri="{FF2B5EF4-FFF2-40B4-BE49-F238E27FC236}">
                <a16:creationId xmlns:a16="http://schemas.microsoft.com/office/drawing/2014/main" id="{A8E91037-35FF-4F63-8129-CD437AEFF3FE}"/>
              </a:ext>
            </a:extLst>
          </p:cNvPr>
          <p:cNvSpPr>
            <a:spLocks xmlns:a="http://schemas.openxmlformats.org/drawingml/2006/main" noGrp="1"/>
          </p:cNvSpPr>
          <p:nvPr/>
        </p:nvSpPr>
        <p:spPr>
          <a:xfrm xmlns:a="http://schemas.openxmlformats.org/drawingml/2006/main">
            <a:off x="1047750" y="1524000"/>
            <a:ext cx="4095750" cy="571500"/>
          </a:xfrm>
          <a:prstGeom xmlns:a="http://schemas.openxmlformats.org/drawingml/2006/main" prst="rect">
            <a:avLst/>
          </a:prstGeom>
          <a:solidFill xmlns:a="http://schemas.openxmlformats.org/drawingml/2006/main">
            <a:srgbClr val="A5444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Hard to find later</a:t>
            </a:r>
          </a:p>
        </p:txBody>
      </p:sp>
      <p:sp>
        <p:nvSpPr>
          <p:cNvPr id="4" name="">
            <a:extLst xmlns:a="http://schemas.openxmlformats.org/drawingml/2006/main">
              <a:ext uri="{FF2B5EF4-FFF2-40B4-BE49-F238E27FC236}">
                <a16:creationId xmlns:a16="http://schemas.microsoft.com/office/drawing/2014/main" id="{6486BB3A-35C5-4E64-B1E1-CC501E0C9313}"/>
              </a:ext>
            </a:extLst>
          </p:cNvPr>
          <p:cNvSpPr>
            <a:spLocks xmlns:a="http://schemas.openxmlformats.org/drawingml/2006/main" noGrp="1"/>
          </p:cNvSpPr>
          <p:nvPr/>
        </p:nvSpPr>
        <p:spPr>
          <a:xfrm xmlns:a="http://schemas.openxmlformats.org/drawingml/2006/main">
            <a:off x="1047750" y="2190750"/>
            <a:ext cx="4095750" cy="20955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0">
                <a:solidFill>
                  <a:srgbClr val="16212B"/>
                </a:solidFill>
                <a:latin typeface="Helvetica Neue"/>
                <a:ea typeface="Helvetica Neue"/>
                <a:cs typeface="Helvetica Neue"/>
              </a:defRPr>
            </a:pPr>
            <a:r>
              <a:rPr sz="2250" b="0">
                <a:solidFill>
                  <a:srgbClr val="16212B"/>
                </a:solidFill>
                <a:latin typeface="Helvetica Neue"/>
                <a:ea typeface="Helvetica Neue"/>
                <a:cs typeface="Helvetica Neue"/>
              </a:rPr>
              <a:t>Document1.docx</a:t>
            </a:r>
          </a:p>
          <a:p xmlns:a="http://schemas.openxmlformats.org/drawingml/2006/main">
            <a:pPr>
              <a:defRPr sz="2250" b="0">
                <a:solidFill>
                  <a:srgbClr val="16212B"/>
                </a:solidFill>
                <a:latin typeface="Helvetica Neue"/>
                <a:ea typeface="Helvetica Neue"/>
                <a:cs typeface="Helvetica Neue"/>
              </a:defRPr>
            </a:pPr>
            <a:r>
              <a:rPr sz="2250" b="0">
                <a:solidFill>
                  <a:srgbClr val="16212B"/>
                </a:solidFill>
                <a:latin typeface="Helvetica Neue"/>
                <a:ea typeface="Helvetica Neue"/>
                <a:cs typeface="Helvetica Neue"/>
              </a:rPr>
              <a:t>Presentation2.pptx</a:t>
            </a:r>
          </a:p>
          <a:p xmlns:a="http://schemas.openxmlformats.org/drawingml/2006/main">
            <a:pPr>
              <a:defRPr sz="2250" b="0">
                <a:solidFill>
                  <a:srgbClr val="16212B"/>
                </a:solidFill>
                <a:latin typeface="Helvetica Neue"/>
                <a:ea typeface="Helvetica Neue"/>
                <a:cs typeface="Helvetica Neue"/>
              </a:defRPr>
            </a:pPr>
            <a:r>
              <a:rPr sz="2250" b="0">
                <a:solidFill>
                  <a:srgbClr val="16212B"/>
                </a:solidFill>
                <a:latin typeface="Helvetica Neue"/>
                <a:ea typeface="Helvetica Neue"/>
                <a:cs typeface="Helvetica Neue"/>
              </a:rPr>
              <a:t>finalfinal.pptx</a:t>
            </a:r>
          </a:p>
        </p:txBody>
      </p:sp>
      <p:sp>
        <p:nvSpPr>
          <p:cNvPr id="5" name="">
            <a:extLst xmlns:a="http://schemas.openxmlformats.org/drawingml/2006/main">
              <a:ext uri="{FF2B5EF4-FFF2-40B4-BE49-F238E27FC236}">
                <a16:creationId xmlns:a16="http://schemas.microsoft.com/office/drawing/2014/main" id="{92892942-A0B9-4022-87FD-9521BECE0801}"/>
              </a:ext>
            </a:extLst>
          </p:cNvPr>
          <p:cNvSpPr>
            <a:spLocks xmlns:a="http://schemas.openxmlformats.org/drawingml/2006/main" noGrp="1"/>
          </p:cNvSpPr>
          <p:nvPr/>
        </p:nvSpPr>
        <p:spPr>
          <a:xfrm xmlns:a="http://schemas.openxmlformats.org/drawingml/2006/main">
            <a:off x="7048500" y="1524000"/>
            <a:ext cx="4095750" cy="571500"/>
          </a:xfrm>
          <a:prstGeom xmlns:a="http://schemas.openxmlformats.org/drawingml/2006/main" prst="rect">
            <a:avLst/>
          </a:prstGeom>
          <a:solidFill xmlns:a="http://schemas.openxmlformats.org/drawingml/2006/main">
            <a:srgbClr val="2E7D6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Easy to identify</a:t>
            </a:r>
          </a:p>
        </p:txBody>
      </p:sp>
      <p:sp>
        <p:nvSpPr>
          <p:cNvPr id="6" name="">
            <a:extLst xmlns:a="http://schemas.openxmlformats.org/drawingml/2006/main">
              <a:ext uri="{FF2B5EF4-FFF2-40B4-BE49-F238E27FC236}">
                <a16:creationId xmlns:a16="http://schemas.microsoft.com/office/drawing/2014/main" id="{294CF794-FB77-48AA-951D-5F5DAB9872C8}"/>
              </a:ext>
            </a:extLst>
          </p:cNvPr>
          <p:cNvSpPr>
            <a:spLocks xmlns:a="http://schemas.openxmlformats.org/drawingml/2006/main" noGrp="1"/>
          </p:cNvSpPr>
          <p:nvPr/>
        </p:nvSpPr>
        <p:spPr>
          <a:xfrm xmlns:a="http://schemas.openxmlformats.org/drawingml/2006/main">
            <a:off x="6572250" y="2190750"/>
            <a:ext cx="4572000" cy="20955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0">
                <a:solidFill>
                  <a:srgbClr val="16212B"/>
                </a:solidFill>
                <a:latin typeface="Helvetica Neue"/>
                <a:ea typeface="Helvetica Neue"/>
                <a:cs typeface="Helvetica Neue"/>
              </a:defRPr>
            </a:pPr>
            <a:r>
              <a:rPr sz="2025" b="0">
                <a:solidFill>
                  <a:srgbClr val="16212B"/>
                </a:solidFill>
                <a:latin typeface="Helvetica Neue"/>
                <a:ea typeface="Helvetica Neue"/>
                <a:cs typeface="Helvetica Neue"/>
              </a:rPr>
              <a:t>LastName_Chapter1_Vocabulary.pptx</a:t>
            </a:r>
          </a:p>
          <a:p xmlns:a="http://schemas.openxmlformats.org/drawingml/2006/main">
            <a:r>
              <a:t/>
            </a:r>
          </a:p>
          <a:p xmlns:a="http://schemas.openxmlformats.org/drawingml/2006/main">
            <a:pPr>
              <a:defRPr sz="2025" b="0">
                <a:solidFill>
                  <a:srgbClr val="16212B"/>
                </a:solidFill>
                <a:latin typeface="Helvetica Neue"/>
                <a:ea typeface="Helvetica Neue"/>
                <a:cs typeface="Helvetica Neue"/>
              </a:defRPr>
            </a:pPr>
            <a:r>
              <a:rPr sz="2025" b="0">
                <a:solidFill>
                  <a:srgbClr val="16212B"/>
                </a:solidFill>
                <a:latin typeface="Helvetica Neue"/>
                <a:ea typeface="Helvetica Neue"/>
                <a:cs typeface="Helvetica Neue"/>
              </a:rPr>
              <a:t>Course_Topic_Task</a:t>
            </a:r>
          </a:p>
        </p:txBody>
      </p:sp>
      <p:sp>
        <p:nvSpPr>
          <p:cNvPr id="7" name="">
            <a:extLst xmlns:a="http://schemas.openxmlformats.org/drawingml/2006/main">
              <a:ext uri="{FF2B5EF4-FFF2-40B4-BE49-F238E27FC236}">
                <a16:creationId xmlns:a16="http://schemas.microsoft.com/office/drawing/2014/main" id="{1057FB25-C915-4C5A-A6CF-44F294431857}"/>
              </a:ext>
            </a:extLst>
          </p:cNvPr>
          <p:cNvSpPr>
            <a:spLocks xmlns:a="http://schemas.openxmlformats.org/drawingml/2006/main" noGrp="1"/>
          </p:cNvSpPr>
          <p:nvPr/>
        </p:nvSpPr>
        <p:spPr>
          <a:xfrm xmlns:a="http://schemas.openxmlformats.org/drawingml/2006/main">
            <a:off x="2333625" y="5048250"/>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17324D"/>
                </a:solidFill>
                <a:latin typeface="Helvetica Neue"/>
                <a:ea typeface="Helvetica Neue"/>
                <a:cs typeface="Helvetica Neue"/>
              </a:defRPr>
            </a:pPr>
            <a:r>
              <a:rPr sz="1875" b="1">
                <a:solidFill>
                  <a:srgbClr val="17324D"/>
                </a:solidFill>
                <a:latin typeface="Helvetica Neue"/>
                <a:ea typeface="Helvetica Neue"/>
                <a:cs typeface="Helvetica Neue"/>
              </a:rPr>
              <a:t>Use the naming pattern your teacher approves.</a:t>
            </a:r>
          </a:p>
        </p:txBody>
      </p:sp>
    </p:spTree>
    <p:extLst>
      <p:ext uri="{BB962C8B-B14F-4D97-AF65-F5344CB8AC3E}">
        <p14:creationId xmlns:p14="http://schemas.microsoft.com/office/powerpoint/2010/main" val="477915056"/>
      </p:ext>
    </p:extLst>
  </p:cSld>
</p:sld>
</file>

<file path=ppt/slides/slide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34392CC-F10E-4F19-8486-F30C83695048}"/>
              </a:ext>
            </a:extLst>
          </p:cNvPr>
          <p:cNvSpPr>
            <a:spLocks xmlns:a="http://schemas.openxmlformats.org/drawingml/2006/main" noGrp="1"/>
          </p:cNvSpPr>
          <p:nvPr/>
        </p:nvSpPr>
        <p:spPr>
          <a:xfrm xmlns:a="http://schemas.openxmlformats.org/drawingml/2006/main">
            <a:off x="609600" y="3238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7324D"/>
                </a:solidFill>
                <a:latin typeface="Helvetica Neue"/>
                <a:ea typeface="Helvetica Neue"/>
                <a:cs typeface="Helvetica Neue"/>
              </a:defRPr>
            </a:pPr>
            <a:r>
              <a:rPr sz="2550" b="1">
                <a:solidFill>
                  <a:srgbClr val="17324D"/>
                </a:solidFill>
                <a:latin typeface="Helvetica Neue"/>
                <a:ea typeface="Helvetica Neue"/>
                <a:cs typeface="Helvetica Neue"/>
              </a:rPr>
              <a:t>Vocabulary file: download and save</a:t>
            </a:r>
          </a:p>
        </p:txBody>
      </p:sp>
      <p:sp>
        <p:nvSpPr>
          <p:cNvPr id="2" name="">
            <a:extLst xmlns:a="http://schemas.openxmlformats.org/drawingml/2006/main">
              <a:ext uri="{FF2B5EF4-FFF2-40B4-BE49-F238E27FC236}">
                <a16:creationId xmlns:a16="http://schemas.microsoft.com/office/drawing/2014/main" id="{F1D04276-A2B8-4A16-BFB1-39A53FFB2415}"/>
              </a:ext>
            </a:extLst>
          </p:cNvPr>
          <p:cNvSpPr>
            <a:spLocks xmlns:a="http://schemas.openxmlformats.org/drawingml/2006/main" noGrp="1"/>
          </p:cNvSpPr>
          <p:nvPr/>
        </p:nvSpPr>
        <p:spPr>
          <a:xfrm xmlns:a="http://schemas.openxmlformats.org/drawingml/2006/main">
            <a:off x="11258550" y="43815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878B5"/>
                </a:solidFill>
                <a:latin typeface="Helvetica Neue"/>
                <a:ea typeface="Helvetica Neue"/>
                <a:cs typeface="Helvetica Neue"/>
              </a:defRPr>
            </a:pPr>
            <a:r>
              <a:rPr sz="1275" b="1">
                <a:solidFill>
                  <a:srgbClr val="2878B5"/>
                </a:solidFill>
                <a:latin typeface="Helvetica Neue"/>
                <a:ea typeface="Helvetica Neue"/>
                <a:cs typeface="Helvetica Neue"/>
              </a:rPr>
              <a:t>7</a:t>
            </a:r>
          </a:p>
        </p:txBody>
      </p:sp>
      <p:sp>
        <p:nvSpPr>
          <p:cNvPr id="3" name="">
            <a:extLst xmlns:a="http://schemas.openxmlformats.org/drawingml/2006/main">
              <a:ext uri="{FF2B5EF4-FFF2-40B4-BE49-F238E27FC236}">
                <a16:creationId xmlns:a16="http://schemas.microsoft.com/office/drawing/2014/main" id="{63F1EB06-6CF7-4C97-BED0-FDF1ED00B8B5}"/>
              </a:ext>
            </a:extLst>
          </p:cNvPr>
          <p:cNvSpPr>
            <a:spLocks xmlns:a="http://schemas.openxmlformats.org/drawingml/2006/main" noGrp="1"/>
          </p:cNvSpPr>
          <p:nvPr/>
        </p:nvSpPr>
        <p:spPr>
          <a:xfrm xmlns:a="http://schemas.openxmlformats.org/drawingml/2006/main">
            <a:off x="952500" y="1524000"/>
            <a:ext cx="666750" cy="666750"/>
          </a:xfrm>
          <a:prstGeom xmlns:a="http://schemas.openxmlformats.org/drawingml/2006/main" prst="rect">
            <a:avLst/>
          </a:prstGeom>
          <a:solidFill xmlns:a="http://schemas.openxmlformats.org/drawingml/2006/main">
            <a:srgbClr val="F4B94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17324D"/>
                </a:solidFill>
                <a:latin typeface="Helvetica Neue"/>
                <a:ea typeface="Helvetica Neue"/>
                <a:cs typeface="Helvetica Neue"/>
              </a:defRPr>
            </a:pPr>
            <a:r>
              <a:rPr sz="2250" b="1">
                <a:solidFill>
                  <a:srgbClr val="17324D"/>
                </a:solidFill>
                <a:latin typeface="Helvetica Neue"/>
                <a:ea typeface="Helvetica Neue"/>
                <a:cs typeface="Helvetica Neue"/>
              </a:rPr>
              <a:t>1</a:t>
            </a:r>
          </a:p>
        </p:txBody>
      </p:sp>
      <p:sp>
        <p:nvSpPr>
          <p:cNvPr id="4" name="">
            <a:extLst xmlns:a="http://schemas.openxmlformats.org/drawingml/2006/main">
              <a:ext uri="{FF2B5EF4-FFF2-40B4-BE49-F238E27FC236}">
                <a16:creationId xmlns:a16="http://schemas.microsoft.com/office/drawing/2014/main" id="{3D6671F7-A211-4286-BDFA-4D8F5D5B479E}"/>
              </a:ext>
            </a:extLst>
          </p:cNvPr>
          <p:cNvSpPr>
            <a:spLocks xmlns:a="http://schemas.openxmlformats.org/drawingml/2006/main" noGrp="1"/>
          </p:cNvSpPr>
          <p:nvPr/>
        </p:nvSpPr>
        <p:spPr>
          <a:xfrm xmlns:a="http://schemas.openxmlformats.org/drawingml/2006/main">
            <a:off x="1857375" y="1524000"/>
            <a:ext cx="9048750" cy="666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0">
                <a:solidFill>
                  <a:srgbClr val="16212B"/>
                </a:solidFill>
                <a:latin typeface="Helvetica Neue"/>
                <a:ea typeface="Helvetica Neue"/>
                <a:cs typeface="Helvetica Neue"/>
              </a:defRPr>
            </a:pPr>
            <a:r>
              <a:rPr sz="2025" b="0">
                <a:solidFill>
                  <a:srgbClr val="16212B"/>
                </a:solidFill>
                <a:latin typeface="Helvetica Neue"/>
                <a:ea typeface="Helvetica Neue"/>
                <a:cs typeface="Helvetica Neue"/>
              </a:rPr>
              <a:t>Open the approved Chapter 1 vocabulary assignment in Teams.</a:t>
            </a:r>
          </a:p>
        </p:txBody>
      </p:sp>
      <p:sp>
        <p:nvSpPr>
          <p:cNvPr id="5" name="">
            <a:extLst xmlns:a="http://schemas.openxmlformats.org/drawingml/2006/main">
              <a:ext uri="{FF2B5EF4-FFF2-40B4-BE49-F238E27FC236}">
                <a16:creationId xmlns:a16="http://schemas.microsoft.com/office/drawing/2014/main" id="{D1C962C1-9FFB-4D07-93D1-C0208E123010}"/>
              </a:ext>
            </a:extLst>
          </p:cNvPr>
          <p:cNvSpPr>
            <a:spLocks xmlns:a="http://schemas.openxmlformats.org/drawingml/2006/main" noGrp="1"/>
          </p:cNvSpPr>
          <p:nvPr/>
        </p:nvSpPr>
        <p:spPr>
          <a:xfrm xmlns:a="http://schemas.openxmlformats.org/drawingml/2006/main">
            <a:off x="952500" y="2428875"/>
            <a:ext cx="666750" cy="666750"/>
          </a:xfrm>
          <a:prstGeom xmlns:a="http://schemas.openxmlformats.org/drawingml/2006/main" prst="rect">
            <a:avLst/>
          </a:prstGeom>
          <a:solidFill xmlns:a="http://schemas.openxmlformats.org/drawingml/2006/main">
            <a:srgbClr val="2878B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2</a:t>
            </a:r>
          </a:p>
        </p:txBody>
      </p:sp>
      <p:sp>
        <p:nvSpPr>
          <p:cNvPr id="6" name="">
            <a:extLst xmlns:a="http://schemas.openxmlformats.org/drawingml/2006/main">
              <a:ext uri="{FF2B5EF4-FFF2-40B4-BE49-F238E27FC236}">
                <a16:creationId xmlns:a16="http://schemas.microsoft.com/office/drawing/2014/main" id="{2BEF4E01-B2F6-46D7-B455-38D4C83217EB}"/>
              </a:ext>
            </a:extLst>
          </p:cNvPr>
          <p:cNvSpPr>
            <a:spLocks xmlns:a="http://schemas.openxmlformats.org/drawingml/2006/main" noGrp="1"/>
          </p:cNvSpPr>
          <p:nvPr/>
        </p:nvSpPr>
        <p:spPr>
          <a:xfrm xmlns:a="http://schemas.openxmlformats.org/drawingml/2006/main">
            <a:off x="1857375" y="2428875"/>
            <a:ext cx="9048750" cy="666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0">
                <a:solidFill>
                  <a:srgbClr val="16212B"/>
                </a:solidFill>
                <a:latin typeface="Helvetica Neue"/>
                <a:ea typeface="Helvetica Neue"/>
                <a:cs typeface="Helvetica Neue"/>
              </a:defRPr>
            </a:pPr>
            <a:r>
              <a:rPr sz="2025" b="0">
                <a:solidFill>
                  <a:srgbClr val="16212B"/>
                </a:solidFill>
                <a:latin typeface="Helvetica Neue"/>
                <a:ea typeface="Helvetica Neue"/>
                <a:cs typeface="Helvetica Neue"/>
              </a:rPr>
              <a:t>Download a copy. Wait for the download to finish.</a:t>
            </a:r>
          </a:p>
        </p:txBody>
      </p:sp>
      <p:sp>
        <p:nvSpPr>
          <p:cNvPr id="7" name="">
            <a:extLst xmlns:a="http://schemas.openxmlformats.org/drawingml/2006/main">
              <a:ext uri="{FF2B5EF4-FFF2-40B4-BE49-F238E27FC236}">
                <a16:creationId xmlns:a16="http://schemas.microsoft.com/office/drawing/2014/main" id="{3F482499-D697-4251-90DF-9F80F0474DB6}"/>
              </a:ext>
            </a:extLst>
          </p:cNvPr>
          <p:cNvSpPr>
            <a:spLocks xmlns:a="http://schemas.openxmlformats.org/drawingml/2006/main" noGrp="1"/>
          </p:cNvSpPr>
          <p:nvPr/>
        </p:nvSpPr>
        <p:spPr>
          <a:xfrm xmlns:a="http://schemas.openxmlformats.org/drawingml/2006/main">
            <a:off x="952500" y="3333750"/>
            <a:ext cx="666750" cy="666750"/>
          </a:xfrm>
          <a:prstGeom xmlns:a="http://schemas.openxmlformats.org/drawingml/2006/main" prst="rect">
            <a:avLst/>
          </a:prstGeom>
          <a:solidFill xmlns:a="http://schemas.openxmlformats.org/drawingml/2006/main">
            <a:srgbClr val="2E7D6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3</a:t>
            </a:r>
          </a:p>
        </p:txBody>
      </p:sp>
      <p:sp>
        <p:nvSpPr>
          <p:cNvPr id="8" name="">
            <a:extLst xmlns:a="http://schemas.openxmlformats.org/drawingml/2006/main">
              <a:ext uri="{FF2B5EF4-FFF2-40B4-BE49-F238E27FC236}">
                <a16:creationId xmlns:a16="http://schemas.microsoft.com/office/drawing/2014/main" id="{2C62E2EA-9135-4CFC-8FFC-C012C793DFCF}"/>
              </a:ext>
            </a:extLst>
          </p:cNvPr>
          <p:cNvSpPr>
            <a:spLocks xmlns:a="http://schemas.openxmlformats.org/drawingml/2006/main" noGrp="1"/>
          </p:cNvSpPr>
          <p:nvPr/>
        </p:nvSpPr>
        <p:spPr>
          <a:xfrm xmlns:a="http://schemas.openxmlformats.org/drawingml/2006/main">
            <a:off x="1857375" y="3333750"/>
            <a:ext cx="9048750" cy="666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0">
                <a:solidFill>
                  <a:srgbClr val="16212B"/>
                </a:solidFill>
                <a:latin typeface="Helvetica Neue"/>
                <a:ea typeface="Helvetica Neue"/>
                <a:cs typeface="Helvetica Neue"/>
              </a:defRPr>
            </a:pPr>
            <a:r>
              <a:rPr sz="2025" b="0">
                <a:solidFill>
                  <a:srgbClr val="16212B"/>
                </a:solidFill>
                <a:latin typeface="Helvetica Neue"/>
                <a:ea typeface="Helvetica Neue"/>
                <a:cs typeface="Helvetica Neue"/>
              </a:rPr>
              <a:t>Move the file into the class folder and give it the approved name.</a:t>
            </a:r>
          </a:p>
        </p:txBody>
      </p:sp>
      <p:sp>
        <p:nvSpPr>
          <p:cNvPr id="9" name="">
            <a:extLst xmlns:a="http://schemas.openxmlformats.org/drawingml/2006/main">
              <a:ext uri="{FF2B5EF4-FFF2-40B4-BE49-F238E27FC236}">
                <a16:creationId xmlns:a16="http://schemas.microsoft.com/office/drawing/2014/main" id="{EF8C8F42-EAF6-40F2-B97E-4E4624EE457C}"/>
              </a:ext>
            </a:extLst>
          </p:cNvPr>
          <p:cNvSpPr>
            <a:spLocks xmlns:a="http://schemas.openxmlformats.org/drawingml/2006/main" noGrp="1"/>
          </p:cNvSpPr>
          <p:nvPr/>
        </p:nvSpPr>
        <p:spPr>
          <a:xfrm xmlns:a="http://schemas.openxmlformats.org/drawingml/2006/main">
            <a:off x="952500" y="4238625"/>
            <a:ext cx="666750" cy="666750"/>
          </a:xfrm>
          <a:prstGeom xmlns:a="http://schemas.openxmlformats.org/drawingml/2006/main" prst="rect">
            <a:avLst/>
          </a:prstGeom>
          <a:solidFill xmlns:a="http://schemas.openxmlformats.org/drawingml/2006/main">
            <a:srgbClr val="17324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4</a:t>
            </a:r>
          </a:p>
        </p:txBody>
      </p:sp>
      <p:sp>
        <p:nvSpPr>
          <p:cNvPr id="10" name="">
            <a:extLst xmlns:a="http://schemas.openxmlformats.org/drawingml/2006/main">
              <a:ext uri="{FF2B5EF4-FFF2-40B4-BE49-F238E27FC236}">
                <a16:creationId xmlns:a16="http://schemas.microsoft.com/office/drawing/2014/main" id="{77197326-013A-45AC-B056-E9BF59541E1C}"/>
              </a:ext>
            </a:extLst>
          </p:cNvPr>
          <p:cNvSpPr>
            <a:spLocks xmlns:a="http://schemas.openxmlformats.org/drawingml/2006/main" noGrp="1"/>
          </p:cNvSpPr>
          <p:nvPr/>
        </p:nvSpPr>
        <p:spPr>
          <a:xfrm xmlns:a="http://schemas.openxmlformats.org/drawingml/2006/main">
            <a:off x="1857375" y="4238625"/>
            <a:ext cx="9048750" cy="666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0">
                <a:solidFill>
                  <a:srgbClr val="16212B"/>
                </a:solidFill>
                <a:latin typeface="Helvetica Neue"/>
                <a:ea typeface="Helvetica Neue"/>
                <a:cs typeface="Helvetica Neue"/>
              </a:defRPr>
            </a:pPr>
            <a:r>
              <a:rPr sz="2025" b="0">
                <a:solidFill>
                  <a:srgbClr val="16212B"/>
                </a:solidFill>
                <a:latin typeface="Helvetica Neue"/>
                <a:ea typeface="Helvetica Neue"/>
                <a:cs typeface="Helvetica Neue"/>
              </a:rPr>
              <a:t>Open the saved copy before starting. Confirm that it is the correct file.</a:t>
            </a:r>
          </a:p>
        </p:txBody>
      </p:sp>
    </p:spTree>
    <p:extLst>
      <p:ext uri="{BB962C8B-B14F-4D97-AF65-F5344CB8AC3E}">
        <p14:creationId xmlns:p14="http://schemas.microsoft.com/office/powerpoint/2010/main" val="2086164035"/>
      </p:ext>
    </p:extLst>
  </p:cSld>
</p:sld>
</file>

<file path=ppt/slides/slide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69114A-A0C9-484B-B0C4-18F3B2C3F6F7}"/>
              </a:ext>
            </a:extLst>
          </p:cNvPr>
          <p:cNvSpPr>
            <a:spLocks xmlns:a="http://schemas.openxmlformats.org/drawingml/2006/main" noGrp="1"/>
          </p:cNvSpPr>
          <p:nvPr/>
        </p:nvSpPr>
        <p:spPr>
          <a:xfrm xmlns:a="http://schemas.openxmlformats.org/drawingml/2006/main">
            <a:off x="609600" y="3238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7324D"/>
                </a:solidFill>
                <a:latin typeface="Helvetica Neue"/>
                <a:ea typeface="Helvetica Neue"/>
                <a:cs typeface="Helvetica Neue"/>
              </a:defRPr>
            </a:pPr>
            <a:r>
              <a:rPr sz="2550" b="1">
                <a:solidFill>
                  <a:srgbClr val="17324D"/>
                </a:solidFill>
                <a:latin typeface="Helvetica Neue"/>
                <a:ea typeface="Helvetica Neue"/>
                <a:cs typeface="Helvetica Neue"/>
              </a:rPr>
              <a:t>Teams submission check</a:t>
            </a:r>
          </a:p>
        </p:txBody>
      </p:sp>
      <p:sp>
        <p:nvSpPr>
          <p:cNvPr id="2" name="">
            <a:extLst xmlns:a="http://schemas.openxmlformats.org/drawingml/2006/main">
              <a:ext uri="{FF2B5EF4-FFF2-40B4-BE49-F238E27FC236}">
                <a16:creationId xmlns:a16="http://schemas.microsoft.com/office/drawing/2014/main" id="{B05918E5-2447-4746-956B-0CED7C1BF807}"/>
              </a:ext>
            </a:extLst>
          </p:cNvPr>
          <p:cNvSpPr>
            <a:spLocks xmlns:a="http://schemas.openxmlformats.org/drawingml/2006/main" noGrp="1"/>
          </p:cNvSpPr>
          <p:nvPr/>
        </p:nvSpPr>
        <p:spPr>
          <a:xfrm xmlns:a="http://schemas.openxmlformats.org/drawingml/2006/main">
            <a:off x="11258550" y="43815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878B5"/>
                </a:solidFill>
                <a:latin typeface="Helvetica Neue"/>
                <a:ea typeface="Helvetica Neue"/>
                <a:cs typeface="Helvetica Neue"/>
              </a:defRPr>
            </a:pPr>
            <a:r>
              <a:rPr sz="1275" b="1">
                <a:solidFill>
                  <a:srgbClr val="2878B5"/>
                </a:solidFill>
                <a:latin typeface="Helvetica Neue"/>
                <a:ea typeface="Helvetica Neue"/>
                <a:cs typeface="Helvetica Neue"/>
              </a:rPr>
              <a:t>8</a:t>
            </a:r>
          </a:p>
        </p:txBody>
      </p:sp>
      <p:sp>
        <p:nvSpPr>
          <p:cNvPr id="3" name="">
            <a:extLst xmlns:a="http://schemas.openxmlformats.org/drawingml/2006/main">
              <a:ext uri="{FF2B5EF4-FFF2-40B4-BE49-F238E27FC236}">
                <a16:creationId xmlns:a16="http://schemas.microsoft.com/office/drawing/2014/main" id="{3F7CA51F-83BF-43BC-9AB2-4A42E34936B2}"/>
              </a:ext>
            </a:extLst>
          </p:cNvPr>
          <p:cNvSpPr>
            <a:spLocks xmlns:a="http://schemas.openxmlformats.org/drawingml/2006/main" noGrp="1"/>
          </p:cNvSpPr>
          <p:nvPr/>
        </p:nvSpPr>
        <p:spPr>
          <a:xfrm xmlns:a="http://schemas.openxmlformats.org/drawingml/2006/main">
            <a:off x="952500" y="1524000"/>
            <a:ext cx="4572000" cy="590550"/>
          </a:xfrm>
          <a:prstGeom xmlns:a="http://schemas.openxmlformats.org/drawingml/2006/main" prst="rect">
            <a:avLst/>
          </a:prstGeom>
          <a:solidFill xmlns:a="http://schemas.openxmlformats.org/drawingml/2006/main">
            <a:srgbClr val="17324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Before attaching</a:t>
            </a:r>
          </a:p>
        </p:txBody>
      </p:sp>
      <p:sp>
        <p:nvSpPr>
          <p:cNvPr id="4" name="">
            <a:extLst xmlns:a="http://schemas.openxmlformats.org/drawingml/2006/main">
              <a:ext uri="{FF2B5EF4-FFF2-40B4-BE49-F238E27FC236}">
                <a16:creationId xmlns:a16="http://schemas.microsoft.com/office/drawing/2014/main" id="{6E8AC554-702E-4171-B06B-C5D3D6EB8914}"/>
              </a:ext>
            </a:extLst>
          </p:cNvPr>
          <p:cNvSpPr>
            <a:spLocks xmlns:a="http://schemas.openxmlformats.org/drawingml/2006/main" noGrp="1"/>
          </p:cNvSpPr>
          <p:nvPr/>
        </p:nvSpPr>
        <p:spPr>
          <a:xfrm xmlns:a="http://schemas.openxmlformats.org/drawingml/2006/main">
            <a:off x="952500" y="2238375"/>
            <a:ext cx="4572000" cy="24765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75" b="0">
                <a:solidFill>
                  <a:srgbClr val="16212B"/>
                </a:solidFill>
                <a:latin typeface="Helvetica Neue"/>
                <a:ea typeface="Helvetica Neue"/>
                <a:cs typeface="Helvetica Neue"/>
              </a:defRPr>
            </a:pPr>
            <a:r>
              <a:rPr sz="2175" b="0">
                <a:solidFill>
                  <a:srgbClr val="16212B"/>
                </a:solidFill>
                <a:latin typeface="Helvetica Neue"/>
                <a:ea typeface="Helvetica Neue"/>
                <a:cs typeface="Helvetica Neue"/>
              </a:rPr>
              <a:t>Correct assignment</a:t>
            </a:r>
          </a:p>
          <a:p xmlns:a="http://schemas.openxmlformats.org/drawingml/2006/main">
            <a:pPr>
              <a:defRPr sz="2175" b="0">
                <a:solidFill>
                  <a:srgbClr val="16212B"/>
                </a:solidFill>
                <a:latin typeface="Helvetica Neue"/>
                <a:ea typeface="Helvetica Neue"/>
                <a:cs typeface="Helvetica Neue"/>
              </a:defRPr>
            </a:pPr>
            <a:r>
              <a:rPr sz="2175" b="0">
                <a:solidFill>
                  <a:srgbClr val="16212B"/>
                </a:solidFill>
                <a:latin typeface="Helvetica Neue"/>
                <a:ea typeface="Helvetica Neue"/>
                <a:cs typeface="Helvetica Neue"/>
              </a:rPr>
              <a:t>Correct file</a:t>
            </a:r>
          </a:p>
          <a:p xmlns:a="http://schemas.openxmlformats.org/drawingml/2006/main">
            <a:pPr>
              <a:defRPr sz="2175" b="0">
                <a:solidFill>
                  <a:srgbClr val="16212B"/>
                </a:solidFill>
                <a:latin typeface="Helvetica Neue"/>
                <a:ea typeface="Helvetica Neue"/>
                <a:cs typeface="Helvetica Neue"/>
              </a:defRPr>
            </a:pPr>
            <a:r>
              <a:rPr sz="2175" b="0">
                <a:solidFill>
                  <a:srgbClr val="16212B"/>
                </a:solidFill>
                <a:latin typeface="Helvetica Neue"/>
                <a:ea typeface="Helvetica Neue"/>
                <a:cs typeface="Helvetica Neue"/>
              </a:rPr>
              <a:t>Meaningful file name</a:t>
            </a:r>
          </a:p>
          <a:p xmlns:a="http://schemas.openxmlformats.org/drawingml/2006/main">
            <a:pPr>
              <a:defRPr sz="2175" b="0">
                <a:solidFill>
                  <a:srgbClr val="16212B"/>
                </a:solidFill>
                <a:latin typeface="Helvetica Neue"/>
                <a:ea typeface="Helvetica Neue"/>
                <a:cs typeface="Helvetica Neue"/>
              </a:defRPr>
            </a:pPr>
            <a:r>
              <a:rPr sz="2175" b="0">
                <a:solidFill>
                  <a:srgbClr val="16212B"/>
                </a:solidFill>
                <a:latin typeface="Helvetica Neue"/>
                <a:ea typeface="Helvetica Neue"/>
                <a:cs typeface="Helvetica Neue"/>
              </a:rPr>
              <a:t>Work saved</a:t>
            </a:r>
          </a:p>
        </p:txBody>
      </p:sp>
      <p:sp>
        <p:nvSpPr>
          <p:cNvPr id="5" name="">
            <a:extLst xmlns:a="http://schemas.openxmlformats.org/drawingml/2006/main">
              <a:ext uri="{FF2B5EF4-FFF2-40B4-BE49-F238E27FC236}">
                <a16:creationId xmlns:a16="http://schemas.microsoft.com/office/drawing/2014/main" id="{40078ECB-0E7C-47DE-82B1-E67950C970D6}"/>
              </a:ext>
            </a:extLst>
          </p:cNvPr>
          <p:cNvSpPr>
            <a:spLocks xmlns:a="http://schemas.openxmlformats.org/drawingml/2006/main" noGrp="1"/>
          </p:cNvSpPr>
          <p:nvPr/>
        </p:nvSpPr>
        <p:spPr>
          <a:xfrm xmlns:a="http://schemas.openxmlformats.org/drawingml/2006/main">
            <a:off x="6667500" y="1524000"/>
            <a:ext cx="4572000" cy="590550"/>
          </a:xfrm>
          <a:prstGeom xmlns:a="http://schemas.openxmlformats.org/drawingml/2006/main" prst="rect">
            <a:avLst/>
          </a:prstGeom>
          <a:solidFill xmlns:a="http://schemas.openxmlformats.org/drawingml/2006/main">
            <a:srgbClr val="F4B94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17324D"/>
                </a:solidFill>
                <a:latin typeface="Helvetica Neue"/>
                <a:ea typeface="Helvetica Neue"/>
                <a:cs typeface="Helvetica Neue"/>
              </a:defRPr>
            </a:pPr>
            <a:r>
              <a:rPr sz="1950" b="1">
                <a:solidFill>
                  <a:srgbClr val="17324D"/>
                </a:solidFill>
                <a:latin typeface="Helvetica Neue"/>
                <a:ea typeface="Helvetica Neue"/>
                <a:cs typeface="Helvetica Neue"/>
              </a:rPr>
              <a:t>Before selecting Turn in</a:t>
            </a:r>
          </a:p>
        </p:txBody>
      </p:sp>
      <p:sp>
        <p:nvSpPr>
          <p:cNvPr id="6" name="">
            <a:extLst xmlns:a="http://schemas.openxmlformats.org/drawingml/2006/main">
              <a:ext uri="{FF2B5EF4-FFF2-40B4-BE49-F238E27FC236}">
                <a16:creationId xmlns:a16="http://schemas.microsoft.com/office/drawing/2014/main" id="{904BAF29-3121-4874-BE3A-3AE498E7DC6C}"/>
              </a:ext>
            </a:extLst>
          </p:cNvPr>
          <p:cNvSpPr>
            <a:spLocks xmlns:a="http://schemas.openxmlformats.org/drawingml/2006/main" noGrp="1"/>
          </p:cNvSpPr>
          <p:nvPr/>
        </p:nvSpPr>
        <p:spPr>
          <a:xfrm xmlns:a="http://schemas.openxmlformats.org/drawingml/2006/main">
            <a:off x="6667500" y="2238375"/>
            <a:ext cx="4572000" cy="24765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0">
                <a:solidFill>
                  <a:srgbClr val="16212B"/>
                </a:solidFill>
                <a:latin typeface="Helvetica Neue"/>
                <a:ea typeface="Helvetica Neue"/>
                <a:cs typeface="Helvetica Neue"/>
              </a:defRPr>
            </a:pPr>
            <a:r>
              <a:rPr sz="2025" b="0">
                <a:solidFill>
                  <a:srgbClr val="16212B"/>
                </a:solidFill>
                <a:latin typeface="Helvetica Neue"/>
                <a:ea typeface="Helvetica Neue"/>
                <a:cs typeface="Helvetica Neue"/>
              </a:rPr>
              <a:t>Attachment appears</a:t>
            </a:r>
          </a:p>
          <a:p xmlns:a="http://schemas.openxmlformats.org/drawingml/2006/main">
            <a:pPr>
              <a:defRPr sz="2025" b="0">
                <a:solidFill>
                  <a:srgbClr val="16212B"/>
                </a:solidFill>
                <a:latin typeface="Helvetica Neue"/>
                <a:ea typeface="Helvetica Neue"/>
                <a:cs typeface="Helvetica Neue"/>
              </a:defRPr>
            </a:pPr>
            <a:r>
              <a:rPr sz="2025" b="0">
                <a:solidFill>
                  <a:srgbClr val="16212B"/>
                </a:solidFill>
                <a:latin typeface="Helvetica Neue"/>
                <a:ea typeface="Helvetica Neue"/>
                <a:cs typeface="Helvetica Neue"/>
              </a:rPr>
              <a:t>File opens if checked</a:t>
            </a:r>
          </a:p>
          <a:p xmlns:a="http://schemas.openxmlformats.org/drawingml/2006/main">
            <a:pPr>
              <a:defRPr sz="2025" b="0">
                <a:solidFill>
                  <a:srgbClr val="16212B"/>
                </a:solidFill>
                <a:latin typeface="Helvetica Neue"/>
                <a:ea typeface="Helvetica Neue"/>
                <a:cs typeface="Helvetica Neue"/>
              </a:defRPr>
            </a:pPr>
            <a:r>
              <a:rPr sz="2025" b="0">
                <a:solidFill>
                  <a:srgbClr val="16212B"/>
                </a:solidFill>
                <a:latin typeface="Helvetica Neue"/>
                <a:ea typeface="Helvetica Neue"/>
                <a:cs typeface="Helvetica Neue"/>
              </a:rPr>
              <a:t>Teacher directions are complete</a:t>
            </a:r>
          </a:p>
          <a:p xmlns:a="http://schemas.openxmlformats.org/drawingml/2006/main">
            <a:pPr>
              <a:defRPr sz="2025" b="0">
                <a:solidFill>
                  <a:srgbClr val="16212B"/>
                </a:solidFill>
                <a:latin typeface="Helvetica Neue"/>
                <a:ea typeface="Helvetica Neue"/>
                <a:cs typeface="Helvetica Neue"/>
              </a:defRPr>
            </a:pPr>
            <a:r>
              <a:rPr sz="2025" b="0">
                <a:solidFill>
                  <a:srgbClr val="16212B"/>
                </a:solidFill>
                <a:latin typeface="Helvetica Neue"/>
                <a:ea typeface="Helvetica Neue"/>
                <a:cs typeface="Helvetica Neue"/>
              </a:rPr>
              <a:t>Ask if anything looks wrong</a:t>
            </a:r>
          </a:p>
        </p:txBody>
      </p:sp>
      <p:sp>
        <p:nvSpPr>
          <p:cNvPr id="7" name="">
            <a:extLst xmlns:a="http://schemas.openxmlformats.org/drawingml/2006/main">
              <a:ext uri="{FF2B5EF4-FFF2-40B4-BE49-F238E27FC236}">
                <a16:creationId xmlns:a16="http://schemas.microsoft.com/office/drawing/2014/main" id="{82255D53-3A79-4339-BFCB-C9C718631140}"/>
              </a:ext>
            </a:extLst>
          </p:cNvPr>
          <p:cNvSpPr>
            <a:spLocks xmlns:a="http://schemas.openxmlformats.org/drawingml/2006/main" noGrp="1"/>
          </p:cNvSpPr>
          <p:nvPr/>
        </p:nvSpPr>
        <p:spPr>
          <a:xfrm xmlns:a="http://schemas.openxmlformats.org/drawingml/2006/main">
            <a:off x="1619250" y="5286375"/>
            <a:ext cx="895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2E7D62"/>
                </a:solidFill>
                <a:latin typeface="Helvetica Neue"/>
                <a:ea typeface="Helvetica Neue"/>
                <a:cs typeface="Helvetica Neue"/>
              </a:defRPr>
            </a:pPr>
            <a:r>
              <a:rPr sz="1875" b="1">
                <a:solidFill>
                  <a:srgbClr val="2E7D62"/>
                </a:solidFill>
                <a:latin typeface="Helvetica Neue"/>
                <a:ea typeface="Helvetica Neue"/>
                <a:cs typeface="Helvetica Neue"/>
              </a:rPr>
              <a:t>Follow the teacher’s live directions for the final submission step.</a:t>
            </a:r>
          </a:p>
        </p:txBody>
      </p:sp>
    </p:spTree>
    <p:extLst>
      <p:ext uri="{BB962C8B-B14F-4D97-AF65-F5344CB8AC3E}">
        <p14:creationId xmlns:p14="http://schemas.microsoft.com/office/powerpoint/2010/main" val="1624036865"/>
      </p:ext>
    </p:extLst>
  </p:cSld>
</p:sld>
</file>

<file path=ppt/slides/slide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01B4968-BE1B-40BE-8633-7183964F3DD5}"/>
              </a:ext>
            </a:extLst>
          </p:cNvPr>
          <p:cNvSpPr>
            <a:spLocks xmlns:a="http://schemas.openxmlformats.org/drawingml/2006/main" noGrp="1"/>
          </p:cNvSpPr>
          <p:nvPr/>
        </p:nvSpPr>
        <p:spPr>
          <a:xfrm xmlns:a="http://schemas.openxmlformats.org/drawingml/2006/main">
            <a:off x="609600" y="3238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7324D"/>
                </a:solidFill>
                <a:latin typeface="Helvetica Neue"/>
                <a:ea typeface="Helvetica Neue"/>
                <a:cs typeface="Helvetica Neue"/>
              </a:defRPr>
            </a:pPr>
            <a:r>
              <a:rPr sz="2550" b="1">
                <a:solidFill>
                  <a:srgbClr val="17324D"/>
                </a:solidFill>
                <a:latin typeface="Helvetica Neue"/>
                <a:ea typeface="Helvetica Neue"/>
                <a:cs typeface="Helvetica Neue"/>
              </a:rPr>
              <a:t>Friday exit check</a:t>
            </a:r>
          </a:p>
        </p:txBody>
      </p:sp>
      <p:sp>
        <p:nvSpPr>
          <p:cNvPr id="2" name="">
            <a:extLst xmlns:a="http://schemas.openxmlformats.org/drawingml/2006/main">
              <a:ext uri="{FF2B5EF4-FFF2-40B4-BE49-F238E27FC236}">
                <a16:creationId xmlns:a16="http://schemas.microsoft.com/office/drawing/2014/main" id="{1AC76144-1D64-40CC-87CC-94725A0B5596}"/>
              </a:ext>
            </a:extLst>
          </p:cNvPr>
          <p:cNvSpPr>
            <a:spLocks xmlns:a="http://schemas.openxmlformats.org/drawingml/2006/main" noGrp="1"/>
          </p:cNvSpPr>
          <p:nvPr/>
        </p:nvSpPr>
        <p:spPr>
          <a:xfrm xmlns:a="http://schemas.openxmlformats.org/drawingml/2006/main">
            <a:off x="11258550" y="43815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878B5"/>
                </a:solidFill>
                <a:latin typeface="Helvetica Neue"/>
                <a:ea typeface="Helvetica Neue"/>
                <a:cs typeface="Helvetica Neue"/>
              </a:defRPr>
            </a:pPr>
            <a:r>
              <a:rPr sz="1275" b="1">
                <a:solidFill>
                  <a:srgbClr val="2878B5"/>
                </a:solidFill>
                <a:latin typeface="Helvetica Neue"/>
                <a:ea typeface="Helvetica Neue"/>
                <a:cs typeface="Helvetica Neue"/>
              </a:rPr>
              <a:t>9</a:t>
            </a:r>
          </a:p>
        </p:txBody>
      </p:sp>
      <p:sp>
        <p:nvSpPr>
          <p:cNvPr id="3" name="">
            <a:extLst xmlns:a="http://schemas.openxmlformats.org/drawingml/2006/main">
              <a:ext uri="{FF2B5EF4-FFF2-40B4-BE49-F238E27FC236}">
                <a16:creationId xmlns:a16="http://schemas.microsoft.com/office/drawing/2014/main" id="{BB5C1DBB-01F4-4DB7-9640-B535A4F7121A}"/>
              </a:ext>
            </a:extLst>
          </p:cNvPr>
          <p:cNvSpPr>
            <a:spLocks xmlns:a="http://schemas.openxmlformats.org/drawingml/2006/main" noGrp="1"/>
          </p:cNvSpPr>
          <p:nvPr/>
        </p:nvSpPr>
        <p:spPr>
          <a:xfrm xmlns:a="http://schemas.openxmlformats.org/drawingml/2006/main">
            <a:off x="1714500" y="1381125"/>
            <a:ext cx="876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17324D"/>
                </a:solidFill>
                <a:latin typeface="Helvetica Neue"/>
                <a:ea typeface="Helvetica Neue"/>
                <a:cs typeface="Helvetica Neue"/>
              </a:defRPr>
            </a:pPr>
            <a:r>
              <a:rPr sz="2400" b="1">
                <a:solidFill>
                  <a:srgbClr val="17324D"/>
                </a:solidFill>
                <a:latin typeface="Helvetica Neue"/>
                <a:ea typeface="Helvetica Neue"/>
                <a:cs typeface="Helvetica Neue"/>
              </a:rPr>
              <a:t>Show one piece of evidence</a:t>
            </a:r>
          </a:p>
        </p:txBody>
      </p:sp>
      <p:sp>
        <p:nvSpPr>
          <p:cNvPr id="4" name="">
            <a:extLst xmlns:a="http://schemas.openxmlformats.org/drawingml/2006/main">
              <a:ext uri="{FF2B5EF4-FFF2-40B4-BE49-F238E27FC236}">
                <a16:creationId xmlns:a16="http://schemas.microsoft.com/office/drawing/2014/main" id="{B8CF8F46-B97D-4980-A5EA-716472D70D7C}"/>
              </a:ext>
            </a:extLst>
          </p:cNvPr>
          <p:cNvSpPr>
            <a:spLocks xmlns:a="http://schemas.openxmlformats.org/drawingml/2006/main" noGrp="1"/>
          </p:cNvSpPr>
          <p:nvPr/>
        </p:nvSpPr>
        <p:spPr>
          <a:xfrm xmlns:a="http://schemas.openxmlformats.org/drawingml/2006/main">
            <a:off x="2476500" y="2381250"/>
            <a:ext cx="7239000" cy="2952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0">
                <a:solidFill>
                  <a:srgbClr val="16212B"/>
                </a:solidFill>
                <a:latin typeface="Helvetica Neue"/>
                <a:ea typeface="Helvetica Neue"/>
                <a:cs typeface="Helvetica Neue"/>
              </a:defRPr>
            </a:pPr>
            <a:r>
              <a:rPr sz="2250" b="0">
                <a:solidFill>
                  <a:srgbClr val="16212B"/>
                </a:solidFill>
                <a:latin typeface="Helvetica Neue"/>
                <a:ea typeface="Helvetica Neue"/>
                <a:cs typeface="Helvetica Neue"/>
              </a:rPr>
              <a:t>I can find my class folder.</a:t>
            </a:r>
          </a:p>
          <a:p xmlns:a="http://schemas.openxmlformats.org/drawingml/2006/main">
            <a:r>
              <a:t/>
            </a:r>
          </a:p>
          <a:p xmlns:a="http://schemas.openxmlformats.org/drawingml/2006/main">
            <a:pPr>
              <a:defRPr sz="2250" b="0">
                <a:solidFill>
                  <a:srgbClr val="16212B"/>
                </a:solidFill>
                <a:latin typeface="Helvetica Neue"/>
                <a:ea typeface="Helvetica Neue"/>
                <a:cs typeface="Helvetica Neue"/>
              </a:defRPr>
            </a:pPr>
            <a:r>
              <a:rPr sz="2250" b="0">
                <a:solidFill>
                  <a:srgbClr val="16212B"/>
                </a:solidFill>
                <a:latin typeface="Helvetica Neue"/>
                <a:ea typeface="Helvetica Neue"/>
                <a:cs typeface="Helvetica Neue"/>
              </a:rPr>
              <a:t>I can explain my file name.</a:t>
            </a:r>
          </a:p>
          <a:p xmlns:a="http://schemas.openxmlformats.org/drawingml/2006/main">
            <a:r>
              <a:t/>
            </a:r>
          </a:p>
          <a:p xmlns:a="http://schemas.openxmlformats.org/drawingml/2006/main">
            <a:pPr>
              <a:defRPr sz="2250" b="0">
                <a:solidFill>
                  <a:srgbClr val="16212B"/>
                </a:solidFill>
                <a:latin typeface="Helvetica Neue"/>
                <a:ea typeface="Helvetica Neue"/>
                <a:cs typeface="Helvetica Neue"/>
              </a:defRPr>
            </a:pPr>
            <a:r>
              <a:rPr sz="2250" b="0">
                <a:solidFill>
                  <a:srgbClr val="16212B"/>
                </a:solidFill>
                <a:latin typeface="Helvetica Neue"/>
                <a:ea typeface="Helvetica Neue"/>
                <a:cs typeface="Helvetica Neue"/>
              </a:rPr>
              <a:t>I can locate the Teams assignment.</a:t>
            </a:r>
          </a:p>
          <a:p xmlns:a="http://schemas.openxmlformats.org/drawingml/2006/main">
            <a:r>
              <a:t/>
            </a:r>
          </a:p>
          <a:p xmlns:a="http://schemas.openxmlformats.org/drawingml/2006/main">
            <a:pPr>
              <a:defRPr sz="2250" b="0">
                <a:solidFill>
                  <a:srgbClr val="16212B"/>
                </a:solidFill>
                <a:latin typeface="Helvetica Neue"/>
                <a:ea typeface="Helvetica Neue"/>
                <a:cs typeface="Helvetica Neue"/>
              </a:defRPr>
            </a:pPr>
            <a:r>
              <a:rPr sz="2250" b="0">
                <a:solidFill>
                  <a:srgbClr val="16212B"/>
                </a:solidFill>
                <a:latin typeface="Helvetica Neue"/>
                <a:ea typeface="Helvetica Neue"/>
                <a:cs typeface="Helvetica Neue"/>
              </a:rPr>
              <a:t>I know the next step if I get stuck.</a:t>
            </a:r>
          </a:p>
        </p:txBody>
      </p:sp>
    </p:spTree>
    <p:extLst>
      <p:ext uri="{BB962C8B-B14F-4D97-AF65-F5344CB8AC3E}">
        <p14:creationId xmlns:p14="http://schemas.microsoft.com/office/powerpoint/2010/main" val="1198980279"/>
      </p:ext>
    </p:extLst>
  </p:cSld>
</p:sld>
</file>

<file path=ppt/slides/slide1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A6B92C-A52F-4B7E-B941-6F0557A275CA}"/>
              </a:ext>
            </a:extLst>
          </p:cNvPr>
          <p:cNvSpPr>
            <a:spLocks xmlns:a="http://schemas.openxmlformats.org/drawingml/2006/main" noGrp="1"/>
          </p:cNvSpPr>
          <p:nvPr/>
        </p:nvSpPr>
        <p:spPr>
          <a:xfrm xmlns:a="http://schemas.openxmlformats.org/drawingml/2006/main">
            <a:off x="609600" y="3238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7324D"/>
                </a:solidFill>
                <a:latin typeface="Helvetica Neue"/>
                <a:ea typeface="Helvetica Neue"/>
                <a:cs typeface="Helvetica Neue"/>
              </a:defRPr>
            </a:pPr>
            <a:r>
              <a:rPr sz="2550" b="1">
                <a:solidFill>
                  <a:srgbClr val="17324D"/>
                </a:solidFill>
                <a:latin typeface="Helvetica Neue"/>
                <a:ea typeface="Helvetica Neue"/>
                <a:cs typeface="Helvetica Neue"/>
              </a:rPr>
              <a:t>Next-week brain teaser: Goods, services, and ideas</a:t>
            </a:r>
          </a:p>
        </p:txBody>
      </p:sp>
      <p:sp>
        <p:nvSpPr>
          <p:cNvPr id="2" name="">
            <a:extLst xmlns:a="http://schemas.openxmlformats.org/drawingml/2006/main">
              <a:ext uri="{FF2B5EF4-FFF2-40B4-BE49-F238E27FC236}">
                <a16:creationId xmlns:a16="http://schemas.microsoft.com/office/drawing/2014/main" id="{A7868F8B-103A-48B5-A9B9-BE4DF35EA2D1}"/>
              </a:ext>
            </a:extLst>
          </p:cNvPr>
          <p:cNvSpPr>
            <a:spLocks xmlns:a="http://schemas.openxmlformats.org/drawingml/2006/main" noGrp="1"/>
          </p:cNvSpPr>
          <p:nvPr/>
        </p:nvSpPr>
        <p:spPr>
          <a:xfrm xmlns:a="http://schemas.openxmlformats.org/drawingml/2006/main">
            <a:off x="11258550" y="43815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878B5"/>
                </a:solidFill>
                <a:latin typeface="Helvetica Neue"/>
                <a:ea typeface="Helvetica Neue"/>
                <a:cs typeface="Helvetica Neue"/>
              </a:defRPr>
            </a:pPr>
            <a:r>
              <a:rPr sz="1275" b="1">
                <a:solidFill>
                  <a:srgbClr val="2878B5"/>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C2F7667E-DE6F-4B46-82FF-0B58E62CB80E}"/>
              </a:ext>
            </a:extLst>
          </p:cNvPr>
          <p:cNvSpPr>
            <a:spLocks xmlns:a="http://schemas.openxmlformats.org/drawingml/2006/main" noGrp="1"/>
          </p:cNvSpPr>
          <p:nvPr/>
        </p:nvSpPr>
        <p:spPr>
          <a:xfrm xmlns:a="http://schemas.openxmlformats.org/drawingml/2006/main">
            <a:off x="1238250" y="1666875"/>
            <a:ext cx="9715500" cy="20955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7324D"/>
                </a:solidFill>
                <a:latin typeface="Helvetica Neue"/>
                <a:ea typeface="Helvetica Neue"/>
                <a:cs typeface="Helvetica Neue"/>
              </a:defRPr>
            </a:pPr>
            <a:r>
              <a:rPr sz="2550" b="1">
                <a:solidFill>
                  <a:srgbClr val="17324D"/>
                </a:solidFill>
                <a:latin typeface="Helvetica Neue"/>
                <a:ea typeface="Helvetica Neue"/>
                <a:cs typeface="Helvetica Neue"/>
              </a:rPr>
              <a:t>Choose one business or app. Name one good, one service, and one idea it offers. Which example is hardest to classify, and why?</a:t>
            </a:r>
          </a:p>
        </p:txBody>
      </p:sp>
      <p:sp>
        <p:nvSpPr>
          <p:cNvPr id="4" name="">
            <a:extLst xmlns:a="http://schemas.openxmlformats.org/drawingml/2006/main">
              <a:ext uri="{FF2B5EF4-FFF2-40B4-BE49-F238E27FC236}">
                <a16:creationId xmlns:a16="http://schemas.microsoft.com/office/drawing/2014/main" id="{A74A7E10-72CA-44FC-BF2E-18A0266F5D9C}"/>
              </a:ext>
            </a:extLst>
          </p:cNvPr>
          <p:cNvSpPr>
            <a:spLocks xmlns:a="http://schemas.openxmlformats.org/drawingml/2006/main" noGrp="1"/>
          </p:cNvSpPr>
          <p:nvPr/>
        </p:nvSpPr>
        <p:spPr>
          <a:xfrm xmlns:a="http://schemas.openxmlformats.org/drawingml/2006/main">
            <a:off x="1714500" y="4429125"/>
            <a:ext cx="876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0">
                <a:solidFill>
                  <a:srgbClr val="2E7D62"/>
                </a:solidFill>
                <a:latin typeface="Helvetica Neue"/>
                <a:ea typeface="Helvetica Neue"/>
                <a:cs typeface="Helvetica Neue"/>
              </a:defRPr>
            </a:pPr>
            <a:r>
              <a:rPr sz="1875" b="0">
                <a:solidFill>
                  <a:srgbClr val="2E7D62"/>
                </a:solidFill>
                <a:latin typeface="Helvetica Neue"/>
                <a:ea typeface="Helvetica Neue"/>
                <a:cs typeface="Helvetica Neue"/>
              </a:rPr>
              <a:t>Think or jot notes for 60 seconds. A fictional example is always acceptable.</a:t>
            </a:r>
          </a:p>
        </p:txBody>
      </p:sp>
      <p:sp>
        <p:nvSpPr>
          <p:cNvPr id="5" name="">
            <a:extLst xmlns:a="http://schemas.openxmlformats.org/drawingml/2006/main">
              <a:ext uri="{FF2B5EF4-FFF2-40B4-BE49-F238E27FC236}">
                <a16:creationId xmlns:a16="http://schemas.microsoft.com/office/drawing/2014/main" id="{C1BB4CA9-7C61-4D91-871E-830A7E43E06C}"/>
              </a:ext>
            </a:extLst>
          </p:cNvPr>
          <p:cNvSpPr>
            <a:spLocks xmlns:a="http://schemas.openxmlformats.org/drawingml/2006/main" noGrp="1"/>
          </p:cNvSpPr>
          <p:nvPr/>
        </p:nvSpPr>
        <p:spPr>
          <a:xfrm xmlns:a="http://schemas.openxmlformats.org/drawingml/2006/main">
            <a:off x="2476500" y="5286375"/>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6212B"/>
                </a:solidFill>
                <a:latin typeface="Helvetica Neue"/>
                <a:ea typeface="Helvetica Neue"/>
                <a:cs typeface="Helvetica Neue"/>
              </a:defRPr>
            </a:pPr>
            <a:r>
              <a:rPr sz="1650" b="1">
                <a:solidFill>
                  <a:srgbClr val="16212B"/>
                </a:solidFill>
                <a:latin typeface="Helvetica Neue"/>
                <a:ea typeface="Helvetica Neue"/>
                <a:cs typeface="Helvetica Neue"/>
              </a:rPr>
              <a:t>Be ready to explain one reason.</a:t>
            </a:r>
          </a:p>
        </p:txBody>
      </p:sp>
    </p:spTree>
    <p:extLst>
      <p:ext uri="{BB962C8B-B14F-4D97-AF65-F5344CB8AC3E}">
        <p14:creationId xmlns:p14="http://schemas.microsoft.com/office/powerpoint/2010/main" val="659979521"/>
      </p:ext>
    </p:extLst>
  </p:cSld>
</p:sld>
</file>

<file path=ppt/slides/slide1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6E36C42-8879-4D19-9AB1-1720999B81C4}"/>
              </a:ext>
            </a:extLst>
          </p:cNvPr>
          <p:cNvSpPr>
            <a:spLocks xmlns:a="http://schemas.openxmlformats.org/drawingml/2006/main" noGrp="1"/>
          </p:cNvSpPr>
          <p:nvPr/>
        </p:nvSpPr>
        <p:spPr>
          <a:xfrm xmlns:a="http://schemas.openxmlformats.org/drawingml/2006/main">
            <a:off x="609600" y="3238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7324D"/>
                </a:solidFill>
                <a:latin typeface="Helvetica Neue"/>
                <a:ea typeface="Helvetica Neue"/>
                <a:cs typeface="Helvetica Neue"/>
              </a:defRPr>
            </a:pPr>
            <a:r>
              <a:rPr sz="2550" b="1">
                <a:solidFill>
                  <a:srgbClr val="17324D"/>
                </a:solidFill>
                <a:latin typeface="Helvetica Neue"/>
                <a:ea typeface="Helvetica Neue"/>
                <a:cs typeface="Helvetica Neue"/>
              </a:rPr>
              <a:t>Next-week brain teaser: Limited resources</a:t>
            </a:r>
          </a:p>
        </p:txBody>
      </p:sp>
      <p:sp>
        <p:nvSpPr>
          <p:cNvPr id="2" name="">
            <a:extLst xmlns:a="http://schemas.openxmlformats.org/drawingml/2006/main">
              <a:ext uri="{FF2B5EF4-FFF2-40B4-BE49-F238E27FC236}">
                <a16:creationId xmlns:a16="http://schemas.microsoft.com/office/drawing/2014/main" id="{F37E2547-D23D-4ADE-B8C5-73559AAE313C}"/>
              </a:ext>
            </a:extLst>
          </p:cNvPr>
          <p:cNvSpPr>
            <a:spLocks xmlns:a="http://schemas.openxmlformats.org/drawingml/2006/main" noGrp="1"/>
          </p:cNvSpPr>
          <p:nvPr/>
        </p:nvSpPr>
        <p:spPr>
          <a:xfrm xmlns:a="http://schemas.openxmlformats.org/drawingml/2006/main">
            <a:off x="11258550" y="43815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878B5"/>
                </a:solidFill>
                <a:latin typeface="Helvetica Neue"/>
                <a:ea typeface="Helvetica Neue"/>
                <a:cs typeface="Helvetica Neue"/>
              </a:defRPr>
            </a:pPr>
            <a:r>
              <a:rPr sz="1275" b="1">
                <a:solidFill>
                  <a:srgbClr val="2878B5"/>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B2D73950-696C-4E1E-B667-0B2467D9300B}"/>
              </a:ext>
            </a:extLst>
          </p:cNvPr>
          <p:cNvSpPr>
            <a:spLocks xmlns:a="http://schemas.openxmlformats.org/drawingml/2006/main" noGrp="1"/>
          </p:cNvSpPr>
          <p:nvPr/>
        </p:nvSpPr>
        <p:spPr>
          <a:xfrm xmlns:a="http://schemas.openxmlformats.org/drawingml/2006/main">
            <a:off x="1238250" y="1666875"/>
            <a:ext cx="9715500" cy="20955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7324D"/>
                </a:solidFill>
                <a:latin typeface="Helvetica Neue"/>
                <a:ea typeface="Helvetica Neue"/>
                <a:cs typeface="Helvetica Neue"/>
              </a:defRPr>
            </a:pPr>
            <a:r>
              <a:rPr sz="2550" b="1">
                <a:solidFill>
                  <a:srgbClr val="17324D"/>
                </a:solidFill>
                <a:latin typeface="Helvetica Neue"/>
                <a:ea typeface="Helvetica Neue"/>
                <a:cs typeface="Helvetica Neue"/>
              </a:rPr>
              <a:t>A student-run shop has $100 and four hours. What should the team spend first, and what must wait? Explain one tradeoff.</a:t>
            </a:r>
          </a:p>
        </p:txBody>
      </p:sp>
      <p:sp>
        <p:nvSpPr>
          <p:cNvPr id="4" name="">
            <a:extLst xmlns:a="http://schemas.openxmlformats.org/drawingml/2006/main">
              <a:ext uri="{FF2B5EF4-FFF2-40B4-BE49-F238E27FC236}">
                <a16:creationId xmlns:a16="http://schemas.microsoft.com/office/drawing/2014/main" id="{642B1E56-D42F-44DF-9709-7DAE02019960}"/>
              </a:ext>
            </a:extLst>
          </p:cNvPr>
          <p:cNvSpPr>
            <a:spLocks xmlns:a="http://schemas.openxmlformats.org/drawingml/2006/main" noGrp="1"/>
          </p:cNvSpPr>
          <p:nvPr/>
        </p:nvSpPr>
        <p:spPr>
          <a:xfrm xmlns:a="http://schemas.openxmlformats.org/drawingml/2006/main">
            <a:off x="1714500" y="4429125"/>
            <a:ext cx="876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0">
                <a:solidFill>
                  <a:srgbClr val="2E7D62"/>
                </a:solidFill>
                <a:latin typeface="Helvetica Neue"/>
                <a:ea typeface="Helvetica Neue"/>
                <a:cs typeface="Helvetica Neue"/>
              </a:defRPr>
            </a:pPr>
            <a:r>
              <a:rPr sz="1875" b="0">
                <a:solidFill>
                  <a:srgbClr val="2E7D62"/>
                </a:solidFill>
                <a:latin typeface="Helvetica Neue"/>
                <a:ea typeface="Helvetica Neue"/>
                <a:cs typeface="Helvetica Neue"/>
              </a:rPr>
              <a:t>Think or jot notes for 60 seconds. A fictional example is always acceptable.</a:t>
            </a:r>
          </a:p>
        </p:txBody>
      </p:sp>
      <p:sp>
        <p:nvSpPr>
          <p:cNvPr id="5" name="">
            <a:extLst xmlns:a="http://schemas.openxmlformats.org/drawingml/2006/main">
              <a:ext uri="{FF2B5EF4-FFF2-40B4-BE49-F238E27FC236}">
                <a16:creationId xmlns:a16="http://schemas.microsoft.com/office/drawing/2014/main" id="{124461D3-C143-4E27-9BF3-D9E742BDAC59}"/>
              </a:ext>
            </a:extLst>
          </p:cNvPr>
          <p:cNvSpPr>
            <a:spLocks xmlns:a="http://schemas.openxmlformats.org/drawingml/2006/main" noGrp="1"/>
          </p:cNvSpPr>
          <p:nvPr/>
        </p:nvSpPr>
        <p:spPr>
          <a:xfrm xmlns:a="http://schemas.openxmlformats.org/drawingml/2006/main">
            <a:off x="2476500" y="5286375"/>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6212B"/>
                </a:solidFill>
                <a:latin typeface="Helvetica Neue"/>
                <a:ea typeface="Helvetica Neue"/>
                <a:cs typeface="Helvetica Neue"/>
              </a:defRPr>
            </a:pPr>
            <a:r>
              <a:rPr sz="1650" b="1">
                <a:solidFill>
                  <a:srgbClr val="16212B"/>
                </a:solidFill>
                <a:latin typeface="Helvetica Neue"/>
                <a:ea typeface="Helvetica Neue"/>
                <a:cs typeface="Helvetica Neue"/>
              </a:rPr>
              <a:t>Be ready to explain one reason.</a:t>
            </a:r>
          </a:p>
        </p:txBody>
      </p:sp>
    </p:spTree>
    <p:extLst>
      <p:ext uri="{BB962C8B-B14F-4D97-AF65-F5344CB8AC3E}">
        <p14:creationId xmlns:p14="http://schemas.microsoft.com/office/powerpoint/2010/main" val="2014675759"/>
      </p:ext>
    </p:extLst>
  </p:cSld>
</p:sld>
</file>

<file path=ppt/slides/slide1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18F9B80-9AB3-4237-A8FE-D0B7EDDAEF4F}"/>
              </a:ext>
            </a:extLst>
          </p:cNvPr>
          <p:cNvSpPr>
            <a:spLocks xmlns:a="http://schemas.openxmlformats.org/drawingml/2006/main" noGrp="1"/>
          </p:cNvSpPr>
          <p:nvPr/>
        </p:nvSpPr>
        <p:spPr>
          <a:xfrm xmlns:a="http://schemas.openxmlformats.org/drawingml/2006/main">
            <a:off x="609600" y="3238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7324D"/>
                </a:solidFill>
                <a:latin typeface="Helvetica Neue"/>
                <a:ea typeface="Helvetica Neue"/>
                <a:cs typeface="Helvetica Neue"/>
              </a:defRPr>
            </a:pPr>
            <a:r>
              <a:rPr sz="2550" b="1">
                <a:solidFill>
                  <a:srgbClr val="17324D"/>
                </a:solidFill>
                <a:latin typeface="Helvetica Neue"/>
                <a:ea typeface="Helvetica Neue"/>
                <a:cs typeface="Helvetica Neue"/>
              </a:rPr>
              <a:t>Next-week brain teaser: Marketing concept</a:t>
            </a:r>
          </a:p>
        </p:txBody>
      </p:sp>
      <p:sp>
        <p:nvSpPr>
          <p:cNvPr id="2" name="">
            <a:extLst xmlns:a="http://schemas.openxmlformats.org/drawingml/2006/main">
              <a:ext uri="{FF2B5EF4-FFF2-40B4-BE49-F238E27FC236}">
                <a16:creationId xmlns:a16="http://schemas.microsoft.com/office/drawing/2014/main" id="{CCC1BD47-CB38-4CFC-83A0-A2F516CB60E5}"/>
              </a:ext>
            </a:extLst>
          </p:cNvPr>
          <p:cNvSpPr>
            <a:spLocks xmlns:a="http://schemas.openxmlformats.org/drawingml/2006/main" noGrp="1"/>
          </p:cNvSpPr>
          <p:nvPr/>
        </p:nvSpPr>
        <p:spPr>
          <a:xfrm xmlns:a="http://schemas.openxmlformats.org/drawingml/2006/main">
            <a:off x="11258550" y="43815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878B5"/>
                </a:solidFill>
                <a:latin typeface="Helvetica Neue"/>
                <a:ea typeface="Helvetica Neue"/>
                <a:cs typeface="Helvetica Neue"/>
              </a:defRPr>
            </a:pPr>
            <a:r>
              <a:rPr sz="1275" b="1">
                <a:solidFill>
                  <a:srgbClr val="2878B5"/>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2B42B17E-3082-4727-A221-035C1D58F054}"/>
              </a:ext>
            </a:extLst>
          </p:cNvPr>
          <p:cNvSpPr>
            <a:spLocks xmlns:a="http://schemas.openxmlformats.org/drawingml/2006/main" noGrp="1"/>
          </p:cNvSpPr>
          <p:nvPr/>
        </p:nvSpPr>
        <p:spPr>
          <a:xfrm xmlns:a="http://schemas.openxmlformats.org/drawingml/2006/main">
            <a:off x="1238250" y="1666875"/>
            <a:ext cx="9715500" cy="20955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7324D"/>
                </a:solidFill>
                <a:latin typeface="Helvetica Neue"/>
                <a:ea typeface="Helvetica Neue"/>
                <a:cs typeface="Helvetica Neue"/>
              </a:defRPr>
            </a:pPr>
            <a:r>
              <a:rPr sz="2550" b="1">
                <a:solidFill>
                  <a:srgbClr val="17324D"/>
                </a:solidFill>
                <a:latin typeface="Helvetica Neue"/>
                <a:ea typeface="Helvetica Neue"/>
                <a:cs typeface="Helvetica Neue"/>
              </a:rPr>
              <a:t>A business makes a popular product but ignores customer complaints. Which part of the marketing concept breaks down?</a:t>
            </a:r>
          </a:p>
        </p:txBody>
      </p:sp>
      <p:sp>
        <p:nvSpPr>
          <p:cNvPr id="4" name="">
            <a:extLst xmlns:a="http://schemas.openxmlformats.org/drawingml/2006/main">
              <a:ext uri="{FF2B5EF4-FFF2-40B4-BE49-F238E27FC236}">
                <a16:creationId xmlns:a16="http://schemas.microsoft.com/office/drawing/2014/main" id="{2AE81B00-5F55-458F-A843-367DCBE9BAE9}"/>
              </a:ext>
            </a:extLst>
          </p:cNvPr>
          <p:cNvSpPr>
            <a:spLocks xmlns:a="http://schemas.openxmlformats.org/drawingml/2006/main" noGrp="1"/>
          </p:cNvSpPr>
          <p:nvPr/>
        </p:nvSpPr>
        <p:spPr>
          <a:xfrm xmlns:a="http://schemas.openxmlformats.org/drawingml/2006/main">
            <a:off x="1714500" y="4429125"/>
            <a:ext cx="876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0">
                <a:solidFill>
                  <a:srgbClr val="2E7D62"/>
                </a:solidFill>
                <a:latin typeface="Helvetica Neue"/>
                <a:ea typeface="Helvetica Neue"/>
                <a:cs typeface="Helvetica Neue"/>
              </a:defRPr>
            </a:pPr>
            <a:r>
              <a:rPr sz="1875" b="0">
                <a:solidFill>
                  <a:srgbClr val="2E7D62"/>
                </a:solidFill>
                <a:latin typeface="Helvetica Neue"/>
                <a:ea typeface="Helvetica Neue"/>
                <a:cs typeface="Helvetica Neue"/>
              </a:rPr>
              <a:t>Think or jot notes for 60 seconds. A fictional example is always acceptable.</a:t>
            </a:r>
          </a:p>
        </p:txBody>
      </p:sp>
      <p:sp>
        <p:nvSpPr>
          <p:cNvPr id="5" name="">
            <a:extLst xmlns:a="http://schemas.openxmlformats.org/drawingml/2006/main">
              <a:ext uri="{FF2B5EF4-FFF2-40B4-BE49-F238E27FC236}">
                <a16:creationId xmlns:a16="http://schemas.microsoft.com/office/drawing/2014/main" id="{7F00D217-209B-4F62-8D3B-9073FC31291C}"/>
              </a:ext>
            </a:extLst>
          </p:cNvPr>
          <p:cNvSpPr>
            <a:spLocks xmlns:a="http://schemas.openxmlformats.org/drawingml/2006/main" noGrp="1"/>
          </p:cNvSpPr>
          <p:nvPr/>
        </p:nvSpPr>
        <p:spPr>
          <a:xfrm xmlns:a="http://schemas.openxmlformats.org/drawingml/2006/main">
            <a:off x="2476500" y="5286375"/>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6212B"/>
                </a:solidFill>
                <a:latin typeface="Helvetica Neue"/>
                <a:ea typeface="Helvetica Neue"/>
                <a:cs typeface="Helvetica Neue"/>
              </a:defRPr>
            </a:pPr>
            <a:r>
              <a:rPr sz="1650" b="1">
                <a:solidFill>
                  <a:srgbClr val="16212B"/>
                </a:solidFill>
                <a:latin typeface="Helvetica Neue"/>
                <a:ea typeface="Helvetica Neue"/>
                <a:cs typeface="Helvetica Neue"/>
              </a:rPr>
              <a:t>Be ready to explain one reason.</a:t>
            </a:r>
          </a:p>
        </p:txBody>
      </p:sp>
    </p:spTree>
    <p:extLst>
      <p:ext uri="{BB962C8B-B14F-4D97-AF65-F5344CB8AC3E}">
        <p14:creationId xmlns:p14="http://schemas.microsoft.com/office/powerpoint/2010/main" val="318264475"/>
      </p:ext>
    </p:extLst>
  </p:cSld>
</p:sld>
</file>

<file path=ppt/slides/slide1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4E76CF2-44AD-4A7A-847B-130D8FB58ABB}"/>
              </a:ext>
            </a:extLst>
          </p:cNvPr>
          <p:cNvSpPr>
            <a:spLocks xmlns:a="http://schemas.openxmlformats.org/drawingml/2006/main" noGrp="1"/>
          </p:cNvSpPr>
          <p:nvPr/>
        </p:nvSpPr>
        <p:spPr>
          <a:xfrm xmlns:a="http://schemas.openxmlformats.org/drawingml/2006/main">
            <a:off x="609600" y="3238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7324D"/>
                </a:solidFill>
                <a:latin typeface="Helvetica Neue"/>
                <a:ea typeface="Helvetica Neue"/>
                <a:cs typeface="Helvetica Neue"/>
              </a:defRPr>
            </a:pPr>
            <a:r>
              <a:rPr sz="2550" b="1">
                <a:solidFill>
                  <a:srgbClr val="17324D"/>
                </a:solidFill>
                <a:latin typeface="Helvetica Neue"/>
                <a:ea typeface="Helvetica Neue"/>
                <a:cs typeface="Helvetica Neue"/>
              </a:rPr>
              <a:t>Next-week brain teaser: Marketing mix</a:t>
            </a:r>
          </a:p>
        </p:txBody>
      </p:sp>
      <p:sp>
        <p:nvSpPr>
          <p:cNvPr id="2" name="">
            <a:extLst xmlns:a="http://schemas.openxmlformats.org/drawingml/2006/main">
              <a:ext uri="{FF2B5EF4-FFF2-40B4-BE49-F238E27FC236}">
                <a16:creationId xmlns:a16="http://schemas.microsoft.com/office/drawing/2014/main" id="{E529A42A-478D-41BD-97E9-4DE52A4FD8A8}"/>
              </a:ext>
            </a:extLst>
          </p:cNvPr>
          <p:cNvSpPr>
            <a:spLocks xmlns:a="http://schemas.openxmlformats.org/drawingml/2006/main" noGrp="1"/>
          </p:cNvSpPr>
          <p:nvPr/>
        </p:nvSpPr>
        <p:spPr>
          <a:xfrm xmlns:a="http://schemas.openxmlformats.org/drawingml/2006/main">
            <a:off x="11258550" y="43815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878B5"/>
                </a:solidFill>
                <a:latin typeface="Helvetica Neue"/>
                <a:ea typeface="Helvetica Neue"/>
                <a:cs typeface="Helvetica Neue"/>
              </a:defRPr>
            </a:pPr>
            <a:r>
              <a:rPr sz="1275" b="1">
                <a:solidFill>
                  <a:srgbClr val="2878B5"/>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5B470BF3-6972-4500-B837-703614094547}"/>
              </a:ext>
            </a:extLst>
          </p:cNvPr>
          <p:cNvSpPr>
            <a:spLocks xmlns:a="http://schemas.openxmlformats.org/drawingml/2006/main" noGrp="1"/>
          </p:cNvSpPr>
          <p:nvPr/>
        </p:nvSpPr>
        <p:spPr>
          <a:xfrm xmlns:a="http://schemas.openxmlformats.org/drawingml/2006/main">
            <a:off x="1238250" y="1666875"/>
            <a:ext cx="9715500" cy="20955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7324D"/>
                </a:solidFill>
                <a:latin typeface="Helvetica Neue"/>
                <a:ea typeface="Helvetica Neue"/>
                <a:cs typeface="Helvetica Neue"/>
              </a:defRPr>
            </a:pPr>
            <a:r>
              <a:rPr sz="2550" b="1">
                <a:solidFill>
                  <a:srgbClr val="17324D"/>
                </a:solidFill>
                <a:latin typeface="Helvetica Neue"/>
                <a:ea typeface="Helvetica Neue"/>
                <a:cs typeface="Helvetica Neue"/>
              </a:rPr>
              <a:t>A new snack sells poorly. Change one part of the marketing mix and explain how your change could help.</a:t>
            </a:r>
          </a:p>
        </p:txBody>
      </p:sp>
      <p:sp>
        <p:nvSpPr>
          <p:cNvPr id="4" name="">
            <a:extLst xmlns:a="http://schemas.openxmlformats.org/drawingml/2006/main">
              <a:ext uri="{FF2B5EF4-FFF2-40B4-BE49-F238E27FC236}">
                <a16:creationId xmlns:a16="http://schemas.microsoft.com/office/drawing/2014/main" id="{2699A286-7BE5-49D5-AA65-1027A842161B}"/>
              </a:ext>
            </a:extLst>
          </p:cNvPr>
          <p:cNvSpPr>
            <a:spLocks xmlns:a="http://schemas.openxmlformats.org/drawingml/2006/main" noGrp="1"/>
          </p:cNvSpPr>
          <p:nvPr/>
        </p:nvSpPr>
        <p:spPr>
          <a:xfrm xmlns:a="http://schemas.openxmlformats.org/drawingml/2006/main">
            <a:off x="1714500" y="4429125"/>
            <a:ext cx="876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0">
                <a:solidFill>
                  <a:srgbClr val="2E7D62"/>
                </a:solidFill>
                <a:latin typeface="Helvetica Neue"/>
                <a:ea typeface="Helvetica Neue"/>
                <a:cs typeface="Helvetica Neue"/>
              </a:defRPr>
            </a:pPr>
            <a:r>
              <a:rPr sz="1875" b="0">
                <a:solidFill>
                  <a:srgbClr val="2E7D62"/>
                </a:solidFill>
                <a:latin typeface="Helvetica Neue"/>
                <a:ea typeface="Helvetica Neue"/>
                <a:cs typeface="Helvetica Neue"/>
              </a:rPr>
              <a:t>Think or jot notes for 60 seconds. A fictional example is always acceptable.</a:t>
            </a:r>
          </a:p>
        </p:txBody>
      </p:sp>
      <p:sp>
        <p:nvSpPr>
          <p:cNvPr id="5" name="">
            <a:extLst xmlns:a="http://schemas.openxmlformats.org/drawingml/2006/main">
              <a:ext uri="{FF2B5EF4-FFF2-40B4-BE49-F238E27FC236}">
                <a16:creationId xmlns:a16="http://schemas.microsoft.com/office/drawing/2014/main" id="{58D47896-AD22-438C-9250-2BB386960E16}"/>
              </a:ext>
            </a:extLst>
          </p:cNvPr>
          <p:cNvSpPr>
            <a:spLocks xmlns:a="http://schemas.openxmlformats.org/drawingml/2006/main" noGrp="1"/>
          </p:cNvSpPr>
          <p:nvPr/>
        </p:nvSpPr>
        <p:spPr>
          <a:xfrm xmlns:a="http://schemas.openxmlformats.org/drawingml/2006/main">
            <a:off x="2476500" y="5286375"/>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6212B"/>
                </a:solidFill>
                <a:latin typeface="Helvetica Neue"/>
                <a:ea typeface="Helvetica Neue"/>
                <a:cs typeface="Helvetica Neue"/>
              </a:defRPr>
            </a:pPr>
            <a:r>
              <a:rPr sz="1650" b="1">
                <a:solidFill>
                  <a:srgbClr val="16212B"/>
                </a:solidFill>
                <a:latin typeface="Helvetica Neue"/>
                <a:ea typeface="Helvetica Neue"/>
                <a:cs typeface="Helvetica Neue"/>
              </a:rPr>
              <a:t>Be ready to explain one reason.</a:t>
            </a:r>
          </a:p>
        </p:txBody>
      </p:sp>
    </p:spTree>
    <p:extLst>
      <p:ext uri="{BB962C8B-B14F-4D97-AF65-F5344CB8AC3E}">
        <p14:creationId xmlns:p14="http://schemas.microsoft.com/office/powerpoint/2010/main" val="551078292"/>
      </p:ext>
    </p:extLst>
  </p:cSld>
</p:sld>
</file>

<file path=ppt/slides/slide1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DFB324-15D1-47C5-867E-27DAAB63EAE3}"/>
              </a:ext>
            </a:extLst>
          </p:cNvPr>
          <p:cNvSpPr>
            <a:spLocks xmlns:a="http://schemas.openxmlformats.org/drawingml/2006/main" noGrp="1"/>
          </p:cNvSpPr>
          <p:nvPr/>
        </p:nvSpPr>
        <p:spPr>
          <a:xfrm xmlns:a="http://schemas.openxmlformats.org/drawingml/2006/main">
            <a:off x="609600" y="3238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7324D"/>
                </a:solidFill>
                <a:latin typeface="Helvetica Neue"/>
                <a:ea typeface="Helvetica Neue"/>
                <a:cs typeface="Helvetica Neue"/>
              </a:defRPr>
            </a:pPr>
            <a:r>
              <a:rPr sz="2550" b="1">
                <a:solidFill>
                  <a:srgbClr val="17324D"/>
                </a:solidFill>
                <a:latin typeface="Helvetica Neue"/>
                <a:ea typeface="Helvetica Neue"/>
                <a:cs typeface="Helvetica Neue"/>
              </a:rPr>
              <a:t>Next-week brain teaser: Target market</a:t>
            </a:r>
          </a:p>
        </p:txBody>
      </p:sp>
      <p:sp>
        <p:nvSpPr>
          <p:cNvPr id="2" name="">
            <a:extLst xmlns:a="http://schemas.openxmlformats.org/drawingml/2006/main">
              <a:ext uri="{FF2B5EF4-FFF2-40B4-BE49-F238E27FC236}">
                <a16:creationId xmlns:a16="http://schemas.microsoft.com/office/drawing/2014/main" id="{F242AA2A-EAE1-48D8-88A5-A0628CFFAA54}"/>
              </a:ext>
            </a:extLst>
          </p:cNvPr>
          <p:cNvSpPr>
            <a:spLocks xmlns:a="http://schemas.openxmlformats.org/drawingml/2006/main" noGrp="1"/>
          </p:cNvSpPr>
          <p:nvPr/>
        </p:nvSpPr>
        <p:spPr>
          <a:xfrm xmlns:a="http://schemas.openxmlformats.org/drawingml/2006/main">
            <a:off x="11258550" y="43815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878B5"/>
                </a:solidFill>
                <a:latin typeface="Helvetica Neue"/>
                <a:ea typeface="Helvetica Neue"/>
                <a:cs typeface="Helvetica Neue"/>
              </a:defRPr>
            </a:pPr>
            <a:r>
              <a:rPr sz="1275" b="1">
                <a:solidFill>
                  <a:srgbClr val="2878B5"/>
                </a:solidFill>
                <a:latin typeface="Helvetica Neue"/>
                <a:ea typeface="Helvetica Neue"/>
                <a:cs typeface="Helvetica Neue"/>
              </a:rPr>
              <a:t>14</a:t>
            </a:r>
          </a:p>
        </p:txBody>
      </p:sp>
      <p:sp>
        <p:nvSpPr>
          <p:cNvPr id="3" name="">
            <a:extLst xmlns:a="http://schemas.openxmlformats.org/drawingml/2006/main">
              <a:ext uri="{FF2B5EF4-FFF2-40B4-BE49-F238E27FC236}">
                <a16:creationId xmlns:a16="http://schemas.microsoft.com/office/drawing/2014/main" id="{E28281EC-DB90-4A2F-B32B-25B7BD6527F7}"/>
              </a:ext>
            </a:extLst>
          </p:cNvPr>
          <p:cNvSpPr>
            <a:spLocks xmlns:a="http://schemas.openxmlformats.org/drawingml/2006/main" noGrp="1"/>
          </p:cNvSpPr>
          <p:nvPr/>
        </p:nvSpPr>
        <p:spPr>
          <a:xfrm xmlns:a="http://schemas.openxmlformats.org/drawingml/2006/main">
            <a:off x="1238250" y="1666875"/>
            <a:ext cx="9715500" cy="20955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7324D"/>
                </a:solidFill>
                <a:latin typeface="Helvetica Neue"/>
                <a:ea typeface="Helvetica Neue"/>
                <a:cs typeface="Helvetica Neue"/>
              </a:defRPr>
            </a:pPr>
            <a:r>
              <a:rPr sz="2550" b="1">
                <a:solidFill>
                  <a:srgbClr val="17324D"/>
                </a:solidFill>
                <a:latin typeface="Helvetica Neue"/>
                <a:ea typeface="Helvetica Neue"/>
                <a:cs typeface="Helvetica Neue"/>
              </a:rPr>
              <a:t>Two customers want different things from the same product. What information would help a business decide whom to focus on?</a:t>
            </a:r>
          </a:p>
        </p:txBody>
      </p:sp>
      <p:sp>
        <p:nvSpPr>
          <p:cNvPr id="4" name="">
            <a:extLst xmlns:a="http://schemas.openxmlformats.org/drawingml/2006/main">
              <a:ext uri="{FF2B5EF4-FFF2-40B4-BE49-F238E27FC236}">
                <a16:creationId xmlns:a16="http://schemas.microsoft.com/office/drawing/2014/main" id="{49FB0B27-5858-4964-9E13-144C3E89FC11}"/>
              </a:ext>
            </a:extLst>
          </p:cNvPr>
          <p:cNvSpPr>
            <a:spLocks xmlns:a="http://schemas.openxmlformats.org/drawingml/2006/main" noGrp="1"/>
          </p:cNvSpPr>
          <p:nvPr/>
        </p:nvSpPr>
        <p:spPr>
          <a:xfrm xmlns:a="http://schemas.openxmlformats.org/drawingml/2006/main">
            <a:off x="1714500" y="4429125"/>
            <a:ext cx="876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0">
                <a:solidFill>
                  <a:srgbClr val="2E7D62"/>
                </a:solidFill>
                <a:latin typeface="Helvetica Neue"/>
                <a:ea typeface="Helvetica Neue"/>
                <a:cs typeface="Helvetica Neue"/>
              </a:defRPr>
            </a:pPr>
            <a:r>
              <a:rPr sz="1875" b="0">
                <a:solidFill>
                  <a:srgbClr val="2E7D62"/>
                </a:solidFill>
                <a:latin typeface="Helvetica Neue"/>
                <a:ea typeface="Helvetica Neue"/>
                <a:cs typeface="Helvetica Neue"/>
              </a:rPr>
              <a:t>Think or jot notes for 60 seconds. A fictional example is always acceptable.</a:t>
            </a:r>
          </a:p>
        </p:txBody>
      </p:sp>
      <p:sp>
        <p:nvSpPr>
          <p:cNvPr id="5" name="">
            <a:extLst xmlns:a="http://schemas.openxmlformats.org/drawingml/2006/main">
              <a:ext uri="{FF2B5EF4-FFF2-40B4-BE49-F238E27FC236}">
                <a16:creationId xmlns:a16="http://schemas.microsoft.com/office/drawing/2014/main" id="{B6AB1DDA-C1A1-419D-85CE-7ADB676B7EC5}"/>
              </a:ext>
            </a:extLst>
          </p:cNvPr>
          <p:cNvSpPr>
            <a:spLocks xmlns:a="http://schemas.openxmlformats.org/drawingml/2006/main" noGrp="1"/>
          </p:cNvSpPr>
          <p:nvPr/>
        </p:nvSpPr>
        <p:spPr>
          <a:xfrm xmlns:a="http://schemas.openxmlformats.org/drawingml/2006/main">
            <a:off x="2476500" y="5286375"/>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6212B"/>
                </a:solidFill>
                <a:latin typeface="Helvetica Neue"/>
                <a:ea typeface="Helvetica Neue"/>
                <a:cs typeface="Helvetica Neue"/>
              </a:defRPr>
            </a:pPr>
            <a:r>
              <a:rPr sz="1650" b="1">
                <a:solidFill>
                  <a:srgbClr val="16212B"/>
                </a:solidFill>
                <a:latin typeface="Helvetica Neue"/>
                <a:ea typeface="Helvetica Neue"/>
                <a:cs typeface="Helvetica Neue"/>
              </a:rPr>
              <a:t>Be ready to explain one reason.</a:t>
            </a:r>
          </a:p>
        </p:txBody>
      </p:sp>
    </p:spTree>
    <p:extLst>
      <p:ext uri="{BB962C8B-B14F-4D97-AF65-F5344CB8AC3E}">
        <p14:creationId xmlns:p14="http://schemas.microsoft.com/office/powerpoint/2010/main" val="16435257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2026-09-10T04:26:34.6190000Z</dcterms:created>
  <dcterms:modified xsi:type="dcterms:W3CDTF">2026-09-10T04:26:34.6190000Z</dcterms:modified>
</coreProperties>
</file>