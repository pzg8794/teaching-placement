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4b20cb9eaf4b57" /><Relationship Type="http://schemas.openxmlformats.org/officeDocument/2006/relationships/extended-properties" Target="/docProps/app.xml" Id="R12a3df160dd54c66" /><Relationship Type="http://schemas.openxmlformats.org/officeDocument/2006/relationships/officeDocument" Target="/ppt/presentation.xml" Id="R77f200cd07324c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22e6b6dae54f32"/>
  </p:sldMasterIdLst>
  <p:notesMasterIdLst>
    <p:notesMasterId xmlns:r="http://schemas.openxmlformats.org/officeDocument/2006/relationships" r:id="Rf80b83d5a8e24673"/>
  </p:notesMasterIdLst>
  <p:sldIdLst>
    <p:sldId xmlns:r="http://schemas.openxmlformats.org/officeDocument/2006/relationships" id="256" r:id="R9adb891568614b91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4e44be4e5b4a7b" /><Relationship Type="http://schemas.openxmlformats.org/officeDocument/2006/relationships/slideMaster" Target="/ppt/slideMasters/slideMaster1.xml" Id="Re222e6b6dae54f32" /><Relationship Type="http://schemas.openxmlformats.org/officeDocument/2006/relationships/notesMaster" Target="/ppt/notesMasters/notesMaster1.xml" Id="Rf80b83d5a8e24673" /><Relationship Type="http://schemas.openxmlformats.org/officeDocument/2006/relationships/presProps" Target="/ppt/presProps.xml" Id="Rd2677d5da86b45dd" /><Relationship Type="http://schemas.openxmlformats.org/officeDocument/2006/relationships/tableStyles" Target="/ppt/tableStyles.xml" Id="R3d260070c63948c6" /><Relationship Type="http://schemas.openxmlformats.org/officeDocument/2006/relationships/slide" Target="/ppt/slides/slide1.xml" Id="R9adb891568614b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a389564e7c4d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137a57bc94431a" /><Relationship Type="http://schemas.openxmlformats.org/officeDocument/2006/relationships/notesMaster" Target="/ppt/notesMasters/notesMaster1.xml" Id="R8b85a259ae1548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09-11 Meeting_ School Opening, Classroom Norms, and Student Safety transcript, 01:25:19–01:30:47; Block 1 norms photograph captured 2026-09-11. The four norms are student-agreed language. Supporting explanations paraphrase the classroom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8182ad44f49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986955602b4c56" /><Relationship Type="http://schemas.openxmlformats.org/officeDocument/2006/relationships/slideLayout" Target="/ppt/slideLayouts/slideLayout1.xml" Id="R2169749d176b45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69749d176b45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e2cd4c8c347c0" /><Relationship Type="http://schemas.openxmlformats.org/officeDocument/2006/relationships/image" Target="/ppt/media/image.jpeg" Id="R2b1d6919dbe547b0" /><Relationship Type="http://schemas.openxmlformats.org/officeDocument/2006/relationships/notesSlide" Target="/ppt/notesSlides/notesSlide1.xml" Id="R207afe94500544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d6919dbe547b0"/>
          <a:srcRect xmlns:a="http://schemas.openxmlformats.org/drawingml/2006/main" l="41122" t="0" r="411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381250" cy="10058400"/>
          </a:xfrm>
          <a:prstGeom xmlns:a="http://schemas.openxmlformats.org/drawingml/2006/main" prst="rect">
            <a:avLst/>
          </a:prstGeom>
        </p:spPr>
      </p:pic>
      <p:sp>
        <p:nvSpPr>
          <p:cNvPr id="2" name="content-field">
            <a:extLst xmlns:a="http://schemas.openxmlformats.org/drawingml/2006/main">
              <a:ext uri="{FF2B5EF4-FFF2-40B4-BE49-F238E27FC236}">
                <a16:creationId xmlns:a16="http://schemas.microsoft.com/office/drawing/2014/main" id="{FDD66F15-8B60-4CFB-B906-2F336EF6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0"/>
            <a:ext cx="5619750" cy="1005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E8"/>
          </a:solidFill>
          <a:ln xmlns:a="http://schemas.openxmlformats.org/drawingml/2006/main" w="0">
            <a:noFill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CB6946F-BE8D-4B73-A692-7827F219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334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OUR SHARED COMMITMENT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5141D0-1088-43DA-808F-C55BD5A8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895350"/>
            <a:ext cx="4572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BLOCK 1</a:t>
            </a:r>
          </a:p>
          <a:p xmlns:a="http://schemas.openxmlformats.org/drawingml/2006/main">
            <a:pPr>
              <a:defRPr sz="3450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CLASS NORMS</a:t>
            </a:r>
          </a:p>
        </p:txBody>
      </p:sp>
      <p:sp>
        <p:nvSpPr>
          <p:cNvPr id="5" name="intro">
            <a:extLst xmlns:a="http://schemas.openxmlformats.org/drawingml/2006/main">
              <a:ext uri="{FF2B5EF4-FFF2-40B4-BE49-F238E27FC236}">
                <a16:creationId xmlns:a16="http://schemas.microsoft.com/office/drawing/2014/main" id="{6A252F38-E532-43BF-9955-55B0D1E9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33600"/>
            <a:ext cx="4343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45C6E"/>
                </a:solidFill>
                <a:latin typeface="Avenir Next"/>
                <a:ea typeface="Avenir Next"/>
                <a:cs typeface="Avenir Next"/>
              </a:defRPr>
            </a:pPr>
            <a:r>
              <a:rPr sz="1500">
                <a:solidFill>
                  <a:srgbClr val="445C6E"/>
                </a:solidFill>
                <a:latin typeface="Avenir Next"/>
                <a:ea typeface="Avenir Next"/>
                <a:cs typeface="Avenir Next"/>
              </a:rPr>
              <a:t>We created these norms together. We agree to uphold them every day.</a:t>
            </a:r>
          </a:p>
        </p:txBody>
      </p:sp>
      <p:sp>
        <p:nvSpPr>
          <p:cNvPr id="6" name="number-01">
            <a:extLst xmlns:a="http://schemas.openxmlformats.org/drawingml/2006/main">
              <a:ext uri="{FF2B5EF4-FFF2-40B4-BE49-F238E27FC236}">
                <a16:creationId xmlns:a16="http://schemas.microsoft.com/office/drawing/2014/main" id="{4E442F7A-8B6E-4BB4-9487-0713E8E8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670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label-01">
            <a:extLst xmlns:a="http://schemas.openxmlformats.org/drawingml/2006/main">
              <a:ext uri="{FF2B5EF4-FFF2-40B4-BE49-F238E27FC236}">
                <a16:creationId xmlns:a16="http://schemas.microsoft.com/office/drawing/2014/main" id="{AE5489E4-9734-4799-964A-DF60D194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28950"/>
            <a:ext cx="3848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RESPECT</a:t>
            </a:r>
          </a:p>
        </p:txBody>
      </p:sp>
      <p:sp>
        <p:nvSpPr>
          <p:cNvPr id="8" name="detail-01">
            <a:extLst xmlns:a="http://schemas.openxmlformats.org/drawingml/2006/main">
              <a:ext uri="{FF2B5EF4-FFF2-40B4-BE49-F238E27FC236}">
                <a16:creationId xmlns:a16="http://schemas.microsoft.com/office/drawing/2014/main" id="{419F3697-2C55-46EA-9E61-569DA096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48050"/>
            <a:ext cx="3733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rPr>
              <a:t>Treat people, ideas, and our shared space with care.</a:t>
            </a:r>
          </a:p>
        </p:txBody>
      </p:sp>
      <p:sp>
        <p:nvSpPr>
          <p:cNvPr id="9" name="divider-01">
            <a:extLst xmlns:a="http://schemas.openxmlformats.org/drawingml/2006/main">
              <a:ext uri="{FF2B5EF4-FFF2-40B4-BE49-F238E27FC236}">
                <a16:creationId xmlns:a16="http://schemas.microsoft.com/office/drawing/2014/main" id="{E2ADD9CA-F49A-48BB-BD1E-EEE3A6A3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33850"/>
            <a:ext cx="434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2"/>
          </a:solidFill>
          <a:ln xmlns:a="http://schemas.openxmlformats.org/drawingml/2006/main" w="0">
            <a:noFill/>
          </a:ln>
        </p:spPr>
      </p:sp>
      <p:sp>
        <p:nvSpPr>
          <p:cNvPr id="10" name="number-02">
            <a:extLst xmlns:a="http://schemas.openxmlformats.org/drawingml/2006/main">
              <a:ext uri="{FF2B5EF4-FFF2-40B4-BE49-F238E27FC236}">
                <a16:creationId xmlns:a16="http://schemas.microsoft.com/office/drawing/2014/main" id="{0F52167A-BF13-477A-B591-FA0DA377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4196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1" name="label-02">
            <a:extLst xmlns:a="http://schemas.openxmlformats.org/drawingml/2006/main">
              <a:ext uri="{FF2B5EF4-FFF2-40B4-BE49-F238E27FC236}">
                <a16:creationId xmlns:a16="http://schemas.microsoft.com/office/drawing/2014/main" id="{C09B6891-8536-4759-811F-D2983EB5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81500"/>
            <a:ext cx="3848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PRODUCTIVE</a:t>
            </a:r>
          </a:p>
        </p:txBody>
      </p:sp>
      <p:sp>
        <p:nvSpPr>
          <p:cNvPr id="12" name="detail-02">
            <a:extLst xmlns:a="http://schemas.openxmlformats.org/drawingml/2006/main">
              <a:ext uri="{FF2B5EF4-FFF2-40B4-BE49-F238E27FC236}">
                <a16:creationId xmlns:a16="http://schemas.microsoft.com/office/drawing/2014/main" id="{F5C5252D-45DC-4D75-B0E6-D7C67839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3733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rPr>
              <a:t>Use class time to do the work we agreed to do.</a:t>
            </a:r>
          </a:p>
        </p:txBody>
      </p:sp>
      <p:sp>
        <p:nvSpPr>
          <p:cNvPr id="13" name="divider-02">
            <a:extLst xmlns:a="http://schemas.openxmlformats.org/drawingml/2006/main">
              <a:ext uri="{FF2B5EF4-FFF2-40B4-BE49-F238E27FC236}">
                <a16:creationId xmlns:a16="http://schemas.microsoft.com/office/drawing/2014/main" id="{BE9DCD5A-BEC5-4004-8DE1-EE6A6CE2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86400"/>
            <a:ext cx="434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2"/>
          </a:solidFill>
          <a:ln xmlns:a="http://schemas.openxmlformats.org/drawingml/2006/main" w="0">
            <a:noFill/>
          </a:ln>
        </p:spPr>
      </p:sp>
      <p:sp>
        <p:nvSpPr>
          <p:cNvPr id="14" name="number-03">
            <a:extLst xmlns:a="http://schemas.openxmlformats.org/drawingml/2006/main">
              <a:ext uri="{FF2B5EF4-FFF2-40B4-BE49-F238E27FC236}">
                <a16:creationId xmlns:a16="http://schemas.microsoft.com/office/drawing/2014/main" id="{84F50C64-E8CC-4C10-A78C-490EF916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7721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5" name="label-03">
            <a:extLst xmlns:a="http://schemas.openxmlformats.org/drawingml/2006/main">
              <a:ext uri="{FF2B5EF4-FFF2-40B4-BE49-F238E27FC236}">
                <a16:creationId xmlns:a16="http://schemas.microsoft.com/office/drawing/2014/main" id="{F61083B2-5E78-432C-9495-0A412A3F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734050"/>
            <a:ext cx="3848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ACTIVE LISTENING</a:t>
            </a:r>
          </a:p>
        </p:txBody>
      </p:sp>
      <p:sp>
        <p:nvSpPr>
          <p:cNvPr id="16" name="detail-03">
            <a:extLst xmlns:a="http://schemas.openxmlformats.org/drawingml/2006/main">
              <a:ext uri="{FF2B5EF4-FFF2-40B4-BE49-F238E27FC236}">
                <a16:creationId xmlns:a16="http://schemas.microsoft.com/office/drawing/2014/main" id="{27CD38CC-171A-410D-9E56-9F33CEC7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153150"/>
            <a:ext cx="3733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rPr>
              <a:t>Listen, participate, and respond to one another.</a:t>
            </a:r>
          </a:p>
        </p:txBody>
      </p:sp>
      <p:sp>
        <p:nvSpPr>
          <p:cNvPr id="17" name="divider-03">
            <a:extLst xmlns:a="http://schemas.openxmlformats.org/drawingml/2006/main">
              <a:ext uri="{FF2B5EF4-FFF2-40B4-BE49-F238E27FC236}">
                <a16:creationId xmlns:a16="http://schemas.microsoft.com/office/drawing/2014/main" id="{55F19E97-2922-4366-9334-CDF3AFBF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838950"/>
            <a:ext cx="434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2"/>
          </a:solidFill>
          <a:ln xmlns:a="http://schemas.openxmlformats.org/drawingml/2006/main" w="0">
            <a:noFill/>
          </a:ln>
        </p:spPr>
      </p:sp>
      <p:sp>
        <p:nvSpPr>
          <p:cNvPr id="18" name="number-04">
            <a:extLst xmlns:a="http://schemas.openxmlformats.org/drawingml/2006/main">
              <a:ext uri="{FF2B5EF4-FFF2-40B4-BE49-F238E27FC236}">
                <a16:creationId xmlns:a16="http://schemas.microsoft.com/office/drawing/2014/main" id="{A0B26556-E48D-45DC-9FC3-23C5EBFB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7124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9" name="label-04">
            <a:extLst xmlns:a="http://schemas.openxmlformats.org/drawingml/2006/main">
              <a:ext uri="{FF2B5EF4-FFF2-40B4-BE49-F238E27FC236}">
                <a16:creationId xmlns:a16="http://schemas.microsoft.com/office/drawing/2014/main" id="{A51363F8-A166-4E51-9AD9-DC017719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7086600"/>
            <a:ext cx="3848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17324D"/>
                </a:solidFill>
                <a:latin typeface="Avenir Next"/>
                <a:ea typeface="Avenir Next"/>
                <a:cs typeface="Avenir Next"/>
              </a:rPr>
              <a:t>BE PUNCTUAL</a:t>
            </a:r>
          </a:p>
        </p:txBody>
      </p:sp>
      <p:sp>
        <p:nvSpPr>
          <p:cNvPr id="20" name="detail-04">
            <a:extLst xmlns:a="http://schemas.openxmlformats.org/drawingml/2006/main">
              <a:ext uri="{FF2B5EF4-FFF2-40B4-BE49-F238E27FC236}">
                <a16:creationId xmlns:a16="http://schemas.microsoft.com/office/drawing/2014/main" id="{602C2289-5CEE-4878-ACDC-B2B2B8CE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7505700"/>
            <a:ext cx="3733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445C6E"/>
                </a:solidFill>
                <a:latin typeface="Avenir Next"/>
                <a:ea typeface="Avenir Next"/>
                <a:cs typeface="Avenir Next"/>
              </a:rPr>
              <a:t>Arrive ready and respect everyone’s time.</a:t>
            </a:r>
          </a:p>
        </p:txBody>
      </p:sp>
      <p:sp>
        <p:nvSpPr>
          <p:cNvPr id="21" name="closing">
            <a:extLst xmlns:a="http://schemas.openxmlformats.org/drawingml/2006/main">
              <a:ext uri="{FF2B5EF4-FFF2-40B4-BE49-F238E27FC236}">
                <a16:creationId xmlns:a16="http://schemas.microsoft.com/office/drawing/2014/main" id="{30E4C23A-BF8B-400C-9335-1B7ECD1E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8782050"/>
            <a:ext cx="434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B64B35"/>
                </a:solidFill>
                <a:latin typeface="Avenir Next"/>
                <a:ea typeface="Avenir Next"/>
                <a:cs typeface="Avenir Next"/>
              </a:rPr>
              <a:t>Chosen by the students of Block 1</a:t>
            </a:r>
          </a:p>
        </p:txBody>
      </p:sp>
      <p:sp>
        <p:nvSpPr>
          <p:cNvPr id="22" name="footer">
            <a:extLst xmlns:a="http://schemas.openxmlformats.org/drawingml/2006/main">
              <a:ext uri="{FF2B5EF4-FFF2-40B4-BE49-F238E27FC236}">
                <a16:creationId xmlns:a16="http://schemas.microsoft.com/office/drawing/2014/main" id="{2A71B255-FA91-4F15-B9B0-2C4585F5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9163050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886"/>
                </a:solidFill>
                <a:latin typeface="Avenir Next"/>
                <a:ea typeface="Avenir Next"/>
                <a:cs typeface="Avenir Next"/>
              </a:defRPr>
            </a:pPr>
            <a:r>
              <a:rPr sz="1125">
                <a:solidFill>
                  <a:srgbClr val="667886"/>
                </a:solidFill>
                <a:latin typeface="Avenir Next"/>
                <a:ea typeface="Avenir Next"/>
                <a:cs typeface="Avenir Next"/>
              </a:rPr>
              <a:t>Respect everyone’s learning time, including your own.</a:t>
            </a:r>
          </a:p>
        </p:txBody>
      </p:sp>
    </p:spTree>
    <p:extLst>
      <p:ext uri="{BB962C8B-B14F-4D97-AF65-F5344CB8AC3E}">
        <p14:creationId xmlns:p14="http://schemas.microsoft.com/office/powerpoint/2010/main" val="15663255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2026-09-11T13:03:18.9560000Z</dcterms:created>
  <dcterms:modified xsi:type="dcterms:W3CDTF">2026-09-11T13:03:18.9560000Z</dcterms:modified>
</coreProperties>
</file>