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ae941126a845b6" /><Relationship Type="http://schemas.openxmlformats.org/officeDocument/2006/relationships/extended-properties" Target="/docProps/app.xml" Id="Rc1ede6faad8744d0" /><Relationship Type="http://schemas.openxmlformats.org/officeDocument/2006/relationships/officeDocument" Target="/ppt/presentation.xml" Id="R6a0b7d3f20fb4f7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52004e1ead4c00"/>
  </p:sldMasterIdLst>
  <p:notesMasterIdLst>
    <p:notesMasterId xmlns:r="http://schemas.openxmlformats.org/officeDocument/2006/relationships" r:id="R1d3ce2b4653e4645"/>
  </p:notesMasterIdLst>
  <p:sldIdLst>
    <p:sldId xmlns:r="http://schemas.openxmlformats.org/officeDocument/2006/relationships" id="256" r:id="Rcbbdce6ecd344ca8"/>
  </p:sldIdLst>
  <p:sldSz cx="7772400" cy="10058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92d82ccfdf4249" /><Relationship Type="http://schemas.openxmlformats.org/officeDocument/2006/relationships/slideMaster" Target="/ppt/slideMasters/slideMaster1.xml" Id="Rbb52004e1ead4c00" /><Relationship Type="http://schemas.openxmlformats.org/officeDocument/2006/relationships/notesMaster" Target="/ppt/notesMasters/notesMaster1.xml" Id="R1d3ce2b4653e4645" /><Relationship Type="http://schemas.openxmlformats.org/officeDocument/2006/relationships/presProps" Target="/ppt/presProps.xml" Id="R1051e2c63bf6424a" /><Relationship Type="http://schemas.openxmlformats.org/officeDocument/2006/relationships/tableStyles" Target="/ppt/tableStyles.xml" Id="R49d3d77ec4b44abb" /><Relationship Type="http://schemas.openxmlformats.org/officeDocument/2006/relationships/slide" Target="/ppt/slides/slide1.xml" Id="Rcbbdce6ecd344ca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fbb678cc4b54c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2b63b7c62041aa" /><Relationship Type="http://schemas.openxmlformats.org/officeDocument/2006/relationships/notesMaster" Target="/ppt/notesMasters/notesMaster1.xml" Id="R3133e63070a2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09-11 Lecture_ Classroom Professionalism and Course Management transcript; Planning_ Course Scheduling and Curriculum Outline transcript; Block 4 brainstorm photograph supplied 2026-09-11. The four norm labels and supporting student-idea words come from the class discussion and photographed brainstorm, polished only for length and readability. UDL design choices: each norm appears as a word, a plain-language action example, a student-generated keyword line, and an inclusive visual vignette. The poster uses high contrast, large sans-serif type, consistent order, and descriptive image alt text. The handwritten source photo informed the content but is intentionally not displayed.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b770e18ba40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92ca569a7e4019" /><Relationship Type="http://schemas.openxmlformats.org/officeDocument/2006/relationships/slideLayout" Target="/ppt/slideLayouts/slideLayout1.xml" Id="R19600d3e097d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00d3e097d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ea9dc78d241a3" /><Relationship Type="http://schemas.openxmlformats.org/officeDocument/2006/relationships/image" Target="/ppt/media/image.png" Id="R43a27b5e2ff14db7" /><Relationship Type="http://schemas.openxmlformats.org/officeDocument/2006/relationships/image" Target="/ppt/media/image2.png" Id="Raa009099344b4add" /><Relationship Type="http://schemas.openxmlformats.org/officeDocument/2006/relationships/image" Target="/ppt/media/image3.png" Id="Rde797ca4aac847a7" /><Relationship Type="http://schemas.openxmlformats.org/officeDocument/2006/relationships/image" Target="/ppt/media/image4.png" Id="Ra7afd5e439454965" /><Relationship Type="http://schemas.openxmlformats.org/officeDocument/2006/relationships/notesSlide" Target="/ppt/notesSlides/notesSlide1.xml" Id="R37fe4264fac541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op-accent">
            <a:extLst xmlns:a="http://schemas.openxmlformats.org/drawingml/2006/main">
              <a:ext uri="{FF2B5EF4-FFF2-40B4-BE49-F238E27FC236}">
                <a16:creationId xmlns:a16="http://schemas.microsoft.com/office/drawing/2014/main" id="{AE6F31F5-C679-44D2-BAD3-4725D80D7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772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E37"/>
          </a:solidFill>
          <a:ln xmlns:a="http://schemas.openxmlformats.org/drawingml/2006/main" w="0">
            <a:noFill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91ECE93D-8698-41D7-9ACB-EA035A6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OUR SHARED COMMITMENT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EFAB07-A9F9-4572-9656-A43A089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6775"/>
            <a:ext cx="6819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BLOCK 5 CLASS NORMS</a:t>
            </a:r>
          </a:p>
        </p:txBody>
      </p:sp>
      <p:sp>
        <p:nvSpPr>
          <p:cNvPr id="4" name="intro">
            <a:extLst xmlns:a="http://schemas.openxmlformats.org/drawingml/2006/main">
              <a:ext uri="{FF2B5EF4-FFF2-40B4-BE49-F238E27FC236}">
                <a16:creationId xmlns:a16="http://schemas.microsoft.com/office/drawing/2014/main" id="{A0EC54C0-A3CD-4273-A570-9B3E7E5E2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3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We created these norms together. Each picture and example shows what they can look like in class.</a:t>
            </a:r>
          </a:p>
        </p:txBody>
      </p:sp>
      <p:pic>
        <p:nvPicPr>
          <p:cNvPr id="34" name="Punctual visual" descr="A diverse group of students arrives before class and sits with materials ready while a wall clock shows class is about to begi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27b5e2ff14d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23431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6" name="number-01">
            <a:extLst xmlns:a="http://schemas.openxmlformats.org/drawingml/2006/main">
              <a:ext uri="{FF2B5EF4-FFF2-40B4-BE49-F238E27FC236}">
                <a16:creationId xmlns:a16="http://schemas.microsoft.com/office/drawing/2014/main" id="{B5B95E88-8639-4736-ACE0-9E3D08DD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3717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label-01">
            <a:extLst xmlns:a="http://schemas.openxmlformats.org/drawingml/2006/main">
              <a:ext uri="{FF2B5EF4-FFF2-40B4-BE49-F238E27FC236}">
                <a16:creationId xmlns:a16="http://schemas.microsoft.com/office/drawing/2014/main" id="{73A091E9-F974-4BBA-84BB-902AC385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READY</a:t>
            </a:r>
          </a:p>
        </p:txBody>
      </p:sp>
      <p:sp>
        <p:nvSpPr>
          <p:cNvPr id="8" name="detail-01">
            <a:extLst xmlns:a="http://schemas.openxmlformats.org/drawingml/2006/main">
              <a:ext uri="{FF2B5EF4-FFF2-40B4-BE49-F238E27FC236}">
                <a16:creationId xmlns:a16="http://schemas.microsoft.com/office/drawing/2014/main" id="{32ECE655-9340-4A37-8B2A-DA8C3AD4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146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Arrive prepared, on time, and ready to begin.</a:t>
            </a:r>
          </a:p>
        </p:txBody>
      </p:sp>
      <p:sp>
        <p:nvSpPr>
          <p:cNvPr id="9" name="student-ideas-01">
            <a:extLst xmlns:a="http://schemas.openxmlformats.org/drawingml/2006/main">
              <a:ext uri="{FF2B5EF4-FFF2-40B4-BE49-F238E27FC236}">
                <a16:creationId xmlns:a16="http://schemas.microsoft.com/office/drawing/2014/main" id="{30FAEAF2-CA0E-4FDD-8A82-12C9C33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On time, accountable, prepared, dependable.</a:t>
            </a:r>
          </a:p>
        </p:txBody>
      </p:sp>
      <p:sp>
        <p:nvSpPr>
          <p:cNvPr id="10" name="divider-01">
            <a:extLst xmlns:a="http://schemas.openxmlformats.org/drawingml/2006/main">
              <a:ext uri="{FF2B5EF4-FFF2-40B4-BE49-F238E27FC236}">
                <a16:creationId xmlns:a16="http://schemas.microsoft.com/office/drawing/2014/main" id="{23261580-D430-4601-9248-D92E88D66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242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0" name="Productive visual" descr="A student works independently at an organized desk, using a laptop, notebook, and simple checklist to complete a task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09099344b4ad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39433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2" name="number-02">
            <a:extLst xmlns:a="http://schemas.openxmlformats.org/drawingml/2006/main">
              <a:ext uri="{FF2B5EF4-FFF2-40B4-BE49-F238E27FC236}">
                <a16:creationId xmlns:a16="http://schemas.microsoft.com/office/drawing/2014/main" id="{5E64313B-11F5-4C76-A31D-06D08F2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9719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label-02">
            <a:extLst xmlns:a="http://schemas.openxmlformats.org/drawingml/2006/main">
              <a:ext uri="{FF2B5EF4-FFF2-40B4-BE49-F238E27FC236}">
                <a16:creationId xmlns:a16="http://schemas.microsoft.com/office/drawing/2014/main" id="{3E2FF73D-FDE8-4D27-84AE-CB1D310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052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COMMUNICATE</a:t>
            </a:r>
          </a:p>
        </p:txBody>
      </p:sp>
      <p:sp>
        <p:nvSpPr>
          <p:cNvPr id="14" name="detail-02">
            <a:extLst xmlns:a="http://schemas.openxmlformats.org/drawingml/2006/main">
              <a:ext uri="{FF2B5EF4-FFF2-40B4-BE49-F238E27FC236}">
                <a16:creationId xmlns:a16="http://schemas.microsoft.com/office/drawing/2014/main" id="{FE26DB9B-A90C-425E-970D-3DEE540D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3148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Listen actively and speak clearly, kindly, and professionally.</a:t>
            </a:r>
          </a:p>
        </p:txBody>
      </p:sp>
      <p:sp>
        <p:nvSpPr>
          <p:cNvPr id="15" name="student-ideas-02">
            <a:extLst xmlns:a="http://schemas.openxmlformats.org/drawingml/2006/main">
              <a:ext uri="{FF2B5EF4-FFF2-40B4-BE49-F238E27FC236}">
                <a16:creationId xmlns:a16="http://schemas.microsoft.com/office/drawing/2014/main" id="{4B323A13-AACC-4572-9E64-FDEFEA0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339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Communication, customer service, respectful, transparent.</a:t>
            </a:r>
          </a:p>
        </p:txBody>
      </p:sp>
      <p:sp>
        <p:nvSpPr>
          <p:cNvPr id="16" name="divider-02">
            <a:extLst xmlns:a="http://schemas.openxmlformats.org/drawingml/2006/main">
              <a:ext uri="{FF2B5EF4-FFF2-40B4-BE49-F238E27FC236}">
                <a16:creationId xmlns:a16="http://schemas.microsoft.com/office/drawing/2014/main" id="{681DF149-14C7-407E-BB9F-BE8D24881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244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46" name="Respectful visual" descr="Three diverse students take turns in a calm discussion, listen patiently, and respond kindly. One student uses a wheelchair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97ca4aac847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55435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18" name="number-03">
            <a:extLst xmlns:a="http://schemas.openxmlformats.org/drawingml/2006/main">
              <a:ext uri="{FF2B5EF4-FFF2-40B4-BE49-F238E27FC236}">
                <a16:creationId xmlns:a16="http://schemas.microsoft.com/office/drawing/2014/main" id="{21B61791-295F-4626-BD4B-F663C5A6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5721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label-03">
            <a:extLst xmlns:a="http://schemas.openxmlformats.org/drawingml/2006/main">
              <a:ext uri="{FF2B5EF4-FFF2-40B4-BE49-F238E27FC236}">
                <a16:creationId xmlns:a16="http://schemas.microsoft.com/office/drawing/2014/main" id="{BA0D1667-43B4-41EC-915E-0192BAA5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5054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PRODUCTIVE</a:t>
            </a:r>
          </a:p>
        </p:txBody>
      </p:sp>
      <p:sp>
        <p:nvSpPr>
          <p:cNvPr id="20" name="detail-03">
            <a:extLst xmlns:a="http://schemas.openxmlformats.org/drawingml/2006/main">
              <a:ext uri="{FF2B5EF4-FFF2-40B4-BE49-F238E27FC236}">
                <a16:creationId xmlns:a16="http://schemas.microsoft.com/office/drawing/2014/main" id="{DB348D51-5459-4640-BA7F-AE2163FD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9150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Stay focused, use your time well, and complete your work.</a:t>
            </a:r>
          </a:p>
        </p:txBody>
      </p:sp>
      <p:sp>
        <p:nvSpPr>
          <p:cNvPr id="21" name="student-ideas-03">
            <a:extLst xmlns:a="http://schemas.openxmlformats.org/drawingml/2006/main">
              <a:ext uri="{FF2B5EF4-FFF2-40B4-BE49-F238E27FC236}">
                <a16:creationId xmlns:a16="http://schemas.microsoft.com/office/drawing/2014/main" id="{378E5AEE-2E2D-446B-AFA3-35E96CAB3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63341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Productive, self-driven, focused, complete work on time.</a:t>
            </a:r>
          </a:p>
        </p:txBody>
      </p:sp>
      <p:sp>
        <p:nvSpPr>
          <p:cNvPr id="22" name="divider-03">
            <a:extLst xmlns:a="http://schemas.openxmlformats.org/drawingml/2006/main">
              <a:ext uri="{FF2B5EF4-FFF2-40B4-BE49-F238E27FC236}">
                <a16:creationId xmlns:a16="http://schemas.microsoft.com/office/drawing/2014/main" id="{1EDEE17A-3E84-457C-A72E-3F2B667144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924675"/>
            <a:ext cx="678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FC0"/>
          </a:solidFill>
          <a:ln xmlns:a="http://schemas.openxmlformats.org/drawingml/2006/main" w="0">
            <a:noFill/>
          </a:ln>
        </p:spPr>
      </p:sp>
      <p:pic>
        <p:nvPicPr>
          <p:cNvPr id="52" name="Teamwork and communication visual" descr="Four culturally diverse students collaborate on one project. One uses a tablet with picture symbols to support communication.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fd5e4394549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7143750"/>
            <a:ext cx="1200150" cy="1200150"/>
          </a:xfrm>
          <a:prstGeom xmlns:a="http://schemas.openxmlformats.org/drawingml/2006/main" prst="roundRect">
            <a:avLst>
              <a:gd name="adj" fmla="val 9524"/>
            </a:avLst>
          </a:prstGeom>
        </p:spPr>
      </p:pic>
      <p:sp>
        <p:nvSpPr>
          <p:cNvPr id="24" name="number-04">
            <a:extLst xmlns:a="http://schemas.openxmlformats.org/drawingml/2006/main">
              <a:ext uri="{FF2B5EF4-FFF2-40B4-BE49-F238E27FC236}">
                <a16:creationId xmlns:a16="http://schemas.microsoft.com/office/drawing/2014/main" id="{99E05400-43A6-45B9-8811-BF781646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7172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label-04">
            <a:extLst xmlns:a="http://schemas.openxmlformats.org/drawingml/2006/main">
              <a:ext uri="{FF2B5EF4-FFF2-40B4-BE49-F238E27FC236}">
                <a16:creationId xmlns:a16="http://schemas.microsoft.com/office/drawing/2014/main" id="{20ECAB11-2EE9-4AC0-9E97-0AA6BD6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105650"/>
            <a:ext cx="483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7324D"/>
                </a:solidFill>
                <a:latin typeface="Avenir Next"/>
                <a:ea typeface="Avenir Next"/>
                <a:cs typeface="Avenir Next"/>
              </a:rPr>
              <a:t>TEAMWORK</a:t>
            </a:r>
          </a:p>
        </p:txBody>
      </p:sp>
      <p:sp>
        <p:nvSpPr>
          <p:cNvPr id="26" name="detail-04">
            <a:extLst xmlns:a="http://schemas.openxmlformats.org/drawingml/2006/main">
              <a:ext uri="{FF2B5EF4-FFF2-40B4-BE49-F238E27FC236}">
                <a16:creationId xmlns:a16="http://schemas.microsoft.com/office/drawing/2014/main" id="{03E20515-5EE0-4E26-A724-9B555FB5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5152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275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Work well with others and adjust when challenges arise.</a:t>
            </a:r>
          </a:p>
        </p:txBody>
      </p:sp>
      <p:sp>
        <p:nvSpPr>
          <p:cNvPr id="27" name="student-ideas-04">
            <a:extLst xmlns:a="http://schemas.openxmlformats.org/drawingml/2006/main">
              <a:ext uri="{FF2B5EF4-FFF2-40B4-BE49-F238E27FC236}">
                <a16:creationId xmlns:a16="http://schemas.microsoft.com/office/drawing/2014/main" id="{94F3F860-9B45-4447-AFDD-EF3701F6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934325"/>
            <a:ext cx="4762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defRPr>
            </a:pPr>
            <a:r>
              <a:rPr sz="1013" b="1">
                <a:solidFill>
                  <a:srgbClr val="7A4B3C"/>
                </a:solidFill>
                <a:latin typeface="Avenir Next"/>
                <a:ea typeface="Avenir Next"/>
                <a:cs typeface="Avenir Next"/>
              </a:rPr>
              <a:t>Student ideas: Teamwork, kind, flexible, problem-solver, work under pressure.</a:t>
            </a:r>
          </a:p>
        </p:txBody>
      </p:sp>
      <p:sp>
        <p:nvSpPr>
          <p:cNvPr id="28" name="closing">
            <a:extLst xmlns:a="http://schemas.openxmlformats.org/drawingml/2006/main">
              <a:ext uri="{FF2B5EF4-FFF2-40B4-BE49-F238E27FC236}">
                <a16:creationId xmlns:a16="http://schemas.microsoft.com/office/drawing/2014/main" id="{C41A4FE4-2E0E-4B63-9DA7-384F1824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77300"/>
            <a:ext cx="678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963824"/>
                </a:solidFill>
                <a:latin typeface="Avenir Next"/>
                <a:ea typeface="Avenir Next"/>
                <a:cs typeface="Avenir Next"/>
              </a:rPr>
              <a:t>Chosen by the students of Block 5</a:t>
            </a:r>
          </a:p>
        </p:txBody>
      </p:sp>
      <p:sp>
        <p:nvSpPr>
          <p:cNvPr id="29" name="footer">
            <a:extLst xmlns:a="http://schemas.openxmlformats.org/drawingml/2006/main">
              <a:ext uri="{FF2B5EF4-FFF2-40B4-BE49-F238E27FC236}">
                <a16:creationId xmlns:a16="http://schemas.microsoft.com/office/drawing/2014/main" id="{86100452-E6C5-4531-A39A-8F7FEE87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296400"/>
            <a:ext cx="6781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defRPr>
            </a:pPr>
            <a:r>
              <a:rPr sz="1050">
                <a:solidFill>
                  <a:srgbClr val="4B6071"/>
                </a:solidFill>
                <a:latin typeface="Avenir Next"/>
                <a:ea typeface="Avenir Next"/>
                <a:cs typeface="Avenir Next"/>
              </a:rPr>
              <a:t>Words, examples, and pictures offer different ways to understand our agreement.</a:t>
            </a:r>
          </a:p>
        </p:txBody>
      </p:sp>
    </p:spTree>
    <p:extLst>
      <p:ext uri="{BB962C8B-B14F-4D97-AF65-F5344CB8AC3E}">
        <p14:creationId xmlns:p14="http://schemas.microsoft.com/office/powerpoint/2010/main" val="966877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2026-09-11T15:54:10.7160000Z</dcterms:created>
  <dcterms:modified xsi:type="dcterms:W3CDTF">2026-09-11T15:54:10.7160000Z</dcterms:modified>
</coreProperties>
</file>