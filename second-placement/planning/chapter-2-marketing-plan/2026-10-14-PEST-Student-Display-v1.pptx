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6fd33e36204b45" /><Relationship Type="http://schemas.openxmlformats.org/officeDocument/2006/relationships/extended-properties" Target="/docProps/app.xml" Id="Rf2b5f787e775464f" /><Relationship Type="http://schemas.openxmlformats.org/officeDocument/2006/relationships/officeDocument" Target="/ppt/presentation.xml" Id="R69fad0d6c90143c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da1614e82e4c18"/>
  </p:sldMasterIdLst>
  <p:notesMasterIdLst>
    <p:notesMasterId xmlns:r="http://schemas.openxmlformats.org/officeDocument/2006/relationships" r:id="Rdaded09d628b471f"/>
  </p:notesMasterIdLst>
  <p:sldIdLst>
    <p:sldId xmlns:r="http://schemas.openxmlformats.org/officeDocument/2006/relationships" id="256" r:id="R2a357a7539b34c79"/>
    <p:sldId xmlns:r="http://schemas.openxmlformats.org/officeDocument/2006/relationships" id="257" r:id="R4147265315894585"/>
    <p:sldId xmlns:r="http://schemas.openxmlformats.org/officeDocument/2006/relationships" id="258" r:id="R35a9766850384836"/>
    <p:sldId xmlns:r="http://schemas.openxmlformats.org/officeDocument/2006/relationships" id="259" r:id="R870881bf82c14048"/>
    <p:sldId xmlns:r="http://schemas.openxmlformats.org/officeDocument/2006/relationships" id="260" r:id="R5754f21323804625"/>
    <p:sldId xmlns:r="http://schemas.openxmlformats.org/officeDocument/2006/relationships" id="261" r:id="R1d4b0e4b70784880"/>
    <p:sldId xmlns:r="http://schemas.openxmlformats.org/officeDocument/2006/relationships" id="262" r:id="R4d86725de96a4725"/>
    <p:sldId xmlns:r="http://schemas.openxmlformats.org/officeDocument/2006/relationships" id="263" r:id="R6a6ab4de0dc24c74"/>
    <p:sldId xmlns:r="http://schemas.openxmlformats.org/officeDocument/2006/relationships" id="264" r:id="Ra150f6f2f2c248cc"/>
    <p:sldId xmlns:r="http://schemas.openxmlformats.org/officeDocument/2006/relationships" id="265" r:id="R963e124827654551"/>
    <p:sldId xmlns:r="http://schemas.openxmlformats.org/officeDocument/2006/relationships" id="266" r:id="R321b214908e04c87"/>
    <p:sldId xmlns:r="http://schemas.openxmlformats.org/officeDocument/2006/relationships" id="267" r:id="Rcd4ab5439fd447d8"/>
    <p:sldId xmlns:r="http://schemas.openxmlformats.org/officeDocument/2006/relationships" id="268" r:id="Ra96f73154499487c"/>
    <p:sldId xmlns:r="http://schemas.openxmlformats.org/officeDocument/2006/relationships" id="269" r:id="R8f24fea795a24d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8c73317b0248ed" /><Relationship Type="http://schemas.openxmlformats.org/officeDocument/2006/relationships/slideMaster" Target="/ppt/slideMasters/slideMaster1.xml" Id="Rc2da1614e82e4c18" /><Relationship Type="http://schemas.openxmlformats.org/officeDocument/2006/relationships/notesMaster" Target="/ppt/notesMasters/notesMaster1.xml" Id="Rdaded09d628b471f" /><Relationship Type="http://schemas.openxmlformats.org/officeDocument/2006/relationships/presProps" Target="/ppt/presProps.xml" Id="Rf3b520ba1bfe4806" /><Relationship Type="http://schemas.openxmlformats.org/officeDocument/2006/relationships/tableStyles" Target="/ppt/tableStyles.xml" Id="R3aed0d40382f46b6" /><Relationship Type="http://schemas.openxmlformats.org/officeDocument/2006/relationships/slide" Target="/ppt/slides/slide1.xml" Id="R2a357a7539b34c79" /><Relationship Type="http://schemas.openxmlformats.org/officeDocument/2006/relationships/slide" Target="/ppt/slides/slide2.xml" Id="R4147265315894585" /><Relationship Type="http://schemas.openxmlformats.org/officeDocument/2006/relationships/slide" Target="/ppt/slides/slide3.xml" Id="R35a9766850384836" /><Relationship Type="http://schemas.openxmlformats.org/officeDocument/2006/relationships/slide" Target="/ppt/slides/slide4.xml" Id="R870881bf82c14048" /><Relationship Type="http://schemas.openxmlformats.org/officeDocument/2006/relationships/slide" Target="/ppt/slides/slide5.xml" Id="R5754f21323804625" /><Relationship Type="http://schemas.openxmlformats.org/officeDocument/2006/relationships/slide" Target="/ppt/slides/slide6.xml" Id="R1d4b0e4b70784880" /><Relationship Type="http://schemas.openxmlformats.org/officeDocument/2006/relationships/slide" Target="/ppt/slides/slide7.xml" Id="R4d86725de96a4725" /><Relationship Type="http://schemas.openxmlformats.org/officeDocument/2006/relationships/slide" Target="/ppt/slides/slide8.xml" Id="R6a6ab4de0dc24c74" /><Relationship Type="http://schemas.openxmlformats.org/officeDocument/2006/relationships/slide" Target="/ppt/slides/slide9.xml" Id="Ra150f6f2f2c248cc" /><Relationship Type="http://schemas.openxmlformats.org/officeDocument/2006/relationships/slide" Target="/ppt/slides/slide10.xml" Id="R963e124827654551" /><Relationship Type="http://schemas.openxmlformats.org/officeDocument/2006/relationships/slide" Target="/ppt/slides/slide11.xml" Id="R321b214908e04c87" /><Relationship Type="http://schemas.openxmlformats.org/officeDocument/2006/relationships/slide" Target="/ppt/slides/slide12.xml" Id="Rcd4ab5439fd447d8" /><Relationship Type="http://schemas.openxmlformats.org/officeDocument/2006/relationships/slide" Target="/ppt/slides/slide13.xml" Id="Ra96f73154499487c" /><Relationship Type="http://schemas.openxmlformats.org/officeDocument/2006/relationships/slide" Target="/ppt/slides/slide14.xml" Id="R8f24fea795a24d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efa95ef5ef41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96b0d65a2f40a5" /><Relationship Type="http://schemas.openxmlformats.org/officeDocument/2006/relationships/notesMaster" Target="/ppt/notesMasters/notesMaster1.xml" Id="Ra26edf9715e449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0292f329714273" /><Relationship Type="http://schemas.openxmlformats.org/officeDocument/2006/relationships/notesMaster" Target="/ppt/notesMasters/notesMaster1.xml" Id="Rd1635cb93aa54d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cb9b7964a594155" /><Relationship Type="http://schemas.openxmlformats.org/officeDocument/2006/relationships/notesMaster" Target="/ppt/notesMasters/notesMaster1.xml" Id="R4354f2a3577b45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c6b7837e384bc8" /><Relationship Type="http://schemas.openxmlformats.org/officeDocument/2006/relationships/notesMaster" Target="/ppt/notesMasters/notesMaster1.xml" Id="R4d724ba86f1447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5a7ffae6c14959" /><Relationship Type="http://schemas.openxmlformats.org/officeDocument/2006/relationships/notesMaster" Target="/ppt/notesMasters/notesMaster1.xml" Id="Ra0fd8d72f98940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a859d5c0f44843" /><Relationship Type="http://schemas.openxmlformats.org/officeDocument/2006/relationships/notesMaster" Target="/ppt/notesMasters/notesMaster1.xml" Id="R516490fb789f40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c1c98d9f324b60" /><Relationship Type="http://schemas.openxmlformats.org/officeDocument/2006/relationships/notesMaster" Target="/ppt/notesMasters/notesMaster1.xml" Id="R6976b2f43e764af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8510a80ffd4fa4" /><Relationship Type="http://schemas.openxmlformats.org/officeDocument/2006/relationships/notesMaster" Target="/ppt/notesMasters/notesMaster1.xml" Id="Rc524fb5de55141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50b5f1faba441db" /><Relationship Type="http://schemas.openxmlformats.org/officeDocument/2006/relationships/notesMaster" Target="/ppt/notesMasters/notesMaster1.xml" Id="R2eca4da679074a8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6caccb8e3c42f7" /><Relationship Type="http://schemas.openxmlformats.org/officeDocument/2006/relationships/notesMaster" Target="/ppt/notesMasters/notesMaster1.xml" Id="Rce32c63dd7ea4e7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b3a408364364bd9" /><Relationship Type="http://schemas.openxmlformats.org/officeDocument/2006/relationships/notesMaster" Target="/ppt/notesMasters/notesMaster1.xml" Id="R7e8b866e5b7c4ef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0ee945f45c441b2" /><Relationship Type="http://schemas.openxmlformats.org/officeDocument/2006/relationships/notesMaster" Target="/ppt/notesMasters/notesMaster1.xml" Id="R7a4764a7e263453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7bb29a920d44b7" /><Relationship Type="http://schemas.openxmlformats.org/officeDocument/2006/relationships/notesMaster" Target="/ppt/notesMasters/notesMaster1.xml" Id="Rc59a849d0340490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66474c45e644073" /><Relationship Type="http://schemas.openxmlformats.org/officeDocument/2006/relationships/notesMaster" Target="/ppt/notesMasters/notesMaster1.xml" Id="R2990191e41294d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“Today you will use PEST to explain how outside changes affect a business you choose.”</a:t>
            </a:r>
          </a:p>
          <a:p xmlns:a="http://schemas.openxmlformats.org/drawingml/2006/main">
            <a:r>
              <a:t>DO: Display the agenda, distribute the sheet, and identify the target.</a:t>
            </a:r>
          </a:p>
          <a:p xmlns:a="http://schemas.openxmlformats.org/drawingml/2006/main">
            <a:r>
              <a:t>CHECK: Students know that PEST concerns external influences, not the four 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“We will complete one PEST section at a time. I will tell you when to move.”</a:t>
            </a:r>
          </a:p>
          <a:p xmlns:a="http://schemas.openxmlformats.org/drawingml/2006/main">
            <a:r>
              <a:t>DO: Keep the introduction within five minutes, including the short model.</a:t>
            </a:r>
          </a:p>
          <a:p xmlns:a="http://schemas.openxmlformats.org/drawingml/2006/main">
            <a:r>
              <a:t>NOTE: 3–5 + 2 + 12 + 5 =22–24, leaving 6–8 minutes. If discussion runs longer, reduce buffer rather than claiming work finished.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“A 3 shows complete, accurate application. A 4 explains a deeper decision and why it makes sense. More words alone do not earn a 4.”</a:t>
            </a:r>
          </a:p>
          <a:p xmlns:a="http://schemas.openxmlformats.org/drawingml/2006/main">
            <a:r>
              <a:t>CHECK WITH PAT: Confirm these descriptors and whether this is formative or graded before announcing them as final. No automatic averaging, bonuses, or conversion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“Use business terms and explain because. A list of words does not yet show why a business is affected.”</a:t>
            </a:r>
          </a:p>
          <a:p xmlns:a="http://schemas.openxmlformats.org/drawingml/2006/main">
            <a:r>
              <a:t>DO: Read directions aloud and accept a spoken rehearsal before writing.</a:t>
            </a:r>
          </a:p>
          <a:p xmlns:a="http://schemas.openxmlformats.org/drawingml/2006/main">
            <a:r>
              <a:t>ASSESS: Understanding, not spelling, handwriting, accent, speed, or decorative work. Access support alone never reduces a level. Insufficient evidence is separate from level 1; confirm IE and overall-score handling with Pat.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changed outside the business? Which letter fits? What could be positive and negative for this shop?”</a:t>
            </a:r>
          </a:p>
          <a:p xmlns:a="http://schemas.openxmlformats.org/drawingml/2006/main">
            <a:r>
              <a:t>DO: Wait5–10seconds; invite a spoken or written response. Do not pre-answer students’ own chosen businesses.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“The factor is government regulation. One possible positive impact is customer trust. What might the cost be?”</a:t>
            </a:r>
          </a:p>
          <a:p xmlns:a="http://schemas.openxmlformats.org/drawingml/2006/main">
            <a:r>
              <a:t>DO: Pause before the next click. Explain these are possible consequences, not guarantees.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“The same external change can create an opportunity and a cost. Your example must explain why.”</a:t>
            </a:r>
          </a:p>
          <a:p xmlns:a="http://schemas.openxmlformats.org/drawingml/2006/main">
            <a:r>
              <a:t>DO: Model only this one factor, then let students apply the other categories.</a:t>
            </a:r>
          </a:p>
          <a:p xmlns:a="http://schemas.openxmlformats.org/drawingml/2006/main">
            <a:r>
              <a:t>RESPONSE: The shop could train staff and plan for compliance costs. This is an internal response to an external factor.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“Choose a business you understand and name its target market. Who buys from it, and what do they want?”</a:t>
            </a:r>
          </a:p>
          <a:p xmlns:a="http://schemas.openxmlformats.org/drawingml/2006/main">
            <a:r>
              <a:t>DO: Start a 2-minute timer. If stuck, offer a familiar business category such as a cafe, shoe shop, or digital-book service.</a:t>
            </a:r>
          </a:p>
          <a:p xmlns:a="http://schemas.openxmlformats.org/drawingml/2006/main">
            <a:r>
              <a:t>CHECK: Business and target market both recorded.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rule or policy could affect this business?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economic change could affect costs or demand?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change in the customers or community could affect demand?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“What outside technology change could affect access, service, or competition? Give a connected example and explain both possible impacts.”</a:t>
            </a:r>
          </a:p>
          <a:p xmlns:a="http://schemas.openxmlformats.org/drawingml/2006/main">
            <a:r>
              <a:t>DO: Read the category cue, start a 3-minute timer, stand at a deliberate scan point.</a:t>
            </a:r>
          </a:p>
          <a:p xmlns:a="http://schemas.openxmlformats.org/drawingml/2006/main">
            <a:r>
              <a:t>LISTEN FOR: External factor, category fit, effect on this business or target market, because reasoning.</a:t>
            </a:r>
          </a:p>
          <a:p xmlns:a="http://schemas.openxmlformats.org/drawingml/2006/main">
            <a:r>
              <a:t>IF WEAK: Ask “What changed outside the business? What happens to costs, customers, or access?” Model a question, not their answer.</a:t>
            </a:r>
          </a:p>
          <a:p xmlns:a="http://schemas.openxmlformats.org/drawingml/2006/main">
            <a:r>
              <a:t>IF STRONG: Ask which impact matters most and why.</a:t>
            </a:r>
          </a:p>
          <a:p xmlns:a="http://schemas.openxmlformats.org/drawingml/2006/main">
            <a:r>
              <a:t>CHECK: Do not classify the business’s own ad, discount, or new app decision as the external factor.</a:t>
            </a:r>
          </a:p>
          <a:p xmlns:a="http://schemas.openxmlformats.org/drawingml/2006/main">
            <a:r>
              <a:t>PAIR MOVE: Give each partner a brief turn to explain an impact before recording the shared answer. Rotate roles at the next category.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“Connect the analysis to a business decision. Which opportunity would you use? Which risk would you address? Why?”</a:t>
            </a:r>
          </a:p>
          <a:p xmlns:a="http://schemas.openxmlformats.org/drawingml/2006/main">
            <a:r>
              <a:t>DO: Invite2–4 complete sentences as a planning guide, not a scored word count. Students may orally rehearse first.</a:t>
            </a:r>
          </a:p>
          <a:p xmlns:a="http://schemas.openxmlformats.org/drawingml/2006/main">
            <a:r>
              <a:t>CHECK: Responses follow from their own factors, not generic advice.</a:t>
            </a:r>
          </a:p>
          <a:p xmlns:a="http://schemas.openxmlformats.org/drawingml/2006/main">
            <a:r>
              <a:t>EXTEND: Compare priorities or two interacting factors and justify a trade-off.</a:t>
            </a:r>
          </a:p>
          <a:p xmlns:a="http://schemas.openxmlformats.org/drawingml/2006/main">
            <a:r>
              <a:t>PAIR CHECK: Both partners can explain the agreed business response.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SAY: “Check each section. Circle a place where you explained why. Use remaining time to practise the approved Terms to Know.”</a:t>
            </a:r>
          </a:p>
          <a:p xmlns:a="http://schemas.openxmlformats.org/drawingml/2006/main">
            <a:r>
              <a:t>DO: Record separate Block 1 and Block 5 stops.</a:t>
            </a:r>
          </a:p>
          <a:p xmlns:a="http://schemas.openxmlformats.org/drawingml/2006/main">
            <a:r>
              <a:t>OPEN: Confirm quiz scope, collection route, how pair evidence will be assessed, and grading with Pat. Do not invent a deadline.</a:t>
            </a:r>
          </a:p>
          <a:p xmlns:a="http://schemas.openxmlformats.org/drawingml/2006/main">
            <a:r>
              <a:t>RECORD: Block 1 stop/support needed __ ; Block 5 stop/support needed __.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Principles of Marketing, Chapter 2, printed pp.19–20, Figure2.1. Activity/timing: Piter reconstructed October13 notes and whiteboard reference. Grading descriptors: proposed for SBTE approval, not established school scoring policy. Images: generated hypothetical coffee-shop scenarios, not actual events.</a:t>
            </a:r>
          </a:p>
          <a:p xmlns:a="http://schemas.openxmlformats.org/drawingml/2006/main">
            <a:r>
              <a:t>Pair structure: Piter explicitly confirmed October13.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d7f3a317d845c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8d90eccaf341c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93b47a69c9483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008b30a0e54e0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84d94bb1f240f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225a4a55ae43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A20E713-4782-4C1A-A083-CE7083D364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D1DBADE-5929-4D5A-863E-E9B67257819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70088EA-190B-4914-A233-3E0DF2B76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00B259-43DB-436C-AA8E-BA7D5EA07C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0DD1FC6-85C2-4B18-84C8-532A79A5282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4D1CF49-5FEF-4A0A-A859-43EFF3A9DB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E5E36AD-2C5E-4684-91BF-5F1EA1E6F1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848FA44-35A3-4614-8995-D8B752586E0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46F89F2-DCD0-44EC-84F3-BDA184B313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DB4A20-6870-4C53-8680-4963E4B2B7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a42a31231440b6" /><Relationship Type="http://schemas.openxmlformats.org/officeDocument/2006/relationships/slideLayout" Target="/ppt/slideLayouts/slideLayout1.xml" Id="R7d14757e35754f66" /><Relationship Type="http://schemas.openxmlformats.org/officeDocument/2006/relationships/slideLayout" Target="/ppt/slideLayouts/slideLayout2.xml" Id="R9c25089851144538" /><Relationship Type="http://schemas.openxmlformats.org/officeDocument/2006/relationships/slideLayout" Target="/ppt/slideLayouts/slideLayout3.xml" Id="Raed4e7d77c94476b" /><Relationship Type="http://schemas.openxmlformats.org/officeDocument/2006/relationships/slideLayout" Target="/ppt/slideLayouts/slideLayout4.xml" Id="R7ab63cd110b44180" /><Relationship Type="http://schemas.openxmlformats.org/officeDocument/2006/relationships/slideLayout" Target="/ppt/slideLayouts/slideLayout5.xml" Id="R45f788f3502b4ae5" /><Relationship Type="http://schemas.openxmlformats.org/officeDocument/2006/relationships/slideLayout" Target="/ppt/slideLayouts/slideLayout6.xml" Id="Rd2389181d40048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14757e35754f66"/>
    <p:sldLayoutId xmlns:r="http://schemas.openxmlformats.org/officeDocument/2006/relationships" id="2147483650" r:id="R9c25089851144538"/>
    <p:sldLayoutId xmlns:r="http://schemas.openxmlformats.org/officeDocument/2006/relationships" id="2147483651" r:id="Raed4e7d77c94476b"/>
    <p:sldLayoutId xmlns:r="http://schemas.openxmlformats.org/officeDocument/2006/relationships" id="2147483652" r:id="R7ab63cd110b44180"/>
    <p:sldLayoutId xmlns:r="http://schemas.openxmlformats.org/officeDocument/2006/relationships" id="2147483653" r:id="R45f788f3502b4ae5"/>
    <p:sldLayoutId xmlns:r="http://schemas.openxmlformats.org/officeDocument/2006/relationships" id="2147483654" r:id="Rd2389181d40048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f4c2f6dd964c27" /><Relationship Type="http://schemas.openxmlformats.org/officeDocument/2006/relationships/image" Target="/ppt/media/image.png" Id="R1742da4edbfd4496" /><Relationship Type="http://schemas.openxmlformats.org/officeDocument/2006/relationships/notesSlide" Target="/ppt/notesSlides/notesSlide1.xml" Id="Rab18510f18f549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e9723504fb4750" /><Relationship Type="http://schemas.openxmlformats.org/officeDocument/2006/relationships/notesSlide" Target="/ppt/notesSlides/notesSlide2.xml" Id="Raef83b53d85642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2b212260c44952" /><Relationship Type="http://schemas.openxmlformats.org/officeDocument/2006/relationships/notesSlide" Target="/ppt/notesSlides/notesSlide3.xml" Id="Rab1ef860053546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ac6edcde4844ef" /><Relationship Type="http://schemas.openxmlformats.org/officeDocument/2006/relationships/notesSlide" Target="/ppt/notesSlides/notesSlide4.xml" Id="R5b8db3d3c9644f7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242e42587e4f40" /><Relationship Type="http://schemas.openxmlformats.org/officeDocument/2006/relationships/image" Target="/ppt/media/image2.png" Id="Re85660bebae94853" /><Relationship Type="http://schemas.openxmlformats.org/officeDocument/2006/relationships/notesSlide" Target="/ppt/notesSlides/notesSlide5.xml" Id="R3883fb0807224c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e9b6e0fb014876" /><Relationship Type="http://schemas.openxmlformats.org/officeDocument/2006/relationships/image" Target="/ppt/media/image3.png" Id="R226ba0f376094682" /><Relationship Type="http://schemas.openxmlformats.org/officeDocument/2006/relationships/notesSlide" Target="/ppt/notesSlides/notesSlide6.xml" Id="Rf57556302c7146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b45564aa3e432b" /><Relationship Type="http://schemas.openxmlformats.org/officeDocument/2006/relationships/image" Target="/ppt/media/image4.png" Id="R74c52ab1c1f04042" /><Relationship Type="http://schemas.openxmlformats.org/officeDocument/2006/relationships/notesSlide" Target="/ppt/notesSlides/notesSlide7.xml" Id="R023557c6f62047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d1e08728364b55" /><Relationship Type="http://schemas.openxmlformats.org/officeDocument/2006/relationships/notesSlide" Target="/ppt/notesSlides/notesSlide8.xml" Id="R91fb2b3b5acd4f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e134237534496e" /><Relationship Type="http://schemas.openxmlformats.org/officeDocument/2006/relationships/image" Target="/ppt/media/image5.png" Id="Rf09f68cc39d640da" /><Relationship Type="http://schemas.openxmlformats.org/officeDocument/2006/relationships/notesSlide" Target="/ppt/notesSlides/notesSlide9.xml" Id="R37c740fcd3b4426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5377a242244f0f" /><Relationship Type="http://schemas.openxmlformats.org/officeDocument/2006/relationships/image" Target="/ppt/media/image6.png" Id="R314c93ca031e4669" /><Relationship Type="http://schemas.openxmlformats.org/officeDocument/2006/relationships/notesSlide" Target="/ppt/notesSlides/notesSlide10.xml" Id="Rf734b084ceba4d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763a4a2ed94760" /><Relationship Type="http://schemas.openxmlformats.org/officeDocument/2006/relationships/image" Target="/ppt/media/image7.png" Id="Rd76a9d6a9e96487b" /><Relationship Type="http://schemas.openxmlformats.org/officeDocument/2006/relationships/notesSlide" Target="/ppt/notesSlides/notesSlide11.xml" Id="Rad72e42bae6243d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f0630cbf084c21" /><Relationship Type="http://schemas.openxmlformats.org/officeDocument/2006/relationships/image" Target="/ppt/media/image8.png" Id="R926fd8b2bc2b4b65" /><Relationship Type="http://schemas.openxmlformats.org/officeDocument/2006/relationships/notesSlide" Target="/ppt/notesSlides/notesSlide12.xml" Id="R89ec2df05fc0429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190ec333d34824" /><Relationship Type="http://schemas.openxmlformats.org/officeDocument/2006/relationships/notesSlide" Target="/ppt/notesSlides/notesSlide13.xml" Id="Rd8e391f56c78425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c7b7b4c4bf4b37" /><Relationship Type="http://schemas.openxmlformats.org/officeDocument/2006/relationships/notesSlide" Target="/ppt/notesSlides/notesSlide14.xml" Id="R18e3831be4724f80" /></Relationships>
</file>

<file path=ppt/slides/slide1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FA746D88-743D-4E96-904A-752076791726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PEST analysis for your business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8DE7A51B-0D96-4F07-A87A-B334B6E66196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30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7F354892-4D91-4BB9-8E7B-32EB5F79BBB3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Work with a partner.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Choose one business together. Explain how outside changes could help or hurt it.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9BF74C79-C010-4EF1-9695-A4A517669DD7}"/>
              </ns1:ext>
            </ns1:extLst>
          </p:cNvPr>
          <p:cNvPicPr>
            <ns1:picLocks noChangeAspect="1"/>
          </p:cNvPicPr>
          <p:nvPr/>
        </p:nvPicPr>
        <p:blipFill>
          <ns1:blip ns3:embed="R1742da4edbfd4496"/>
          <ns1:stretch/>
        </p:blipFill>
        <p:spPr>
          <ns1:xfrm>
            <ns1:off x="7715250" y="2455109"/>
            <ns1:ext cx="3714750" cy="2090658"/>
          </ns1:xfrm>
          <ns1:prstGeom prst="rect">
            <ns1:avLst/>
          </ns1:prstGeom>
        </p:spPr>
      </p:pic>
    </p:spTree>
    <p:extLst>
      <p:ext uri="{BB962C8B-B14F-4D97-AF65-F5344CB8AC3E}">
        <ns4:creationId val="1627391219"/>
      </p:ext>
    </p:extLst>
  </p:cSld>
  <p:transition spd="fast" advClick="1">
    <p:fade/>
  </p:transition>
</p:sld>
</file>

<file path=ppt/slides/slide2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D6E40497-DC13-470F-ADB1-C6F0AAFBA466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Activity sequence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67195164-1409-41F8-BE16-9F2110DCA6C0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A 30-minute planning window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D4E4F769-C9AB-4000-AB74-AE71DD5DD142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Instructions and grading: 3–5 min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and target market: 2 min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 / E / S / T: 3 min each = 12 min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summary: 5 min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Buffer and Terms to Know: 6–8 min</ns1:t>
            </ns1:r>
          </ns1:p>
        </p:txBody>
      </p:sp>
    </p:spTree>
    <p:extLst>
      <p:ext uri="{BB962C8B-B14F-4D97-AF65-F5344CB8AC3E}">
        <ns3:creationId val="122039525"/>
      </p:ext>
    </p:extLst>
  </p:cSld>
  <p:transition spd="fast" advClick="1">
    <p:fade/>
  </p:transition>
</p:sld>
</file>

<file path=ppt/slides/slide3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 show="0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199DC56B-CA54-46F1-80FC-61A71590BC32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Proficiency and deeper reasoning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6F8AD659-399A-442A-884A-026AF2E9D237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Proposed grading for SBTE review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18833022-E54F-4D3C-9630-E3CB9814A9A3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3  Proficient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Accurate PEST categories, relevant examples, + and − impacts explained in complete thoughts, and a clear business response.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4  Exceeds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Meets level 3 and independently explains a justified priority, trade-off, or connection between factors.</ns1:t>
            </ns1:r>
          </ns1:p>
        </p:txBody>
      </p:sp>
    </p:spTree>
    <p:extLst>
      <p:ext uri="{BB962C8B-B14F-4D97-AF65-F5344CB8AC3E}">
        <ns3:creationId val="1826299412"/>
      </p:ext>
    </p:extLst>
  </p:cSld>
  <p:transition spd="fast" advClick="1">
    <p:fade/>
  </p:transition>
</p:sld>
</file>

<file path=ppt/slides/slide4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 show="0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DA5A1169-6DDC-4607-B327-95220964C945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Developing understanding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3D36EEEC-7BB0-4ED7-80C1-0166F2A688FD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Explain the impact, not just a keyword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75C5FC81-2880-46A2-A739-2F40A682D228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2  Developing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Some relevant ideas, but impacts or business connections are incomplete or unclear.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1  Initial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Limited relevant evidence so far; substantial support needed to explain the effects.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Use your textbook and notes. Ask for clarification.</ns1:t>
            </ns1:r>
          </ns1:p>
        </p:txBody>
      </p:sp>
    </p:spTree>
    <p:extLst>
      <p:ext uri="{BB962C8B-B14F-4D97-AF65-F5344CB8AC3E}">
        <ns3:creationId val="2001397048"/>
      </p:ext>
    </p:extLst>
  </p:cSld>
  <p:transition spd="fast" advClick="1">
    <p:fade/>
  </p:transition>
</p:sld>
</file>

<file path=ppt/slides/slide5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E6A86B7D-064B-4743-8A6E-6CA34E6840C0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One hypothetical example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A1B2C2AD-7666-4CCA-B0B1-E7141C32BFA7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Think first; answers appear on the next clicks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4F328E2E-72ED-48F0-BD4E-F6FC6C7CEB6F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 coffee shop faces stricter food-safety rules.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Which PEST category fits?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could help the business?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could create a difficulty?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4A4386E3-D42B-40A1-ADCF-BA880C51F752}"/>
              </ns1:ext>
            </ns1:extLst>
          </p:cNvPr>
          <p:cNvPicPr>
            <ns1:picLocks noChangeAspect="1"/>
          </p:cNvPicPr>
          <p:nvPr/>
        </p:nvPicPr>
        <p:blipFill>
          <ns1:blip ns3:embed="Re85660bebae94853"/>
          <ns1:srcRect l="0" t="0" r="7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504296203"/>
      </p:ext>
    </p:extLst>
  </p:cSld>
  <p:transition spd="fast" advClick="1">
    <p:fade/>
  </p:transition>
</p:sld>
</file>

<file path=ppt/slides/slide6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09FAB3FF-E275-4716-8BE2-5DBDF5F70760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Political influence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13F1F002-428B-4CA8-B1A2-4C70B2F1A99F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First reveal: category and positive impact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3011DC9F-104B-4145-BEAE-4047E4B2CA3D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Stricter food-safety rules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+ Customers may trust a shop that demonstrates compliance.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− What possible cost could the shop face?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3FBB707A-4B4B-4034-A6D6-02039C18705B}"/>
              </ns1:ext>
            </ns1:extLst>
          </p:cNvPr>
          <p:cNvPicPr>
            <ns1:picLocks noChangeAspect="1"/>
          </p:cNvPicPr>
          <p:nvPr/>
        </p:nvPicPr>
        <p:blipFill>
          <ns1:blip ns3:embed="R226ba0f376094682"/>
          <ns1:srcRect l="0" t="0" r="7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89759448"/>
      </p:ext>
    </p:extLst>
  </p:cSld>
  <p:transition spd="fast" advClick="1">
    <p:fade/>
  </p:transition>
</p:sld>
</file>

<file path=ppt/slides/slide7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7E8F0C12-DA42-4401-9EB2-676E27745581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Political influence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FCCD61CF-A0CA-4704-8A71-A590B6FBE78E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Second reveal: negative impact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DA8D8A89-D59B-48AA-BBAA-2B67A8CAB94F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Stricter food-safety rules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+ Compliance may strengthen customer trust.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− Training and equipment may increase operating costs.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DACD15E7-7B40-499E-BC02-425939150285}"/>
              </ns1:ext>
            </ns1:extLst>
          </p:cNvPr>
          <p:cNvPicPr>
            <ns1:picLocks noChangeAspect="1"/>
          </p:cNvPicPr>
          <p:nvPr/>
        </p:nvPicPr>
        <p:blipFill>
          <ns1:blip ns3:embed="R74c52ab1c1f04042"/>
          <ns1:srcRect l="0" t="0" r="7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681407591"/>
      </p:ext>
    </p:extLst>
  </p:cSld>
  <p:transition spd="fast" advClick="1">
    <p:fade/>
  </p:transition>
</p:sld>
</file>

<file path=ppt/slides/slide8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4D6A567C-1679-4BFE-825D-723AC11AF1C4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and target market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6D61BD9B-40F5-41B7-9419-1250B2533445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2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8546FEA5-888F-4BC7-8219-C2FE7686EB22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Choose one business together.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Write both names and the target market.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One partner explains; the other records.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Switch roles for each PEST category.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Both partners contribute reasoning.</ns1:t>
            </ns1:r>
          </ns1:p>
        </p:txBody>
      </p:sp>
    </p:spTree>
    <p:extLst>
      <p:ext uri="{BB962C8B-B14F-4D97-AF65-F5344CB8AC3E}">
        <ns3:creationId val="371576695"/>
      </p:ext>
    </p:extLst>
  </p:cSld>
  <p:transition spd="fast" advClick="1">
    <p:fade/>
  </p:transition>
</p:sld>
</file>

<file path=ppt/slides/slide9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EDD13B19-825B-4B78-A909-E30DADD3FE37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245B8A"/>
                </ns1:solidFill>
                <ns1:latin typeface="Helvetica Neue"/>
                <ns1:ea typeface="Helvetica Neue"/>
                <ns1:cs typeface="Helvetica Neue"/>
              </ns1:rPr>
              <ns1:t>P  Political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1EFC77B5-8925-44EE-AF11-F20C053C2727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957D9CCD-7F0A-4EA6-BA82-BD329239B988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Government policies, laws, or intervention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outside rule or policy could affect this business?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Together: factor/example, + and − impacts.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why. Switch explainer/recorder.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71C529A2-F02B-43D4-B80E-31B3D64DD046}"/>
              </ns1:ext>
            </ns1:extLst>
          </p:cNvPr>
          <p:cNvPicPr>
            <ns1:picLocks noChangeAspect="1"/>
          </p:cNvPicPr>
          <p:nvPr/>
        </p:nvPicPr>
        <p:blipFill>
          <ns1:blip ns3:embed="Rf09f68cc39d640da"/>
          <ns1:srcRect l="0" t="0" r="7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1132497145"/>
      </p:ext>
    </p:extLst>
  </p:cSld>
  <p:transition spd="fast" advClick="1">
    <p:fade/>
  </p:transition>
</p:sld>
</file>

<file path=ppt/slides/slide10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E048022E-30FE-468B-98E9-508E53DA46AF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E  Economic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FA9DA6C1-5103-4A1E-94E4-CCDFA15EEEAA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C80EEDC5-5025-44CB-A525-E722DB4A14AC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Inflation, consumer income, exchange rates, or credit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outside economic change could affect costs or demand?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Together: factor/example, + and − impacts.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why. Switch explainer/recorder.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5B51397F-0CA8-44AE-9929-FF5EAA49894A}"/>
              </ns1:ext>
            </ns1:extLst>
          </p:cNvPr>
          <p:cNvPicPr>
            <ns1:picLocks noChangeAspect="1"/>
          </p:cNvPicPr>
          <p:nvPr/>
        </p:nvPicPr>
        <p:blipFill>
          <ns1:blip ns3:embed="R314c93ca031e4669"/>
          <ns1:srcRect l="25000" t="0" r="50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1216606265"/>
      </p:ext>
    </p:extLst>
  </p:cSld>
  <p:transition spd="fast" advClick="1">
    <p:fade/>
  </p:transition>
</p:sld>
</file>

<file path=ppt/slides/slide11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81034187-27B3-4D55-82EA-4AAD4533B1E3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765091"/>
                </ns1:solidFill>
                <ns1:latin typeface="Helvetica Neue"/>
                <ns1:ea typeface="Helvetica Neue"/>
                <ns1:cs typeface="Helvetica Neue"/>
              </ns1:rPr>
              <ns1:t>S  Social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592735D8-1EB8-4CAC-A1E6-22D9CF341655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E3BD310E-7BB8-4436-A9CF-A744BF0CF747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Population, education, social patterns, or preferences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change in the customers or community could affect demand?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Together: factor/example, + and − impacts.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why. Switch explainer/recorder.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CC1B3073-1C73-484C-A5D9-0C44BAD13B95}"/>
              </ns1:ext>
            </ns1:extLst>
          </p:cNvPr>
          <p:cNvPicPr>
            <ns1:picLocks noChangeAspect="1"/>
          </p:cNvPicPr>
          <p:nvPr/>
        </p:nvPicPr>
        <p:blipFill>
          <ns1:blip ns3:embed="Rd76a9d6a9e96487b"/>
          <ns1:srcRect l="50000" t="0" r="2500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909805178"/>
      </p:ext>
    </p:extLst>
  </p:cSld>
  <p:transition spd="fast" advClick="1">
    <p:fade/>
  </p:transition>
</p:sld>
</file>

<file path=ppt/slides/slide12.xml><?xml version="1.0" encoding="utf-8"?>
<p:sld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5" name="">
            <ns1:extLst>
              <ns1:ext uri="{FF2B5EF4-FFF2-40B4-BE49-F238E27FC236}">
                <ns2:creationId id="{8764B58D-C858-48A1-8E32-1BA2B3B0B2BF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B35722"/>
                </ns1:solidFill>
                <ns1:latin typeface="Helvetica Neue"/>
                <ns1:ea typeface="Helvetica Neue"/>
                <ns1:cs typeface="Helvetica Neue"/>
              </ns1:rPr>
              <ns1:t>T  Technological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1F65D969-E48D-46AF-967E-28637BE5EF91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3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EDCEDDB6-F308-4719-B9BB-767053AA92D6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6524625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Access to technology or the rate of technological change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What outside technology change could affect access, service, or competition?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Together: factor/example, + and − impacts.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why. Switch explainer/recorder.</ns1:t>
            </ns1:r>
          </ns1:p>
        </p:txBody>
      </p:sp>
      <p:pic>
        <p:nvPicPr>
          <p:cNvPr id="4" name="">
            <ns1:extLst>
              <ns1:ext uri="{FF2B5EF4-FFF2-40B4-BE49-F238E27FC236}">
                <ns2:creationId id="{C800F9D0-AC04-458F-B81A-4671325615DC}"/>
              </ns1:ext>
            </ns1:extLst>
          </p:cNvPr>
          <p:cNvPicPr>
            <ns1:picLocks noChangeAspect="1"/>
          </p:cNvPicPr>
          <p:nvPr/>
        </p:nvPicPr>
        <p:blipFill>
          <ns1:blip ns3:embed="R926fd8b2bc2b4b65"/>
          <ns1:srcRect l="75000" t="0" r="0" b="0"/>
          <ns1:stretch/>
        </p:blipFill>
        <p:spPr>
          <ns1:xfrm>
            <ns1:off x="8334375" y="1571625"/>
            <ns1:ext cx="1762125" cy="3857625"/>
          </ns1:xfrm>
          <ns1:prstGeom prst="rect">
            <ns1:avLst/>
          </ns1:prstGeom>
        </p:spPr>
      </p:pic>
    </p:spTree>
    <p:extLst>
      <p:ext uri="{BB962C8B-B14F-4D97-AF65-F5344CB8AC3E}">
        <ns4:creationId val="489954246"/>
      </p:ext>
    </p:extLst>
  </p:cSld>
  <p:transition spd="fast" advClick="1">
    <p:fade/>
  </p:transition>
</p:sld>
</file>

<file path=ppt/slides/slide13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6F994E3B-AFEB-45C2-8FB7-5775EA9098CA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summary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C110A4BE-FE57-42B7-8BE2-492BD576916F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5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8A72D9CE-2A71-45F0-8696-008BD15C875C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How could your PEST findings affect the business’s potential success?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How would the business use a positive impact?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How would it respond to a negative impact?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Explain the reason for each response.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Agree on your response together.</ns1:t>
            </ns1:r>
          </ns1:p>
        </p:txBody>
      </p:sp>
    </p:spTree>
    <p:extLst>
      <p:ext uri="{BB962C8B-B14F-4D97-AF65-F5344CB8AC3E}">
        <ns3:creationId val="1512648161"/>
      </p:ext>
    </p:extLst>
  </p:cSld>
  <p:transition spd="fast" advClick="1">
    <p:fade/>
  </p:transition>
</p:sld>
</file>

<file path=ppt/slides/slide14.xml><?xml version="1.0" encoding="utf-8"?>
<p:sld xmlns:ns1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ns1:solidFill>
          <ns1:srgbClr val="FAF7EF"/>
        </ns1:solidFill>
      </p:bgPr>
    </p:bg>
    <p:spTree>
      <p:nvGrpSpPr>
        <p:cNvPr id="1" name=""/>
        <p:cNvGrpSpPr/>
        <p:nvPr/>
      </p:nvGrpSpPr>
      <p:grpSpPr>
        <ns1:xfrm/>
      </p:grpSpPr>
      <p:sp>
        <p:nvSpPr>
          <p:cNvPr id="4" name="">
            <ns1:extLst>
              <ns1:ext uri="{FF2B5EF4-FFF2-40B4-BE49-F238E27FC236}">
                <ns2:creationId id="{53A3AA67-6852-4527-BB75-87B5EFD59011}"/>
              </ns1:ext>
            </ns1:extLst>
          </p:cNvPr>
          <p:cNvSpPr>
            <ns1:spLocks noGrp="1"/>
          </p:cNvSpPr>
          <p:nvPr/>
        </p:nvSpPr>
        <p:spPr>
          <ns1:xfrm>
            <ns1:off x="619125" y="419100"/>
            <ns1:ext cx="10572750" cy="8001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3300" b="1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Completion check and Terms to Know</ns1:t>
            </ns1:r>
          </ns1:p>
        </p:txBody>
      </p:sp>
      <p:sp>
        <p:nvSpPr>
          <p:cNvPr id="2" name="">
            <ns1:extLst>
              <ns1:ext uri="{FF2B5EF4-FFF2-40B4-BE49-F238E27FC236}">
                <ns2:creationId id="{887C0757-945A-48C8-94FE-B78CAA4767D1}"/>
              </ns1:ext>
            </ns1:extLst>
          </p:cNvPr>
          <p:cNvSpPr>
            <ns1:spLocks noGrp="1"/>
          </p:cNvSpPr>
          <p:nvPr/>
        </p:nvSpPr>
        <p:spPr>
          <ns1:xfrm>
            <ns1:off x="619125" y="6124575"/>
            <ns1:ext cx="10572750" cy="34290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1800" b="1">
                <ns1:solidFill>
                  <ns1:srgbClr val="147D80"/>
                </ns1:solidFill>
                <ns1:latin typeface="Helvetica Neue"/>
                <ns1:ea typeface="Helvetica Neue"/>
                <ns1:cs typeface="Helvetica Neue"/>
              </ns1:rPr>
              <ns1:t>Remaining 6–8 minutes</ns1:t>
            </ns1:r>
          </ns1:p>
        </p:txBody>
      </p:sp>
      <p:sp>
        <p:nvSpPr>
          <p:cNvPr id="3" name="">
            <ns1:extLst>
              <ns1:ext uri="{FF2B5EF4-FFF2-40B4-BE49-F238E27FC236}">
                <ns2:creationId id="{CB1EA5B4-6704-4CFC-B63B-9F04973A7EEC}"/>
              </ns1:ext>
            </ns1:extLst>
          </p:cNvPr>
          <p:cNvSpPr>
            <ns1:spLocks noGrp="1"/>
          </p:cNvSpPr>
          <p:nvPr/>
        </p:nvSpPr>
        <p:spPr>
          <ns1:xfrm>
            <ns1:off x="619125" y="1581150"/>
            <ns1:ext cx="10572750" cy="4286250"/>
          </ns1:xfrm>
          <ns1:prstGeom prst="rect">
            <ns1:avLst/>
          </ns1:prstGeom>
          <ns1:noFill/>
          <ns1:ln w="0">
            <ns1:noFill/>
          </ns1:ln>
        </p:spPr>
        <p:txBody>
          <ns1:bodyPr/>
          <ns1:lstStyle>
            <ns1:def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defPPr>
          </ns1:lstStyle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Business and target market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All four PEST sections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Connected examples and explained + / − impacts</ns1:t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Summary with business responses</ns1:t>
            </ns1:r>
          </ns1:p>
          <ns1:p>
            <ns1:r>
              <ns1:t/>
            </ns1:r>
          </ns1:p>
          <ns1:p>
            <ns1:pPr>
              <ns1:def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defRPr>
            </ns1:pPr>
            <ns1:r>
              <ns1:rPr sz="2325" b="0">
                <ns1:solidFill>
                  <ns1:srgbClr val="142C40"/>
                </ns1:solidFill>
                <ns1:latin typeface="Helvetica Neue"/>
                <ns1:ea typeface="Helvetica Neue"/>
                <ns1:cs typeface="Helvetica Neue"/>
              </ns1:rPr>
              <ns1:t>Then practise Terms to Know for Thursday’s quiz.</ns1:t>
            </ns1:r>
          </ns1:p>
        </p:txBody>
      </p:sp>
    </p:spTree>
    <p:extLst>
      <p:ext uri="{BB962C8B-B14F-4D97-AF65-F5344CB8AC3E}">
        <ns3:creationId val="1772914780"/>
      </p:ext>
    </p:extLst>
  </p:cSld>
  <p:transition spd="fast" advClick="1">
    <p:fade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2026-10-13T13:31:15.3300000Z</dcterms:created>
  <dcterms:modified xsi:type="dcterms:W3CDTF">2026-10-13T13:31:15.3300000Z</dcterms:modified>
</coreProperties>
</file>