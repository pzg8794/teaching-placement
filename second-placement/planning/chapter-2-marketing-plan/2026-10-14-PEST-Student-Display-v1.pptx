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edb614eaacb426f" /><Relationship Type="http://schemas.openxmlformats.org/officeDocument/2006/relationships/extended-properties" Target="/docProps/app.xml" Id="R57b2a19d1ca743ca" /><Relationship Type="http://schemas.openxmlformats.org/officeDocument/2006/relationships/officeDocument" Target="/ppt/presentation.xml" Id="R4515b428b3d9494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b8384fdc1504878"/>
  </p:sldMasterIdLst>
  <p:notesMasterIdLst>
    <p:notesMasterId xmlns:r="http://schemas.openxmlformats.org/officeDocument/2006/relationships" r:id="Rb90ac6ad0f7a488a"/>
  </p:notesMasterIdLst>
  <p:sldIdLst>
    <p:sldId xmlns:r="http://schemas.openxmlformats.org/officeDocument/2006/relationships" id="256" r:id="Re453895943fe4ca7"/>
    <p:sldId xmlns:r="http://schemas.openxmlformats.org/officeDocument/2006/relationships" id="257" r:id="R941ac212f63b4975"/>
    <p:sldId xmlns:r="http://schemas.openxmlformats.org/officeDocument/2006/relationships" id="258" r:id="R555fcbb4ba2540c4"/>
    <p:sldId xmlns:r="http://schemas.openxmlformats.org/officeDocument/2006/relationships" id="259" r:id="R42b6491396944c90"/>
    <p:sldId xmlns:r="http://schemas.openxmlformats.org/officeDocument/2006/relationships" id="260" r:id="Reecd16ae3132496a"/>
    <p:sldId xmlns:r="http://schemas.openxmlformats.org/officeDocument/2006/relationships" id="261" r:id="R92c3760757e54b03"/>
    <p:sldId xmlns:r="http://schemas.openxmlformats.org/officeDocument/2006/relationships" id="262" r:id="R0856c7336ba24d0b"/>
    <p:sldId xmlns:r="http://schemas.openxmlformats.org/officeDocument/2006/relationships" id="263" r:id="R9cc5af7a449c45ec"/>
    <p:sldId xmlns:r="http://schemas.openxmlformats.org/officeDocument/2006/relationships" id="264" r:id="Ra11d632b8887413f"/>
    <p:sldId xmlns:r="http://schemas.openxmlformats.org/officeDocument/2006/relationships" id="265" r:id="R109192bf61b147a1"/>
    <p:sldId xmlns:r="http://schemas.openxmlformats.org/officeDocument/2006/relationships" id="266" r:id="Ra4ba9a8baaab40cd"/>
    <p:sldId xmlns:r="http://schemas.openxmlformats.org/officeDocument/2006/relationships" id="267" r:id="Rca9a2d5bc9374dbf"/>
    <p:sldId xmlns:r="http://schemas.openxmlformats.org/officeDocument/2006/relationships" id="268" r:id="R7254a93164304e00"/>
    <p:sldId xmlns:r="http://schemas.openxmlformats.org/officeDocument/2006/relationships" id="269" r:id="R56a2dabe5cf2477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d46ae264fbd456c" /><Relationship Type="http://schemas.openxmlformats.org/officeDocument/2006/relationships/slideMaster" Target="/ppt/slideMasters/slideMaster1.xml" Id="R6b8384fdc1504878" /><Relationship Type="http://schemas.openxmlformats.org/officeDocument/2006/relationships/notesMaster" Target="/ppt/notesMasters/notesMaster1.xml" Id="Rb90ac6ad0f7a488a" /><Relationship Type="http://schemas.openxmlformats.org/officeDocument/2006/relationships/presProps" Target="/ppt/presProps.xml" Id="R303374e01c5d439b" /><Relationship Type="http://schemas.openxmlformats.org/officeDocument/2006/relationships/tableStyles" Target="/ppt/tableStyles.xml" Id="R8c731fbc11f24038" /><Relationship Type="http://schemas.openxmlformats.org/officeDocument/2006/relationships/slide" Target="/ppt/slides/slide1.xml" Id="Re453895943fe4ca7" /><Relationship Type="http://schemas.openxmlformats.org/officeDocument/2006/relationships/slide" Target="/ppt/slides/slide2.xml" Id="R941ac212f63b4975" /><Relationship Type="http://schemas.openxmlformats.org/officeDocument/2006/relationships/slide" Target="/ppt/slides/slide3.xml" Id="R555fcbb4ba2540c4" /><Relationship Type="http://schemas.openxmlformats.org/officeDocument/2006/relationships/slide" Target="/ppt/slides/slide4.xml" Id="R42b6491396944c90" /><Relationship Type="http://schemas.openxmlformats.org/officeDocument/2006/relationships/slide" Target="/ppt/slides/slide5.xml" Id="Reecd16ae3132496a" /><Relationship Type="http://schemas.openxmlformats.org/officeDocument/2006/relationships/slide" Target="/ppt/slides/slide6.xml" Id="R92c3760757e54b03" /><Relationship Type="http://schemas.openxmlformats.org/officeDocument/2006/relationships/slide" Target="/ppt/slides/slide7.xml" Id="R0856c7336ba24d0b" /><Relationship Type="http://schemas.openxmlformats.org/officeDocument/2006/relationships/slide" Target="/ppt/slides/slide8.xml" Id="R9cc5af7a449c45ec" /><Relationship Type="http://schemas.openxmlformats.org/officeDocument/2006/relationships/slide" Target="/ppt/slides/slide9.xml" Id="Ra11d632b8887413f" /><Relationship Type="http://schemas.openxmlformats.org/officeDocument/2006/relationships/slide" Target="/ppt/slides/slide10.xml" Id="R109192bf61b147a1" /><Relationship Type="http://schemas.openxmlformats.org/officeDocument/2006/relationships/slide" Target="/ppt/slides/slide11.xml" Id="Ra4ba9a8baaab40cd" /><Relationship Type="http://schemas.openxmlformats.org/officeDocument/2006/relationships/slide" Target="/ppt/slides/slide12.xml" Id="Rca9a2d5bc9374dbf" /><Relationship Type="http://schemas.openxmlformats.org/officeDocument/2006/relationships/slide" Target="/ppt/slides/slide13.xml" Id="R7254a93164304e00" /><Relationship Type="http://schemas.openxmlformats.org/officeDocument/2006/relationships/slide" Target="/ppt/slides/slide14.xml" Id="R56a2dabe5cf2477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cfd75610cdf4b1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2f31a05ad0a43f4" /><Relationship Type="http://schemas.openxmlformats.org/officeDocument/2006/relationships/notesMaster" Target="/ppt/notesMasters/notesMaster1.xml" Id="R18f9418932f24b2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29f4890e75149fe" /><Relationship Type="http://schemas.openxmlformats.org/officeDocument/2006/relationships/notesMaster" Target="/ppt/notesMasters/notesMaster1.xml" Id="R49472db57f9247e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d383c7afcb24e0c" /><Relationship Type="http://schemas.openxmlformats.org/officeDocument/2006/relationships/notesMaster" Target="/ppt/notesMasters/notesMaster1.xml" Id="R45f29e82506140d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3f4362d1f194b62" /><Relationship Type="http://schemas.openxmlformats.org/officeDocument/2006/relationships/notesMaster" Target="/ppt/notesMasters/notesMaster1.xml" Id="Rf95619fd1dbf425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26ca345ee184b93" /><Relationship Type="http://schemas.openxmlformats.org/officeDocument/2006/relationships/notesMaster" Target="/ppt/notesMasters/notesMaster1.xml" Id="R7e4695ac20f04c8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88333d3caaf496f" /><Relationship Type="http://schemas.openxmlformats.org/officeDocument/2006/relationships/notesMaster" Target="/ppt/notesMasters/notesMaster1.xml" Id="Rf523d8e5d307452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151c891e84549d9" /><Relationship Type="http://schemas.openxmlformats.org/officeDocument/2006/relationships/notesMaster" Target="/ppt/notesMasters/notesMaster1.xml" Id="Rc0cd66a9b36643e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1fd1f53aae046fd" /><Relationship Type="http://schemas.openxmlformats.org/officeDocument/2006/relationships/notesMaster" Target="/ppt/notesMasters/notesMaster1.xml" Id="Rba2312d56e3e468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13bb6521fcb4da3" /><Relationship Type="http://schemas.openxmlformats.org/officeDocument/2006/relationships/notesMaster" Target="/ppt/notesMasters/notesMaster1.xml" Id="R272f35a76f9f43d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751f7dd16c14cba" /><Relationship Type="http://schemas.openxmlformats.org/officeDocument/2006/relationships/notesMaster" Target="/ppt/notesMasters/notesMaster1.xml" Id="R6f208718b72f4e5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85bf24bbaef4cd7" /><Relationship Type="http://schemas.openxmlformats.org/officeDocument/2006/relationships/notesMaster" Target="/ppt/notesMasters/notesMaster1.xml" Id="Rb6b6237a1f5c4b5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e4d3a1bb69e4777" /><Relationship Type="http://schemas.openxmlformats.org/officeDocument/2006/relationships/notesMaster" Target="/ppt/notesMasters/notesMaster1.xml" Id="R3f1b8642eec54e9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3550eedb4334aaf" /><Relationship Type="http://schemas.openxmlformats.org/officeDocument/2006/relationships/notesMaster" Target="/ppt/notesMasters/notesMaster1.xml" Id="R82b15531664d4c7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a84a09c3d6c4dcb" /><Relationship Type="http://schemas.openxmlformats.org/officeDocument/2006/relationships/notesMaster" Target="/ppt/notesMasters/notesMaster1.xml" Id="R0cff6f1d7cd14ad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SAY: “Today you will use PEST to explain how outside changes affect a business you choose.”</a:t>
            </a:r>
          </a:p>
          <a:p xmlns:a="http://schemas.openxmlformats.org/drawingml/2006/main">
            <a:r>
              <a:t>DO: Display the agenda, distribute the sheet, and identify the target.</a:t>
            </a:r>
          </a:p>
          <a:p xmlns:a="http://schemas.openxmlformats.org/drawingml/2006/main">
            <a:r>
              <a:t>CHECK: Students know that PEST concerns external influences, not the four Ps.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Principles of Marketing, Chapter 2, printed pp.19–20, Figure2.1. Activity/timing: Piter reconstructed October13 notes and whiteboard reference. Grading descriptors: proposed for SBTE approval, not established school scoring policy. Images: generated hypothetical coffee-shop scenarios, not actual events.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SAY: “We will complete one PEST section at a time. I will tell you when to move.”</a:t>
            </a:r>
          </a:p>
          <a:p xmlns:a="http://schemas.openxmlformats.org/drawingml/2006/main">
            <a:r>
              <a:t>DO: Keep the introduction within five minutes, including the short model.</a:t>
            </a:r>
          </a:p>
          <a:p xmlns:a="http://schemas.openxmlformats.org/drawingml/2006/main">
            <a:r>
              <a:t>NOTE: 3–5 + 2 + 12 + 5 =22–24, leaving6–8minutes. If discussion runs longer, reduce buffer rather than claiming work finished.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Principles of Marketing, Chapter 2, printed pp.19–20, Figure2.1. Activity/timing: Piter reconstructed October13 notes and whiteboard reference. Grading descriptors: proposed for SBTE approval, not established school scoring policy. Images: generated hypothetical coffee-shop scenarios, not actual events.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SAY: “A 3 shows complete, accurate application. A 4 explains a deeper decision and why it makes sense. More words alone do not earn a 4.”</a:t>
            </a:r>
          </a:p>
          <a:p xmlns:a="http://schemas.openxmlformats.org/drawingml/2006/main">
            <a:r>
              <a:t>CHECK WITH PAT: Confirm these descriptors and whether this is formative or graded before announcing them as final. No automatic averaging, bonuses, or conversion rules.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Principles of Marketing, Chapter 2, printed pp.19–20, Figure2.1. Activity/timing: Piter reconstructed October13 notes and whiteboard reference. Grading descriptors: proposed for SBTE approval, not established school scoring policy. Images: generated hypothetical coffee-shop scenarios, not actual events.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SAY: “Use business terms and explain because. A list of words does not yet show why a business is affected.”</a:t>
            </a:r>
          </a:p>
          <a:p xmlns:a="http://schemas.openxmlformats.org/drawingml/2006/main">
            <a:r>
              <a:t>DO: Read directions aloud and accept a spoken rehearsal before writing.</a:t>
            </a:r>
          </a:p>
          <a:p xmlns:a="http://schemas.openxmlformats.org/drawingml/2006/main">
            <a:r>
              <a:t>ASSESS: Understanding, not spelling, handwriting, accent, speed, or decorative work. Access support alone never reduces a level. Insufficient evidence is separate from level1; confirm IE and overall-score handling with Pat.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Principles of Marketing, Chapter 2, printed pp.19–20, Figure2.1. Activity/timing: Piter reconstructed October13 notes and whiteboard reference. Grading descriptors: proposed for SBTE approval, not established school scoring policy. Images: generated hypothetical coffee-shop scenarios, not actual events.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SAY: “What changed outside the business? Which letter fits? What could be positive and negative for this shop?”</a:t>
            </a:r>
          </a:p>
          <a:p xmlns:a="http://schemas.openxmlformats.org/drawingml/2006/main">
            <a:r>
              <a:t>DO: Wait5–10seconds; invite a spoken or written response. Do not pre-answer students’ own chosen businesses.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Principles of Marketing, Chapter 2, printed pp.19–20, Figure2.1. Activity/timing: Piter reconstructed October13 notes and whiteboard reference. Grading descriptors: proposed for SBTE approval, not established school scoring policy. Images: generated hypothetical coffee-shop scenarios, not actual events.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SAY: “The factor is government regulation. One possible positive impact is customer trust. What might the cost be?”</a:t>
            </a:r>
          </a:p>
          <a:p xmlns:a="http://schemas.openxmlformats.org/drawingml/2006/main">
            <a:r>
              <a:t>DO: Pause before the next click. Explain these are possible consequences, not guarantees.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Principles of Marketing, Chapter 2, printed pp.19–20, Figure2.1. Activity/timing: Piter reconstructed October13 notes and whiteboard reference. Grading descriptors: proposed for SBTE approval, not established school scoring policy. Images: generated hypothetical coffee-shop scenarios, not actual events.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SAY: “The same external change can create an opportunity and a cost. Your example must explain why.”</a:t>
            </a:r>
          </a:p>
          <a:p xmlns:a="http://schemas.openxmlformats.org/drawingml/2006/main">
            <a:r>
              <a:t>DO: Model only this one factor, then let students apply the other categories.</a:t>
            </a:r>
          </a:p>
          <a:p xmlns:a="http://schemas.openxmlformats.org/drawingml/2006/main">
            <a:r>
              <a:t>RESPONSE: The shop could train staff and plan for compliance costs. This is an internal response to an external factor.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Principles of Marketing, Chapter 2, printed pp.19–20, Figure2.1. Activity/timing: Piter reconstructed October13 notes and whiteboard reference. Grading descriptors: proposed for SBTE approval, not established school scoring policy. Images: generated hypothetical coffee-shop scenarios, not actual events.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SAY: “Choose a business you understand and name its target market. Who buys from it, and what do they want?”</a:t>
            </a:r>
          </a:p>
          <a:p xmlns:a="http://schemas.openxmlformats.org/drawingml/2006/main">
            <a:r>
              <a:t>DO: Start2min timer. If stuck, offer a familiar business category such as a cafe, shoe shop, or digital-book service.</a:t>
            </a:r>
          </a:p>
          <a:p xmlns:a="http://schemas.openxmlformats.org/drawingml/2006/main">
            <a:r>
              <a:t>CHECK: Business and target market both recorded.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Principles of Marketing, Chapter 2, printed pp.19–20, Figure2.1. Activity/timing: Piter reconstructed October13 notes and whiteboard reference. Grading descriptors: proposed for SBTE approval, not established school scoring policy. Images: generated hypothetical coffee-shop scenarios, not actual events.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SAY: “What outside rule or policy could affect this business? Give a connected example and explain both possible impacts.”</a:t>
            </a:r>
          </a:p>
          <a:p xmlns:a="http://schemas.openxmlformats.org/drawingml/2006/main">
            <a:r>
              <a:t>DO: Read the category cue, start3min, stand at a deliberate scan point.</a:t>
            </a:r>
          </a:p>
          <a:p xmlns:a="http://schemas.openxmlformats.org/drawingml/2006/main">
            <a:r>
              <a:t>LISTEN FOR: External factor, category fit, effect on this business or target market, because reasoning.</a:t>
            </a:r>
          </a:p>
          <a:p xmlns:a="http://schemas.openxmlformats.org/drawingml/2006/main">
            <a:r>
              <a:t>IF WEAK: Ask “What changed outside the business? What happens to costs, customers, or access?” Model a question, not their answer.</a:t>
            </a:r>
          </a:p>
          <a:p xmlns:a="http://schemas.openxmlformats.org/drawingml/2006/main">
            <a:r>
              <a:t>IF STRONG: Ask which impact matters most and why.</a:t>
            </a:r>
          </a:p>
          <a:p xmlns:a="http://schemas.openxmlformats.org/drawingml/2006/main">
            <a:r>
              <a:t>CHECK: Do not classify the business’s own ad, discount, or new app decision as the external factor.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Principles of Marketing, Chapter 2, printed pp.19–20, Figure2.1. Activity/timing: Piter reconstructed October13 notes and whiteboard reference. Grading descriptors: proposed for SBTE approval, not established school scoring policy. Images: generated hypothetical coffee-shop scenarios, not actual events.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SAY: “What outside economic change could affect costs or demand? Give a connected example and explain both possible impacts.”</a:t>
            </a:r>
          </a:p>
          <a:p xmlns:a="http://schemas.openxmlformats.org/drawingml/2006/main">
            <a:r>
              <a:t>DO: Read the category cue, start3min, stand at a deliberate scan point.</a:t>
            </a:r>
          </a:p>
          <a:p xmlns:a="http://schemas.openxmlformats.org/drawingml/2006/main">
            <a:r>
              <a:t>LISTEN FOR: External factor, category fit, effect on this business or target market, because reasoning.</a:t>
            </a:r>
          </a:p>
          <a:p xmlns:a="http://schemas.openxmlformats.org/drawingml/2006/main">
            <a:r>
              <a:t>IF WEAK: Ask “What changed outside the business? What happens to costs, customers, or access?” Model a question, not their answer.</a:t>
            </a:r>
          </a:p>
          <a:p xmlns:a="http://schemas.openxmlformats.org/drawingml/2006/main">
            <a:r>
              <a:t>IF STRONG: Ask which impact matters most and why.</a:t>
            </a:r>
          </a:p>
          <a:p xmlns:a="http://schemas.openxmlformats.org/drawingml/2006/main">
            <a:r>
              <a:t>CHECK: Do not classify the business’s own ad, discount, or new app decision as the external factor.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Principles of Marketing, Chapter 2, printed pp.19–20, Figure2.1. Activity/timing: Piter reconstructed October13 notes and whiteboard reference. Grading descriptors: proposed for SBTE approval, not established school scoring policy. Images: generated hypothetical coffee-shop scenarios, not actual events.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SAY: “What change in the customers or community could affect demand? Give a connected example and explain both possible impacts.”</a:t>
            </a:r>
          </a:p>
          <a:p xmlns:a="http://schemas.openxmlformats.org/drawingml/2006/main">
            <a:r>
              <a:t>DO: Read the category cue, start3min, stand at a deliberate scan point.</a:t>
            </a:r>
          </a:p>
          <a:p xmlns:a="http://schemas.openxmlformats.org/drawingml/2006/main">
            <a:r>
              <a:t>LISTEN FOR: External factor, category fit, effect on this business or target market, because reasoning.</a:t>
            </a:r>
          </a:p>
          <a:p xmlns:a="http://schemas.openxmlformats.org/drawingml/2006/main">
            <a:r>
              <a:t>IF WEAK: Ask “What changed outside the business? What happens to costs, customers, or access?” Model a question, not their answer.</a:t>
            </a:r>
          </a:p>
          <a:p xmlns:a="http://schemas.openxmlformats.org/drawingml/2006/main">
            <a:r>
              <a:t>IF STRONG: Ask which impact matters most and why.</a:t>
            </a:r>
          </a:p>
          <a:p xmlns:a="http://schemas.openxmlformats.org/drawingml/2006/main">
            <a:r>
              <a:t>CHECK: Do not classify the business’s own ad, discount, or new app decision as the external factor.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Principles of Marketing, Chapter 2, printed pp.19–20, Figure2.1. Activity/timing: Piter reconstructed October13 notes and whiteboard reference. Grading descriptors: proposed for SBTE approval, not established school scoring policy. Images: generated hypothetical coffee-shop scenarios, not actual events.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SAY: “What outside technology change could affect access, service, or competition? Give a connected example and explain both possible impacts.”</a:t>
            </a:r>
          </a:p>
          <a:p xmlns:a="http://schemas.openxmlformats.org/drawingml/2006/main">
            <a:r>
              <a:t>DO: Read the category cue, start3min, stand at a deliberate scan point.</a:t>
            </a:r>
          </a:p>
          <a:p xmlns:a="http://schemas.openxmlformats.org/drawingml/2006/main">
            <a:r>
              <a:t>LISTEN FOR: External factor, category fit, effect on this business or target market, because reasoning.</a:t>
            </a:r>
          </a:p>
          <a:p xmlns:a="http://schemas.openxmlformats.org/drawingml/2006/main">
            <a:r>
              <a:t>IF WEAK: Ask “What changed outside the business? What happens to costs, customers, or access?” Model a question, not their answer.</a:t>
            </a:r>
          </a:p>
          <a:p xmlns:a="http://schemas.openxmlformats.org/drawingml/2006/main">
            <a:r>
              <a:t>IF STRONG: Ask which impact matters most and why.</a:t>
            </a:r>
          </a:p>
          <a:p xmlns:a="http://schemas.openxmlformats.org/drawingml/2006/main">
            <a:r>
              <a:t>CHECK: Do not classify the business’s own ad, discount, or new app decision as the external factor.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Principles of Marketing, Chapter 2, printed pp.19–20, Figure2.1. Activity/timing: Piter reconstructed October13 notes and whiteboard reference. Grading descriptors: proposed for SBTE approval, not established school scoring policy. Images: generated hypothetical coffee-shop scenarios, not actual events.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SAY: “Connect the analysis to a business decision. Which opportunity would you use? Which risk would you address? Why?”</a:t>
            </a:r>
          </a:p>
          <a:p xmlns:a="http://schemas.openxmlformats.org/drawingml/2006/main">
            <a:r>
              <a:t>DO: Invite2–4complete sentences as a planning guide, not a scored word count. Students may orally rehearse first.</a:t>
            </a:r>
          </a:p>
          <a:p xmlns:a="http://schemas.openxmlformats.org/drawingml/2006/main">
            <a:r>
              <a:t>CHECK: Responses follow from their own factors, not generic advice.</a:t>
            </a:r>
          </a:p>
          <a:p xmlns:a="http://schemas.openxmlformats.org/drawingml/2006/main">
            <a:r>
              <a:t>EXTEND: Compare priorities or two interacting factors and justify a trade-off.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Principles of Marketing, Chapter 2, printed pp.19–20, Figure2.1. Activity/timing: Piter reconstructed October13 notes and whiteboard reference. Grading descriptors: proposed for SBTE approval, not established school scoring policy. Images: generated hypothetical coffee-shop scenarios, not actual events.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SAY: “Check each section. Circle a place where you explained why. Use remaining time to practise the approved Terms to Know.”</a:t>
            </a:r>
          </a:p>
          <a:p xmlns:a="http://schemas.openxmlformats.org/drawingml/2006/main">
            <a:r>
              <a:t>DO: Record separate Block1 and Block5 stops.</a:t>
            </a:r>
          </a:p>
          <a:p xmlns:a="http://schemas.openxmlformats.org/drawingml/2006/main">
            <a:r>
              <a:t>OPEN: Confirm quiz scope, collection route, individual/pair arrangement, and grading with Pat. Do not invent a deadline.</a:t>
            </a:r>
          </a:p>
          <a:p xmlns:a="http://schemas.openxmlformats.org/drawingml/2006/main">
            <a:r>
              <a:t>RECORD: Block1 stop/support needed __ ; Block5 stop/support needed __.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Principles of Marketing, Chapter 2, printed pp.19–20, Figure2.1. Activity/timing: Piter reconstructed October13 notes and whiteboard reference. Grading descriptors: proposed for SBTE approval, not established school scoring policy. Images: generated hypothetical coffee-shop scenarios, not actual events.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4283ccf6c114c5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dde76035806467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5c8d4d0d8b5404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bfa52cda4cb43e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b0f0b10252b44a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704f3bc17bf4ee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FF535FD-5420-4216-8F9B-92B9553E49F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A2ECCA7F-CEAE-4E17-9BD6-BD5E6C868ED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9D73D9CB-F34D-43D9-A5FD-4C0ED42E215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F504353-64C3-47CE-9E08-ED764A45242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433FFC96-05F2-40A7-BEB4-019909BA550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02512CD-DD13-43B5-8305-168D637DD6F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C2F9652-626E-48A8-8A28-02EEBD8ADD4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02020D85-A777-4C95-BE4E-7733A085506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19862A9-8E62-431A-8FF6-F59502DA1BE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CBA7994-80B1-472F-891B-7DCC6C3802F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a8c073e895b4a0d" /><Relationship Type="http://schemas.openxmlformats.org/officeDocument/2006/relationships/slideLayout" Target="/ppt/slideLayouts/slideLayout1.xml" Id="R8f0ab042d806453d" /><Relationship Type="http://schemas.openxmlformats.org/officeDocument/2006/relationships/slideLayout" Target="/ppt/slideLayouts/slideLayout2.xml" Id="R441034fb25fe4a2d" /><Relationship Type="http://schemas.openxmlformats.org/officeDocument/2006/relationships/slideLayout" Target="/ppt/slideLayouts/slideLayout3.xml" Id="R33dad00d6223489b" /><Relationship Type="http://schemas.openxmlformats.org/officeDocument/2006/relationships/slideLayout" Target="/ppt/slideLayouts/slideLayout4.xml" Id="R2b62711a88f54eb0" /><Relationship Type="http://schemas.openxmlformats.org/officeDocument/2006/relationships/slideLayout" Target="/ppt/slideLayouts/slideLayout5.xml" Id="R152fcb2df85a4d4f" /><Relationship Type="http://schemas.openxmlformats.org/officeDocument/2006/relationships/slideLayout" Target="/ppt/slideLayouts/slideLayout6.xml" Id="R96c66719dc0747e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f0ab042d806453d"/>
    <p:sldLayoutId xmlns:r="http://schemas.openxmlformats.org/officeDocument/2006/relationships" id="2147483650" r:id="R441034fb25fe4a2d"/>
    <p:sldLayoutId xmlns:r="http://schemas.openxmlformats.org/officeDocument/2006/relationships" id="2147483651" r:id="R33dad00d6223489b"/>
    <p:sldLayoutId xmlns:r="http://schemas.openxmlformats.org/officeDocument/2006/relationships" id="2147483652" r:id="R2b62711a88f54eb0"/>
    <p:sldLayoutId xmlns:r="http://schemas.openxmlformats.org/officeDocument/2006/relationships" id="2147483653" r:id="R152fcb2df85a4d4f"/>
    <p:sldLayoutId xmlns:r="http://schemas.openxmlformats.org/officeDocument/2006/relationships" id="2147483654" r:id="R96c66719dc0747e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23110ec4f864f86" /><Relationship Type="http://schemas.openxmlformats.org/officeDocument/2006/relationships/image" Target="/ppt/media/image.png" Id="Rdc3c94896972461d" /><Relationship Type="http://schemas.openxmlformats.org/officeDocument/2006/relationships/notesSlide" Target="/ppt/notesSlides/notesSlide1.xml" Id="R28012279d934481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ba5961bf37e4a9b" /><Relationship Type="http://schemas.openxmlformats.org/officeDocument/2006/relationships/notesSlide" Target="/ppt/notesSlides/notesSlide2.xml" Id="R0bed161ea5f04f6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d970a64acc445e0" /><Relationship Type="http://schemas.openxmlformats.org/officeDocument/2006/relationships/notesSlide" Target="/ppt/notesSlides/notesSlide3.xml" Id="R0c2a86dc156046a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caf7fa44be54998" /><Relationship Type="http://schemas.openxmlformats.org/officeDocument/2006/relationships/notesSlide" Target="/ppt/notesSlides/notesSlide4.xml" Id="R6a781749dce1407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c162acbd3ff4ec9" /><Relationship Type="http://schemas.openxmlformats.org/officeDocument/2006/relationships/image" Target="/ppt/media/image2.png" Id="R07f7d394646e484b" /><Relationship Type="http://schemas.openxmlformats.org/officeDocument/2006/relationships/notesSlide" Target="/ppt/notesSlides/notesSlide5.xml" Id="Re9e4fb9687e0448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1211546d8d7414f" /><Relationship Type="http://schemas.openxmlformats.org/officeDocument/2006/relationships/image" Target="/ppt/media/image3.png" Id="R6e9fd9e24fa74a73" /><Relationship Type="http://schemas.openxmlformats.org/officeDocument/2006/relationships/notesSlide" Target="/ppt/notesSlides/notesSlide6.xml" Id="R8bfac6f30c1b4d9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8de63ca4ccb45a9" /><Relationship Type="http://schemas.openxmlformats.org/officeDocument/2006/relationships/image" Target="/ppt/media/image4.png" Id="R3657cf583f604f13" /><Relationship Type="http://schemas.openxmlformats.org/officeDocument/2006/relationships/notesSlide" Target="/ppt/notesSlides/notesSlide7.xml" Id="R1912e800b3a245c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9a665dd3f9046e9" /><Relationship Type="http://schemas.openxmlformats.org/officeDocument/2006/relationships/notesSlide" Target="/ppt/notesSlides/notesSlide8.xml" Id="Rbc1d8f3e692743d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bff176f448e4a50" /><Relationship Type="http://schemas.openxmlformats.org/officeDocument/2006/relationships/image" Target="/ppt/media/image5.png" Id="R55dc0c0b181d44a1" /><Relationship Type="http://schemas.openxmlformats.org/officeDocument/2006/relationships/notesSlide" Target="/ppt/notesSlides/notesSlide9.xml" Id="R53a2b14796354d8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c89c4d648b043f3" /><Relationship Type="http://schemas.openxmlformats.org/officeDocument/2006/relationships/image" Target="/ppt/media/image6.png" Id="Ra669bf9711974365" /><Relationship Type="http://schemas.openxmlformats.org/officeDocument/2006/relationships/notesSlide" Target="/ppt/notesSlides/notesSlide10.xml" Id="R29c6a8dde70a4b1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277ec4654194f11" /><Relationship Type="http://schemas.openxmlformats.org/officeDocument/2006/relationships/image" Target="/ppt/media/image7.png" Id="R78cb3a2e6ca34b00" /><Relationship Type="http://schemas.openxmlformats.org/officeDocument/2006/relationships/notesSlide" Target="/ppt/notesSlides/notesSlide11.xml" Id="R1ed8d11c0b40454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f4e65b52295445d" /><Relationship Type="http://schemas.openxmlformats.org/officeDocument/2006/relationships/image" Target="/ppt/media/image8.png" Id="R24ce9e322e754bca" /><Relationship Type="http://schemas.openxmlformats.org/officeDocument/2006/relationships/notesSlide" Target="/ppt/notesSlides/notesSlide12.xml" Id="R4c2ba303015b44d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9fe586d325c4a78" /><Relationship Type="http://schemas.openxmlformats.org/officeDocument/2006/relationships/notesSlide" Target="/ppt/notesSlides/notesSlide13.xml" Id="Re160753aa17d4cc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d7e141ddd254d38" /><Relationship Type="http://schemas.openxmlformats.org/officeDocument/2006/relationships/notesSlide" Target="/ppt/notesSlides/notesSlide14.xml" Id="R75e2f422bf694a72" /></Relationships>
</file>

<file path=ppt/slides/slide1.xml><?xml version="1.0" encoding="utf-8"?>
<p:sld xmlns:ns1="http://schemas.openxmlformats.org/drawingml/2006/main" xmlns:ns2="http://schemas.microsoft.com/office/drawing/2014/main" xmlns:ns3="http://schemas.openxmlformats.org/officeDocument/2006/relationships" xmlns:ns4="http://schemas.microsoft.com/office/powerpoint/2010/main" xmlns:p="http://schemas.openxmlformats.org/presentationml/2006/main">
  <p:cSld>
    <p:bg>
      <p:bgPr>
        <ns1:solidFill>
          <ns1:srgbClr val="FAF7EF"/>
        </ns1:solidFill>
      </p:bgPr>
    </p:bg>
    <p:spTree>
      <p:nvGrpSpPr>
        <p:cNvPr id="1" name=""/>
        <p:cNvGrpSpPr/>
        <p:nvPr/>
      </p:nvGrpSpPr>
      <p:grpSpPr>
        <ns1:xfrm/>
      </p:grpSpPr>
      <p:sp>
        <p:nvSpPr>
          <p:cNvPr id="5" name="">
            <ns1:extLst>
              <ns1:ext uri="{FF2B5EF4-FFF2-40B4-BE49-F238E27FC236}">
                <ns2:creationId id="{6DF4184F-934F-4A76-971A-E3354FB3EA14}"/>
              </ns1:ext>
            </ns1:extLst>
          </p:cNvPr>
          <p:cNvSpPr>
            <ns1:spLocks noGrp="1"/>
          </p:cNvSpPr>
          <p:nvPr/>
        </p:nvSpPr>
        <p:spPr>
          <ns1:xfrm>
            <ns1:off x="619125" y="419100"/>
            <ns1:ext cx="10572750" cy="800100"/>
          </ns1:xfrm>
          <ns1:prstGeom prst="rect">
            <ns1:avLst/>
          </ns1:prstGeom>
          <ns1:noFill/>
          <ns1:ln w="0">
            <ns1:noFill/>
          </ns1:ln>
        </p:spPr>
        <p:txBody>
          <ns1:bodyPr/>
          <ns1:lstStyle>
            <ns1:defPPr>
              <ns1:defRPr sz="3300" b="1">
                <ns1:solidFill>
                  <ns1:srgbClr val="142C40"/>
                </ns1:solidFill>
                <ns1:latin typeface="Helvetica Neue"/>
                <ns1:ea typeface="Helvetica Neue"/>
                <ns1:cs typeface="Helvetica Neue"/>
              </ns1:defRPr>
            </ns1:defPPr>
          </ns1:lstStyle>
          <ns1:p>
            <ns1:pPr>
              <ns1:defRPr sz="3300" b="1">
                <ns1:solidFill>
                  <ns1:srgbClr val="142C40"/>
                </ns1:solidFill>
                <ns1:latin typeface="Helvetica Neue"/>
                <ns1:ea typeface="Helvetica Neue"/>
                <ns1:cs typeface="Helvetica Neue"/>
              </ns1:defRPr>
            </ns1:pPr>
            <ns1:r>
              <ns1:rPr sz="3300" b="1">
                <ns1:solidFill>
                  <ns1:srgbClr val="142C40"/>
                </ns1:solidFill>
                <ns1:latin typeface="Helvetica Neue"/>
                <ns1:ea typeface="Helvetica Neue"/>
                <ns1:cs typeface="Helvetica Neue"/>
              </ns1:rPr>
              <ns1:t>PEST analysis for your business</ns1:t>
            </ns1:r>
          </ns1:p>
        </p:txBody>
      </p:sp>
      <p:sp>
        <p:nvSpPr>
          <p:cNvPr id="2" name="">
            <ns1:extLst>
              <ns1:ext uri="{FF2B5EF4-FFF2-40B4-BE49-F238E27FC236}">
                <ns2:creationId id="{43B3C7FC-C411-4956-BFA6-6264EEB6B269}"/>
              </ns1:ext>
            </ns1:extLst>
          </p:cNvPr>
          <p:cNvSpPr>
            <ns1:spLocks noGrp="1"/>
          </p:cNvSpPr>
          <p:nvPr/>
        </p:nvSpPr>
        <p:spPr>
          <ns1:xfrm>
            <ns1:off x="619125" y="6124575"/>
            <ns1:ext cx="10572750" cy="342900"/>
          </ns1:xfrm>
          <ns1:prstGeom prst="rect">
            <ns1:avLst/>
          </ns1:prstGeom>
          <ns1:noFill/>
          <ns1:ln w="0">
            <ns1:noFill/>
          </ns1:ln>
        </p:spPr>
        <p:txBody>
          <ns1:bodyPr/>
          <ns1:lstStyle>
            <ns1:defPPr>
              <ns1:defRPr sz="1800" b="1">
                <ns1:solidFill>
                  <ns1:srgbClr val="147D80"/>
                </ns1:solidFill>
                <ns1:latin typeface="Helvetica Neue"/>
                <ns1:ea typeface="Helvetica Neue"/>
                <ns1:cs typeface="Helvetica Neue"/>
              </ns1:defRPr>
            </ns1:defPPr>
          </ns1:lstStyle>
          <ns1:p>
            <ns1:pPr>
              <ns1:defRPr sz="1800" b="1">
                <ns1:solidFill>
                  <ns1:srgbClr val="147D80"/>
                </ns1:solidFill>
                <ns1:latin typeface="Helvetica Neue"/>
                <ns1:ea typeface="Helvetica Neue"/>
                <ns1:cs typeface="Helvetica Neue"/>
              </ns1:defRPr>
            </ns1:pPr>
            <ns1:r>
              <ns1:rPr sz="1800" b="1">
                <ns1:solidFill>
                  <ns1:srgbClr val="147D80"/>
                </ns1:solidFill>
                <ns1:latin typeface="Helvetica Neue"/>
                <ns1:ea typeface="Helvetica Neue"/>
                <ns1:cs typeface="Helvetica Neue"/>
              </ns1:rPr>
              <ns1:t>30 minutes</ns1:t>
            </ns1:r>
          </ns1:p>
        </p:txBody>
      </p:sp>
      <p:sp>
        <p:nvSpPr>
          <p:cNvPr id="3" name="">
            <ns1:extLst>
              <ns1:ext uri="{FF2B5EF4-FFF2-40B4-BE49-F238E27FC236}">
                <ns2:creationId id="{5B11A373-5F4C-4E02-8953-EED1878EB6B6}"/>
              </ns1:ext>
            </ns1:extLst>
          </p:cNvPr>
          <p:cNvSpPr>
            <ns1:spLocks noGrp="1"/>
          </p:cNvSpPr>
          <p:nvPr/>
        </p:nvSpPr>
        <p:spPr>
          <ns1:xfrm>
            <ns1:off x="619125" y="1581150"/>
            <ns1:ext cx="6524625" cy="4286250"/>
          </ns1:xfrm>
          <ns1:prstGeom prst="rect">
            <ns1:avLst/>
          </ns1:prstGeom>
          <ns1:noFill/>
          <ns1:ln w="0">
            <ns1:noFill/>
          </ns1:ln>
        </p:spPr>
        <p:txBody>
          <ns1:bodyPr/>
          <ns1:lstStyle>
            <ns1:defPPr>
              <ns1:defRPr sz="2325" b="0">
                <ns1:solidFill>
                  <ns1:srgbClr val="142C40"/>
                </ns1:solidFill>
                <ns1:latin typeface="Helvetica Neue"/>
                <ns1:ea typeface="Helvetica Neue"/>
                <ns1:cs typeface="Helvetica Neue"/>
              </ns1:defRPr>
            </ns1:defPPr>
          </ns1:lstStyle>
          <ns1:p>
            <ns1:pPr>
              <ns1:defRPr sz="2325" b="0">
                <ns1:solidFill>
                  <ns1:srgbClr val="142C40"/>
                </ns1:solidFill>
                <ns1:latin typeface="Helvetica Neue"/>
                <ns1:ea typeface="Helvetica Neue"/>
                <ns1:cs typeface="Helvetica Neue"/>
              </ns1:defRPr>
            </ns1:pPr>
            <ns1:r>
              <ns1:rPr sz="2325" b="0">
                <ns1:solidFill>
                  <ns1:srgbClr val="142C40"/>
                </ns1:solidFill>
                <ns1:latin typeface="Helvetica Neue"/>
                <ns1:ea typeface="Helvetica Neue"/>
                <ns1:cs typeface="Helvetica Neue"/>
              </ns1:rPr>
              <ns1:t>How could outside changes help or hurt your business?</ns1:t>
            </ns1:r>
          </ns1:p>
          <ns1:p>
            <ns1:r>
              <ns1:t/>
            </ns1:r>
          </ns1:p>
          <ns1:p>
            <ns1:pPr>
              <ns1:defRPr sz="2325" b="0">
                <ns1:solidFill>
                  <ns1:srgbClr val="142C40"/>
                </ns1:solidFill>
                <ns1:latin typeface="Helvetica Neue"/>
                <ns1:ea typeface="Helvetica Neue"/>
                <ns1:cs typeface="Helvetica Neue"/>
              </ns1:defRPr>
            </ns1:pPr>
            <ns1:r>
              <ns1:rPr sz="2325" b="0">
                <ns1:solidFill>
                  <ns1:srgbClr val="142C40"/>
                </ns1:solidFill>
                <ns1:latin typeface="Helvetica Neue"/>
                <ns1:ea typeface="Helvetica Neue"/>
                <ns1:cs typeface="Helvetica Neue"/>
              </ns1:rPr>
              <ns1:t>Choose one business. Explain its opportunities and risks.</ns1:t>
            </ns1:r>
          </ns1:p>
        </p:txBody>
      </p:sp>
      <p:pic>
        <p:nvPicPr>
          <p:cNvPr id="4" name="">
            <ns1:extLst>
              <ns1:ext uri="{FF2B5EF4-FFF2-40B4-BE49-F238E27FC236}">
                <ns2:creationId id="{031C5395-1030-4E60-B63B-4744B8E915D1}"/>
              </ns1:ext>
            </ns1:extLst>
          </p:cNvPr>
          <p:cNvPicPr>
            <ns1:picLocks noChangeAspect="1"/>
          </p:cNvPicPr>
          <p:nvPr/>
        </p:nvPicPr>
        <p:blipFill>
          <ns1:blip ns3:embed="Rdc3c94896972461d"/>
          <ns1:stretch/>
        </p:blipFill>
        <p:spPr>
          <ns1:xfrm>
            <ns1:off x="7715250" y="2455109"/>
            <ns1:ext cx="3714750" cy="2090658"/>
          </ns1:xfrm>
          <ns1:prstGeom prst="rect">
            <ns1:avLst/>
          </ns1:prstGeom>
        </p:spPr>
      </p:pic>
    </p:spTree>
    <p:extLst>
      <p:ext uri="{BB962C8B-B14F-4D97-AF65-F5344CB8AC3E}">
        <ns4:creationId val="118843612"/>
      </p:ext>
    </p:extLst>
  </p:cSld>
  <p:transition spd="fast" advClick="1">
    <p:fade/>
  </p:transition>
</p:sld>
</file>

<file path=ppt/slides/slide2.xml><?xml version="1.0" encoding="utf-8"?>
<p:sld xmlns:ns1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ns1:solidFill>
          <ns1:srgbClr val="FAF7EF"/>
        </ns1:solidFill>
      </p:bgPr>
    </p:bg>
    <p:spTree>
      <p:nvGrpSpPr>
        <p:cNvPr id="1" name=""/>
        <p:cNvGrpSpPr/>
        <p:nvPr/>
      </p:nvGrpSpPr>
      <p:grpSpPr>
        <ns1:xfrm/>
      </p:grpSpPr>
      <p:sp>
        <p:nvSpPr>
          <p:cNvPr id="4" name="">
            <ns1:extLst>
              <ns1:ext uri="{FF2B5EF4-FFF2-40B4-BE49-F238E27FC236}">
                <ns2:creationId id="{70FA5E47-9916-4F19-BA8A-A58907C9B750}"/>
              </ns1:ext>
            </ns1:extLst>
          </p:cNvPr>
          <p:cNvSpPr>
            <ns1:spLocks noGrp="1"/>
          </p:cNvSpPr>
          <p:nvPr/>
        </p:nvSpPr>
        <p:spPr>
          <ns1:xfrm>
            <ns1:off x="619125" y="419100"/>
            <ns1:ext cx="10572750" cy="800100"/>
          </ns1:xfrm>
          <ns1:prstGeom prst="rect">
            <ns1:avLst/>
          </ns1:prstGeom>
          <ns1:noFill/>
          <ns1:ln w="0">
            <ns1:noFill/>
          </ns1:ln>
        </p:spPr>
        <p:txBody>
          <ns1:bodyPr/>
          <ns1:lstStyle>
            <ns1:defPPr>
              <ns1:defRPr sz="3300" b="1">
                <ns1:solidFill>
                  <ns1:srgbClr val="142C40"/>
                </ns1:solidFill>
                <ns1:latin typeface="Helvetica Neue"/>
                <ns1:ea typeface="Helvetica Neue"/>
                <ns1:cs typeface="Helvetica Neue"/>
              </ns1:defRPr>
            </ns1:defPPr>
          </ns1:lstStyle>
          <ns1:p>
            <ns1:pPr>
              <ns1:defRPr sz="3300" b="1">
                <ns1:solidFill>
                  <ns1:srgbClr val="142C40"/>
                </ns1:solidFill>
                <ns1:latin typeface="Helvetica Neue"/>
                <ns1:ea typeface="Helvetica Neue"/>
                <ns1:cs typeface="Helvetica Neue"/>
              </ns1:defRPr>
            </ns1:pPr>
            <ns1:r>
              <ns1:rPr sz="3300" b="1">
                <ns1:solidFill>
                  <ns1:srgbClr val="142C40"/>
                </ns1:solidFill>
                <ns1:latin typeface="Helvetica Neue"/>
                <ns1:ea typeface="Helvetica Neue"/>
                <ns1:cs typeface="Helvetica Neue"/>
              </ns1:rPr>
              <ns1:t>Activity sequence</ns1:t>
            </ns1:r>
          </ns1:p>
        </p:txBody>
      </p:sp>
      <p:sp>
        <p:nvSpPr>
          <p:cNvPr id="2" name="">
            <ns1:extLst>
              <ns1:ext uri="{FF2B5EF4-FFF2-40B4-BE49-F238E27FC236}">
                <ns2:creationId id="{4609E31E-5C7D-40B3-8DDE-0584A495B2F3}"/>
              </ns1:ext>
            </ns1:extLst>
          </p:cNvPr>
          <p:cNvSpPr>
            <ns1:spLocks noGrp="1"/>
          </p:cNvSpPr>
          <p:nvPr/>
        </p:nvSpPr>
        <p:spPr>
          <ns1:xfrm>
            <ns1:off x="619125" y="6124575"/>
            <ns1:ext cx="10572750" cy="342900"/>
          </ns1:xfrm>
          <ns1:prstGeom prst="rect">
            <ns1:avLst/>
          </ns1:prstGeom>
          <ns1:noFill/>
          <ns1:ln w="0">
            <ns1:noFill/>
          </ns1:ln>
        </p:spPr>
        <p:txBody>
          <ns1:bodyPr/>
          <ns1:lstStyle>
            <ns1:defPPr>
              <ns1:defRPr sz="1800" b="1">
                <ns1:solidFill>
                  <ns1:srgbClr val="147D80"/>
                </ns1:solidFill>
                <ns1:latin typeface="Helvetica Neue"/>
                <ns1:ea typeface="Helvetica Neue"/>
                <ns1:cs typeface="Helvetica Neue"/>
              </ns1:defRPr>
            </ns1:defPPr>
          </ns1:lstStyle>
          <ns1:p>
            <ns1:pPr>
              <ns1:defRPr sz="1800" b="1">
                <ns1:solidFill>
                  <ns1:srgbClr val="147D80"/>
                </ns1:solidFill>
                <ns1:latin typeface="Helvetica Neue"/>
                <ns1:ea typeface="Helvetica Neue"/>
                <ns1:cs typeface="Helvetica Neue"/>
              </ns1:defRPr>
            </ns1:pPr>
            <ns1:r>
              <ns1:rPr sz="1800" b="1">
                <ns1:solidFill>
                  <ns1:srgbClr val="147D80"/>
                </ns1:solidFill>
                <ns1:latin typeface="Helvetica Neue"/>
                <ns1:ea typeface="Helvetica Neue"/>
                <ns1:cs typeface="Helvetica Neue"/>
              </ns1:rPr>
              <ns1:t>A 30-minute planning window</ns1:t>
            </ns1:r>
          </ns1:p>
        </p:txBody>
      </p:sp>
      <p:sp>
        <p:nvSpPr>
          <p:cNvPr id="3" name="">
            <ns1:extLst>
              <ns1:ext uri="{FF2B5EF4-FFF2-40B4-BE49-F238E27FC236}">
                <ns2:creationId id="{2A48EF94-F8E4-4EE7-824C-9838A2D2DA3B}"/>
              </ns1:ext>
            </ns1:extLst>
          </p:cNvPr>
          <p:cNvSpPr>
            <ns1:spLocks noGrp="1"/>
          </p:cNvSpPr>
          <p:nvPr/>
        </p:nvSpPr>
        <p:spPr>
          <ns1:xfrm>
            <ns1:off x="619125" y="1581150"/>
            <ns1:ext cx="10572750" cy="4286250"/>
          </ns1:xfrm>
          <ns1:prstGeom prst="rect">
            <ns1:avLst/>
          </ns1:prstGeom>
          <ns1:noFill/>
          <ns1:ln w="0">
            <ns1:noFill/>
          </ns1:ln>
        </p:spPr>
        <p:txBody>
          <ns1:bodyPr/>
          <ns1:lstStyle>
            <ns1:defPPr>
              <ns1:defRPr sz="2325" b="0">
                <ns1:solidFill>
                  <ns1:srgbClr val="142C40"/>
                </ns1:solidFill>
                <ns1:latin typeface="Helvetica Neue"/>
                <ns1:ea typeface="Helvetica Neue"/>
                <ns1:cs typeface="Helvetica Neue"/>
              </ns1:defRPr>
            </ns1:defPPr>
          </ns1:lstStyle>
          <ns1:p>
            <ns1:pPr>
              <ns1:defRPr sz="2325" b="0">
                <ns1:solidFill>
                  <ns1:srgbClr val="142C40"/>
                </ns1:solidFill>
                <ns1:latin typeface="Helvetica Neue"/>
                <ns1:ea typeface="Helvetica Neue"/>
                <ns1:cs typeface="Helvetica Neue"/>
              </ns1:defRPr>
            </ns1:pPr>
            <ns1:r>
              <ns1:rPr sz="2325" b="0">
                <ns1:solidFill>
                  <ns1:srgbClr val="142C40"/>
                </ns1:solidFill>
                <ns1:latin typeface="Helvetica Neue"/>
                <ns1:ea typeface="Helvetica Neue"/>
                <ns1:cs typeface="Helvetica Neue"/>
              </ns1:rPr>
              <ns1:t>Instructions and grading: 3–5 min</ns1:t>
            </ns1:r>
          </ns1:p>
          <ns1:p>
            <ns1:pPr>
              <ns1:defRPr sz="2325" b="0">
                <ns1:solidFill>
                  <ns1:srgbClr val="142C40"/>
                </ns1:solidFill>
                <ns1:latin typeface="Helvetica Neue"/>
                <ns1:ea typeface="Helvetica Neue"/>
                <ns1:cs typeface="Helvetica Neue"/>
              </ns1:defRPr>
            </ns1:pPr>
            <ns1:r>
              <ns1:rPr sz="2325" b="0">
                <ns1:solidFill>
                  <ns1:srgbClr val="142C40"/>
                </ns1:solidFill>
                <ns1:latin typeface="Helvetica Neue"/>
                <ns1:ea typeface="Helvetica Neue"/>
                <ns1:cs typeface="Helvetica Neue"/>
              </ns1:rPr>
              <ns1:t>Business and target market: 2 min</ns1:t>
            </ns1:r>
          </ns1:p>
          <ns1:p>
            <ns1:pPr>
              <ns1:defRPr sz="2325" b="0">
                <ns1:solidFill>
                  <ns1:srgbClr val="142C40"/>
                </ns1:solidFill>
                <ns1:latin typeface="Helvetica Neue"/>
                <ns1:ea typeface="Helvetica Neue"/>
                <ns1:cs typeface="Helvetica Neue"/>
              </ns1:defRPr>
            </ns1:pPr>
            <ns1:r>
              <ns1:rPr sz="2325" b="0">
                <ns1:solidFill>
                  <ns1:srgbClr val="142C40"/>
                </ns1:solidFill>
                <ns1:latin typeface="Helvetica Neue"/>
                <ns1:ea typeface="Helvetica Neue"/>
                <ns1:cs typeface="Helvetica Neue"/>
              </ns1:rPr>
              <ns1:t>P / E / S / T: 3 min each = 12 min</ns1:t>
            </ns1:r>
          </ns1:p>
          <ns1:p>
            <ns1:pPr>
              <ns1:defRPr sz="2325" b="0">
                <ns1:solidFill>
                  <ns1:srgbClr val="142C40"/>
                </ns1:solidFill>
                <ns1:latin typeface="Helvetica Neue"/>
                <ns1:ea typeface="Helvetica Neue"/>
                <ns1:cs typeface="Helvetica Neue"/>
              </ns1:defRPr>
            </ns1:pPr>
            <ns1:r>
              <ns1:rPr sz="2325" b="0">
                <ns1:solidFill>
                  <ns1:srgbClr val="142C40"/>
                </ns1:solidFill>
                <ns1:latin typeface="Helvetica Neue"/>
                <ns1:ea typeface="Helvetica Neue"/>
                <ns1:cs typeface="Helvetica Neue"/>
              </ns1:rPr>
              <ns1:t>Business summary: 5 min</ns1:t>
            </ns1:r>
          </ns1:p>
          <ns1:p>
            <ns1:pPr>
              <ns1:defRPr sz="2325" b="0">
                <ns1:solidFill>
                  <ns1:srgbClr val="142C40"/>
                </ns1:solidFill>
                <ns1:latin typeface="Helvetica Neue"/>
                <ns1:ea typeface="Helvetica Neue"/>
                <ns1:cs typeface="Helvetica Neue"/>
              </ns1:defRPr>
            </ns1:pPr>
            <ns1:r>
              <ns1:rPr sz="2325" b="0">
                <ns1:solidFill>
                  <ns1:srgbClr val="142C40"/>
                </ns1:solidFill>
                <ns1:latin typeface="Helvetica Neue"/>
                <ns1:ea typeface="Helvetica Neue"/>
                <ns1:cs typeface="Helvetica Neue"/>
              </ns1:rPr>
              <ns1:t>Buffer and Terms to Know: 6–8 min</ns1:t>
            </ns1:r>
          </ns1:p>
        </p:txBody>
      </p:sp>
    </p:spTree>
    <p:extLst>
      <p:ext uri="{BB962C8B-B14F-4D97-AF65-F5344CB8AC3E}">
        <ns3:creationId val="1250080913"/>
      </p:ext>
    </p:extLst>
  </p:cSld>
  <p:transition spd="fast" advClick="1">
    <p:fade/>
  </p:transition>
</p:sld>
</file>

<file path=ppt/slides/slide3.xml><?xml version="1.0" encoding="utf-8"?>
<p:sld xmlns:ns1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ns1:solidFill>
          <ns1:srgbClr val="FAF7EF"/>
        </ns1:solidFill>
      </p:bgPr>
    </p:bg>
    <p:spTree>
      <p:nvGrpSpPr>
        <p:cNvPr id="1" name=""/>
        <p:cNvGrpSpPr/>
        <p:nvPr/>
      </p:nvGrpSpPr>
      <p:grpSpPr>
        <ns1:xfrm/>
      </p:grpSpPr>
      <p:sp>
        <p:nvSpPr>
          <p:cNvPr id="4" name="">
            <ns1:extLst>
              <ns1:ext uri="{FF2B5EF4-FFF2-40B4-BE49-F238E27FC236}">
                <ns2:creationId id="{1B8C1443-850A-479E-B61C-47B1ABEC9D1D}"/>
              </ns1:ext>
            </ns1:extLst>
          </p:cNvPr>
          <p:cNvSpPr>
            <ns1:spLocks noGrp="1"/>
          </p:cNvSpPr>
          <p:nvPr/>
        </p:nvSpPr>
        <p:spPr>
          <ns1:xfrm>
            <ns1:off x="619125" y="419100"/>
            <ns1:ext cx="10572750" cy="800100"/>
          </ns1:xfrm>
          <ns1:prstGeom prst="rect">
            <ns1:avLst/>
          </ns1:prstGeom>
          <ns1:noFill/>
          <ns1:ln w="0">
            <ns1:noFill/>
          </ns1:ln>
        </p:spPr>
        <p:txBody>
          <ns1:bodyPr/>
          <ns1:lstStyle>
            <ns1:defPPr>
              <ns1:defRPr sz="3300" b="1">
                <ns1:solidFill>
                  <ns1:srgbClr val="142C40"/>
                </ns1:solidFill>
                <ns1:latin typeface="Helvetica Neue"/>
                <ns1:ea typeface="Helvetica Neue"/>
                <ns1:cs typeface="Helvetica Neue"/>
              </ns1:defRPr>
            </ns1:defPPr>
          </ns1:lstStyle>
          <ns1:p>
            <ns1:pPr>
              <ns1:defRPr sz="3300" b="1">
                <ns1:solidFill>
                  <ns1:srgbClr val="142C40"/>
                </ns1:solidFill>
                <ns1:latin typeface="Helvetica Neue"/>
                <ns1:ea typeface="Helvetica Neue"/>
                <ns1:cs typeface="Helvetica Neue"/>
              </ns1:defRPr>
            </ns1:pPr>
            <ns1:r>
              <ns1:rPr sz="3300" b="1">
                <ns1:solidFill>
                  <ns1:srgbClr val="142C40"/>
                </ns1:solidFill>
                <ns1:latin typeface="Helvetica Neue"/>
                <ns1:ea typeface="Helvetica Neue"/>
                <ns1:cs typeface="Helvetica Neue"/>
              </ns1:rPr>
              <ns1:t>Proficiency and deeper reasoning</ns1:t>
            </ns1:r>
          </ns1:p>
        </p:txBody>
      </p:sp>
      <p:sp>
        <p:nvSpPr>
          <p:cNvPr id="2" name="">
            <ns1:extLst>
              <ns1:ext uri="{FF2B5EF4-FFF2-40B4-BE49-F238E27FC236}">
                <ns2:creationId id="{47E4AEE0-6B1B-4B6B-B137-B89B95040253}"/>
              </ns1:ext>
            </ns1:extLst>
          </p:cNvPr>
          <p:cNvSpPr>
            <ns1:spLocks noGrp="1"/>
          </p:cNvSpPr>
          <p:nvPr/>
        </p:nvSpPr>
        <p:spPr>
          <ns1:xfrm>
            <ns1:off x="619125" y="6124575"/>
            <ns1:ext cx="10572750" cy="342900"/>
          </ns1:xfrm>
          <ns1:prstGeom prst="rect">
            <ns1:avLst/>
          </ns1:prstGeom>
          <ns1:noFill/>
          <ns1:ln w="0">
            <ns1:noFill/>
          </ns1:ln>
        </p:spPr>
        <p:txBody>
          <ns1:bodyPr/>
          <ns1:lstStyle>
            <ns1:defPPr>
              <ns1:defRPr sz="1800" b="1">
                <ns1:solidFill>
                  <ns1:srgbClr val="147D80"/>
                </ns1:solidFill>
                <ns1:latin typeface="Helvetica Neue"/>
                <ns1:ea typeface="Helvetica Neue"/>
                <ns1:cs typeface="Helvetica Neue"/>
              </ns1:defRPr>
            </ns1:defPPr>
          </ns1:lstStyle>
          <ns1:p>
            <ns1:pPr>
              <ns1:defRPr sz="1800" b="1">
                <ns1:solidFill>
                  <ns1:srgbClr val="147D80"/>
                </ns1:solidFill>
                <ns1:latin typeface="Helvetica Neue"/>
                <ns1:ea typeface="Helvetica Neue"/>
                <ns1:cs typeface="Helvetica Neue"/>
              </ns1:defRPr>
            </ns1:pPr>
            <ns1:r>
              <ns1:rPr sz="1800" b="1">
                <ns1:solidFill>
                  <ns1:srgbClr val="147D80"/>
                </ns1:solidFill>
                <ns1:latin typeface="Helvetica Neue"/>
                <ns1:ea typeface="Helvetica Neue"/>
                <ns1:cs typeface="Helvetica Neue"/>
              </ns1:rPr>
              <ns1:t>Proposed grading for SBTE review</ns1:t>
            </ns1:r>
          </ns1:p>
        </p:txBody>
      </p:sp>
      <p:sp>
        <p:nvSpPr>
          <p:cNvPr id="3" name="">
            <ns1:extLst>
              <ns1:ext uri="{FF2B5EF4-FFF2-40B4-BE49-F238E27FC236}">
                <ns2:creationId id="{FB5FAD6C-6CB5-4A10-8752-CAA3B9163A0D}"/>
              </ns1:ext>
            </ns1:extLst>
          </p:cNvPr>
          <p:cNvSpPr>
            <ns1:spLocks noGrp="1"/>
          </p:cNvSpPr>
          <p:nvPr/>
        </p:nvSpPr>
        <p:spPr>
          <ns1:xfrm>
            <ns1:off x="619125" y="1581150"/>
            <ns1:ext cx="10572750" cy="4286250"/>
          </ns1:xfrm>
          <ns1:prstGeom prst="rect">
            <ns1:avLst/>
          </ns1:prstGeom>
          <ns1:noFill/>
          <ns1:ln w="0">
            <ns1:noFill/>
          </ns1:ln>
        </p:spPr>
        <p:txBody>
          <ns1:bodyPr/>
          <ns1:lstStyle>
            <ns1:defPPr>
              <ns1:defRPr sz="2325" b="0">
                <ns1:solidFill>
                  <ns1:srgbClr val="142C40"/>
                </ns1:solidFill>
                <ns1:latin typeface="Helvetica Neue"/>
                <ns1:ea typeface="Helvetica Neue"/>
                <ns1:cs typeface="Helvetica Neue"/>
              </ns1:defRPr>
            </ns1:defPPr>
          </ns1:lstStyle>
          <ns1:p>
            <ns1:pPr>
              <ns1:defRPr sz="2325" b="0">
                <ns1:solidFill>
                  <ns1:srgbClr val="142C40"/>
                </ns1:solidFill>
                <ns1:latin typeface="Helvetica Neue"/>
                <ns1:ea typeface="Helvetica Neue"/>
                <ns1:cs typeface="Helvetica Neue"/>
              </ns1:defRPr>
            </ns1:pPr>
            <ns1:r>
              <ns1:rPr sz="2325" b="0">
                <ns1:solidFill>
                  <ns1:srgbClr val="142C40"/>
                </ns1:solidFill>
                <ns1:latin typeface="Helvetica Neue"/>
                <ns1:ea typeface="Helvetica Neue"/>
                <ns1:cs typeface="Helvetica Neue"/>
              </ns1:rPr>
              <ns1:t>3  Proficient</ns1:t>
            </ns1:r>
          </ns1:p>
          <ns1:p>
            <ns1:pPr>
              <ns1:defRPr sz="2325" b="0">
                <ns1:solidFill>
                  <ns1:srgbClr val="142C40"/>
                </ns1:solidFill>
                <ns1:latin typeface="Helvetica Neue"/>
                <ns1:ea typeface="Helvetica Neue"/>
                <ns1:cs typeface="Helvetica Neue"/>
              </ns1:defRPr>
            </ns1:pPr>
            <ns1:r>
              <ns1:rPr sz="2325" b="0">
                <ns1:solidFill>
                  <ns1:srgbClr val="142C40"/>
                </ns1:solidFill>
                <ns1:latin typeface="Helvetica Neue"/>
                <ns1:ea typeface="Helvetica Neue"/>
                <ns1:cs typeface="Helvetica Neue"/>
              </ns1:rPr>
              <ns1:t>Accurate PEST categories, relevant examples, + and − impacts explained in complete thoughts, and a clear business response.</ns1:t>
            </ns1:r>
          </ns1:p>
          <ns1:p>
            <ns1:r>
              <ns1:t/>
            </ns1:r>
          </ns1:p>
          <ns1:p>
            <ns1:pPr>
              <ns1:defRPr sz="2325" b="0">
                <ns1:solidFill>
                  <ns1:srgbClr val="142C40"/>
                </ns1:solidFill>
                <ns1:latin typeface="Helvetica Neue"/>
                <ns1:ea typeface="Helvetica Neue"/>
                <ns1:cs typeface="Helvetica Neue"/>
              </ns1:defRPr>
            </ns1:pPr>
            <ns1:r>
              <ns1:rPr sz="2325" b="0">
                <ns1:solidFill>
                  <ns1:srgbClr val="142C40"/>
                </ns1:solidFill>
                <ns1:latin typeface="Helvetica Neue"/>
                <ns1:ea typeface="Helvetica Neue"/>
                <ns1:cs typeface="Helvetica Neue"/>
              </ns1:rPr>
              <ns1:t>4  Exceeds</ns1:t>
            </ns1:r>
          </ns1:p>
          <ns1:p>
            <ns1:pPr>
              <ns1:defRPr sz="2325" b="0">
                <ns1:solidFill>
                  <ns1:srgbClr val="142C40"/>
                </ns1:solidFill>
                <ns1:latin typeface="Helvetica Neue"/>
                <ns1:ea typeface="Helvetica Neue"/>
                <ns1:cs typeface="Helvetica Neue"/>
              </ns1:defRPr>
            </ns1:pPr>
            <ns1:r>
              <ns1:rPr sz="2325" b="0">
                <ns1:solidFill>
                  <ns1:srgbClr val="142C40"/>
                </ns1:solidFill>
                <ns1:latin typeface="Helvetica Neue"/>
                <ns1:ea typeface="Helvetica Neue"/>
                <ns1:cs typeface="Helvetica Neue"/>
              </ns1:rPr>
              <ns1:t>Meets level 3 and independently explains a justified priority, trade-off, or connection between factors.</ns1:t>
            </ns1:r>
          </ns1:p>
        </p:txBody>
      </p:sp>
    </p:spTree>
    <p:extLst>
      <p:ext uri="{BB962C8B-B14F-4D97-AF65-F5344CB8AC3E}">
        <ns3:creationId val="1176243734"/>
      </p:ext>
    </p:extLst>
  </p:cSld>
  <p:transition spd="fast" advClick="1">
    <p:fade/>
  </p:transition>
</p:sld>
</file>

<file path=ppt/slides/slide4.xml><?xml version="1.0" encoding="utf-8"?>
<p:sld xmlns:ns1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ns1:solidFill>
          <ns1:srgbClr val="FAF7EF"/>
        </ns1:solidFill>
      </p:bgPr>
    </p:bg>
    <p:spTree>
      <p:nvGrpSpPr>
        <p:cNvPr id="1" name=""/>
        <p:cNvGrpSpPr/>
        <p:nvPr/>
      </p:nvGrpSpPr>
      <p:grpSpPr>
        <ns1:xfrm/>
      </p:grpSpPr>
      <p:sp>
        <p:nvSpPr>
          <p:cNvPr id="4" name="">
            <ns1:extLst>
              <ns1:ext uri="{FF2B5EF4-FFF2-40B4-BE49-F238E27FC236}">
                <ns2:creationId id="{B4C41C37-8F74-48C3-A2E1-EB7CF2A9C199}"/>
              </ns1:ext>
            </ns1:extLst>
          </p:cNvPr>
          <p:cNvSpPr>
            <ns1:spLocks noGrp="1"/>
          </p:cNvSpPr>
          <p:nvPr/>
        </p:nvSpPr>
        <p:spPr>
          <ns1:xfrm>
            <ns1:off x="619125" y="419100"/>
            <ns1:ext cx="10572750" cy="800100"/>
          </ns1:xfrm>
          <ns1:prstGeom prst="rect">
            <ns1:avLst/>
          </ns1:prstGeom>
          <ns1:noFill/>
          <ns1:ln w="0">
            <ns1:noFill/>
          </ns1:ln>
        </p:spPr>
        <p:txBody>
          <ns1:bodyPr/>
          <ns1:lstStyle>
            <ns1:defPPr>
              <ns1:defRPr sz="3300" b="1">
                <ns1:solidFill>
                  <ns1:srgbClr val="142C40"/>
                </ns1:solidFill>
                <ns1:latin typeface="Helvetica Neue"/>
                <ns1:ea typeface="Helvetica Neue"/>
                <ns1:cs typeface="Helvetica Neue"/>
              </ns1:defRPr>
            </ns1:defPPr>
          </ns1:lstStyle>
          <ns1:p>
            <ns1:pPr>
              <ns1:defRPr sz="3300" b="1">
                <ns1:solidFill>
                  <ns1:srgbClr val="142C40"/>
                </ns1:solidFill>
                <ns1:latin typeface="Helvetica Neue"/>
                <ns1:ea typeface="Helvetica Neue"/>
                <ns1:cs typeface="Helvetica Neue"/>
              </ns1:defRPr>
            </ns1:pPr>
            <ns1:r>
              <ns1:rPr sz="3300" b="1">
                <ns1:solidFill>
                  <ns1:srgbClr val="142C40"/>
                </ns1:solidFill>
                <ns1:latin typeface="Helvetica Neue"/>
                <ns1:ea typeface="Helvetica Neue"/>
                <ns1:cs typeface="Helvetica Neue"/>
              </ns1:rPr>
              <ns1:t>Developing understanding</ns1:t>
            </ns1:r>
          </ns1:p>
        </p:txBody>
      </p:sp>
      <p:sp>
        <p:nvSpPr>
          <p:cNvPr id="2" name="">
            <ns1:extLst>
              <ns1:ext uri="{FF2B5EF4-FFF2-40B4-BE49-F238E27FC236}">
                <ns2:creationId id="{01F2810A-A26D-442F-8A56-E42BC459DB33}"/>
              </ns1:ext>
            </ns1:extLst>
          </p:cNvPr>
          <p:cNvSpPr>
            <ns1:spLocks noGrp="1"/>
          </p:cNvSpPr>
          <p:nvPr/>
        </p:nvSpPr>
        <p:spPr>
          <ns1:xfrm>
            <ns1:off x="619125" y="6124575"/>
            <ns1:ext cx="10572750" cy="342900"/>
          </ns1:xfrm>
          <ns1:prstGeom prst="rect">
            <ns1:avLst/>
          </ns1:prstGeom>
          <ns1:noFill/>
          <ns1:ln w="0">
            <ns1:noFill/>
          </ns1:ln>
        </p:spPr>
        <p:txBody>
          <ns1:bodyPr/>
          <ns1:lstStyle>
            <ns1:defPPr>
              <ns1:defRPr sz="1800" b="1">
                <ns1:solidFill>
                  <ns1:srgbClr val="147D80"/>
                </ns1:solidFill>
                <ns1:latin typeface="Helvetica Neue"/>
                <ns1:ea typeface="Helvetica Neue"/>
                <ns1:cs typeface="Helvetica Neue"/>
              </ns1:defRPr>
            </ns1:defPPr>
          </ns1:lstStyle>
          <ns1:p>
            <ns1:pPr>
              <ns1:defRPr sz="1800" b="1">
                <ns1:solidFill>
                  <ns1:srgbClr val="147D80"/>
                </ns1:solidFill>
                <ns1:latin typeface="Helvetica Neue"/>
                <ns1:ea typeface="Helvetica Neue"/>
                <ns1:cs typeface="Helvetica Neue"/>
              </ns1:defRPr>
            </ns1:pPr>
            <ns1:r>
              <ns1:rPr sz="1800" b="1">
                <ns1:solidFill>
                  <ns1:srgbClr val="147D80"/>
                </ns1:solidFill>
                <ns1:latin typeface="Helvetica Neue"/>
                <ns1:ea typeface="Helvetica Neue"/>
                <ns1:cs typeface="Helvetica Neue"/>
              </ns1:rPr>
              <ns1:t>Explain the impact, not just a keyword</ns1:t>
            </ns1:r>
          </ns1:p>
        </p:txBody>
      </p:sp>
      <p:sp>
        <p:nvSpPr>
          <p:cNvPr id="3" name="">
            <ns1:extLst>
              <ns1:ext uri="{FF2B5EF4-FFF2-40B4-BE49-F238E27FC236}">
                <ns2:creationId id="{BB82D747-8AD5-44BB-9B6D-556F7DA16308}"/>
              </ns1:ext>
            </ns1:extLst>
          </p:cNvPr>
          <p:cNvSpPr>
            <ns1:spLocks noGrp="1"/>
          </p:cNvSpPr>
          <p:nvPr/>
        </p:nvSpPr>
        <p:spPr>
          <ns1:xfrm>
            <ns1:off x="619125" y="1581150"/>
            <ns1:ext cx="10572750" cy="4286250"/>
          </ns1:xfrm>
          <ns1:prstGeom prst="rect">
            <ns1:avLst/>
          </ns1:prstGeom>
          <ns1:noFill/>
          <ns1:ln w="0">
            <ns1:noFill/>
          </ns1:ln>
        </p:spPr>
        <p:txBody>
          <ns1:bodyPr/>
          <ns1:lstStyle>
            <ns1:defPPr>
              <ns1:defRPr sz="2325" b="0">
                <ns1:solidFill>
                  <ns1:srgbClr val="142C40"/>
                </ns1:solidFill>
                <ns1:latin typeface="Helvetica Neue"/>
                <ns1:ea typeface="Helvetica Neue"/>
                <ns1:cs typeface="Helvetica Neue"/>
              </ns1:defRPr>
            </ns1:defPPr>
          </ns1:lstStyle>
          <ns1:p>
            <ns1:pPr>
              <ns1:defRPr sz="2325" b="0">
                <ns1:solidFill>
                  <ns1:srgbClr val="142C40"/>
                </ns1:solidFill>
                <ns1:latin typeface="Helvetica Neue"/>
                <ns1:ea typeface="Helvetica Neue"/>
                <ns1:cs typeface="Helvetica Neue"/>
              </ns1:defRPr>
            </ns1:pPr>
            <ns1:r>
              <ns1:rPr sz="2325" b="0">
                <ns1:solidFill>
                  <ns1:srgbClr val="142C40"/>
                </ns1:solidFill>
                <ns1:latin typeface="Helvetica Neue"/>
                <ns1:ea typeface="Helvetica Neue"/>
                <ns1:cs typeface="Helvetica Neue"/>
              </ns1:rPr>
              <ns1:t>2  Developing</ns1:t>
            </ns1:r>
          </ns1:p>
          <ns1:p>
            <ns1:pPr>
              <ns1:defRPr sz="2325" b="0">
                <ns1:solidFill>
                  <ns1:srgbClr val="142C40"/>
                </ns1:solidFill>
                <ns1:latin typeface="Helvetica Neue"/>
                <ns1:ea typeface="Helvetica Neue"/>
                <ns1:cs typeface="Helvetica Neue"/>
              </ns1:defRPr>
            </ns1:pPr>
            <ns1:r>
              <ns1:rPr sz="2325" b="0">
                <ns1:solidFill>
                  <ns1:srgbClr val="142C40"/>
                </ns1:solidFill>
                <ns1:latin typeface="Helvetica Neue"/>
                <ns1:ea typeface="Helvetica Neue"/>
                <ns1:cs typeface="Helvetica Neue"/>
              </ns1:rPr>
              <ns1:t>Some relevant ideas, but impacts or business connections are incomplete or unclear.</ns1:t>
            </ns1:r>
          </ns1:p>
          <ns1:p>
            <ns1:r>
              <ns1:t/>
            </ns1:r>
          </ns1:p>
          <ns1:p>
            <ns1:pPr>
              <ns1:defRPr sz="2325" b="0">
                <ns1:solidFill>
                  <ns1:srgbClr val="142C40"/>
                </ns1:solidFill>
                <ns1:latin typeface="Helvetica Neue"/>
                <ns1:ea typeface="Helvetica Neue"/>
                <ns1:cs typeface="Helvetica Neue"/>
              </ns1:defRPr>
            </ns1:pPr>
            <ns1:r>
              <ns1:rPr sz="2325" b="0">
                <ns1:solidFill>
                  <ns1:srgbClr val="142C40"/>
                </ns1:solidFill>
                <ns1:latin typeface="Helvetica Neue"/>
                <ns1:ea typeface="Helvetica Neue"/>
                <ns1:cs typeface="Helvetica Neue"/>
              </ns1:rPr>
              <ns1:t>1  Initial</ns1:t>
            </ns1:r>
          </ns1:p>
          <ns1:p>
            <ns1:pPr>
              <ns1:defRPr sz="2325" b="0">
                <ns1:solidFill>
                  <ns1:srgbClr val="142C40"/>
                </ns1:solidFill>
                <ns1:latin typeface="Helvetica Neue"/>
                <ns1:ea typeface="Helvetica Neue"/>
                <ns1:cs typeface="Helvetica Neue"/>
              </ns1:defRPr>
            </ns1:pPr>
            <ns1:r>
              <ns1:rPr sz="2325" b="0">
                <ns1:solidFill>
                  <ns1:srgbClr val="142C40"/>
                </ns1:solidFill>
                <ns1:latin typeface="Helvetica Neue"/>
                <ns1:ea typeface="Helvetica Neue"/>
                <ns1:cs typeface="Helvetica Neue"/>
              </ns1:rPr>
              <ns1:t>Limited relevant evidence so far; substantial support needed to explain the effects.</ns1:t>
            </ns1:r>
          </ns1:p>
          <ns1:p>
            <ns1:r>
              <ns1:t/>
            </ns1:r>
          </ns1:p>
          <ns1:p>
            <ns1:pPr>
              <ns1:defRPr sz="2325" b="0">
                <ns1:solidFill>
                  <ns1:srgbClr val="142C40"/>
                </ns1:solidFill>
                <ns1:latin typeface="Helvetica Neue"/>
                <ns1:ea typeface="Helvetica Neue"/>
                <ns1:cs typeface="Helvetica Neue"/>
              </ns1:defRPr>
            </ns1:pPr>
            <ns1:r>
              <ns1:rPr sz="2325" b="0">
                <ns1:solidFill>
                  <ns1:srgbClr val="142C40"/>
                </ns1:solidFill>
                <ns1:latin typeface="Helvetica Neue"/>
                <ns1:ea typeface="Helvetica Neue"/>
                <ns1:cs typeface="Helvetica Neue"/>
              </ns1:rPr>
              <ns1:t>Use your textbook and notes. Ask for clarification.</ns1:t>
            </ns1:r>
          </ns1:p>
        </p:txBody>
      </p:sp>
    </p:spTree>
    <p:extLst>
      <p:ext uri="{BB962C8B-B14F-4D97-AF65-F5344CB8AC3E}">
        <ns3:creationId val="341631793"/>
      </p:ext>
    </p:extLst>
  </p:cSld>
  <p:transition spd="fast" advClick="1">
    <p:fade/>
  </p:transition>
</p:sld>
</file>

<file path=ppt/slides/slide5.xml><?xml version="1.0" encoding="utf-8"?>
<p:sld xmlns:ns1="http://schemas.openxmlformats.org/drawingml/2006/main" xmlns:ns2="http://schemas.microsoft.com/office/drawing/2014/main" xmlns:ns3="http://schemas.openxmlformats.org/officeDocument/2006/relationships" xmlns:ns4="http://schemas.microsoft.com/office/powerpoint/2010/main" xmlns:p="http://schemas.openxmlformats.org/presentationml/2006/main">
  <p:cSld>
    <p:bg>
      <p:bgPr>
        <ns1:solidFill>
          <ns1:srgbClr val="FAF7EF"/>
        </ns1:solidFill>
      </p:bgPr>
    </p:bg>
    <p:spTree>
      <p:nvGrpSpPr>
        <p:cNvPr id="1" name=""/>
        <p:cNvGrpSpPr/>
        <p:nvPr/>
      </p:nvGrpSpPr>
      <p:grpSpPr>
        <ns1:xfrm/>
      </p:grpSpPr>
      <p:sp>
        <p:nvSpPr>
          <p:cNvPr id="5" name="">
            <ns1:extLst>
              <ns1:ext uri="{FF2B5EF4-FFF2-40B4-BE49-F238E27FC236}">
                <ns2:creationId id="{A51BF408-E22D-4CB6-BADF-422DA418CAF1}"/>
              </ns1:ext>
            </ns1:extLst>
          </p:cNvPr>
          <p:cNvSpPr>
            <ns1:spLocks noGrp="1"/>
          </p:cNvSpPr>
          <p:nvPr/>
        </p:nvSpPr>
        <p:spPr>
          <ns1:xfrm>
            <ns1:off x="619125" y="419100"/>
            <ns1:ext cx="10572750" cy="800100"/>
          </ns1:xfrm>
          <ns1:prstGeom prst="rect">
            <ns1:avLst/>
          </ns1:prstGeom>
          <ns1:noFill/>
          <ns1:ln w="0">
            <ns1:noFill/>
          </ns1:ln>
        </p:spPr>
        <p:txBody>
          <ns1:bodyPr/>
          <ns1:lstStyle>
            <ns1:defPPr>
              <ns1:defRPr sz="3300" b="1">
                <ns1:solidFill>
                  <ns1:srgbClr val="245B8A"/>
                </ns1:solidFill>
                <ns1:latin typeface="Helvetica Neue"/>
                <ns1:ea typeface="Helvetica Neue"/>
                <ns1:cs typeface="Helvetica Neue"/>
              </ns1:defRPr>
            </ns1:defPPr>
          </ns1:lstStyle>
          <ns1:p>
            <ns1:pPr>
              <ns1:defRPr sz="3300" b="1">
                <ns1:solidFill>
                  <ns1:srgbClr val="245B8A"/>
                </ns1:solidFill>
                <ns1:latin typeface="Helvetica Neue"/>
                <ns1:ea typeface="Helvetica Neue"/>
                <ns1:cs typeface="Helvetica Neue"/>
              </ns1:defRPr>
            </ns1:pPr>
            <ns1:r>
              <ns1:rPr sz="3300" b="1">
                <ns1:solidFill>
                  <ns1:srgbClr val="245B8A"/>
                </ns1:solidFill>
                <ns1:latin typeface="Helvetica Neue"/>
                <ns1:ea typeface="Helvetica Neue"/>
                <ns1:cs typeface="Helvetica Neue"/>
              </ns1:rPr>
              <ns1:t>One hypothetical example</ns1:t>
            </ns1:r>
          </ns1:p>
        </p:txBody>
      </p:sp>
      <p:sp>
        <p:nvSpPr>
          <p:cNvPr id="2" name="">
            <ns1:extLst>
              <ns1:ext uri="{FF2B5EF4-FFF2-40B4-BE49-F238E27FC236}">
                <ns2:creationId id="{D1F5B5D4-90E0-41D3-AE54-8320DC3084F7}"/>
              </ns1:ext>
            </ns1:extLst>
          </p:cNvPr>
          <p:cNvSpPr>
            <ns1:spLocks noGrp="1"/>
          </p:cNvSpPr>
          <p:nvPr/>
        </p:nvSpPr>
        <p:spPr>
          <ns1:xfrm>
            <ns1:off x="619125" y="6124575"/>
            <ns1:ext cx="10572750" cy="342900"/>
          </ns1:xfrm>
          <ns1:prstGeom prst="rect">
            <ns1:avLst/>
          </ns1:prstGeom>
          <ns1:noFill/>
          <ns1:ln w="0">
            <ns1:noFill/>
          </ns1:ln>
        </p:spPr>
        <p:txBody>
          <ns1:bodyPr/>
          <ns1:lstStyle>
            <ns1:defPPr>
              <ns1:defRPr sz="1800" b="1">
                <ns1:solidFill>
                  <ns1:srgbClr val="147D80"/>
                </ns1:solidFill>
                <ns1:latin typeface="Helvetica Neue"/>
                <ns1:ea typeface="Helvetica Neue"/>
                <ns1:cs typeface="Helvetica Neue"/>
              </ns1:defRPr>
            </ns1:defPPr>
          </ns1:lstStyle>
          <ns1:p>
            <ns1:pPr>
              <ns1:defRPr sz="1800" b="1">
                <ns1:solidFill>
                  <ns1:srgbClr val="147D80"/>
                </ns1:solidFill>
                <ns1:latin typeface="Helvetica Neue"/>
                <ns1:ea typeface="Helvetica Neue"/>
                <ns1:cs typeface="Helvetica Neue"/>
              </ns1:defRPr>
            </ns1:pPr>
            <ns1:r>
              <ns1:rPr sz="1800" b="1">
                <ns1:solidFill>
                  <ns1:srgbClr val="147D80"/>
                </ns1:solidFill>
                <ns1:latin typeface="Helvetica Neue"/>
                <ns1:ea typeface="Helvetica Neue"/>
                <ns1:cs typeface="Helvetica Neue"/>
              </ns1:rPr>
              <ns1:t>Think first; answers appear on the next clicks</ns1:t>
            </ns1:r>
          </ns1:p>
        </p:txBody>
      </p:sp>
      <p:sp>
        <p:nvSpPr>
          <p:cNvPr id="3" name="">
            <ns1:extLst>
              <ns1:ext uri="{FF2B5EF4-FFF2-40B4-BE49-F238E27FC236}">
                <ns2:creationId id="{25D78123-6486-478A-8392-95B1FC1DE17C}"/>
              </ns1:ext>
            </ns1:extLst>
          </p:cNvPr>
          <p:cNvSpPr>
            <ns1:spLocks noGrp="1"/>
          </p:cNvSpPr>
          <p:nvPr/>
        </p:nvSpPr>
        <p:spPr>
          <ns1:xfrm>
            <ns1:off x="619125" y="1581150"/>
            <ns1:ext cx="6524625" cy="4286250"/>
          </ns1:xfrm>
          <ns1:prstGeom prst="rect">
            <ns1:avLst/>
          </ns1:prstGeom>
          <ns1:noFill/>
          <ns1:ln w="0">
            <ns1:noFill/>
          </ns1:ln>
        </p:spPr>
        <p:txBody>
          <ns1:bodyPr/>
          <ns1:lstStyle>
            <ns1:defPPr>
              <ns1:defRPr sz="2325" b="0">
                <ns1:solidFill>
                  <ns1:srgbClr val="142C40"/>
                </ns1:solidFill>
                <ns1:latin typeface="Helvetica Neue"/>
                <ns1:ea typeface="Helvetica Neue"/>
                <ns1:cs typeface="Helvetica Neue"/>
              </ns1:defRPr>
            </ns1:defPPr>
          </ns1:lstStyle>
          <ns1:p>
            <ns1:pPr>
              <ns1:defRPr sz="2325" b="0">
                <ns1:solidFill>
                  <ns1:srgbClr val="142C40"/>
                </ns1:solidFill>
                <ns1:latin typeface="Helvetica Neue"/>
                <ns1:ea typeface="Helvetica Neue"/>
                <ns1:cs typeface="Helvetica Neue"/>
              </ns1:defRPr>
            </ns1:pPr>
            <ns1:r>
              <ns1:rPr sz="2325" b="0">
                <ns1:solidFill>
                  <ns1:srgbClr val="142C40"/>
                </ns1:solidFill>
                <ns1:latin typeface="Helvetica Neue"/>
                <ns1:ea typeface="Helvetica Neue"/>
                <ns1:cs typeface="Helvetica Neue"/>
              </ns1:rPr>
              <ns1:t>A coffee shop faces stricter food-safety rules.</ns1:t>
            </ns1:r>
          </ns1:p>
          <ns1:p>
            <ns1:r>
              <ns1:t/>
            </ns1:r>
          </ns1:p>
          <ns1:p>
            <ns1:pPr>
              <ns1:defRPr sz="2325" b="0">
                <ns1:solidFill>
                  <ns1:srgbClr val="142C40"/>
                </ns1:solidFill>
                <ns1:latin typeface="Helvetica Neue"/>
                <ns1:ea typeface="Helvetica Neue"/>
                <ns1:cs typeface="Helvetica Neue"/>
              </ns1:defRPr>
            </ns1:pPr>
            <ns1:r>
              <ns1:rPr sz="2325" b="0">
                <ns1:solidFill>
                  <ns1:srgbClr val="142C40"/>
                </ns1:solidFill>
                <ns1:latin typeface="Helvetica Neue"/>
                <ns1:ea typeface="Helvetica Neue"/>
                <ns1:cs typeface="Helvetica Neue"/>
              </ns1:rPr>
              <ns1:t>Which PEST category fits?</ns1:t>
            </ns1:r>
          </ns1:p>
          <ns1:p>
            <ns1:pPr>
              <ns1:defRPr sz="2325" b="0">
                <ns1:solidFill>
                  <ns1:srgbClr val="142C40"/>
                </ns1:solidFill>
                <ns1:latin typeface="Helvetica Neue"/>
                <ns1:ea typeface="Helvetica Neue"/>
                <ns1:cs typeface="Helvetica Neue"/>
              </ns1:defRPr>
            </ns1:pPr>
            <ns1:r>
              <ns1:rPr sz="2325" b="0">
                <ns1:solidFill>
                  <ns1:srgbClr val="142C40"/>
                </ns1:solidFill>
                <ns1:latin typeface="Helvetica Neue"/>
                <ns1:ea typeface="Helvetica Neue"/>
                <ns1:cs typeface="Helvetica Neue"/>
              </ns1:rPr>
              <ns1:t>What could help the business?</ns1:t>
            </ns1:r>
          </ns1:p>
          <ns1:p>
            <ns1:pPr>
              <ns1:defRPr sz="2325" b="0">
                <ns1:solidFill>
                  <ns1:srgbClr val="142C40"/>
                </ns1:solidFill>
                <ns1:latin typeface="Helvetica Neue"/>
                <ns1:ea typeface="Helvetica Neue"/>
                <ns1:cs typeface="Helvetica Neue"/>
              </ns1:defRPr>
            </ns1:pPr>
            <ns1:r>
              <ns1:rPr sz="2325" b="0">
                <ns1:solidFill>
                  <ns1:srgbClr val="142C40"/>
                </ns1:solidFill>
                <ns1:latin typeface="Helvetica Neue"/>
                <ns1:ea typeface="Helvetica Neue"/>
                <ns1:cs typeface="Helvetica Neue"/>
              </ns1:rPr>
              <ns1:t>What could create a difficulty?</ns1:t>
            </ns1:r>
          </ns1:p>
        </p:txBody>
      </p:sp>
      <p:pic>
        <p:nvPicPr>
          <p:cNvPr id="4" name="">
            <ns1:extLst>
              <ns1:ext uri="{FF2B5EF4-FFF2-40B4-BE49-F238E27FC236}">
                <ns2:creationId id="{A0A30AD2-5BF1-4292-9D38-243306241759}"/>
              </ns1:ext>
            </ns1:extLst>
          </p:cNvPr>
          <p:cNvPicPr>
            <ns1:picLocks noChangeAspect="1"/>
          </p:cNvPicPr>
          <p:nvPr/>
        </p:nvPicPr>
        <p:blipFill>
          <ns1:blip ns3:embed="R07f7d394646e484b"/>
          <ns1:srcRect l="0" t="0" r="75000" b="0"/>
          <ns1:stretch/>
        </p:blipFill>
        <p:spPr>
          <ns1:xfrm>
            <ns1:off x="8334375" y="1571625"/>
            <ns1:ext cx="1762125" cy="3857625"/>
          </ns1:xfrm>
          <ns1:prstGeom prst="rect">
            <ns1:avLst/>
          </ns1:prstGeom>
        </p:spPr>
      </p:pic>
    </p:spTree>
    <p:extLst>
      <p:ext uri="{BB962C8B-B14F-4D97-AF65-F5344CB8AC3E}">
        <ns4:creationId val="694694901"/>
      </p:ext>
    </p:extLst>
  </p:cSld>
  <p:transition spd="fast" advClick="1">
    <p:fade/>
  </p:transition>
</p:sld>
</file>

<file path=ppt/slides/slide6.xml><?xml version="1.0" encoding="utf-8"?>
<p:sld xmlns:ns1="http://schemas.openxmlformats.org/drawingml/2006/main" xmlns:ns2="http://schemas.microsoft.com/office/drawing/2014/main" xmlns:ns3="http://schemas.openxmlformats.org/officeDocument/2006/relationships" xmlns:ns4="http://schemas.microsoft.com/office/powerpoint/2010/main" xmlns:p="http://schemas.openxmlformats.org/presentationml/2006/main">
  <p:cSld>
    <p:bg>
      <p:bgPr>
        <ns1:solidFill>
          <ns1:srgbClr val="FAF7EF"/>
        </ns1:solidFill>
      </p:bgPr>
    </p:bg>
    <p:spTree>
      <p:nvGrpSpPr>
        <p:cNvPr id="1" name=""/>
        <p:cNvGrpSpPr/>
        <p:nvPr/>
      </p:nvGrpSpPr>
      <p:grpSpPr>
        <ns1:xfrm/>
      </p:grpSpPr>
      <p:sp>
        <p:nvSpPr>
          <p:cNvPr id="5" name="">
            <ns1:extLst>
              <ns1:ext uri="{FF2B5EF4-FFF2-40B4-BE49-F238E27FC236}">
                <ns2:creationId id="{0B49B94A-B6CA-4606-99CA-EE8843E4344E}"/>
              </ns1:ext>
            </ns1:extLst>
          </p:cNvPr>
          <p:cNvSpPr>
            <ns1:spLocks noGrp="1"/>
          </p:cNvSpPr>
          <p:nvPr/>
        </p:nvSpPr>
        <p:spPr>
          <ns1:xfrm>
            <ns1:off x="619125" y="419100"/>
            <ns1:ext cx="10572750" cy="800100"/>
          </ns1:xfrm>
          <ns1:prstGeom prst="rect">
            <ns1:avLst/>
          </ns1:prstGeom>
          <ns1:noFill/>
          <ns1:ln w="0">
            <ns1:noFill/>
          </ns1:ln>
        </p:spPr>
        <p:txBody>
          <ns1:bodyPr/>
          <ns1:lstStyle>
            <ns1:defPPr>
              <ns1:defRPr sz="3300" b="1">
                <ns1:solidFill>
                  <ns1:srgbClr val="245B8A"/>
                </ns1:solidFill>
                <ns1:latin typeface="Helvetica Neue"/>
                <ns1:ea typeface="Helvetica Neue"/>
                <ns1:cs typeface="Helvetica Neue"/>
              </ns1:defRPr>
            </ns1:defPPr>
          </ns1:lstStyle>
          <ns1:p>
            <ns1:pPr>
              <ns1:defRPr sz="3300" b="1">
                <ns1:solidFill>
                  <ns1:srgbClr val="245B8A"/>
                </ns1:solidFill>
                <ns1:latin typeface="Helvetica Neue"/>
                <ns1:ea typeface="Helvetica Neue"/>
                <ns1:cs typeface="Helvetica Neue"/>
              </ns1:defRPr>
            </ns1:pPr>
            <ns1:r>
              <ns1:rPr sz="3300" b="1">
                <ns1:solidFill>
                  <ns1:srgbClr val="245B8A"/>
                </ns1:solidFill>
                <ns1:latin typeface="Helvetica Neue"/>
                <ns1:ea typeface="Helvetica Neue"/>
                <ns1:cs typeface="Helvetica Neue"/>
              </ns1:rPr>
              <ns1:t>Political influence</ns1:t>
            </ns1:r>
          </ns1:p>
        </p:txBody>
      </p:sp>
      <p:sp>
        <p:nvSpPr>
          <p:cNvPr id="2" name="">
            <ns1:extLst>
              <ns1:ext uri="{FF2B5EF4-FFF2-40B4-BE49-F238E27FC236}">
                <ns2:creationId id="{E563F2F4-6AD4-4A49-96ED-3191C982E672}"/>
              </ns1:ext>
            </ns1:extLst>
          </p:cNvPr>
          <p:cNvSpPr>
            <ns1:spLocks noGrp="1"/>
          </p:cNvSpPr>
          <p:nvPr/>
        </p:nvSpPr>
        <p:spPr>
          <ns1:xfrm>
            <ns1:off x="619125" y="6124575"/>
            <ns1:ext cx="10572750" cy="342900"/>
          </ns1:xfrm>
          <ns1:prstGeom prst="rect">
            <ns1:avLst/>
          </ns1:prstGeom>
          <ns1:noFill/>
          <ns1:ln w="0">
            <ns1:noFill/>
          </ns1:ln>
        </p:spPr>
        <p:txBody>
          <ns1:bodyPr/>
          <ns1:lstStyle>
            <ns1:defPPr>
              <ns1:defRPr sz="1800" b="1">
                <ns1:solidFill>
                  <ns1:srgbClr val="147D80"/>
                </ns1:solidFill>
                <ns1:latin typeface="Helvetica Neue"/>
                <ns1:ea typeface="Helvetica Neue"/>
                <ns1:cs typeface="Helvetica Neue"/>
              </ns1:defRPr>
            </ns1:defPPr>
          </ns1:lstStyle>
          <ns1:p>
            <ns1:pPr>
              <ns1:defRPr sz="1800" b="1">
                <ns1:solidFill>
                  <ns1:srgbClr val="147D80"/>
                </ns1:solidFill>
                <ns1:latin typeface="Helvetica Neue"/>
                <ns1:ea typeface="Helvetica Neue"/>
                <ns1:cs typeface="Helvetica Neue"/>
              </ns1:defRPr>
            </ns1:pPr>
            <ns1:r>
              <ns1:rPr sz="1800" b="1">
                <ns1:solidFill>
                  <ns1:srgbClr val="147D80"/>
                </ns1:solidFill>
                <ns1:latin typeface="Helvetica Neue"/>
                <ns1:ea typeface="Helvetica Neue"/>
                <ns1:cs typeface="Helvetica Neue"/>
              </ns1:rPr>
              <ns1:t>First reveal: category and positive impact</ns1:t>
            </ns1:r>
          </ns1:p>
        </p:txBody>
      </p:sp>
      <p:sp>
        <p:nvSpPr>
          <p:cNvPr id="3" name="">
            <ns1:extLst>
              <ns1:ext uri="{FF2B5EF4-FFF2-40B4-BE49-F238E27FC236}">
                <ns2:creationId id="{121EE162-5C52-418D-9777-16CCD5BC7934}"/>
              </ns1:ext>
            </ns1:extLst>
          </p:cNvPr>
          <p:cNvSpPr>
            <ns1:spLocks noGrp="1"/>
          </p:cNvSpPr>
          <p:nvPr/>
        </p:nvSpPr>
        <p:spPr>
          <ns1:xfrm>
            <ns1:off x="619125" y="1581150"/>
            <ns1:ext cx="6524625" cy="4286250"/>
          </ns1:xfrm>
          <ns1:prstGeom prst="rect">
            <ns1:avLst/>
          </ns1:prstGeom>
          <ns1:noFill/>
          <ns1:ln w="0">
            <ns1:noFill/>
          </ns1:ln>
        </p:spPr>
        <p:txBody>
          <ns1:bodyPr/>
          <ns1:lstStyle>
            <ns1:defPPr>
              <ns1:defRPr sz="2325" b="0">
                <ns1:solidFill>
                  <ns1:srgbClr val="142C40"/>
                </ns1:solidFill>
                <ns1:latin typeface="Helvetica Neue"/>
                <ns1:ea typeface="Helvetica Neue"/>
                <ns1:cs typeface="Helvetica Neue"/>
              </ns1:defRPr>
            </ns1:defPPr>
          </ns1:lstStyle>
          <ns1:p>
            <ns1:pPr>
              <ns1:defRPr sz="2325" b="0">
                <ns1:solidFill>
                  <ns1:srgbClr val="142C40"/>
                </ns1:solidFill>
                <ns1:latin typeface="Helvetica Neue"/>
                <ns1:ea typeface="Helvetica Neue"/>
                <ns1:cs typeface="Helvetica Neue"/>
              </ns1:defRPr>
            </ns1:pPr>
            <ns1:r>
              <ns1:rPr sz="2325" b="0">
                <ns1:solidFill>
                  <ns1:srgbClr val="142C40"/>
                </ns1:solidFill>
                <ns1:latin typeface="Helvetica Neue"/>
                <ns1:ea typeface="Helvetica Neue"/>
                <ns1:cs typeface="Helvetica Neue"/>
              </ns1:rPr>
              <ns1:t>Stricter food-safety rules</ns1:t>
            </ns1:r>
          </ns1:p>
          <ns1:p>
            <ns1:r>
              <ns1:t/>
            </ns1:r>
          </ns1:p>
          <ns1:p>
            <ns1:pPr>
              <ns1:defRPr sz="2325" b="0">
                <ns1:solidFill>
                  <ns1:srgbClr val="142C40"/>
                </ns1:solidFill>
                <ns1:latin typeface="Helvetica Neue"/>
                <ns1:ea typeface="Helvetica Neue"/>
                <ns1:cs typeface="Helvetica Neue"/>
              </ns1:defRPr>
            </ns1:pPr>
            <ns1:r>
              <ns1:rPr sz="2325" b="0">
                <ns1:solidFill>
                  <ns1:srgbClr val="142C40"/>
                </ns1:solidFill>
                <ns1:latin typeface="Helvetica Neue"/>
                <ns1:ea typeface="Helvetica Neue"/>
                <ns1:cs typeface="Helvetica Neue"/>
              </ns1:rPr>
              <ns1:t>+ Customers may trust a shop that demonstrates compliance.</ns1:t>
            </ns1:r>
          </ns1:p>
          <ns1:p>
            <ns1:r>
              <ns1:t/>
            </ns1:r>
          </ns1:p>
          <ns1:p>
            <ns1:pPr>
              <ns1:defRPr sz="2325" b="0">
                <ns1:solidFill>
                  <ns1:srgbClr val="142C40"/>
                </ns1:solidFill>
                <ns1:latin typeface="Helvetica Neue"/>
                <ns1:ea typeface="Helvetica Neue"/>
                <ns1:cs typeface="Helvetica Neue"/>
              </ns1:defRPr>
            </ns1:pPr>
            <ns1:r>
              <ns1:rPr sz="2325" b="0">
                <ns1:solidFill>
                  <ns1:srgbClr val="142C40"/>
                </ns1:solidFill>
                <ns1:latin typeface="Helvetica Neue"/>
                <ns1:ea typeface="Helvetica Neue"/>
                <ns1:cs typeface="Helvetica Neue"/>
              </ns1:rPr>
              <ns1:t>− What possible cost could the shop face?</ns1:t>
            </ns1:r>
          </ns1:p>
        </p:txBody>
      </p:sp>
      <p:pic>
        <p:nvPicPr>
          <p:cNvPr id="4" name="">
            <ns1:extLst>
              <ns1:ext uri="{FF2B5EF4-FFF2-40B4-BE49-F238E27FC236}">
                <ns2:creationId id="{642D9D91-9C89-4BDE-9258-28964F858AF7}"/>
              </ns1:ext>
            </ns1:extLst>
          </p:cNvPr>
          <p:cNvPicPr>
            <ns1:picLocks noChangeAspect="1"/>
          </p:cNvPicPr>
          <p:nvPr/>
        </p:nvPicPr>
        <p:blipFill>
          <ns1:blip ns3:embed="R6e9fd9e24fa74a73"/>
          <ns1:srcRect l="0" t="0" r="75000" b="0"/>
          <ns1:stretch/>
        </p:blipFill>
        <p:spPr>
          <ns1:xfrm>
            <ns1:off x="8334375" y="1571625"/>
            <ns1:ext cx="1762125" cy="3857625"/>
          </ns1:xfrm>
          <ns1:prstGeom prst="rect">
            <ns1:avLst/>
          </ns1:prstGeom>
        </p:spPr>
      </p:pic>
    </p:spTree>
    <p:extLst>
      <p:ext uri="{BB962C8B-B14F-4D97-AF65-F5344CB8AC3E}">
        <ns4:creationId val="1518909902"/>
      </p:ext>
    </p:extLst>
  </p:cSld>
  <p:transition spd="fast" advClick="1">
    <p:fade/>
  </p:transition>
</p:sld>
</file>

<file path=ppt/slides/slide7.xml><?xml version="1.0" encoding="utf-8"?>
<p:sld xmlns:ns1="http://schemas.openxmlformats.org/drawingml/2006/main" xmlns:ns2="http://schemas.microsoft.com/office/drawing/2014/main" xmlns:ns3="http://schemas.openxmlformats.org/officeDocument/2006/relationships" xmlns:ns4="http://schemas.microsoft.com/office/powerpoint/2010/main" xmlns:p="http://schemas.openxmlformats.org/presentationml/2006/main">
  <p:cSld>
    <p:bg>
      <p:bgPr>
        <ns1:solidFill>
          <ns1:srgbClr val="FAF7EF"/>
        </ns1:solidFill>
      </p:bgPr>
    </p:bg>
    <p:spTree>
      <p:nvGrpSpPr>
        <p:cNvPr id="1" name=""/>
        <p:cNvGrpSpPr/>
        <p:nvPr/>
      </p:nvGrpSpPr>
      <p:grpSpPr>
        <ns1:xfrm/>
      </p:grpSpPr>
      <p:sp>
        <p:nvSpPr>
          <p:cNvPr id="5" name="">
            <ns1:extLst>
              <ns1:ext uri="{FF2B5EF4-FFF2-40B4-BE49-F238E27FC236}">
                <ns2:creationId id="{69A36249-7146-4FA7-9669-584C8CCAB28B}"/>
              </ns1:ext>
            </ns1:extLst>
          </p:cNvPr>
          <p:cNvSpPr>
            <ns1:spLocks noGrp="1"/>
          </p:cNvSpPr>
          <p:nvPr/>
        </p:nvSpPr>
        <p:spPr>
          <ns1:xfrm>
            <ns1:off x="619125" y="419100"/>
            <ns1:ext cx="10572750" cy="800100"/>
          </ns1:xfrm>
          <ns1:prstGeom prst="rect">
            <ns1:avLst/>
          </ns1:prstGeom>
          <ns1:noFill/>
          <ns1:ln w="0">
            <ns1:noFill/>
          </ns1:ln>
        </p:spPr>
        <p:txBody>
          <ns1:bodyPr/>
          <ns1:lstStyle>
            <ns1:defPPr>
              <ns1:defRPr sz="3300" b="1">
                <ns1:solidFill>
                  <ns1:srgbClr val="245B8A"/>
                </ns1:solidFill>
                <ns1:latin typeface="Helvetica Neue"/>
                <ns1:ea typeface="Helvetica Neue"/>
                <ns1:cs typeface="Helvetica Neue"/>
              </ns1:defRPr>
            </ns1:defPPr>
          </ns1:lstStyle>
          <ns1:p>
            <ns1:pPr>
              <ns1:defRPr sz="3300" b="1">
                <ns1:solidFill>
                  <ns1:srgbClr val="245B8A"/>
                </ns1:solidFill>
                <ns1:latin typeface="Helvetica Neue"/>
                <ns1:ea typeface="Helvetica Neue"/>
                <ns1:cs typeface="Helvetica Neue"/>
              </ns1:defRPr>
            </ns1:pPr>
            <ns1:r>
              <ns1:rPr sz="3300" b="1">
                <ns1:solidFill>
                  <ns1:srgbClr val="245B8A"/>
                </ns1:solidFill>
                <ns1:latin typeface="Helvetica Neue"/>
                <ns1:ea typeface="Helvetica Neue"/>
                <ns1:cs typeface="Helvetica Neue"/>
              </ns1:rPr>
              <ns1:t>Political influence</ns1:t>
            </ns1:r>
          </ns1:p>
        </p:txBody>
      </p:sp>
      <p:sp>
        <p:nvSpPr>
          <p:cNvPr id="2" name="">
            <ns1:extLst>
              <ns1:ext uri="{FF2B5EF4-FFF2-40B4-BE49-F238E27FC236}">
                <ns2:creationId id="{4F5053E5-F1B1-4D5E-9515-E3BD2C044EB6}"/>
              </ns1:ext>
            </ns1:extLst>
          </p:cNvPr>
          <p:cNvSpPr>
            <ns1:spLocks noGrp="1"/>
          </p:cNvSpPr>
          <p:nvPr/>
        </p:nvSpPr>
        <p:spPr>
          <ns1:xfrm>
            <ns1:off x="619125" y="6124575"/>
            <ns1:ext cx="10572750" cy="342900"/>
          </ns1:xfrm>
          <ns1:prstGeom prst="rect">
            <ns1:avLst/>
          </ns1:prstGeom>
          <ns1:noFill/>
          <ns1:ln w="0">
            <ns1:noFill/>
          </ns1:ln>
        </p:spPr>
        <p:txBody>
          <ns1:bodyPr/>
          <ns1:lstStyle>
            <ns1:defPPr>
              <ns1:defRPr sz="1800" b="1">
                <ns1:solidFill>
                  <ns1:srgbClr val="147D80"/>
                </ns1:solidFill>
                <ns1:latin typeface="Helvetica Neue"/>
                <ns1:ea typeface="Helvetica Neue"/>
                <ns1:cs typeface="Helvetica Neue"/>
              </ns1:defRPr>
            </ns1:defPPr>
          </ns1:lstStyle>
          <ns1:p>
            <ns1:pPr>
              <ns1:defRPr sz="1800" b="1">
                <ns1:solidFill>
                  <ns1:srgbClr val="147D80"/>
                </ns1:solidFill>
                <ns1:latin typeface="Helvetica Neue"/>
                <ns1:ea typeface="Helvetica Neue"/>
                <ns1:cs typeface="Helvetica Neue"/>
              </ns1:defRPr>
            </ns1:pPr>
            <ns1:r>
              <ns1:rPr sz="1800" b="1">
                <ns1:solidFill>
                  <ns1:srgbClr val="147D80"/>
                </ns1:solidFill>
                <ns1:latin typeface="Helvetica Neue"/>
                <ns1:ea typeface="Helvetica Neue"/>
                <ns1:cs typeface="Helvetica Neue"/>
              </ns1:rPr>
              <ns1:t>Second reveal: negative impact</ns1:t>
            </ns1:r>
          </ns1:p>
        </p:txBody>
      </p:sp>
      <p:sp>
        <p:nvSpPr>
          <p:cNvPr id="3" name="">
            <ns1:extLst>
              <ns1:ext uri="{FF2B5EF4-FFF2-40B4-BE49-F238E27FC236}">
                <ns2:creationId id="{6432D036-8D1D-4736-99FF-2309AD8D9C8B}"/>
              </ns1:ext>
            </ns1:extLst>
          </p:cNvPr>
          <p:cNvSpPr>
            <ns1:spLocks noGrp="1"/>
          </p:cNvSpPr>
          <p:nvPr/>
        </p:nvSpPr>
        <p:spPr>
          <ns1:xfrm>
            <ns1:off x="619125" y="1581150"/>
            <ns1:ext cx="6524625" cy="4286250"/>
          </ns1:xfrm>
          <ns1:prstGeom prst="rect">
            <ns1:avLst/>
          </ns1:prstGeom>
          <ns1:noFill/>
          <ns1:ln w="0">
            <ns1:noFill/>
          </ns1:ln>
        </p:spPr>
        <p:txBody>
          <ns1:bodyPr/>
          <ns1:lstStyle>
            <ns1:defPPr>
              <ns1:defRPr sz="2325" b="0">
                <ns1:solidFill>
                  <ns1:srgbClr val="142C40"/>
                </ns1:solidFill>
                <ns1:latin typeface="Helvetica Neue"/>
                <ns1:ea typeface="Helvetica Neue"/>
                <ns1:cs typeface="Helvetica Neue"/>
              </ns1:defRPr>
            </ns1:defPPr>
          </ns1:lstStyle>
          <ns1:p>
            <ns1:pPr>
              <ns1:defRPr sz="2325" b="0">
                <ns1:solidFill>
                  <ns1:srgbClr val="142C40"/>
                </ns1:solidFill>
                <ns1:latin typeface="Helvetica Neue"/>
                <ns1:ea typeface="Helvetica Neue"/>
                <ns1:cs typeface="Helvetica Neue"/>
              </ns1:defRPr>
            </ns1:pPr>
            <ns1:r>
              <ns1:rPr sz="2325" b="0">
                <ns1:solidFill>
                  <ns1:srgbClr val="142C40"/>
                </ns1:solidFill>
                <ns1:latin typeface="Helvetica Neue"/>
                <ns1:ea typeface="Helvetica Neue"/>
                <ns1:cs typeface="Helvetica Neue"/>
              </ns1:rPr>
              <ns1:t>Stricter food-safety rules</ns1:t>
            </ns1:r>
          </ns1:p>
          <ns1:p>
            <ns1:r>
              <ns1:t/>
            </ns1:r>
          </ns1:p>
          <ns1:p>
            <ns1:pPr>
              <ns1:defRPr sz="2325" b="0">
                <ns1:solidFill>
                  <ns1:srgbClr val="142C40"/>
                </ns1:solidFill>
                <ns1:latin typeface="Helvetica Neue"/>
                <ns1:ea typeface="Helvetica Neue"/>
                <ns1:cs typeface="Helvetica Neue"/>
              </ns1:defRPr>
            </ns1:pPr>
            <ns1:r>
              <ns1:rPr sz="2325" b="0">
                <ns1:solidFill>
                  <ns1:srgbClr val="142C40"/>
                </ns1:solidFill>
                <ns1:latin typeface="Helvetica Neue"/>
                <ns1:ea typeface="Helvetica Neue"/>
                <ns1:cs typeface="Helvetica Neue"/>
              </ns1:rPr>
              <ns1:t>+ Compliance may strengthen customer trust.</ns1:t>
            </ns1:r>
          </ns1:p>
          <ns1:p>
            <ns1:r>
              <ns1:t/>
            </ns1:r>
          </ns1:p>
          <ns1:p>
            <ns1:pPr>
              <ns1:defRPr sz="2325" b="0">
                <ns1:solidFill>
                  <ns1:srgbClr val="142C40"/>
                </ns1:solidFill>
                <ns1:latin typeface="Helvetica Neue"/>
                <ns1:ea typeface="Helvetica Neue"/>
                <ns1:cs typeface="Helvetica Neue"/>
              </ns1:defRPr>
            </ns1:pPr>
            <ns1:r>
              <ns1:rPr sz="2325" b="0">
                <ns1:solidFill>
                  <ns1:srgbClr val="142C40"/>
                </ns1:solidFill>
                <ns1:latin typeface="Helvetica Neue"/>
                <ns1:ea typeface="Helvetica Neue"/>
                <ns1:cs typeface="Helvetica Neue"/>
              </ns1:rPr>
              <ns1:t>− Training and equipment may increase operating costs.</ns1:t>
            </ns1:r>
          </ns1:p>
        </p:txBody>
      </p:sp>
      <p:pic>
        <p:nvPicPr>
          <p:cNvPr id="4" name="">
            <ns1:extLst>
              <ns1:ext uri="{FF2B5EF4-FFF2-40B4-BE49-F238E27FC236}">
                <ns2:creationId id="{B25EBDF7-1CCD-4599-BF06-D1A9EBB454A5}"/>
              </ns1:ext>
            </ns1:extLst>
          </p:cNvPr>
          <p:cNvPicPr>
            <ns1:picLocks noChangeAspect="1"/>
          </p:cNvPicPr>
          <p:nvPr/>
        </p:nvPicPr>
        <p:blipFill>
          <ns1:blip ns3:embed="R3657cf583f604f13"/>
          <ns1:srcRect l="0" t="0" r="75000" b="0"/>
          <ns1:stretch/>
        </p:blipFill>
        <p:spPr>
          <ns1:xfrm>
            <ns1:off x="8334375" y="1571625"/>
            <ns1:ext cx="1762125" cy="3857625"/>
          </ns1:xfrm>
          <ns1:prstGeom prst="rect">
            <ns1:avLst/>
          </ns1:prstGeom>
        </p:spPr>
      </p:pic>
    </p:spTree>
    <p:extLst>
      <p:ext uri="{BB962C8B-B14F-4D97-AF65-F5344CB8AC3E}">
        <ns4:creationId val="1278604159"/>
      </p:ext>
    </p:extLst>
  </p:cSld>
  <p:transition spd="fast" advClick="1">
    <p:fade/>
  </p:transition>
</p:sld>
</file>

<file path=ppt/slides/slide8.xml><?xml version="1.0" encoding="utf-8"?>
<p:sld xmlns:ns1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ns1:solidFill>
          <ns1:srgbClr val="FAF7EF"/>
        </ns1:solidFill>
      </p:bgPr>
    </p:bg>
    <p:spTree>
      <p:nvGrpSpPr>
        <p:cNvPr id="1" name=""/>
        <p:cNvGrpSpPr/>
        <p:nvPr/>
      </p:nvGrpSpPr>
      <p:grpSpPr>
        <ns1:xfrm/>
      </p:grpSpPr>
      <p:sp>
        <p:nvSpPr>
          <p:cNvPr id="4" name="">
            <ns1:extLst>
              <ns1:ext uri="{FF2B5EF4-FFF2-40B4-BE49-F238E27FC236}">
                <ns2:creationId id="{FC878127-A75C-4A2E-B75A-1DD5AA16D07A}"/>
              </ns1:ext>
            </ns1:extLst>
          </p:cNvPr>
          <p:cNvSpPr>
            <ns1:spLocks noGrp="1"/>
          </p:cNvSpPr>
          <p:nvPr/>
        </p:nvSpPr>
        <p:spPr>
          <ns1:xfrm>
            <ns1:off x="619125" y="419100"/>
            <ns1:ext cx="10572750" cy="800100"/>
          </ns1:xfrm>
          <ns1:prstGeom prst="rect">
            <ns1:avLst/>
          </ns1:prstGeom>
          <ns1:noFill/>
          <ns1:ln w="0">
            <ns1:noFill/>
          </ns1:ln>
        </p:spPr>
        <p:txBody>
          <ns1:bodyPr/>
          <ns1:lstStyle>
            <ns1:defPPr>
              <ns1:defRPr sz="3300" b="1">
                <ns1:solidFill>
                  <ns1:srgbClr val="142C40"/>
                </ns1:solidFill>
                <ns1:latin typeface="Helvetica Neue"/>
                <ns1:ea typeface="Helvetica Neue"/>
                <ns1:cs typeface="Helvetica Neue"/>
              </ns1:defRPr>
            </ns1:defPPr>
          </ns1:lstStyle>
          <ns1:p>
            <ns1:pPr>
              <ns1:defRPr sz="3300" b="1">
                <ns1:solidFill>
                  <ns1:srgbClr val="142C40"/>
                </ns1:solidFill>
                <ns1:latin typeface="Helvetica Neue"/>
                <ns1:ea typeface="Helvetica Neue"/>
                <ns1:cs typeface="Helvetica Neue"/>
              </ns1:defRPr>
            </ns1:pPr>
            <ns1:r>
              <ns1:rPr sz="3300" b="1">
                <ns1:solidFill>
                  <ns1:srgbClr val="142C40"/>
                </ns1:solidFill>
                <ns1:latin typeface="Helvetica Neue"/>
                <ns1:ea typeface="Helvetica Neue"/>
                <ns1:cs typeface="Helvetica Neue"/>
              </ns1:rPr>
              <ns1:t>Business and target market</ns1:t>
            </ns1:r>
          </ns1:p>
        </p:txBody>
      </p:sp>
      <p:sp>
        <p:nvSpPr>
          <p:cNvPr id="2" name="">
            <ns1:extLst>
              <ns1:ext uri="{FF2B5EF4-FFF2-40B4-BE49-F238E27FC236}">
                <ns2:creationId id="{A03D0E9E-2CD1-4F82-9697-38D7E0EF3FBB}"/>
              </ns1:ext>
            </ns1:extLst>
          </p:cNvPr>
          <p:cNvSpPr>
            <ns1:spLocks noGrp="1"/>
          </p:cNvSpPr>
          <p:nvPr/>
        </p:nvSpPr>
        <p:spPr>
          <ns1:xfrm>
            <ns1:off x="619125" y="6124575"/>
            <ns1:ext cx="10572750" cy="342900"/>
          </ns1:xfrm>
          <ns1:prstGeom prst="rect">
            <ns1:avLst/>
          </ns1:prstGeom>
          <ns1:noFill/>
          <ns1:ln w="0">
            <ns1:noFill/>
          </ns1:ln>
        </p:spPr>
        <p:txBody>
          <ns1:bodyPr/>
          <ns1:lstStyle>
            <ns1:defPPr>
              <ns1:defRPr sz="1800" b="1">
                <ns1:solidFill>
                  <ns1:srgbClr val="147D80"/>
                </ns1:solidFill>
                <ns1:latin typeface="Helvetica Neue"/>
                <ns1:ea typeface="Helvetica Neue"/>
                <ns1:cs typeface="Helvetica Neue"/>
              </ns1:defRPr>
            </ns1:defPPr>
          </ns1:lstStyle>
          <ns1:p>
            <ns1:pPr>
              <ns1:defRPr sz="1800" b="1">
                <ns1:solidFill>
                  <ns1:srgbClr val="147D80"/>
                </ns1:solidFill>
                <ns1:latin typeface="Helvetica Neue"/>
                <ns1:ea typeface="Helvetica Neue"/>
                <ns1:cs typeface="Helvetica Neue"/>
              </ns1:defRPr>
            </ns1:pPr>
            <ns1:r>
              <ns1:rPr sz="1800" b="1">
                <ns1:solidFill>
                  <ns1:srgbClr val="147D80"/>
                </ns1:solidFill>
                <ns1:latin typeface="Helvetica Neue"/>
                <ns1:ea typeface="Helvetica Neue"/>
                <ns1:cs typeface="Helvetica Neue"/>
              </ns1:rPr>
              <ns1:t>2 minutes</ns1:t>
            </ns1:r>
          </ns1:p>
        </p:txBody>
      </p:sp>
      <p:sp>
        <p:nvSpPr>
          <p:cNvPr id="3" name="">
            <ns1:extLst>
              <ns1:ext uri="{FF2B5EF4-FFF2-40B4-BE49-F238E27FC236}">
                <ns2:creationId id="{F1368147-A33E-4AA5-9E5C-40DCE2071C05}"/>
              </ns1:ext>
            </ns1:extLst>
          </p:cNvPr>
          <p:cNvSpPr>
            <ns1:spLocks noGrp="1"/>
          </p:cNvSpPr>
          <p:nvPr/>
        </p:nvSpPr>
        <p:spPr>
          <ns1:xfrm>
            <ns1:off x="619125" y="1581150"/>
            <ns1:ext cx="10572750" cy="4286250"/>
          </ns1:xfrm>
          <ns1:prstGeom prst="rect">
            <ns1:avLst/>
          </ns1:prstGeom>
          <ns1:noFill/>
          <ns1:ln w="0">
            <ns1:noFill/>
          </ns1:ln>
        </p:spPr>
        <p:txBody>
          <ns1:bodyPr/>
          <ns1:lstStyle>
            <ns1:defPPr>
              <ns1:defRPr sz="2325" b="0">
                <ns1:solidFill>
                  <ns1:srgbClr val="142C40"/>
                </ns1:solidFill>
                <ns1:latin typeface="Helvetica Neue"/>
                <ns1:ea typeface="Helvetica Neue"/>
                <ns1:cs typeface="Helvetica Neue"/>
              </ns1:defRPr>
            </ns1:defPPr>
          </ns1:lstStyle>
          <ns1:p>
            <ns1:pPr>
              <ns1:defRPr sz="2325" b="0">
                <ns1:solidFill>
                  <ns1:srgbClr val="142C40"/>
                </ns1:solidFill>
                <ns1:latin typeface="Helvetica Neue"/>
                <ns1:ea typeface="Helvetica Neue"/>
                <ns1:cs typeface="Helvetica Neue"/>
              </ns1:defRPr>
            </ns1:pPr>
            <ns1:r>
              <ns1:rPr sz="2325" b="0">
                <ns1:solidFill>
                  <ns1:srgbClr val="142C40"/>
                </ns1:solidFill>
                <ns1:latin typeface="Helvetica Neue"/>
                <ns1:ea typeface="Helvetica Neue"/>
                <ns1:cs typeface="Helvetica Neue"/>
              </ns1:rPr>
              <ns1:t>Write your business name.</ns1:t>
            </ns1:r>
          </ns1:p>
          <ns1:p>
            <ns1:r>
              <ns1:t/>
            </ns1:r>
          </ns1:p>
          <ns1:p>
            <ns1:pPr>
              <ns1:defRPr sz="2325" b="0">
                <ns1:solidFill>
                  <ns1:srgbClr val="142C40"/>
                </ns1:solidFill>
                <ns1:latin typeface="Helvetica Neue"/>
                <ns1:ea typeface="Helvetica Neue"/>
                <ns1:cs typeface="Helvetica Neue"/>
              </ns1:defRPr>
            </ns1:pPr>
            <ns1:r>
              <ns1:rPr sz="2325" b="0">
                <ns1:solidFill>
                  <ns1:srgbClr val="142C40"/>
                </ns1:solidFill>
                <ns1:latin typeface="Helvetica Neue"/>
                <ns1:ea typeface="Helvetica Neue"/>
                <ns1:cs typeface="Helvetica Neue"/>
              </ns1:rPr>
              <ns1:t>Who is the business trying to serve?</ns1:t>
            </ns1:r>
          </ns1:p>
          <ns1:p>
            <ns1:r>
              <ns1:t/>
            </ns1:r>
          </ns1:p>
          <ns1:p>
            <ns1:pPr>
              <ns1:defRPr sz="2325" b="0">
                <ns1:solidFill>
                  <ns1:srgbClr val="142C40"/>
                </ns1:solidFill>
                <ns1:latin typeface="Helvetica Neue"/>
                <ns1:ea typeface="Helvetica Neue"/>
                <ns1:cs typeface="Helvetica Neue"/>
              </ns1:defRPr>
            </ns1:pPr>
            <ns1:r>
              <ns1:rPr sz="2325" b="0">
                <ns1:solidFill>
                  <ns1:srgbClr val="142C40"/>
                </ns1:solidFill>
                <ns1:latin typeface="Helvetica Neue"/>
                <ns1:ea typeface="Helvetica Neue"/>
                <ns1:cs typeface="Helvetica Neue"/>
              </ns1:rPr>
              <ns1:t>Use a real or realistic business you can explain.</ns1:t>
            </ns1:r>
          </ns1:p>
        </p:txBody>
      </p:sp>
    </p:spTree>
    <p:extLst>
      <p:ext uri="{BB962C8B-B14F-4D97-AF65-F5344CB8AC3E}">
        <ns3:creationId val="1819408372"/>
      </p:ext>
    </p:extLst>
  </p:cSld>
  <p:transition spd="fast" advClick="1">
    <p:fade/>
  </p:transition>
</p:sld>
</file>

<file path=ppt/slides/slide9.xml><?xml version="1.0" encoding="utf-8"?>
<p:sld xmlns:ns1="http://schemas.openxmlformats.org/drawingml/2006/main" xmlns:ns2="http://schemas.microsoft.com/office/drawing/2014/main" xmlns:ns3="http://schemas.openxmlformats.org/officeDocument/2006/relationships" xmlns:ns4="http://schemas.microsoft.com/office/powerpoint/2010/main" xmlns:p="http://schemas.openxmlformats.org/presentationml/2006/main">
  <p:cSld>
    <p:bg>
      <p:bgPr>
        <ns1:solidFill>
          <ns1:srgbClr val="FAF7EF"/>
        </ns1:solidFill>
      </p:bgPr>
    </p:bg>
    <p:spTree>
      <p:nvGrpSpPr>
        <p:cNvPr id="1" name=""/>
        <p:cNvGrpSpPr/>
        <p:nvPr/>
      </p:nvGrpSpPr>
      <p:grpSpPr>
        <ns1:xfrm/>
      </p:grpSpPr>
      <p:sp>
        <p:nvSpPr>
          <p:cNvPr id="5" name="">
            <ns1:extLst>
              <ns1:ext uri="{FF2B5EF4-FFF2-40B4-BE49-F238E27FC236}">
                <ns2:creationId id="{48CF8C9F-AB81-4A71-927F-52FD5B42A8DD}"/>
              </ns1:ext>
            </ns1:extLst>
          </p:cNvPr>
          <p:cNvSpPr>
            <ns1:spLocks noGrp="1"/>
          </p:cNvSpPr>
          <p:nvPr/>
        </p:nvSpPr>
        <p:spPr>
          <ns1:xfrm>
            <ns1:off x="619125" y="419100"/>
            <ns1:ext cx="10572750" cy="800100"/>
          </ns1:xfrm>
          <ns1:prstGeom prst="rect">
            <ns1:avLst/>
          </ns1:prstGeom>
          <ns1:noFill/>
          <ns1:ln w="0">
            <ns1:noFill/>
          </ns1:ln>
        </p:spPr>
        <p:txBody>
          <ns1:bodyPr/>
          <ns1:lstStyle>
            <ns1:defPPr>
              <ns1:defRPr sz="3300" b="1">
                <ns1:solidFill>
                  <ns1:srgbClr val="245B8A"/>
                </ns1:solidFill>
                <ns1:latin typeface="Helvetica Neue"/>
                <ns1:ea typeface="Helvetica Neue"/>
                <ns1:cs typeface="Helvetica Neue"/>
              </ns1:defRPr>
            </ns1:defPPr>
          </ns1:lstStyle>
          <ns1:p>
            <ns1:pPr>
              <ns1:defRPr sz="3300" b="1">
                <ns1:solidFill>
                  <ns1:srgbClr val="245B8A"/>
                </ns1:solidFill>
                <ns1:latin typeface="Helvetica Neue"/>
                <ns1:ea typeface="Helvetica Neue"/>
                <ns1:cs typeface="Helvetica Neue"/>
              </ns1:defRPr>
            </ns1:pPr>
            <ns1:r>
              <ns1:rPr sz="3300" b="1">
                <ns1:solidFill>
                  <ns1:srgbClr val="245B8A"/>
                </ns1:solidFill>
                <ns1:latin typeface="Helvetica Neue"/>
                <ns1:ea typeface="Helvetica Neue"/>
                <ns1:cs typeface="Helvetica Neue"/>
              </ns1:rPr>
              <ns1:t>P  Political</ns1:t>
            </ns1:r>
          </ns1:p>
        </p:txBody>
      </p:sp>
      <p:sp>
        <p:nvSpPr>
          <p:cNvPr id="2" name="">
            <ns1:extLst>
              <ns1:ext uri="{FF2B5EF4-FFF2-40B4-BE49-F238E27FC236}">
                <ns2:creationId id="{F12165A7-3F84-4F1A-BD22-56995EDF519B}"/>
              </ns1:ext>
            </ns1:extLst>
          </p:cNvPr>
          <p:cNvSpPr>
            <ns1:spLocks noGrp="1"/>
          </p:cNvSpPr>
          <p:nvPr/>
        </p:nvSpPr>
        <p:spPr>
          <ns1:xfrm>
            <ns1:off x="619125" y="6124575"/>
            <ns1:ext cx="10572750" cy="342900"/>
          </ns1:xfrm>
          <ns1:prstGeom prst="rect">
            <ns1:avLst/>
          </ns1:prstGeom>
          <ns1:noFill/>
          <ns1:ln w="0">
            <ns1:noFill/>
          </ns1:ln>
        </p:spPr>
        <p:txBody>
          <ns1:bodyPr/>
          <ns1:lstStyle>
            <ns1:defPPr>
              <ns1:defRPr sz="1800" b="1">
                <ns1:solidFill>
                  <ns1:srgbClr val="147D80"/>
                </ns1:solidFill>
                <ns1:latin typeface="Helvetica Neue"/>
                <ns1:ea typeface="Helvetica Neue"/>
                <ns1:cs typeface="Helvetica Neue"/>
              </ns1:defRPr>
            </ns1:defPPr>
          </ns1:lstStyle>
          <ns1:p>
            <ns1:pPr>
              <ns1:defRPr sz="1800" b="1">
                <ns1:solidFill>
                  <ns1:srgbClr val="147D80"/>
                </ns1:solidFill>
                <ns1:latin typeface="Helvetica Neue"/>
                <ns1:ea typeface="Helvetica Neue"/>
                <ns1:cs typeface="Helvetica Neue"/>
              </ns1:defRPr>
            </ns1:pPr>
            <ns1:r>
              <ns1:rPr sz="1800" b="1">
                <ns1:solidFill>
                  <ns1:srgbClr val="147D80"/>
                </ns1:solidFill>
                <ns1:latin typeface="Helvetica Neue"/>
                <ns1:ea typeface="Helvetica Neue"/>
                <ns1:cs typeface="Helvetica Neue"/>
              </ns1:rPr>
              <ns1:t>3 minutes</ns1:t>
            </ns1:r>
          </ns1:p>
        </p:txBody>
      </p:sp>
      <p:sp>
        <p:nvSpPr>
          <p:cNvPr id="3" name="">
            <ns1:extLst>
              <ns1:ext uri="{FF2B5EF4-FFF2-40B4-BE49-F238E27FC236}">
                <ns2:creationId id="{98774A27-133C-4D7B-976E-3382E2367BFA}"/>
              </ns1:ext>
            </ns1:extLst>
          </p:cNvPr>
          <p:cNvSpPr>
            <ns1:spLocks noGrp="1"/>
          </p:cNvSpPr>
          <p:nvPr/>
        </p:nvSpPr>
        <p:spPr>
          <ns1:xfrm>
            <ns1:off x="619125" y="1581150"/>
            <ns1:ext cx="6524625" cy="4286250"/>
          </ns1:xfrm>
          <ns1:prstGeom prst="rect">
            <ns1:avLst/>
          </ns1:prstGeom>
          <ns1:noFill/>
          <ns1:ln w="0">
            <ns1:noFill/>
          </ns1:ln>
        </p:spPr>
        <p:txBody>
          <ns1:bodyPr/>
          <ns1:lstStyle>
            <ns1:defPPr>
              <ns1:defRPr sz="2325" b="0">
                <ns1:solidFill>
                  <ns1:srgbClr val="142C40"/>
                </ns1:solidFill>
                <ns1:latin typeface="Helvetica Neue"/>
                <ns1:ea typeface="Helvetica Neue"/>
                <ns1:cs typeface="Helvetica Neue"/>
              </ns1:defRPr>
            </ns1:defPPr>
          </ns1:lstStyle>
          <ns1:p>
            <ns1:pPr>
              <ns1:defRPr sz="2325" b="0">
                <ns1:solidFill>
                  <ns1:srgbClr val="142C40"/>
                </ns1:solidFill>
                <ns1:latin typeface="Helvetica Neue"/>
                <ns1:ea typeface="Helvetica Neue"/>
                <ns1:cs typeface="Helvetica Neue"/>
              </ns1:defRPr>
            </ns1:pPr>
            <ns1:r>
              <ns1:rPr sz="2325" b="0">
                <ns1:solidFill>
                  <ns1:srgbClr val="142C40"/>
                </ns1:solidFill>
                <ns1:latin typeface="Helvetica Neue"/>
                <ns1:ea typeface="Helvetica Neue"/>
                <ns1:cs typeface="Helvetica Neue"/>
              </ns1:rPr>
              <ns1:t>Government policies, laws, or intervention</ns1:t>
            </ns1:r>
          </ns1:p>
          <ns1:p>
            <ns1:r>
              <ns1:t/>
            </ns1:r>
          </ns1:p>
          <ns1:p>
            <ns1:pPr>
              <ns1:defRPr sz="2325" b="0">
                <ns1:solidFill>
                  <ns1:srgbClr val="142C40"/>
                </ns1:solidFill>
                <ns1:latin typeface="Helvetica Neue"/>
                <ns1:ea typeface="Helvetica Neue"/>
                <ns1:cs typeface="Helvetica Neue"/>
              </ns1:defRPr>
            </ns1:pPr>
            <ns1:r>
              <ns1:rPr sz="2325" b="0">
                <ns1:solidFill>
                  <ns1:srgbClr val="142C40"/>
                </ns1:solidFill>
                <ns1:latin typeface="Helvetica Neue"/>
                <ns1:ea typeface="Helvetica Neue"/>
                <ns1:cs typeface="Helvetica Neue"/>
              </ns1:rPr>
              <ns1:t>What outside rule or policy could affect this business?</ns1:t>
            </ns1:r>
          </ns1:p>
          <ns1:p>
            <ns1:r>
              <ns1:t/>
            </ns1:r>
          </ns1:p>
          <ns1:p>
            <ns1:pPr>
              <ns1:defRPr sz="2325" b="0">
                <ns1:solidFill>
                  <ns1:srgbClr val="142C40"/>
                </ns1:solidFill>
                <ns1:latin typeface="Helvetica Neue"/>
                <ns1:ea typeface="Helvetica Neue"/>
                <ns1:cs typeface="Helvetica Neue"/>
              </ns1:defRPr>
            </ns1:pPr>
            <ns1:r>
              <ns1:rPr sz="2325" b="0">
                <ns1:solidFill>
                  <ns1:srgbClr val="142C40"/>
                </ns1:solidFill>
                <ns1:latin typeface="Helvetica Neue"/>
                <ns1:ea typeface="Helvetica Neue"/>
                <ns1:cs typeface="Helvetica Neue"/>
              </ns1:rPr>
              <ns1:t>Example/factor</ns1:t>
            </ns1:r>
          </ns1:p>
          <ns1:p>
            <ns1:pPr>
              <ns1:defRPr sz="2325" b="0">
                <ns1:solidFill>
                  <ns1:srgbClr val="142C40"/>
                </ns1:solidFill>
                <ns1:latin typeface="Helvetica Neue"/>
                <ns1:ea typeface="Helvetica Neue"/>
                <ns1:cs typeface="Helvetica Neue"/>
              </ns1:defRPr>
            </ns1:pPr>
            <ns1:r>
              <ns1:rPr sz="2325" b="0">
                <ns1:solidFill>
                  <ns1:srgbClr val="142C40"/>
                </ns1:solidFill>
                <ns1:latin typeface="Helvetica Neue"/>
                <ns1:ea typeface="Helvetica Neue"/>
                <ns1:cs typeface="Helvetica Neue"/>
              </ns1:rPr>
              <ns1:t>+ Positive impact and why</ns1:t>
            </ns1:r>
          </ns1:p>
          <ns1:p>
            <ns1:pPr>
              <ns1:defRPr sz="2325" b="0">
                <ns1:solidFill>
                  <ns1:srgbClr val="142C40"/>
                </ns1:solidFill>
                <ns1:latin typeface="Helvetica Neue"/>
                <ns1:ea typeface="Helvetica Neue"/>
                <ns1:cs typeface="Helvetica Neue"/>
              </ns1:defRPr>
            </ns1:pPr>
            <ns1:r>
              <ns1:rPr sz="2325" b="0">
                <ns1:solidFill>
                  <ns1:srgbClr val="142C40"/>
                </ns1:solidFill>
                <ns1:latin typeface="Helvetica Neue"/>
                <ns1:ea typeface="Helvetica Neue"/>
                <ns1:cs typeface="Helvetica Neue"/>
              </ns1:rPr>
              <ns1:t>− Negative impact and why</ns1:t>
            </ns1:r>
          </ns1:p>
        </p:txBody>
      </p:sp>
      <p:pic>
        <p:nvPicPr>
          <p:cNvPr id="4" name="">
            <ns1:extLst>
              <ns1:ext uri="{FF2B5EF4-FFF2-40B4-BE49-F238E27FC236}">
                <ns2:creationId id="{FD33C4B5-6C83-49C1-8262-B111CD046052}"/>
              </ns1:ext>
            </ns1:extLst>
          </p:cNvPr>
          <p:cNvPicPr>
            <ns1:picLocks noChangeAspect="1"/>
          </p:cNvPicPr>
          <p:nvPr/>
        </p:nvPicPr>
        <p:blipFill>
          <ns1:blip ns3:embed="R55dc0c0b181d44a1"/>
          <ns1:srcRect l="0" t="0" r="75000" b="0"/>
          <ns1:stretch/>
        </p:blipFill>
        <p:spPr>
          <ns1:xfrm>
            <ns1:off x="8334375" y="1571625"/>
            <ns1:ext cx="1762125" cy="3857625"/>
          </ns1:xfrm>
          <ns1:prstGeom prst="rect">
            <ns1:avLst/>
          </ns1:prstGeom>
        </p:spPr>
      </p:pic>
    </p:spTree>
    <p:extLst>
      <p:ext uri="{BB962C8B-B14F-4D97-AF65-F5344CB8AC3E}">
        <ns4:creationId val="913911852"/>
      </p:ext>
    </p:extLst>
  </p:cSld>
  <p:transition spd="fast" advClick="1">
    <p:fade/>
  </p:transition>
</p:sld>
</file>

<file path=ppt/slides/slide10.xml><?xml version="1.0" encoding="utf-8"?>
<p:sld xmlns:ns1="http://schemas.openxmlformats.org/drawingml/2006/main" xmlns:ns2="http://schemas.microsoft.com/office/drawing/2014/main" xmlns:ns3="http://schemas.openxmlformats.org/officeDocument/2006/relationships" xmlns:ns4="http://schemas.microsoft.com/office/powerpoint/2010/main" xmlns:p="http://schemas.openxmlformats.org/presentationml/2006/main">
  <p:cSld>
    <p:bg>
      <p:bgPr>
        <ns1:solidFill>
          <ns1:srgbClr val="FAF7EF"/>
        </ns1:solidFill>
      </p:bgPr>
    </p:bg>
    <p:spTree>
      <p:nvGrpSpPr>
        <p:cNvPr id="1" name=""/>
        <p:cNvGrpSpPr/>
        <p:nvPr/>
      </p:nvGrpSpPr>
      <p:grpSpPr>
        <ns1:xfrm/>
      </p:grpSpPr>
      <p:sp>
        <p:nvSpPr>
          <p:cNvPr id="5" name="">
            <ns1:extLst>
              <ns1:ext uri="{FF2B5EF4-FFF2-40B4-BE49-F238E27FC236}">
                <ns2:creationId id="{EB80C2D0-7BBE-45E1-A1B0-C980D08F0729}"/>
              </ns1:ext>
            </ns1:extLst>
          </p:cNvPr>
          <p:cNvSpPr>
            <ns1:spLocks noGrp="1"/>
          </p:cNvSpPr>
          <p:nvPr/>
        </p:nvSpPr>
        <p:spPr>
          <ns1:xfrm>
            <ns1:off x="619125" y="419100"/>
            <ns1:ext cx="10572750" cy="800100"/>
          </ns1:xfrm>
          <ns1:prstGeom prst="rect">
            <ns1:avLst/>
          </ns1:prstGeom>
          <ns1:noFill/>
          <ns1:ln w="0">
            <ns1:noFill/>
          </ns1:ln>
        </p:spPr>
        <p:txBody>
          <ns1:bodyPr/>
          <ns1:lstStyle>
            <ns1:defPPr>
              <ns1:defRPr sz="3300" b="1">
                <ns1:solidFill>
                  <ns1:srgbClr val="147D80"/>
                </ns1:solidFill>
                <ns1:latin typeface="Helvetica Neue"/>
                <ns1:ea typeface="Helvetica Neue"/>
                <ns1:cs typeface="Helvetica Neue"/>
              </ns1:defRPr>
            </ns1:defPPr>
          </ns1:lstStyle>
          <ns1:p>
            <ns1:pPr>
              <ns1:defRPr sz="3300" b="1">
                <ns1:solidFill>
                  <ns1:srgbClr val="147D80"/>
                </ns1:solidFill>
                <ns1:latin typeface="Helvetica Neue"/>
                <ns1:ea typeface="Helvetica Neue"/>
                <ns1:cs typeface="Helvetica Neue"/>
              </ns1:defRPr>
            </ns1:pPr>
            <ns1:r>
              <ns1:rPr sz="3300" b="1">
                <ns1:solidFill>
                  <ns1:srgbClr val="147D80"/>
                </ns1:solidFill>
                <ns1:latin typeface="Helvetica Neue"/>
                <ns1:ea typeface="Helvetica Neue"/>
                <ns1:cs typeface="Helvetica Neue"/>
              </ns1:rPr>
              <ns1:t>E  Economic</ns1:t>
            </ns1:r>
          </ns1:p>
        </p:txBody>
      </p:sp>
      <p:sp>
        <p:nvSpPr>
          <p:cNvPr id="2" name="">
            <ns1:extLst>
              <ns1:ext uri="{FF2B5EF4-FFF2-40B4-BE49-F238E27FC236}">
                <ns2:creationId id="{BAD9809C-A8E8-483E-BEF9-4E3E8CB66282}"/>
              </ns1:ext>
            </ns1:extLst>
          </p:cNvPr>
          <p:cNvSpPr>
            <ns1:spLocks noGrp="1"/>
          </p:cNvSpPr>
          <p:nvPr/>
        </p:nvSpPr>
        <p:spPr>
          <ns1:xfrm>
            <ns1:off x="619125" y="6124575"/>
            <ns1:ext cx="10572750" cy="342900"/>
          </ns1:xfrm>
          <ns1:prstGeom prst="rect">
            <ns1:avLst/>
          </ns1:prstGeom>
          <ns1:noFill/>
          <ns1:ln w="0">
            <ns1:noFill/>
          </ns1:ln>
        </p:spPr>
        <p:txBody>
          <ns1:bodyPr/>
          <ns1:lstStyle>
            <ns1:defPPr>
              <ns1:defRPr sz="1800" b="1">
                <ns1:solidFill>
                  <ns1:srgbClr val="147D80"/>
                </ns1:solidFill>
                <ns1:latin typeface="Helvetica Neue"/>
                <ns1:ea typeface="Helvetica Neue"/>
                <ns1:cs typeface="Helvetica Neue"/>
              </ns1:defRPr>
            </ns1:defPPr>
          </ns1:lstStyle>
          <ns1:p>
            <ns1:pPr>
              <ns1:defRPr sz="1800" b="1">
                <ns1:solidFill>
                  <ns1:srgbClr val="147D80"/>
                </ns1:solidFill>
                <ns1:latin typeface="Helvetica Neue"/>
                <ns1:ea typeface="Helvetica Neue"/>
                <ns1:cs typeface="Helvetica Neue"/>
              </ns1:defRPr>
            </ns1:pPr>
            <ns1:r>
              <ns1:rPr sz="1800" b="1">
                <ns1:solidFill>
                  <ns1:srgbClr val="147D80"/>
                </ns1:solidFill>
                <ns1:latin typeface="Helvetica Neue"/>
                <ns1:ea typeface="Helvetica Neue"/>
                <ns1:cs typeface="Helvetica Neue"/>
              </ns1:rPr>
              <ns1:t>3 minutes</ns1:t>
            </ns1:r>
          </ns1:p>
        </p:txBody>
      </p:sp>
      <p:sp>
        <p:nvSpPr>
          <p:cNvPr id="3" name="">
            <ns1:extLst>
              <ns1:ext uri="{FF2B5EF4-FFF2-40B4-BE49-F238E27FC236}">
                <ns2:creationId id="{75C5E84A-19F2-43A3-8F29-BD305BFAB0F4}"/>
              </ns1:ext>
            </ns1:extLst>
          </p:cNvPr>
          <p:cNvSpPr>
            <ns1:spLocks noGrp="1"/>
          </p:cNvSpPr>
          <p:nvPr/>
        </p:nvSpPr>
        <p:spPr>
          <ns1:xfrm>
            <ns1:off x="619125" y="1581150"/>
            <ns1:ext cx="6524625" cy="4286250"/>
          </ns1:xfrm>
          <ns1:prstGeom prst="rect">
            <ns1:avLst/>
          </ns1:prstGeom>
          <ns1:noFill/>
          <ns1:ln w="0">
            <ns1:noFill/>
          </ns1:ln>
        </p:spPr>
        <p:txBody>
          <ns1:bodyPr/>
          <ns1:lstStyle>
            <ns1:defPPr>
              <ns1:defRPr sz="2325" b="0">
                <ns1:solidFill>
                  <ns1:srgbClr val="142C40"/>
                </ns1:solidFill>
                <ns1:latin typeface="Helvetica Neue"/>
                <ns1:ea typeface="Helvetica Neue"/>
                <ns1:cs typeface="Helvetica Neue"/>
              </ns1:defRPr>
            </ns1:defPPr>
          </ns1:lstStyle>
          <ns1:p>
            <ns1:pPr>
              <ns1:defRPr sz="2325" b="0">
                <ns1:solidFill>
                  <ns1:srgbClr val="142C40"/>
                </ns1:solidFill>
                <ns1:latin typeface="Helvetica Neue"/>
                <ns1:ea typeface="Helvetica Neue"/>
                <ns1:cs typeface="Helvetica Neue"/>
              </ns1:defRPr>
            </ns1:pPr>
            <ns1:r>
              <ns1:rPr sz="2325" b="0">
                <ns1:solidFill>
                  <ns1:srgbClr val="142C40"/>
                </ns1:solidFill>
                <ns1:latin typeface="Helvetica Neue"/>
                <ns1:ea typeface="Helvetica Neue"/>
                <ns1:cs typeface="Helvetica Neue"/>
              </ns1:rPr>
              <ns1:t>Inflation, consumer income, exchange rates, or credit</ns1:t>
            </ns1:r>
          </ns1:p>
          <ns1:p>
            <ns1:r>
              <ns1:t/>
            </ns1:r>
          </ns1:p>
          <ns1:p>
            <ns1:pPr>
              <ns1:defRPr sz="2325" b="0">
                <ns1:solidFill>
                  <ns1:srgbClr val="142C40"/>
                </ns1:solidFill>
                <ns1:latin typeface="Helvetica Neue"/>
                <ns1:ea typeface="Helvetica Neue"/>
                <ns1:cs typeface="Helvetica Neue"/>
              </ns1:defRPr>
            </ns1:pPr>
            <ns1:r>
              <ns1:rPr sz="2325" b="0">
                <ns1:solidFill>
                  <ns1:srgbClr val="142C40"/>
                </ns1:solidFill>
                <ns1:latin typeface="Helvetica Neue"/>
                <ns1:ea typeface="Helvetica Neue"/>
                <ns1:cs typeface="Helvetica Neue"/>
              </ns1:rPr>
              <ns1:t>What outside economic change could affect costs or demand?</ns1:t>
            </ns1:r>
          </ns1:p>
          <ns1:p>
            <ns1:r>
              <ns1:t/>
            </ns1:r>
          </ns1:p>
          <ns1:p>
            <ns1:pPr>
              <ns1:defRPr sz="2325" b="0">
                <ns1:solidFill>
                  <ns1:srgbClr val="142C40"/>
                </ns1:solidFill>
                <ns1:latin typeface="Helvetica Neue"/>
                <ns1:ea typeface="Helvetica Neue"/>
                <ns1:cs typeface="Helvetica Neue"/>
              </ns1:defRPr>
            </ns1:pPr>
            <ns1:r>
              <ns1:rPr sz="2325" b="0">
                <ns1:solidFill>
                  <ns1:srgbClr val="142C40"/>
                </ns1:solidFill>
                <ns1:latin typeface="Helvetica Neue"/>
                <ns1:ea typeface="Helvetica Neue"/>
                <ns1:cs typeface="Helvetica Neue"/>
              </ns1:rPr>
              <ns1:t>Example/factor</ns1:t>
            </ns1:r>
          </ns1:p>
          <ns1:p>
            <ns1:pPr>
              <ns1:defRPr sz="2325" b="0">
                <ns1:solidFill>
                  <ns1:srgbClr val="142C40"/>
                </ns1:solidFill>
                <ns1:latin typeface="Helvetica Neue"/>
                <ns1:ea typeface="Helvetica Neue"/>
                <ns1:cs typeface="Helvetica Neue"/>
              </ns1:defRPr>
            </ns1:pPr>
            <ns1:r>
              <ns1:rPr sz="2325" b="0">
                <ns1:solidFill>
                  <ns1:srgbClr val="142C40"/>
                </ns1:solidFill>
                <ns1:latin typeface="Helvetica Neue"/>
                <ns1:ea typeface="Helvetica Neue"/>
                <ns1:cs typeface="Helvetica Neue"/>
              </ns1:rPr>
              <ns1:t>+ Positive impact and why</ns1:t>
            </ns1:r>
          </ns1:p>
          <ns1:p>
            <ns1:pPr>
              <ns1:defRPr sz="2325" b="0">
                <ns1:solidFill>
                  <ns1:srgbClr val="142C40"/>
                </ns1:solidFill>
                <ns1:latin typeface="Helvetica Neue"/>
                <ns1:ea typeface="Helvetica Neue"/>
                <ns1:cs typeface="Helvetica Neue"/>
              </ns1:defRPr>
            </ns1:pPr>
            <ns1:r>
              <ns1:rPr sz="2325" b="0">
                <ns1:solidFill>
                  <ns1:srgbClr val="142C40"/>
                </ns1:solidFill>
                <ns1:latin typeface="Helvetica Neue"/>
                <ns1:ea typeface="Helvetica Neue"/>
                <ns1:cs typeface="Helvetica Neue"/>
              </ns1:rPr>
              <ns1:t>− Negative impact and why</ns1:t>
            </ns1:r>
          </ns1:p>
        </p:txBody>
      </p:sp>
      <p:pic>
        <p:nvPicPr>
          <p:cNvPr id="4" name="">
            <ns1:extLst>
              <ns1:ext uri="{FF2B5EF4-FFF2-40B4-BE49-F238E27FC236}">
                <ns2:creationId id="{EE6D25A1-096D-41ED-8960-3EB19C9DFBFC}"/>
              </ns1:ext>
            </ns1:extLst>
          </p:cNvPr>
          <p:cNvPicPr>
            <ns1:picLocks noChangeAspect="1"/>
          </p:cNvPicPr>
          <p:nvPr/>
        </p:nvPicPr>
        <p:blipFill>
          <ns1:blip ns3:embed="Ra669bf9711974365"/>
          <ns1:srcRect l="25000" t="0" r="50000" b="0"/>
          <ns1:stretch/>
        </p:blipFill>
        <p:spPr>
          <ns1:xfrm>
            <ns1:off x="8334375" y="1571625"/>
            <ns1:ext cx="1762125" cy="3857625"/>
          </ns1:xfrm>
          <ns1:prstGeom prst="rect">
            <ns1:avLst/>
          </ns1:prstGeom>
        </p:spPr>
      </p:pic>
    </p:spTree>
    <p:extLst>
      <p:ext uri="{BB962C8B-B14F-4D97-AF65-F5344CB8AC3E}">
        <ns4:creationId val="2048387647"/>
      </p:ext>
    </p:extLst>
  </p:cSld>
  <p:transition spd="fast" advClick="1">
    <p:fade/>
  </p:transition>
</p:sld>
</file>

<file path=ppt/slides/slide11.xml><?xml version="1.0" encoding="utf-8"?>
<p:sld xmlns:ns1="http://schemas.openxmlformats.org/drawingml/2006/main" xmlns:ns2="http://schemas.microsoft.com/office/drawing/2014/main" xmlns:ns3="http://schemas.openxmlformats.org/officeDocument/2006/relationships" xmlns:ns4="http://schemas.microsoft.com/office/powerpoint/2010/main" xmlns:p="http://schemas.openxmlformats.org/presentationml/2006/main">
  <p:cSld>
    <p:bg>
      <p:bgPr>
        <ns1:solidFill>
          <ns1:srgbClr val="FAF7EF"/>
        </ns1:solidFill>
      </p:bgPr>
    </p:bg>
    <p:spTree>
      <p:nvGrpSpPr>
        <p:cNvPr id="1" name=""/>
        <p:cNvGrpSpPr/>
        <p:nvPr/>
      </p:nvGrpSpPr>
      <p:grpSpPr>
        <ns1:xfrm/>
      </p:grpSpPr>
      <p:sp>
        <p:nvSpPr>
          <p:cNvPr id="5" name="">
            <ns1:extLst>
              <ns1:ext uri="{FF2B5EF4-FFF2-40B4-BE49-F238E27FC236}">
                <ns2:creationId id="{2B9FCCE3-6559-496B-A377-A7B833B8B23E}"/>
              </ns1:ext>
            </ns1:extLst>
          </p:cNvPr>
          <p:cNvSpPr>
            <ns1:spLocks noGrp="1"/>
          </p:cNvSpPr>
          <p:nvPr/>
        </p:nvSpPr>
        <p:spPr>
          <ns1:xfrm>
            <ns1:off x="619125" y="419100"/>
            <ns1:ext cx="10572750" cy="800100"/>
          </ns1:xfrm>
          <ns1:prstGeom prst="rect">
            <ns1:avLst/>
          </ns1:prstGeom>
          <ns1:noFill/>
          <ns1:ln w="0">
            <ns1:noFill/>
          </ns1:ln>
        </p:spPr>
        <p:txBody>
          <ns1:bodyPr/>
          <ns1:lstStyle>
            <ns1:defPPr>
              <ns1:defRPr sz="3300" b="1">
                <ns1:solidFill>
                  <ns1:srgbClr val="765091"/>
                </ns1:solidFill>
                <ns1:latin typeface="Helvetica Neue"/>
                <ns1:ea typeface="Helvetica Neue"/>
                <ns1:cs typeface="Helvetica Neue"/>
              </ns1:defRPr>
            </ns1:defPPr>
          </ns1:lstStyle>
          <ns1:p>
            <ns1:pPr>
              <ns1:defRPr sz="3300" b="1">
                <ns1:solidFill>
                  <ns1:srgbClr val="765091"/>
                </ns1:solidFill>
                <ns1:latin typeface="Helvetica Neue"/>
                <ns1:ea typeface="Helvetica Neue"/>
                <ns1:cs typeface="Helvetica Neue"/>
              </ns1:defRPr>
            </ns1:pPr>
            <ns1:r>
              <ns1:rPr sz="3300" b="1">
                <ns1:solidFill>
                  <ns1:srgbClr val="765091"/>
                </ns1:solidFill>
                <ns1:latin typeface="Helvetica Neue"/>
                <ns1:ea typeface="Helvetica Neue"/>
                <ns1:cs typeface="Helvetica Neue"/>
              </ns1:rPr>
              <ns1:t>S  Social</ns1:t>
            </ns1:r>
          </ns1:p>
        </p:txBody>
      </p:sp>
      <p:sp>
        <p:nvSpPr>
          <p:cNvPr id="2" name="">
            <ns1:extLst>
              <ns1:ext uri="{FF2B5EF4-FFF2-40B4-BE49-F238E27FC236}">
                <ns2:creationId id="{5EF502A1-9729-4266-86BD-E62AD010A4FA}"/>
              </ns1:ext>
            </ns1:extLst>
          </p:cNvPr>
          <p:cNvSpPr>
            <ns1:spLocks noGrp="1"/>
          </p:cNvSpPr>
          <p:nvPr/>
        </p:nvSpPr>
        <p:spPr>
          <ns1:xfrm>
            <ns1:off x="619125" y="6124575"/>
            <ns1:ext cx="10572750" cy="342900"/>
          </ns1:xfrm>
          <ns1:prstGeom prst="rect">
            <ns1:avLst/>
          </ns1:prstGeom>
          <ns1:noFill/>
          <ns1:ln w="0">
            <ns1:noFill/>
          </ns1:ln>
        </p:spPr>
        <p:txBody>
          <ns1:bodyPr/>
          <ns1:lstStyle>
            <ns1:defPPr>
              <ns1:defRPr sz="1800" b="1">
                <ns1:solidFill>
                  <ns1:srgbClr val="147D80"/>
                </ns1:solidFill>
                <ns1:latin typeface="Helvetica Neue"/>
                <ns1:ea typeface="Helvetica Neue"/>
                <ns1:cs typeface="Helvetica Neue"/>
              </ns1:defRPr>
            </ns1:defPPr>
          </ns1:lstStyle>
          <ns1:p>
            <ns1:pPr>
              <ns1:defRPr sz="1800" b="1">
                <ns1:solidFill>
                  <ns1:srgbClr val="147D80"/>
                </ns1:solidFill>
                <ns1:latin typeface="Helvetica Neue"/>
                <ns1:ea typeface="Helvetica Neue"/>
                <ns1:cs typeface="Helvetica Neue"/>
              </ns1:defRPr>
            </ns1:pPr>
            <ns1:r>
              <ns1:rPr sz="1800" b="1">
                <ns1:solidFill>
                  <ns1:srgbClr val="147D80"/>
                </ns1:solidFill>
                <ns1:latin typeface="Helvetica Neue"/>
                <ns1:ea typeface="Helvetica Neue"/>
                <ns1:cs typeface="Helvetica Neue"/>
              </ns1:rPr>
              <ns1:t>3 minutes</ns1:t>
            </ns1:r>
          </ns1:p>
        </p:txBody>
      </p:sp>
      <p:sp>
        <p:nvSpPr>
          <p:cNvPr id="3" name="">
            <ns1:extLst>
              <ns1:ext uri="{FF2B5EF4-FFF2-40B4-BE49-F238E27FC236}">
                <ns2:creationId id="{F73919B6-6F41-44FD-823F-6DD24F9799D6}"/>
              </ns1:ext>
            </ns1:extLst>
          </p:cNvPr>
          <p:cNvSpPr>
            <ns1:spLocks noGrp="1"/>
          </p:cNvSpPr>
          <p:nvPr/>
        </p:nvSpPr>
        <p:spPr>
          <ns1:xfrm>
            <ns1:off x="619125" y="1581150"/>
            <ns1:ext cx="6524625" cy="4286250"/>
          </ns1:xfrm>
          <ns1:prstGeom prst="rect">
            <ns1:avLst/>
          </ns1:prstGeom>
          <ns1:noFill/>
          <ns1:ln w="0">
            <ns1:noFill/>
          </ns1:ln>
        </p:spPr>
        <p:txBody>
          <ns1:bodyPr/>
          <ns1:lstStyle>
            <ns1:defPPr>
              <ns1:defRPr sz="2325" b="0">
                <ns1:solidFill>
                  <ns1:srgbClr val="142C40"/>
                </ns1:solidFill>
                <ns1:latin typeface="Helvetica Neue"/>
                <ns1:ea typeface="Helvetica Neue"/>
                <ns1:cs typeface="Helvetica Neue"/>
              </ns1:defRPr>
            </ns1:defPPr>
          </ns1:lstStyle>
          <ns1:p>
            <ns1:pPr>
              <ns1:defRPr sz="2325" b="0">
                <ns1:solidFill>
                  <ns1:srgbClr val="142C40"/>
                </ns1:solidFill>
                <ns1:latin typeface="Helvetica Neue"/>
                <ns1:ea typeface="Helvetica Neue"/>
                <ns1:cs typeface="Helvetica Neue"/>
              </ns1:defRPr>
            </ns1:pPr>
            <ns1:r>
              <ns1:rPr sz="2325" b="0">
                <ns1:solidFill>
                  <ns1:srgbClr val="142C40"/>
                </ns1:solidFill>
                <ns1:latin typeface="Helvetica Neue"/>
                <ns1:ea typeface="Helvetica Neue"/>
                <ns1:cs typeface="Helvetica Neue"/>
              </ns1:rPr>
              <ns1:t>Population, education, social patterns, or preferences</ns1:t>
            </ns1:r>
          </ns1:p>
          <ns1:p>
            <ns1:r>
              <ns1:t/>
            </ns1:r>
          </ns1:p>
          <ns1:p>
            <ns1:pPr>
              <ns1:defRPr sz="2325" b="0">
                <ns1:solidFill>
                  <ns1:srgbClr val="142C40"/>
                </ns1:solidFill>
                <ns1:latin typeface="Helvetica Neue"/>
                <ns1:ea typeface="Helvetica Neue"/>
                <ns1:cs typeface="Helvetica Neue"/>
              </ns1:defRPr>
            </ns1:pPr>
            <ns1:r>
              <ns1:rPr sz="2325" b="0">
                <ns1:solidFill>
                  <ns1:srgbClr val="142C40"/>
                </ns1:solidFill>
                <ns1:latin typeface="Helvetica Neue"/>
                <ns1:ea typeface="Helvetica Neue"/>
                <ns1:cs typeface="Helvetica Neue"/>
              </ns1:rPr>
              <ns1:t>What change in the customers or community could affect demand?</ns1:t>
            </ns1:r>
          </ns1:p>
          <ns1:p>
            <ns1:r>
              <ns1:t/>
            </ns1:r>
          </ns1:p>
          <ns1:p>
            <ns1:pPr>
              <ns1:defRPr sz="2325" b="0">
                <ns1:solidFill>
                  <ns1:srgbClr val="142C40"/>
                </ns1:solidFill>
                <ns1:latin typeface="Helvetica Neue"/>
                <ns1:ea typeface="Helvetica Neue"/>
                <ns1:cs typeface="Helvetica Neue"/>
              </ns1:defRPr>
            </ns1:pPr>
            <ns1:r>
              <ns1:rPr sz="2325" b="0">
                <ns1:solidFill>
                  <ns1:srgbClr val="142C40"/>
                </ns1:solidFill>
                <ns1:latin typeface="Helvetica Neue"/>
                <ns1:ea typeface="Helvetica Neue"/>
                <ns1:cs typeface="Helvetica Neue"/>
              </ns1:rPr>
              <ns1:t>Example/factor</ns1:t>
            </ns1:r>
          </ns1:p>
          <ns1:p>
            <ns1:pPr>
              <ns1:defRPr sz="2325" b="0">
                <ns1:solidFill>
                  <ns1:srgbClr val="142C40"/>
                </ns1:solidFill>
                <ns1:latin typeface="Helvetica Neue"/>
                <ns1:ea typeface="Helvetica Neue"/>
                <ns1:cs typeface="Helvetica Neue"/>
              </ns1:defRPr>
            </ns1:pPr>
            <ns1:r>
              <ns1:rPr sz="2325" b="0">
                <ns1:solidFill>
                  <ns1:srgbClr val="142C40"/>
                </ns1:solidFill>
                <ns1:latin typeface="Helvetica Neue"/>
                <ns1:ea typeface="Helvetica Neue"/>
                <ns1:cs typeface="Helvetica Neue"/>
              </ns1:rPr>
              <ns1:t>+ Positive impact and why</ns1:t>
            </ns1:r>
          </ns1:p>
          <ns1:p>
            <ns1:pPr>
              <ns1:defRPr sz="2325" b="0">
                <ns1:solidFill>
                  <ns1:srgbClr val="142C40"/>
                </ns1:solidFill>
                <ns1:latin typeface="Helvetica Neue"/>
                <ns1:ea typeface="Helvetica Neue"/>
                <ns1:cs typeface="Helvetica Neue"/>
              </ns1:defRPr>
            </ns1:pPr>
            <ns1:r>
              <ns1:rPr sz="2325" b="0">
                <ns1:solidFill>
                  <ns1:srgbClr val="142C40"/>
                </ns1:solidFill>
                <ns1:latin typeface="Helvetica Neue"/>
                <ns1:ea typeface="Helvetica Neue"/>
                <ns1:cs typeface="Helvetica Neue"/>
              </ns1:rPr>
              <ns1:t>− Negative impact and why</ns1:t>
            </ns1:r>
          </ns1:p>
        </p:txBody>
      </p:sp>
      <p:pic>
        <p:nvPicPr>
          <p:cNvPr id="4" name="">
            <ns1:extLst>
              <ns1:ext uri="{FF2B5EF4-FFF2-40B4-BE49-F238E27FC236}">
                <ns2:creationId id="{549011E4-B8F0-4526-BB0C-6E083EFE7101}"/>
              </ns1:ext>
            </ns1:extLst>
          </p:cNvPr>
          <p:cNvPicPr>
            <ns1:picLocks noChangeAspect="1"/>
          </p:cNvPicPr>
          <p:nvPr/>
        </p:nvPicPr>
        <p:blipFill>
          <ns1:blip ns3:embed="R78cb3a2e6ca34b00"/>
          <ns1:srcRect l="50000" t="0" r="25000" b="0"/>
          <ns1:stretch/>
        </p:blipFill>
        <p:spPr>
          <ns1:xfrm>
            <ns1:off x="8334375" y="1571625"/>
            <ns1:ext cx="1762125" cy="3857625"/>
          </ns1:xfrm>
          <ns1:prstGeom prst="rect">
            <ns1:avLst/>
          </ns1:prstGeom>
        </p:spPr>
      </p:pic>
    </p:spTree>
    <p:extLst>
      <p:ext uri="{BB962C8B-B14F-4D97-AF65-F5344CB8AC3E}">
        <ns4:creationId val="2062816364"/>
      </p:ext>
    </p:extLst>
  </p:cSld>
  <p:transition spd="fast" advClick="1">
    <p:fade/>
  </p:transition>
</p:sld>
</file>

<file path=ppt/slides/slide12.xml><?xml version="1.0" encoding="utf-8"?>
<p:sld xmlns:ns1="http://schemas.openxmlformats.org/drawingml/2006/main" xmlns:ns2="http://schemas.microsoft.com/office/drawing/2014/main" xmlns:ns3="http://schemas.openxmlformats.org/officeDocument/2006/relationships" xmlns:ns4="http://schemas.microsoft.com/office/powerpoint/2010/main" xmlns:p="http://schemas.openxmlformats.org/presentationml/2006/main">
  <p:cSld>
    <p:bg>
      <p:bgPr>
        <ns1:solidFill>
          <ns1:srgbClr val="FAF7EF"/>
        </ns1:solidFill>
      </p:bgPr>
    </p:bg>
    <p:spTree>
      <p:nvGrpSpPr>
        <p:cNvPr id="1" name=""/>
        <p:cNvGrpSpPr/>
        <p:nvPr/>
      </p:nvGrpSpPr>
      <p:grpSpPr>
        <ns1:xfrm/>
      </p:grpSpPr>
      <p:sp>
        <p:nvSpPr>
          <p:cNvPr id="5" name="">
            <ns1:extLst>
              <ns1:ext uri="{FF2B5EF4-FFF2-40B4-BE49-F238E27FC236}">
                <ns2:creationId id="{F765FEBC-182F-43BF-8D96-858DBFEE92C5}"/>
              </ns1:ext>
            </ns1:extLst>
          </p:cNvPr>
          <p:cNvSpPr>
            <ns1:spLocks noGrp="1"/>
          </p:cNvSpPr>
          <p:nvPr/>
        </p:nvSpPr>
        <p:spPr>
          <ns1:xfrm>
            <ns1:off x="619125" y="419100"/>
            <ns1:ext cx="10572750" cy="800100"/>
          </ns1:xfrm>
          <ns1:prstGeom prst="rect">
            <ns1:avLst/>
          </ns1:prstGeom>
          <ns1:noFill/>
          <ns1:ln w="0">
            <ns1:noFill/>
          </ns1:ln>
        </p:spPr>
        <p:txBody>
          <ns1:bodyPr/>
          <ns1:lstStyle>
            <ns1:defPPr>
              <ns1:defRPr sz="3300" b="1">
                <ns1:solidFill>
                  <ns1:srgbClr val="B35722"/>
                </ns1:solidFill>
                <ns1:latin typeface="Helvetica Neue"/>
                <ns1:ea typeface="Helvetica Neue"/>
                <ns1:cs typeface="Helvetica Neue"/>
              </ns1:defRPr>
            </ns1:defPPr>
          </ns1:lstStyle>
          <ns1:p>
            <ns1:pPr>
              <ns1:defRPr sz="3300" b="1">
                <ns1:solidFill>
                  <ns1:srgbClr val="B35722"/>
                </ns1:solidFill>
                <ns1:latin typeface="Helvetica Neue"/>
                <ns1:ea typeface="Helvetica Neue"/>
                <ns1:cs typeface="Helvetica Neue"/>
              </ns1:defRPr>
            </ns1:pPr>
            <ns1:r>
              <ns1:rPr sz="3300" b="1">
                <ns1:solidFill>
                  <ns1:srgbClr val="B35722"/>
                </ns1:solidFill>
                <ns1:latin typeface="Helvetica Neue"/>
                <ns1:ea typeface="Helvetica Neue"/>
                <ns1:cs typeface="Helvetica Neue"/>
              </ns1:rPr>
              <ns1:t>T  Technological</ns1:t>
            </ns1:r>
          </ns1:p>
        </p:txBody>
      </p:sp>
      <p:sp>
        <p:nvSpPr>
          <p:cNvPr id="2" name="">
            <ns1:extLst>
              <ns1:ext uri="{FF2B5EF4-FFF2-40B4-BE49-F238E27FC236}">
                <ns2:creationId id="{8C47491D-1894-4863-B2E0-18C39E394018}"/>
              </ns1:ext>
            </ns1:extLst>
          </p:cNvPr>
          <p:cNvSpPr>
            <ns1:spLocks noGrp="1"/>
          </p:cNvSpPr>
          <p:nvPr/>
        </p:nvSpPr>
        <p:spPr>
          <ns1:xfrm>
            <ns1:off x="619125" y="6124575"/>
            <ns1:ext cx="10572750" cy="342900"/>
          </ns1:xfrm>
          <ns1:prstGeom prst="rect">
            <ns1:avLst/>
          </ns1:prstGeom>
          <ns1:noFill/>
          <ns1:ln w="0">
            <ns1:noFill/>
          </ns1:ln>
        </p:spPr>
        <p:txBody>
          <ns1:bodyPr/>
          <ns1:lstStyle>
            <ns1:defPPr>
              <ns1:defRPr sz="1800" b="1">
                <ns1:solidFill>
                  <ns1:srgbClr val="147D80"/>
                </ns1:solidFill>
                <ns1:latin typeface="Helvetica Neue"/>
                <ns1:ea typeface="Helvetica Neue"/>
                <ns1:cs typeface="Helvetica Neue"/>
              </ns1:defRPr>
            </ns1:defPPr>
          </ns1:lstStyle>
          <ns1:p>
            <ns1:pPr>
              <ns1:defRPr sz="1800" b="1">
                <ns1:solidFill>
                  <ns1:srgbClr val="147D80"/>
                </ns1:solidFill>
                <ns1:latin typeface="Helvetica Neue"/>
                <ns1:ea typeface="Helvetica Neue"/>
                <ns1:cs typeface="Helvetica Neue"/>
              </ns1:defRPr>
            </ns1:pPr>
            <ns1:r>
              <ns1:rPr sz="1800" b="1">
                <ns1:solidFill>
                  <ns1:srgbClr val="147D80"/>
                </ns1:solidFill>
                <ns1:latin typeface="Helvetica Neue"/>
                <ns1:ea typeface="Helvetica Neue"/>
                <ns1:cs typeface="Helvetica Neue"/>
              </ns1:rPr>
              <ns1:t>3 minutes</ns1:t>
            </ns1:r>
          </ns1:p>
        </p:txBody>
      </p:sp>
      <p:sp>
        <p:nvSpPr>
          <p:cNvPr id="3" name="">
            <ns1:extLst>
              <ns1:ext uri="{FF2B5EF4-FFF2-40B4-BE49-F238E27FC236}">
                <ns2:creationId id="{4C6878E4-F905-44A4-9FF9-01CBE89D7392}"/>
              </ns1:ext>
            </ns1:extLst>
          </p:cNvPr>
          <p:cNvSpPr>
            <ns1:spLocks noGrp="1"/>
          </p:cNvSpPr>
          <p:nvPr/>
        </p:nvSpPr>
        <p:spPr>
          <ns1:xfrm>
            <ns1:off x="619125" y="1581150"/>
            <ns1:ext cx="6524625" cy="4286250"/>
          </ns1:xfrm>
          <ns1:prstGeom prst="rect">
            <ns1:avLst/>
          </ns1:prstGeom>
          <ns1:noFill/>
          <ns1:ln w="0">
            <ns1:noFill/>
          </ns1:ln>
        </p:spPr>
        <p:txBody>
          <ns1:bodyPr/>
          <ns1:lstStyle>
            <ns1:defPPr>
              <ns1:defRPr sz="2325" b="0">
                <ns1:solidFill>
                  <ns1:srgbClr val="142C40"/>
                </ns1:solidFill>
                <ns1:latin typeface="Helvetica Neue"/>
                <ns1:ea typeface="Helvetica Neue"/>
                <ns1:cs typeface="Helvetica Neue"/>
              </ns1:defRPr>
            </ns1:defPPr>
          </ns1:lstStyle>
          <ns1:p>
            <ns1:pPr>
              <ns1:defRPr sz="2325" b="0">
                <ns1:solidFill>
                  <ns1:srgbClr val="142C40"/>
                </ns1:solidFill>
                <ns1:latin typeface="Helvetica Neue"/>
                <ns1:ea typeface="Helvetica Neue"/>
                <ns1:cs typeface="Helvetica Neue"/>
              </ns1:defRPr>
            </ns1:pPr>
            <ns1:r>
              <ns1:rPr sz="2325" b="0">
                <ns1:solidFill>
                  <ns1:srgbClr val="142C40"/>
                </ns1:solidFill>
                <ns1:latin typeface="Helvetica Neue"/>
                <ns1:ea typeface="Helvetica Neue"/>
                <ns1:cs typeface="Helvetica Neue"/>
              </ns1:rPr>
              <ns1:t>Access to technology or the rate of technological change</ns1:t>
            </ns1:r>
          </ns1:p>
          <ns1:p>
            <ns1:r>
              <ns1:t/>
            </ns1:r>
          </ns1:p>
          <ns1:p>
            <ns1:pPr>
              <ns1:defRPr sz="2325" b="0">
                <ns1:solidFill>
                  <ns1:srgbClr val="142C40"/>
                </ns1:solidFill>
                <ns1:latin typeface="Helvetica Neue"/>
                <ns1:ea typeface="Helvetica Neue"/>
                <ns1:cs typeface="Helvetica Neue"/>
              </ns1:defRPr>
            </ns1:pPr>
            <ns1:r>
              <ns1:rPr sz="2325" b="0">
                <ns1:solidFill>
                  <ns1:srgbClr val="142C40"/>
                </ns1:solidFill>
                <ns1:latin typeface="Helvetica Neue"/>
                <ns1:ea typeface="Helvetica Neue"/>
                <ns1:cs typeface="Helvetica Neue"/>
              </ns1:rPr>
              <ns1:t>What outside technology change could affect access, service, or competition?</ns1:t>
            </ns1:r>
          </ns1:p>
          <ns1:p>
            <ns1:r>
              <ns1:t/>
            </ns1:r>
          </ns1:p>
          <ns1:p>
            <ns1:pPr>
              <ns1:defRPr sz="2325" b="0">
                <ns1:solidFill>
                  <ns1:srgbClr val="142C40"/>
                </ns1:solidFill>
                <ns1:latin typeface="Helvetica Neue"/>
                <ns1:ea typeface="Helvetica Neue"/>
                <ns1:cs typeface="Helvetica Neue"/>
              </ns1:defRPr>
            </ns1:pPr>
            <ns1:r>
              <ns1:rPr sz="2325" b="0">
                <ns1:solidFill>
                  <ns1:srgbClr val="142C40"/>
                </ns1:solidFill>
                <ns1:latin typeface="Helvetica Neue"/>
                <ns1:ea typeface="Helvetica Neue"/>
                <ns1:cs typeface="Helvetica Neue"/>
              </ns1:rPr>
              <ns1:t>Example/factor</ns1:t>
            </ns1:r>
          </ns1:p>
          <ns1:p>
            <ns1:pPr>
              <ns1:defRPr sz="2325" b="0">
                <ns1:solidFill>
                  <ns1:srgbClr val="142C40"/>
                </ns1:solidFill>
                <ns1:latin typeface="Helvetica Neue"/>
                <ns1:ea typeface="Helvetica Neue"/>
                <ns1:cs typeface="Helvetica Neue"/>
              </ns1:defRPr>
            </ns1:pPr>
            <ns1:r>
              <ns1:rPr sz="2325" b="0">
                <ns1:solidFill>
                  <ns1:srgbClr val="142C40"/>
                </ns1:solidFill>
                <ns1:latin typeface="Helvetica Neue"/>
                <ns1:ea typeface="Helvetica Neue"/>
                <ns1:cs typeface="Helvetica Neue"/>
              </ns1:rPr>
              <ns1:t>+ Positive impact and why</ns1:t>
            </ns1:r>
          </ns1:p>
          <ns1:p>
            <ns1:pPr>
              <ns1:defRPr sz="2325" b="0">
                <ns1:solidFill>
                  <ns1:srgbClr val="142C40"/>
                </ns1:solidFill>
                <ns1:latin typeface="Helvetica Neue"/>
                <ns1:ea typeface="Helvetica Neue"/>
                <ns1:cs typeface="Helvetica Neue"/>
              </ns1:defRPr>
            </ns1:pPr>
            <ns1:r>
              <ns1:rPr sz="2325" b="0">
                <ns1:solidFill>
                  <ns1:srgbClr val="142C40"/>
                </ns1:solidFill>
                <ns1:latin typeface="Helvetica Neue"/>
                <ns1:ea typeface="Helvetica Neue"/>
                <ns1:cs typeface="Helvetica Neue"/>
              </ns1:rPr>
              <ns1:t>− Negative impact and why</ns1:t>
            </ns1:r>
          </ns1:p>
        </p:txBody>
      </p:sp>
      <p:pic>
        <p:nvPicPr>
          <p:cNvPr id="4" name="">
            <ns1:extLst>
              <ns1:ext uri="{FF2B5EF4-FFF2-40B4-BE49-F238E27FC236}">
                <ns2:creationId id="{F6C6AB76-36B7-4FC5-AFE2-F4EAE2747C6C}"/>
              </ns1:ext>
            </ns1:extLst>
          </p:cNvPr>
          <p:cNvPicPr>
            <ns1:picLocks noChangeAspect="1"/>
          </p:cNvPicPr>
          <p:nvPr/>
        </p:nvPicPr>
        <p:blipFill>
          <ns1:blip ns3:embed="R24ce9e322e754bca"/>
          <ns1:srcRect l="75000" t="0" r="0" b="0"/>
          <ns1:stretch/>
        </p:blipFill>
        <p:spPr>
          <ns1:xfrm>
            <ns1:off x="8334375" y="1571625"/>
            <ns1:ext cx="1762125" cy="3857625"/>
          </ns1:xfrm>
          <ns1:prstGeom prst="rect">
            <ns1:avLst/>
          </ns1:prstGeom>
        </p:spPr>
      </p:pic>
    </p:spTree>
    <p:extLst>
      <p:ext uri="{BB962C8B-B14F-4D97-AF65-F5344CB8AC3E}">
        <ns4:creationId val="1920255204"/>
      </p:ext>
    </p:extLst>
  </p:cSld>
  <p:transition spd="fast" advClick="1">
    <p:fade/>
  </p:transition>
</p:sld>
</file>

<file path=ppt/slides/slide13.xml><?xml version="1.0" encoding="utf-8"?>
<p:sld xmlns:ns1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ns1:solidFill>
          <ns1:srgbClr val="FAF7EF"/>
        </ns1:solidFill>
      </p:bgPr>
    </p:bg>
    <p:spTree>
      <p:nvGrpSpPr>
        <p:cNvPr id="1" name=""/>
        <p:cNvGrpSpPr/>
        <p:nvPr/>
      </p:nvGrpSpPr>
      <p:grpSpPr>
        <ns1:xfrm/>
      </p:grpSpPr>
      <p:sp>
        <p:nvSpPr>
          <p:cNvPr id="4" name="">
            <ns1:extLst>
              <ns1:ext uri="{FF2B5EF4-FFF2-40B4-BE49-F238E27FC236}">
                <ns2:creationId id="{2626943D-63B5-4B27-B77A-357A45869BBB}"/>
              </ns1:ext>
            </ns1:extLst>
          </p:cNvPr>
          <p:cNvSpPr>
            <ns1:spLocks noGrp="1"/>
          </p:cNvSpPr>
          <p:nvPr/>
        </p:nvSpPr>
        <p:spPr>
          <ns1:xfrm>
            <ns1:off x="619125" y="419100"/>
            <ns1:ext cx="10572750" cy="800100"/>
          </ns1:xfrm>
          <ns1:prstGeom prst="rect">
            <ns1:avLst/>
          </ns1:prstGeom>
          <ns1:noFill/>
          <ns1:ln w="0">
            <ns1:noFill/>
          </ns1:ln>
        </p:spPr>
        <p:txBody>
          <ns1:bodyPr/>
          <ns1:lstStyle>
            <ns1:defPPr>
              <ns1:defRPr sz="3300" b="1">
                <ns1:solidFill>
                  <ns1:srgbClr val="142C40"/>
                </ns1:solidFill>
                <ns1:latin typeface="Helvetica Neue"/>
                <ns1:ea typeface="Helvetica Neue"/>
                <ns1:cs typeface="Helvetica Neue"/>
              </ns1:defRPr>
            </ns1:defPPr>
          </ns1:lstStyle>
          <ns1:p>
            <ns1:pPr>
              <ns1:defRPr sz="3300" b="1">
                <ns1:solidFill>
                  <ns1:srgbClr val="142C40"/>
                </ns1:solidFill>
                <ns1:latin typeface="Helvetica Neue"/>
                <ns1:ea typeface="Helvetica Neue"/>
                <ns1:cs typeface="Helvetica Neue"/>
              </ns1:defRPr>
            </ns1:pPr>
            <ns1:r>
              <ns1:rPr sz="3300" b="1">
                <ns1:solidFill>
                  <ns1:srgbClr val="142C40"/>
                </ns1:solidFill>
                <ns1:latin typeface="Helvetica Neue"/>
                <ns1:ea typeface="Helvetica Neue"/>
                <ns1:cs typeface="Helvetica Neue"/>
              </ns1:rPr>
              <ns1:t>Business summary</ns1:t>
            </ns1:r>
          </ns1:p>
        </p:txBody>
      </p:sp>
      <p:sp>
        <p:nvSpPr>
          <p:cNvPr id="2" name="">
            <ns1:extLst>
              <ns1:ext uri="{FF2B5EF4-FFF2-40B4-BE49-F238E27FC236}">
                <ns2:creationId id="{3FE6696D-67FD-40A1-9C10-640CE92F7D7C}"/>
              </ns1:ext>
            </ns1:extLst>
          </p:cNvPr>
          <p:cNvSpPr>
            <ns1:spLocks noGrp="1"/>
          </p:cNvSpPr>
          <p:nvPr/>
        </p:nvSpPr>
        <p:spPr>
          <ns1:xfrm>
            <ns1:off x="619125" y="6124575"/>
            <ns1:ext cx="10572750" cy="342900"/>
          </ns1:xfrm>
          <ns1:prstGeom prst="rect">
            <ns1:avLst/>
          </ns1:prstGeom>
          <ns1:noFill/>
          <ns1:ln w="0">
            <ns1:noFill/>
          </ns1:ln>
        </p:spPr>
        <p:txBody>
          <ns1:bodyPr/>
          <ns1:lstStyle>
            <ns1:defPPr>
              <ns1:defRPr sz="1800" b="1">
                <ns1:solidFill>
                  <ns1:srgbClr val="147D80"/>
                </ns1:solidFill>
                <ns1:latin typeface="Helvetica Neue"/>
                <ns1:ea typeface="Helvetica Neue"/>
                <ns1:cs typeface="Helvetica Neue"/>
              </ns1:defRPr>
            </ns1:defPPr>
          </ns1:lstStyle>
          <ns1:p>
            <ns1:pPr>
              <ns1:defRPr sz="1800" b="1">
                <ns1:solidFill>
                  <ns1:srgbClr val="147D80"/>
                </ns1:solidFill>
                <ns1:latin typeface="Helvetica Neue"/>
                <ns1:ea typeface="Helvetica Neue"/>
                <ns1:cs typeface="Helvetica Neue"/>
              </ns1:defRPr>
            </ns1:pPr>
            <ns1:r>
              <ns1:rPr sz="1800" b="1">
                <ns1:solidFill>
                  <ns1:srgbClr val="147D80"/>
                </ns1:solidFill>
                <ns1:latin typeface="Helvetica Neue"/>
                <ns1:ea typeface="Helvetica Neue"/>
                <ns1:cs typeface="Helvetica Neue"/>
              </ns1:rPr>
              <ns1:t>5 minutes</ns1:t>
            </ns1:r>
          </ns1:p>
        </p:txBody>
      </p:sp>
      <p:sp>
        <p:nvSpPr>
          <p:cNvPr id="3" name="">
            <ns1:extLst>
              <ns1:ext uri="{FF2B5EF4-FFF2-40B4-BE49-F238E27FC236}">
                <ns2:creationId id="{8703FD8D-F156-4C6E-96D2-B32F057B65EC}"/>
              </ns1:ext>
            </ns1:extLst>
          </p:cNvPr>
          <p:cNvSpPr>
            <ns1:spLocks noGrp="1"/>
          </p:cNvSpPr>
          <p:nvPr/>
        </p:nvSpPr>
        <p:spPr>
          <ns1:xfrm>
            <ns1:off x="619125" y="1581150"/>
            <ns1:ext cx="10572750" cy="4286250"/>
          </ns1:xfrm>
          <ns1:prstGeom prst="rect">
            <ns1:avLst/>
          </ns1:prstGeom>
          <ns1:noFill/>
          <ns1:ln w="0">
            <ns1:noFill/>
          </ns1:ln>
        </p:spPr>
        <p:txBody>
          <ns1:bodyPr/>
          <ns1:lstStyle>
            <ns1:defPPr>
              <ns1:defRPr sz="2325" b="0">
                <ns1:solidFill>
                  <ns1:srgbClr val="142C40"/>
                </ns1:solidFill>
                <ns1:latin typeface="Helvetica Neue"/>
                <ns1:ea typeface="Helvetica Neue"/>
                <ns1:cs typeface="Helvetica Neue"/>
              </ns1:defRPr>
            </ns1:defPPr>
          </ns1:lstStyle>
          <ns1:p>
            <ns1:pPr>
              <ns1:defRPr sz="2325" b="0">
                <ns1:solidFill>
                  <ns1:srgbClr val="142C40"/>
                </ns1:solidFill>
                <ns1:latin typeface="Helvetica Neue"/>
                <ns1:ea typeface="Helvetica Neue"/>
                <ns1:cs typeface="Helvetica Neue"/>
              </ns1:defRPr>
            </ns1:pPr>
            <ns1:r>
              <ns1:rPr sz="2325" b="0">
                <ns1:solidFill>
                  <ns1:srgbClr val="142C40"/>
                </ns1:solidFill>
                <ns1:latin typeface="Helvetica Neue"/>
                <ns1:ea typeface="Helvetica Neue"/>
                <ns1:cs typeface="Helvetica Neue"/>
              </ns1:rPr>
              <ns1:t>How could your PEST findings affect the business’s potential success?</ns1:t>
            </ns1:r>
          </ns1:p>
          <ns1:p>
            <ns1:r>
              <ns1:t/>
            </ns1:r>
          </ns1:p>
          <ns1:p>
            <ns1:pPr>
              <ns1:defRPr sz="2325" b="0">
                <ns1:solidFill>
                  <ns1:srgbClr val="142C40"/>
                </ns1:solidFill>
                <ns1:latin typeface="Helvetica Neue"/>
                <ns1:ea typeface="Helvetica Neue"/>
                <ns1:cs typeface="Helvetica Neue"/>
              </ns1:defRPr>
            </ns1:pPr>
            <ns1:r>
              <ns1:rPr sz="2325" b="0">
                <ns1:solidFill>
                  <ns1:srgbClr val="142C40"/>
                </ns1:solidFill>
                <ns1:latin typeface="Helvetica Neue"/>
                <ns1:ea typeface="Helvetica Neue"/>
                <ns1:cs typeface="Helvetica Neue"/>
              </ns1:rPr>
              <ns1:t>How would the business use a positive impact?</ns1:t>
            </ns1:r>
          </ns1:p>
          <ns1:p>
            <ns1:pPr>
              <ns1:defRPr sz="2325" b="0">
                <ns1:solidFill>
                  <ns1:srgbClr val="142C40"/>
                </ns1:solidFill>
                <ns1:latin typeface="Helvetica Neue"/>
                <ns1:ea typeface="Helvetica Neue"/>
                <ns1:cs typeface="Helvetica Neue"/>
              </ns1:defRPr>
            </ns1:pPr>
            <ns1:r>
              <ns1:rPr sz="2325" b="0">
                <ns1:solidFill>
                  <ns1:srgbClr val="142C40"/>
                </ns1:solidFill>
                <ns1:latin typeface="Helvetica Neue"/>
                <ns1:ea typeface="Helvetica Neue"/>
                <ns1:cs typeface="Helvetica Neue"/>
              </ns1:rPr>
              <ns1:t>How would it respond to a negative impact?</ns1:t>
            </ns1:r>
          </ns1:p>
          <ns1:p>
            <ns1:r>
              <ns1:t/>
            </ns1:r>
          </ns1:p>
          <ns1:p>
            <ns1:pPr>
              <ns1:defRPr sz="2325" b="0">
                <ns1:solidFill>
                  <ns1:srgbClr val="142C40"/>
                </ns1:solidFill>
                <ns1:latin typeface="Helvetica Neue"/>
                <ns1:ea typeface="Helvetica Neue"/>
                <ns1:cs typeface="Helvetica Neue"/>
              </ns1:defRPr>
            </ns1:pPr>
            <ns1:r>
              <ns1:rPr sz="2325" b="0">
                <ns1:solidFill>
                  <ns1:srgbClr val="142C40"/>
                </ns1:solidFill>
                <ns1:latin typeface="Helvetica Neue"/>
                <ns1:ea typeface="Helvetica Neue"/>
                <ns1:cs typeface="Helvetica Neue"/>
              </ns1:rPr>
              <ns1:t>Explain the reason for each response.</ns1:t>
            </ns1:r>
          </ns1:p>
        </p:txBody>
      </p:sp>
    </p:spTree>
    <p:extLst>
      <p:ext uri="{BB962C8B-B14F-4D97-AF65-F5344CB8AC3E}">
        <ns3:creationId val="1993174011"/>
      </p:ext>
    </p:extLst>
  </p:cSld>
  <p:transition spd="fast" advClick="1">
    <p:fade/>
  </p:transition>
</p:sld>
</file>

<file path=ppt/slides/slide14.xml><?xml version="1.0" encoding="utf-8"?>
<p:sld xmlns:ns1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ns1:solidFill>
          <ns1:srgbClr val="FAF7EF"/>
        </ns1:solidFill>
      </p:bgPr>
    </p:bg>
    <p:spTree>
      <p:nvGrpSpPr>
        <p:cNvPr id="1" name=""/>
        <p:cNvGrpSpPr/>
        <p:nvPr/>
      </p:nvGrpSpPr>
      <p:grpSpPr>
        <ns1:xfrm/>
      </p:grpSpPr>
      <p:sp>
        <p:nvSpPr>
          <p:cNvPr id="4" name="">
            <ns1:extLst>
              <ns1:ext uri="{FF2B5EF4-FFF2-40B4-BE49-F238E27FC236}">
                <ns2:creationId id="{2A4B5B73-AD9E-44FB-B6D1-EA0310178CC0}"/>
              </ns1:ext>
            </ns1:extLst>
          </p:cNvPr>
          <p:cNvSpPr>
            <ns1:spLocks noGrp="1"/>
          </p:cNvSpPr>
          <p:nvPr/>
        </p:nvSpPr>
        <p:spPr>
          <ns1:xfrm>
            <ns1:off x="619125" y="419100"/>
            <ns1:ext cx="10572750" cy="800100"/>
          </ns1:xfrm>
          <ns1:prstGeom prst="rect">
            <ns1:avLst/>
          </ns1:prstGeom>
          <ns1:noFill/>
          <ns1:ln w="0">
            <ns1:noFill/>
          </ns1:ln>
        </p:spPr>
        <p:txBody>
          <ns1:bodyPr/>
          <ns1:lstStyle>
            <ns1:defPPr>
              <ns1:defRPr sz="3300" b="1">
                <ns1:solidFill>
                  <ns1:srgbClr val="142C40"/>
                </ns1:solidFill>
                <ns1:latin typeface="Helvetica Neue"/>
                <ns1:ea typeface="Helvetica Neue"/>
                <ns1:cs typeface="Helvetica Neue"/>
              </ns1:defRPr>
            </ns1:defPPr>
          </ns1:lstStyle>
          <ns1:p>
            <ns1:pPr>
              <ns1:defRPr sz="3300" b="1">
                <ns1:solidFill>
                  <ns1:srgbClr val="142C40"/>
                </ns1:solidFill>
                <ns1:latin typeface="Helvetica Neue"/>
                <ns1:ea typeface="Helvetica Neue"/>
                <ns1:cs typeface="Helvetica Neue"/>
              </ns1:defRPr>
            </ns1:pPr>
            <ns1:r>
              <ns1:rPr sz="3300" b="1">
                <ns1:solidFill>
                  <ns1:srgbClr val="142C40"/>
                </ns1:solidFill>
                <ns1:latin typeface="Helvetica Neue"/>
                <ns1:ea typeface="Helvetica Neue"/>
                <ns1:cs typeface="Helvetica Neue"/>
              </ns1:rPr>
              <ns1:t>Completion check and Terms to Know</ns1:t>
            </ns1:r>
          </ns1:p>
        </p:txBody>
      </p:sp>
      <p:sp>
        <p:nvSpPr>
          <p:cNvPr id="2" name="">
            <ns1:extLst>
              <ns1:ext uri="{FF2B5EF4-FFF2-40B4-BE49-F238E27FC236}">
                <ns2:creationId id="{E0C3317C-FC79-49D0-8EEE-50800E87A7D6}"/>
              </ns1:ext>
            </ns1:extLst>
          </p:cNvPr>
          <p:cNvSpPr>
            <ns1:spLocks noGrp="1"/>
          </p:cNvSpPr>
          <p:nvPr/>
        </p:nvSpPr>
        <p:spPr>
          <ns1:xfrm>
            <ns1:off x="619125" y="6124575"/>
            <ns1:ext cx="10572750" cy="342900"/>
          </ns1:xfrm>
          <ns1:prstGeom prst="rect">
            <ns1:avLst/>
          </ns1:prstGeom>
          <ns1:noFill/>
          <ns1:ln w="0">
            <ns1:noFill/>
          </ns1:ln>
        </p:spPr>
        <p:txBody>
          <ns1:bodyPr/>
          <ns1:lstStyle>
            <ns1:defPPr>
              <ns1:defRPr sz="1800" b="1">
                <ns1:solidFill>
                  <ns1:srgbClr val="147D80"/>
                </ns1:solidFill>
                <ns1:latin typeface="Helvetica Neue"/>
                <ns1:ea typeface="Helvetica Neue"/>
                <ns1:cs typeface="Helvetica Neue"/>
              </ns1:defRPr>
            </ns1:defPPr>
          </ns1:lstStyle>
          <ns1:p>
            <ns1:pPr>
              <ns1:defRPr sz="1800" b="1">
                <ns1:solidFill>
                  <ns1:srgbClr val="147D80"/>
                </ns1:solidFill>
                <ns1:latin typeface="Helvetica Neue"/>
                <ns1:ea typeface="Helvetica Neue"/>
                <ns1:cs typeface="Helvetica Neue"/>
              </ns1:defRPr>
            </ns1:pPr>
            <ns1:r>
              <ns1:rPr sz="1800" b="1">
                <ns1:solidFill>
                  <ns1:srgbClr val="147D80"/>
                </ns1:solidFill>
                <ns1:latin typeface="Helvetica Neue"/>
                <ns1:ea typeface="Helvetica Neue"/>
                <ns1:cs typeface="Helvetica Neue"/>
              </ns1:rPr>
              <ns1:t>Remaining 6–8 minutes</ns1:t>
            </ns1:r>
          </ns1:p>
        </p:txBody>
      </p:sp>
      <p:sp>
        <p:nvSpPr>
          <p:cNvPr id="3" name="">
            <ns1:extLst>
              <ns1:ext uri="{FF2B5EF4-FFF2-40B4-BE49-F238E27FC236}">
                <ns2:creationId id="{D7152C39-92D5-48A0-B21A-E2D51212D636}"/>
              </ns1:ext>
            </ns1:extLst>
          </p:cNvPr>
          <p:cNvSpPr>
            <ns1:spLocks noGrp="1"/>
          </p:cNvSpPr>
          <p:nvPr/>
        </p:nvSpPr>
        <p:spPr>
          <ns1:xfrm>
            <ns1:off x="619125" y="1581150"/>
            <ns1:ext cx="10572750" cy="4286250"/>
          </ns1:xfrm>
          <ns1:prstGeom prst="rect">
            <ns1:avLst/>
          </ns1:prstGeom>
          <ns1:noFill/>
          <ns1:ln w="0">
            <ns1:noFill/>
          </ns1:ln>
        </p:spPr>
        <p:txBody>
          <ns1:bodyPr/>
          <ns1:lstStyle>
            <ns1:defPPr>
              <ns1:defRPr sz="2325" b="0">
                <ns1:solidFill>
                  <ns1:srgbClr val="142C40"/>
                </ns1:solidFill>
                <ns1:latin typeface="Helvetica Neue"/>
                <ns1:ea typeface="Helvetica Neue"/>
                <ns1:cs typeface="Helvetica Neue"/>
              </ns1:defRPr>
            </ns1:defPPr>
          </ns1:lstStyle>
          <ns1:p>
            <ns1:pPr>
              <ns1:defRPr sz="2325" b="0">
                <ns1:solidFill>
                  <ns1:srgbClr val="142C40"/>
                </ns1:solidFill>
                <ns1:latin typeface="Helvetica Neue"/>
                <ns1:ea typeface="Helvetica Neue"/>
                <ns1:cs typeface="Helvetica Neue"/>
              </ns1:defRPr>
            </ns1:pPr>
            <ns1:r>
              <ns1:rPr sz="2325" b="0">
                <ns1:solidFill>
                  <ns1:srgbClr val="142C40"/>
                </ns1:solidFill>
                <ns1:latin typeface="Helvetica Neue"/>
                <ns1:ea typeface="Helvetica Neue"/>
                <ns1:cs typeface="Helvetica Neue"/>
              </ns1:rPr>
              <ns1:t>Business and target market</ns1:t>
            </ns1:r>
          </ns1:p>
          <ns1:p>
            <ns1:pPr>
              <ns1:defRPr sz="2325" b="0">
                <ns1:solidFill>
                  <ns1:srgbClr val="142C40"/>
                </ns1:solidFill>
                <ns1:latin typeface="Helvetica Neue"/>
                <ns1:ea typeface="Helvetica Neue"/>
                <ns1:cs typeface="Helvetica Neue"/>
              </ns1:defRPr>
            </ns1:pPr>
            <ns1:r>
              <ns1:rPr sz="2325" b="0">
                <ns1:solidFill>
                  <ns1:srgbClr val="142C40"/>
                </ns1:solidFill>
                <ns1:latin typeface="Helvetica Neue"/>
                <ns1:ea typeface="Helvetica Neue"/>
                <ns1:cs typeface="Helvetica Neue"/>
              </ns1:rPr>
              <ns1:t>All four PEST sections</ns1:t>
            </ns1:r>
          </ns1:p>
          <ns1:p>
            <ns1:pPr>
              <ns1:defRPr sz="2325" b="0">
                <ns1:solidFill>
                  <ns1:srgbClr val="142C40"/>
                </ns1:solidFill>
                <ns1:latin typeface="Helvetica Neue"/>
                <ns1:ea typeface="Helvetica Neue"/>
                <ns1:cs typeface="Helvetica Neue"/>
              </ns1:defRPr>
            </ns1:pPr>
            <ns1:r>
              <ns1:rPr sz="2325" b="0">
                <ns1:solidFill>
                  <ns1:srgbClr val="142C40"/>
                </ns1:solidFill>
                <ns1:latin typeface="Helvetica Neue"/>
                <ns1:ea typeface="Helvetica Neue"/>
                <ns1:cs typeface="Helvetica Neue"/>
              </ns1:rPr>
              <ns1:t>Connected examples and explained + / − impacts</ns1:t>
            </ns1:r>
          </ns1:p>
          <ns1:p>
            <ns1:pPr>
              <ns1:defRPr sz="2325" b="0">
                <ns1:solidFill>
                  <ns1:srgbClr val="142C40"/>
                </ns1:solidFill>
                <ns1:latin typeface="Helvetica Neue"/>
                <ns1:ea typeface="Helvetica Neue"/>
                <ns1:cs typeface="Helvetica Neue"/>
              </ns1:defRPr>
            </ns1:pPr>
            <ns1:r>
              <ns1:rPr sz="2325" b="0">
                <ns1:solidFill>
                  <ns1:srgbClr val="142C40"/>
                </ns1:solidFill>
                <ns1:latin typeface="Helvetica Neue"/>
                <ns1:ea typeface="Helvetica Neue"/>
                <ns1:cs typeface="Helvetica Neue"/>
              </ns1:rPr>
              <ns1:t>Summary with business responses</ns1:t>
            </ns1:r>
          </ns1:p>
          <ns1:p>
            <ns1:r>
              <ns1:t/>
            </ns1:r>
          </ns1:p>
          <ns1:p>
            <ns1:pPr>
              <ns1:defRPr sz="2325" b="0">
                <ns1:solidFill>
                  <ns1:srgbClr val="142C40"/>
                </ns1:solidFill>
                <ns1:latin typeface="Helvetica Neue"/>
                <ns1:ea typeface="Helvetica Neue"/>
                <ns1:cs typeface="Helvetica Neue"/>
              </ns1:defRPr>
            </ns1:pPr>
            <ns1:r>
              <ns1:rPr sz="2325" b="0">
                <ns1:solidFill>
                  <ns1:srgbClr val="142C40"/>
                </ns1:solidFill>
                <ns1:latin typeface="Helvetica Neue"/>
                <ns1:ea typeface="Helvetica Neue"/>
                <ns1:cs typeface="Helvetica Neue"/>
              </ns1:rPr>
              <ns1:t>Then practise Terms to Know for Thursday’s quiz.</ns1:t>
            </ns1:r>
          </ns1:p>
        </p:txBody>
      </p:sp>
    </p:spTree>
    <p:extLst>
      <p:ext uri="{BB962C8B-B14F-4D97-AF65-F5344CB8AC3E}">
        <ns3:creationId val="1250939803"/>
      </p:ext>
    </p:extLst>
  </p:cSld>
  <p:transition spd="fast" advClick="1">
    <p:fade/>
  </p:transition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2026-10-13T13:21:56.3960000Z</dcterms:created>
  <dcterms:modified xsi:type="dcterms:W3CDTF">2026-10-13T13:21:56.3960000Z</dcterms:modified>
</coreProperties>
</file>