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57a88193044b50" /><Relationship Type="http://schemas.openxmlformats.org/officeDocument/2006/relationships/extended-properties" Target="/docProps/app.xml" Id="R8b72343bc1754f50" /><Relationship Type="http://schemas.openxmlformats.org/officeDocument/2006/relationships/officeDocument" Target="/ppt/presentation.xml" Id="Ra3f6a738d9b64b9c" /></Relationships>
</file>

<file path=ppt/presentation.xml><?xml version="1.0" encoding="utf-8"?>
<p:presentation xmlns:p="http://schemas.openxmlformats.org/presentationml/2006/main">
  <p:sldMasterIdLst>
    <p:sldMasterId xmlns:r="http://schemas.openxmlformats.org/officeDocument/2006/relationships" id="2147483648" r:id="R61115aee11724d53"/>
  </p:sldMasterIdLst>
  <p:notesMasterIdLst>
    <p:notesMasterId xmlns:r="http://schemas.openxmlformats.org/officeDocument/2006/relationships" r:id="R618b6c30e96e4e46"/>
  </p:notesMasterIdLst>
  <p:sldIdLst>
    <p:sldId xmlns:r="http://schemas.openxmlformats.org/officeDocument/2006/relationships" id="256" r:id="R2b43ce2765fb4bc4"/>
    <p:sldId xmlns:r="http://schemas.openxmlformats.org/officeDocument/2006/relationships" id="257" r:id="R840123001d294b8b"/>
    <p:sldId xmlns:r="http://schemas.openxmlformats.org/officeDocument/2006/relationships" id="258" r:id="R330943b0d3ff49dd"/>
    <p:sldId xmlns:r="http://schemas.openxmlformats.org/officeDocument/2006/relationships" id="259" r:id="R412c3183881c4932"/>
    <p:sldId xmlns:r="http://schemas.openxmlformats.org/officeDocument/2006/relationships" id="260" r:id="R93cf511dc4a147e3"/>
    <p:sldId xmlns:r="http://schemas.openxmlformats.org/officeDocument/2006/relationships" id="261" r:id="R94dee1ec3ddd45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adb10d3f704fa7" /><Relationship Type="http://schemas.openxmlformats.org/officeDocument/2006/relationships/slideMaster" Target="/ppt/slideMasters/slideMaster1.xml" Id="R61115aee11724d53" /><Relationship Type="http://schemas.openxmlformats.org/officeDocument/2006/relationships/notesMaster" Target="/ppt/notesMasters/notesMaster1.xml" Id="R618b6c30e96e4e46" /><Relationship Type="http://schemas.openxmlformats.org/officeDocument/2006/relationships/presProps" Target="/ppt/presProps.xml" Id="R58bfd878bda44e8a" /><Relationship Type="http://schemas.openxmlformats.org/officeDocument/2006/relationships/tableStyles" Target="/ppt/tableStyles.xml" Id="Rf96262603ff44bc3" /><Relationship Type="http://schemas.openxmlformats.org/officeDocument/2006/relationships/slide" Target="/ppt/slides/slide1.xml" Id="R2b43ce2765fb4bc4" /><Relationship Type="http://schemas.openxmlformats.org/officeDocument/2006/relationships/slide" Target="/ppt/slides/slide2.xml" Id="R840123001d294b8b" /><Relationship Type="http://schemas.openxmlformats.org/officeDocument/2006/relationships/slide" Target="/ppt/slides/slide3.xml" Id="R330943b0d3ff49dd" /><Relationship Type="http://schemas.openxmlformats.org/officeDocument/2006/relationships/slide" Target="/ppt/slides/slide4.xml" Id="R412c3183881c4932" /><Relationship Type="http://schemas.openxmlformats.org/officeDocument/2006/relationships/slide" Target="/ppt/slides/slide5.xml" Id="R93cf511dc4a147e3" /><Relationship Type="http://schemas.openxmlformats.org/officeDocument/2006/relationships/slide" Target="/ppt/slides/slide6.xml" Id="R94dee1ec3ddd45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ba7b37df1345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195c44ac4a4164" /><Relationship Type="http://schemas.openxmlformats.org/officeDocument/2006/relationships/notesMaster" Target="/ppt/notesMasters/notesMaster1.xml" Id="Ra0a1ca65462843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5f83b9bad94246" /><Relationship Type="http://schemas.openxmlformats.org/officeDocument/2006/relationships/notesMaster" Target="/ppt/notesMasters/notesMaster1.xml" Id="R1930d0bcddc24d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548ffff34442de" /><Relationship Type="http://schemas.openxmlformats.org/officeDocument/2006/relationships/notesMaster" Target="/ppt/notesMasters/notesMaster1.xml" Id="Rb7c2a6c4b67042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fb1186b9ef4780" /><Relationship Type="http://schemas.openxmlformats.org/officeDocument/2006/relationships/notesMaster" Target="/ppt/notesMasters/notesMaster1.xml" Id="R3b0d1874c3c243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be930711a04daf" /><Relationship Type="http://schemas.openxmlformats.org/officeDocument/2006/relationships/notesMaster" Target="/ppt/notesMasters/notesMaster1.xml" Id="Rb7bddb9d22c641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2cb9b8c5a247bf" /><Relationship Type="http://schemas.openxmlformats.org/officeDocument/2006/relationships/notesMaster" Target="/ppt/notesMasters/notesMaster1.xml" Id="R7ca079f35d4a40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minutes. Take attendance while students think. Ask what is missing from sell more. Take one or two short answers, then move to school teaching deck slide9. No need to hear from every student. Fictional store illustration generated for this lesson. Weekly planv4 Monday; SMART Figure2.2 printedp21.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after students respond and after reading SMART on printedpp20–21. Teacher-created hypothetical example; numbers are not textbook findings. Specific: sneaker sales. Measurable:20to24pairs perweek. Achievable only with evidence: this fictional store has sold24pairs in a prior promotion and can support that volume. Results-focused: increased completed sales, not merely posting ads. Time-bound:Nov13. Use the book wording Results-focused, not a different SMART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milestone introduction printedp21 and four steps onpp22–23; skip Practical Marketing case onp22 untilTuesday. Ask one short response; next click reveals the example checkpoint. Keep this within the16-minute read/notes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after students propose a checkpoint. A milestone is a smaller, dated achievement toward the larger goal. The weekly sales log is the evidence. If the checkpoint is missed, examine why and adjust; the goal is not automatically impossible. This model illustrates rather than replaces all four textbook milestone steps. School deck slide9; bookpp21–23.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20–37 minutes in a42-minute lesson. Use existing Test Your Knowledge worksheet inTeams, not a new project. Q4 retrieves Chapter1 targetmarket learning; printedp23 is a reference and will be readTuesday. Q5 draws on elements listp19; revisit appendix detailThursday. Q8 usespp20–21, Figure2.2. Catch upQ1–3 only after today’s questions. Circulate; check explanations not just labels. No invented grading or new deadline.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37–42 minutes. Check Q8 names and explains all five criteria. Ask how a milestone differs from the final goal, using the same example. Students save and identify unfinished work. Do not assign a new exit worksheet; responses can be spoken or in existing notes. Record separate actual stops forMarketingBlocks1and5. Tomorrowmain schoolslide10; no case study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dbcb2e94c24a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fc6fbd06fa4c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e10b68ccb945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f98db835144c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73b0b2d73843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7d0e9bb31c4c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972463-1E32-4E44-B787-289F701B9D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1E42B1-6487-453F-8FF3-C045BCA8E5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841402-3637-46AA-844C-84903AB94F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29BD43-E86C-40E7-BF36-0C8E0E2539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8A0AEDC-9168-46F3-99F9-C74F975019E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2554D9-4343-4D5E-B4F8-D292D85767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03D57A-65CF-488F-82D2-449B7572CB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AB70B5D-3212-4868-AB2A-0626FFA2C29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3570AE-53C2-4D5D-BC82-1506FC2E6B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A57AA5-F7C0-46DC-9A4E-C200F9041F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f1839944d44827" /><Relationship Type="http://schemas.openxmlformats.org/officeDocument/2006/relationships/slideLayout" Target="/ppt/slideLayouts/slideLayout1.xml" Id="Rd2f09a4fe1144da8" /><Relationship Type="http://schemas.openxmlformats.org/officeDocument/2006/relationships/slideLayout" Target="/ppt/slideLayouts/slideLayout2.xml" Id="Ra7cdfb05c6284ee7" /><Relationship Type="http://schemas.openxmlformats.org/officeDocument/2006/relationships/slideLayout" Target="/ppt/slideLayouts/slideLayout3.xml" Id="R0f94530925c7438e" /><Relationship Type="http://schemas.openxmlformats.org/officeDocument/2006/relationships/slideLayout" Target="/ppt/slideLayouts/slideLayout4.xml" Id="R53dde21d3f5b4216" /><Relationship Type="http://schemas.openxmlformats.org/officeDocument/2006/relationships/slideLayout" Target="/ppt/slideLayouts/slideLayout5.xml" Id="R345751b1b23948c6" /><Relationship Type="http://schemas.openxmlformats.org/officeDocument/2006/relationships/slideLayout" Target="/ppt/slideLayouts/slideLayout6.xml" Id="Rdaa606da641143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f09a4fe1144da8"/>
    <p:sldLayoutId xmlns:r="http://schemas.openxmlformats.org/officeDocument/2006/relationships" id="2147483650" r:id="Ra7cdfb05c6284ee7"/>
    <p:sldLayoutId xmlns:r="http://schemas.openxmlformats.org/officeDocument/2006/relationships" id="2147483651" r:id="R0f94530925c7438e"/>
    <p:sldLayoutId xmlns:r="http://schemas.openxmlformats.org/officeDocument/2006/relationships" id="2147483652" r:id="R53dde21d3f5b4216"/>
    <p:sldLayoutId xmlns:r="http://schemas.openxmlformats.org/officeDocument/2006/relationships" id="2147483653" r:id="R345751b1b23948c6"/>
    <p:sldLayoutId xmlns:r="http://schemas.openxmlformats.org/officeDocument/2006/relationships" id="2147483654" r:id="Rdaa606da641143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322391684d4ead" /><Relationship Type="http://schemas.openxmlformats.org/officeDocument/2006/relationships/image" Target="/ppt/media/image.png" Id="R94e3a7ca98a34813" /><Relationship Type="http://schemas.openxmlformats.org/officeDocument/2006/relationships/notesSlide" Target="/ppt/notesSlides/notesSlide1.xml" Id="R4ba32b4b376b49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a9b5226db124fdc" /><Relationship Type="http://schemas.openxmlformats.org/officeDocument/2006/relationships/image" Target="/ppt/media/image2.png" Id="R9eb23cceb5834168" /><Relationship Type="http://schemas.openxmlformats.org/officeDocument/2006/relationships/notesSlide" Target="/ppt/notesSlides/notesSlide2.xml" Id="Ra1457e56badf41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a9b780a58f4aea" /><Relationship Type="http://schemas.openxmlformats.org/officeDocument/2006/relationships/notesSlide" Target="/ppt/notesSlides/notesSlide3.xml" Id="R9bf2fef9b9cf47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4366ec95644e36" /><Relationship Type="http://schemas.openxmlformats.org/officeDocument/2006/relationships/notesSlide" Target="/ppt/notesSlides/notesSlide4.xml" Id="Rf9085dfdbe9143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f592d29ead41b5" /><Relationship Type="http://schemas.openxmlformats.org/officeDocument/2006/relationships/notesSlide" Target="/ppt/notesSlides/notesSlide5.xml" Id="R325a02d3a0634d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dc5629e1ac4d09" /><Relationship Type="http://schemas.openxmlformats.org/officeDocument/2006/relationships/notesSlide" Target="/ppt/notesSlides/notesSlide6.xml" Id="Rc81973f593ea4a9f" /></Relationships>
</file>

<file path=ppt/slides/slide1.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BCDFF1-9695-4097-8570-91526C6F17F0}"/>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buNone/>
              <a:defRPr sz="3600" b="1">
                <a:solidFill>
                  <a:srgbClr val="142D44"/>
                </a:solidFill>
                <a:latin typeface="Arial"/>
                <a:ea typeface="Arial"/>
                <a:cs typeface="Arial"/>
              </a:defRPr>
            </a:pPr>
            <a:r>
              <a:rPr sz="3600" b="1">
                <a:solidFill>
                  <a:srgbClr val="142D44"/>
                </a:solidFill>
                <a:latin typeface="Arial"/>
                <a:ea typeface="Arial"/>
                <a:cs typeface="Arial"/>
              </a:rPr>
              <a:t>A goal for the sneaker store</a:t>
            </a:r>
          </a:p>
        </p:txBody>
      </p:sp>
      <p:sp>
        <p:nvSpPr>
          <p:cNvPr id="2" name="">
            <a:extLst xmlns:a="http://schemas.openxmlformats.org/drawingml/2006/main">
              <a:ext uri="{FF2B5EF4-FFF2-40B4-BE49-F238E27FC236}">
                <a16:creationId xmlns:a16="http://schemas.microsoft.com/office/drawing/2014/main" id="{336EEDCE-7053-4BE5-88BF-033A78C612AB}"/>
              </a:ext>
            </a:extLst>
          </p:cNvPr>
          <p:cNvSpPr>
            <a:spLocks xmlns:a="http://schemas.openxmlformats.org/drawingml/2006/main" noGrp="1"/>
          </p:cNvSpPr>
          <p:nvPr/>
        </p:nvSpPr>
        <p:spPr>
          <a:xfrm xmlns:a="http://schemas.openxmlformats.org/drawingml/2006/main">
            <a:off x="609600" y="16573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087D83"/>
                </a:solidFill>
                <a:latin typeface="Arial"/>
                <a:ea typeface="Arial"/>
                <a:cs typeface="Arial"/>
              </a:defRPr>
            </a:defPPr>
          </a:lstStyle>
          <a:p xmlns:a="http://schemas.openxmlformats.org/drawingml/2006/main">
            <a:pPr>
              <a:buNone/>
              <a:defRPr sz="4950" b="1">
                <a:solidFill>
                  <a:srgbClr val="087D83"/>
                </a:solidFill>
                <a:latin typeface="Arial"/>
                <a:ea typeface="Arial"/>
                <a:cs typeface="Arial"/>
              </a:defRPr>
            </a:pPr>
            <a:r>
              <a:rPr sz="4950" b="1">
                <a:solidFill>
                  <a:srgbClr val="087D83"/>
                </a:solidFill>
                <a:latin typeface="Arial"/>
                <a:ea typeface="Arial"/>
                <a:cs typeface="Arial"/>
              </a:rPr>
              <a:t>“Sell more.”</a:t>
            </a:r>
          </a:p>
        </p:txBody>
      </p:sp>
      <p:sp>
        <p:nvSpPr>
          <p:cNvPr id="3" name="">
            <a:extLst xmlns:a="http://schemas.openxmlformats.org/drawingml/2006/main">
              <a:ext uri="{FF2B5EF4-FFF2-40B4-BE49-F238E27FC236}">
                <a16:creationId xmlns:a16="http://schemas.microsoft.com/office/drawing/2014/main" id="{C84DF20A-8137-4002-8016-2A6A756919D6}"/>
              </a:ext>
            </a:extLst>
          </p:cNvPr>
          <p:cNvSpPr>
            <a:spLocks xmlns:a="http://schemas.openxmlformats.org/drawingml/2006/main" noGrp="1"/>
          </p:cNvSpPr>
          <p:nvPr/>
        </p:nvSpPr>
        <p:spPr>
          <a:xfrm xmlns:a="http://schemas.openxmlformats.org/drawingml/2006/main">
            <a:off x="609600" y="2905125"/>
            <a:ext cx="5429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142D44"/>
                </a:solidFill>
                <a:latin typeface="Arial"/>
                <a:ea typeface="Arial"/>
                <a:cs typeface="Arial"/>
              </a:defRPr>
            </a:defPPr>
          </a:lstStyle>
          <a:p xmlns:a="http://schemas.openxmlformats.org/drawingml/2006/main">
            <a:pPr>
              <a:buNone/>
              <a:defRPr sz="2850" b="0">
                <a:solidFill>
                  <a:srgbClr val="142D44"/>
                </a:solidFill>
                <a:latin typeface="Arial"/>
                <a:ea typeface="Arial"/>
                <a:cs typeface="Arial"/>
              </a:defRPr>
            </a:pPr>
            <a:r>
              <a:rPr sz="2850" b="0">
                <a:solidFill>
                  <a:srgbClr val="142D44"/>
                </a:solidFill>
                <a:latin typeface="Arial"/>
                <a:ea typeface="Arial"/>
                <a:cs typeface="Arial"/>
              </a:rPr>
              <a:t>What information is missing?</a:t>
            </a:r>
          </a:p>
        </p:txBody>
      </p:sp>
      <p:sp>
        <p:nvSpPr>
          <p:cNvPr id="4" name="">
            <a:extLst xmlns:a="http://schemas.openxmlformats.org/drawingml/2006/main">
              <a:ext uri="{FF2B5EF4-FFF2-40B4-BE49-F238E27FC236}">
                <a16:creationId xmlns:a16="http://schemas.microsoft.com/office/drawing/2014/main" id="{CCCDC92A-5F06-4DEC-9159-52FEFF3AD043}"/>
              </a:ext>
            </a:extLst>
          </p:cNvPr>
          <p:cNvSpPr>
            <a:spLocks xmlns:a="http://schemas.openxmlformats.org/drawingml/2006/main" noGrp="1"/>
          </p:cNvSpPr>
          <p:nvPr/>
        </p:nvSpPr>
        <p:spPr>
          <a:xfrm xmlns:a="http://schemas.openxmlformats.org/drawingml/2006/main">
            <a:off x="609600" y="4429125"/>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44"/>
                </a:solidFill>
                <a:latin typeface="Arial"/>
                <a:ea typeface="Arial"/>
                <a:cs typeface="Arial"/>
              </a:defRPr>
            </a:defPPr>
          </a:lstStyle>
          <a:p xmlns:a="http://schemas.openxmlformats.org/drawingml/2006/main">
            <a:pPr>
              <a:buNone/>
              <a:defRPr sz="2250" b="0">
                <a:solidFill>
                  <a:srgbClr val="142D44"/>
                </a:solidFill>
                <a:latin typeface="Arial"/>
                <a:ea typeface="Arial"/>
                <a:cs typeface="Arial"/>
              </a:defRPr>
            </a:pPr>
            <a:r>
              <a:rPr sz="2250" b="0">
                <a:solidFill>
                  <a:srgbClr val="142D44"/>
                </a:solidFill>
                <a:latin typeface="Arial"/>
                <a:ea typeface="Arial"/>
                <a:cs typeface="Arial"/>
              </a:rPr>
              <a:t>Today: school slide 9 notes,</a:t>
            </a:r>
          </a:p>
          <a:p xmlns:a="http://schemas.openxmlformats.org/drawingml/2006/main">
            <a:pPr>
              <a:buNone/>
              <a:defRPr sz="2250" b="0">
                <a:solidFill>
                  <a:srgbClr val="142D44"/>
                </a:solidFill>
                <a:latin typeface="Arial"/>
                <a:ea typeface="Arial"/>
                <a:cs typeface="Arial"/>
              </a:defRPr>
            </a:pPr>
            <a:r>
              <a:rPr sz="2250" b="0">
                <a:solidFill>
                  <a:srgbClr val="142D44"/>
                </a:solidFill>
                <a:latin typeface="Arial"/>
                <a:ea typeface="Arial"/>
                <a:cs typeface="Arial"/>
              </a:rPr>
              <a:t>then review Q4, Q5 and Q8.</a:t>
            </a:r>
          </a:p>
        </p:txBody>
      </p:sp>
      <p:pic>
        <p:nvPicPr>
          <p:cNvPr id="5" name="">
            <a:extLst xmlns:a="http://schemas.openxmlformats.org/drawingml/2006/main">
              <a:ext uri="{FF2B5EF4-FFF2-40B4-BE49-F238E27FC236}">
                <a16:creationId xmlns:a16="http://schemas.microsoft.com/office/drawing/2014/main" id="{DE4A6BB4-9B28-4B11-B35C-6F6201A0ACD4}"/>
              </a:ext>
            </a:extLst>
          </p:cNvPr>
          <p:cNvPicPr>
            <a:picLocks xmlns:a="http://schemas.openxmlformats.org/drawingml/2006/main" noChangeAspect="1"/>
          </p:cNvPicPr>
          <p:nvPr/>
        </p:nvPicPr>
        <p:blipFill>
          <a:blip xmlns:r="http://schemas.openxmlformats.org/officeDocument/2006/relationships" xmlns:a="http://schemas.openxmlformats.org/drawingml/2006/main" r:embed="R94e3a7ca98a34813"/>
          <a:srcRect xmlns:a="http://schemas.openxmlformats.org/drawingml/2006/main" l="10310" t="0" r="10310" b="0"/>
          <a:stretch xmlns:a="http://schemas.openxmlformats.org/drawingml/2006/main">
            <a:fillRect l="0" t="0" r="0" b="0"/>
          </a:stretch>
        </p:blipFill>
        <p:spPr>
          <a:xfrm xmlns:a="http://schemas.openxmlformats.org/drawingml/2006/main">
            <a:off x="6705600" y="1543050"/>
            <a:ext cx="4876800"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4C94DB1-4E1D-4C2A-8C19-ADDE8F7083AF}"/>
              </a:ext>
            </a:extLst>
          </p:cNvPr>
          <p:cNvSpPr>
            <a:spLocks xmlns:a="http://schemas.openxmlformats.org/drawingml/2006/main" noGrp="1"/>
          </p:cNvSpPr>
          <p:nvPr/>
        </p:nvSpPr>
        <p:spPr>
          <a:xfrm xmlns:a="http://schemas.openxmlformats.org/drawingml/2006/main">
            <a:off x="609600" y="61912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44"/>
                </a:solidFill>
                <a:latin typeface="Arial"/>
                <a:ea typeface="Arial"/>
                <a:cs typeface="Arial"/>
              </a:defRPr>
            </a:defPPr>
          </a:lstStyle>
          <a:p xmlns:a="http://schemas.openxmlformats.org/drawingml/2006/main">
            <a:pPr>
              <a:buNone/>
              <a:defRPr sz="1500" b="0">
                <a:solidFill>
                  <a:srgbClr val="142D44"/>
                </a:solidFill>
                <a:latin typeface="Arial"/>
                <a:ea typeface="Arial"/>
                <a:cs typeface="Arial"/>
              </a:defRPr>
            </a:pPr>
            <a:r>
              <a:rPr sz="1500" b="0">
                <a:solidFill>
                  <a:srgbClr val="142D44"/>
                </a:solidFill>
                <a:latin typeface="Arial"/>
                <a:ea typeface="Arial"/>
                <a:cs typeface="Arial"/>
              </a:rPr>
              <a:t>Chapter 2 pp. 20–23     Stop before Market Research     Monday October 19</a:t>
            </a:r>
          </a:p>
        </p:txBody>
      </p:sp>
    </p:spTree>
    <p:extLst>
      <p:ext uri="{BB962C8B-B14F-4D97-AF65-F5344CB8AC3E}">
        <p14:creationId xmlns:p14="http://schemas.microsoft.com/office/powerpoint/2010/main" val="1162833796"/>
      </p:ext>
    </p:extLst>
  </p:cSld>
  <p:transition spd="fast" advClick="1">
    <p:fade/>
  </p:transition>
</p:sld>
</file>

<file path=ppt/slides/slide2.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9A3D4C-175E-43E9-823A-C1AF20F3F339}"/>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buNone/>
              <a:defRPr sz="3600" b="1">
                <a:solidFill>
                  <a:srgbClr val="142D44"/>
                </a:solidFill>
                <a:latin typeface="Arial"/>
                <a:ea typeface="Arial"/>
                <a:cs typeface="Arial"/>
              </a:defRPr>
            </a:pPr>
            <a:r>
              <a:rPr sz="3600" b="1">
                <a:solidFill>
                  <a:srgbClr val="142D44"/>
                </a:solidFill>
                <a:latin typeface="Arial"/>
                <a:ea typeface="Arial"/>
                <a:cs typeface="Arial"/>
              </a:rPr>
              <a:t>SMART goals in Chapter 2</a:t>
            </a:r>
          </a:p>
        </p:txBody>
      </p:sp>
      <p:sp>
        <p:nvSpPr>
          <p:cNvPr id="2" name="">
            <a:extLst xmlns:a="http://schemas.openxmlformats.org/drawingml/2006/main">
              <a:ext uri="{FF2B5EF4-FFF2-40B4-BE49-F238E27FC236}">
                <a16:creationId xmlns:a16="http://schemas.microsoft.com/office/drawing/2014/main" id="{1489A0FE-4298-45E8-955F-B328E887E25F}"/>
              </a:ext>
            </a:extLst>
          </p:cNvPr>
          <p:cNvSpPr>
            <a:spLocks xmlns:a="http://schemas.openxmlformats.org/drawingml/2006/main" noGrp="1"/>
          </p:cNvSpPr>
          <p:nvPr/>
        </p:nvSpPr>
        <p:spPr>
          <a:xfrm xmlns:a="http://schemas.openxmlformats.org/drawingml/2006/main">
            <a:off x="609600" y="1485900"/>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D83"/>
                </a:solidFill>
                <a:latin typeface="Arial"/>
                <a:ea typeface="Arial"/>
                <a:cs typeface="Arial"/>
              </a:defRPr>
            </a:defPPr>
          </a:lstStyle>
          <a:p xmlns:a="http://schemas.openxmlformats.org/drawingml/2006/main">
            <a:pPr>
              <a:buNone/>
              <a:defRPr sz="2400" b="1">
                <a:solidFill>
                  <a:srgbClr val="087D83"/>
                </a:solidFill>
                <a:latin typeface="Arial"/>
                <a:ea typeface="Arial"/>
                <a:cs typeface="Arial"/>
              </a:defRPr>
            </a:pPr>
            <a:r>
              <a:rPr sz="2400" b="1">
                <a:solidFill>
                  <a:srgbClr val="087D83"/>
                </a:solidFill>
                <a:latin typeface="Arial"/>
                <a:ea typeface="Arial"/>
                <a:cs typeface="Arial"/>
              </a:rPr>
              <a:t>By November 13, increase weekly</a:t>
            </a:r>
          </a:p>
          <a:p xmlns:a="http://schemas.openxmlformats.org/drawingml/2006/main">
            <a:pPr>
              <a:buNone/>
              <a:defRPr sz="2400" b="1">
                <a:solidFill>
                  <a:srgbClr val="087D83"/>
                </a:solidFill>
                <a:latin typeface="Arial"/>
                <a:ea typeface="Arial"/>
                <a:cs typeface="Arial"/>
              </a:defRPr>
            </a:pPr>
            <a:r>
              <a:rPr sz="2400" b="1">
                <a:solidFill>
                  <a:srgbClr val="087D83"/>
                </a:solidFill>
                <a:latin typeface="Arial"/>
                <a:ea typeface="Arial"/>
                <a:cs typeface="Arial"/>
              </a:rPr>
              <a:t>sneaker sales from 20 to 24 pairs.</a:t>
            </a:r>
          </a:p>
        </p:txBody>
      </p:sp>
      <p:sp>
        <p:nvSpPr>
          <p:cNvPr id="3" name="">
            <a:extLst xmlns:a="http://schemas.openxmlformats.org/drawingml/2006/main">
              <a:ext uri="{FF2B5EF4-FFF2-40B4-BE49-F238E27FC236}">
                <a16:creationId xmlns:a16="http://schemas.microsoft.com/office/drawing/2014/main" id="{1E08B100-8277-406D-B26E-4DA0395E1590}"/>
              </a:ext>
            </a:extLst>
          </p:cNvPr>
          <p:cNvSpPr>
            <a:spLocks xmlns:a="http://schemas.openxmlformats.org/drawingml/2006/main" noGrp="1"/>
          </p:cNvSpPr>
          <p:nvPr/>
        </p:nvSpPr>
        <p:spPr>
          <a:xfrm xmlns:a="http://schemas.openxmlformats.org/drawingml/2006/main">
            <a:off x="609600" y="2809875"/>
            <a:ext cx="5810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44"/>
                </a:solidFill>
                <a:latin typeface="Arial"/>
                <a:ea typeface="Arial"/>
                <a:cs typeface="Arial"/>
              </a:defRPr>
            </a:defPPr>
          </a:lstStyle>
          <a:p xmlns:a="http://schemas.openxmlformats.org/drawingml/2006/main">
            <a:pPr>
              <a:buNone/>
              <a:defRPr sz="2175" b="0">
                <a:solidFill>
                  <a:srgbClr val="142D44"/>
                </a:solidFill>
                <a:latin typeface="Arial"/>
                <a:ea typeface="Arial"/>
                <a:cs typeface="Arial"/>
              </a:defRPr>
            </a:pPr>
            <a:r>
              <a:rPr sz="2175" b="0">
                <a:solidFill>
                  <a:srgbClr val="142D44"/>
                </a:solidFill>
                <a:latin typeface="Arial"/>
                <a:ea typeface="Arial"/>
                <a:cs typeface="Arial"/>
              </a:rPr>
              <a:t>Specific: sneaker sales</a:t>
            </a:r>
          </a:p>
          <a:p xmlns:a="http://schemas.openxmlformats.org/drawingml/2006/main">
            <a:pPr>
              <a:buNone/>
              <a:defRPr sz="2175" b="0">
                <a:solidFill>
                  <a:srgbClr val="142D44"/>
                </a:solidFill>
                <a:latin typeface="Arial"/>
                <a:ea typeface="Arial"/>
                <a:cs typeface="Arial"/>
              </a:defRPr>
            </a:pPr>
            <a:r>
              <a:rPr sz="2175" b="0">
                <a:solidFill>
                  <a:srgbClr val="142D44"/>
                </a:solidFill>
                <a:latin typeface="Arial"/>
                <a:ea typeface="Arial"/>
                <a:cs typeface="Arial"/>
              </a:rPr>
              <a:t>Measurable: 20 to 24 pairs per week</a:t>
            </a:r>
          </a:p>
          <a:p xmlns:a="http://schemas.openxmlformats.org/drawingml/2006/main">
            <a:pPr>
              <a:buNone/>
              <a:defRPr sz="2175" b="0">
                <a:solidFill>
                  <a:srgbClr val="142D44"/>
                </a:solidFill>
                <a:latin typeface="Arial"/>
                <a:ea typeface="Arial"/>
                <a:cs typeface="Arial"/>
              </a:defRPr>
            </a:pPr>
            <a:r>
              <a:rPr sz="2175" b="0">
                <a:solidFill>
                  <a:srgbClr val="142D44"/>
                </a:solidFill>
                <a:latin typeface="Arial"/>
                <a:ea typeface="Arial"/>
                <a:cs typeface="Arial"/>
              </a:rPr>
              <a:t>Achievable: past sales and enough stock</a:t>
            </a:r>
          </a:p>
          <a:p xmlns:a="http://schemas.openxmlformats.org/drawingml/2006/main">
            <a:pPr>
              <a:buNone/>
              <a:defRPr sz="2175" b="0">
                <a:solidFill>
                  <a:srgbClr val="142D44"/>
                </a:solidFill>
                <a:latin typeface="Arial"/>
                <a:ea typeface="Arial"/>
                <a:cs typeface="Arial"/>
              </a:defRPr>
            </a:pPr>
            <a:r>
              <a:rPr sz="2175" b="0">
                <a:solidFill>
                  <a:srgbClr val="142D44"/>
                </a:solidFill>
                <a:latin typeface="Arial"/>
                <a:ea typeface="Arial"/>
                <a:cs typeface="Arial"/>
              </a:rPr>
              <a:t>Results-focused: increased sales</a:t>
            </a:r>
          </a:p>
          <a:p xmlns:a="http://schemas.openxmlformats.org/drawingml/2006/main">
            <a:pPr>
              <a:buNone/>
              <a:defRPr sz="2175" b="0">
                <a:solidFill>
                  <a:srgbClr val="142D44"/>
                </a:solidFill>
                <a:latin typeface="Arial"/>
                <a:ea typeface="Arial"/>
                <a:cs typeface="Arial"/>
              </a:defRPr>
            </a:pPr>
            <a:r>
              <a:rPr sz="2175" b="0">
                <a:solidFill>
                  <a:srgbClr val="142D44"/>
                </a:solidFill>
                <a:latin typeface="Arial"/>
                <a:ea typeface="Arial"/>
                <a:cs typeface="Arial"/>
              </a:rPr>
              <a:t>Time-bound: by November 13</a:t>
            </a:r>
          </a:p>
        </p:txBody>
      </p:sp>
      <p:sp>
        <p:nvSpPr>
          <p:cNvPr id="4" name="">
            <a:extLst xmlns:a="http://schemas.openxmlformats.org/drawingml/2006/main">
              <a:ext uri="{FF2B5EF4-FFF2-40B4-BE49-F238E27FC236}">
                <a16:creationId xmlns:a16="http://schemas.microsoft.com/office/drawing/2014/main" id="{B332DEA3-ED54-4FEE-820A-D145CDA12CF1}"/>
              </a:ext>
            </a:extLst>
          </p:cNvPr>
          <p:cNvSpPr>
            <a:spLocks xmlns:a="http://schemas.openxmlformats.org/drawingml/2006/main" noGrp="1"/>
          </p:cNvSpPr>
          <p:nvPr/>
        </p:nvSpPr>
        <p:spPr>
          <a:xfrm xmlns:a="http://schemas.openxmlformats.org/drawingml/2006/main">
            <a:off x="609600" y="5305425"/>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D44"/>
                </a:solidFill>
                <a:latin typeface="Arial"/>
                <a:ea typeface="Arial"/>
                <a:cs typeface="Arial"/>
              </a:defRPr>
            </a:defPPr>
          </a:lstStyle>
          <a:p xmlns:a="http://schemas.openxmlformats.org/drawingml/2006/main">
            <a:pPr>
              <a:buNone/>
              <a:defRPr sz="2100" b="1">
                <a:solidFill>
                  <a:srgbClr val="142D44"/>
                </a:solidFill>
                <a:latin typeface="Arial"/>
                <a:ea typeface="Arial"/>
                <a:cs typeface="Arial"/>
              </a:defRPr>
            </a:pPr>
            <a:r>
              <a:rPr sz="2100" b="1">
                <a:solidFill>
                  <a:srgbClr val="142D44"/>
                </a:solidFill>
                <a:latin typeface="Arial"/>
                <a:ea typeface="Arial"/>
                <a:cs typeface="Arial"/>
              </a:rPr>
              <a:t>Match each criterion to the goal.</a:t>
            </a:r>
          </a:p>
        </p:txBody>
      </p:sp>
      <p:pic>
        <p:nvPicPr>
          <p:cNvPr id="5" name="">
            <a:extLst xmlns:a="http://schemas.openxmlformats.org/drawingml/2006/main">
              <a:ext uri="{FF2B5EF4-FFF2-40B4-BE49-F238E27FC236}">
                <a16:creationId xmlns:a16="http://schemas.microsoft.com/office/drawing/2014/main" id="{9DBB6F6D-658C-42B8-AD24-5AC2B61CE174}"/>
              </a:ext>
            </a:extLst>
          </p:cNvPr>
          <p:cNvPicPr>
            <a:picLocks xmlns:a="http://schemas.openxmlformats.org/drawingml/2006/main" noChangeAspect="1"/>
          </p:cNvPicPr>
          <p:nvPr/>
        </p:nvPicPr>
        <p:blipFill>
          <a:blip xmlns:r="http://schemas.openxmlformats.org/officeDocument/2006/relationships" xmlns:a="http://schemas.openxmlformats.org/drawingml/2006/main" r:embed="R9eb23cceb5834168"/>
          <a:srcRect xmlns:a="http://schemas.openxmlformats.org/drawingml/2006/main" l="10310" t="0" r="10310" b="0"/>
          <a:stretch xmlns:a="http://schemas.openxmlformats.org/drawingml/2006/main">
            <a:fillRect l="0" t="0" r="0" b="0"/>
          </a:stretch>
        </p:blipFill>
        <p:spPr>
          <a:xfrm xmlns:a="http://schemas.openxmlformats.org/drawingml/2006/main">
            <a:off x="6705600" y="1543050"/>
            <a:ext cx="4876800"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AD35213-47F8-4453-AA10-33AA366C928A}"/>
              </a:ext>
            </a:extLst>
          </p:cNvPr>
          <p:cNvSpPr>
            <a:spLocks xmlns:a="http://schemas.openxmlformats.org/drawingml/2006/main" noGrp="1"/>
          </p:cNvSpPr>
          <p:nvPr/>
        </p:nvSpPr>
        <p:spPr>
          <a:xfrm xmlns:a="http://schemas.openxmlformats.org/drawingml/2006/main">
            <a:off x="609600" y="6191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44"/>
                </a:solidFill>
                <a:latin typeface="Arial"/>
                <a:ea typeface="Arial"/>
                <a:cs typeface="Arial"/>
              </a:defRPr>
            </a:defPPr>
          </a:lstStyle>
          <a:p xmlns:a="http://schemas.openxmlformats.org/drawingml/2006/main">
            <a:pPr>
              <a:buNone/>
              <a:defRPr sz="1500" b="0">
                <a:solidFill>
                  <a:srgbClr val="142D44"/>
                </a:solidFill>
                <a:latin typeface="Arial"/>
                <a:ea typeface="Arial"/>
                <a:cs typeface="Arial"/>
              </a:defRPr>
            </a:pPr>
            <a:r>
              <a:rPr sz="1500" b="0">
                <a:solidFill>
                  <a:srgbClr val="142D44"/>
                </a:solidFill>
                <a:latin typeface="Arial"/>
                <a:ea typeface="Arial"/>
                <a:cs typeface="Arial"/>
              </a:rPr>
              <a:t>Fictional model: assume the team previously sold 24 pairs and has enough stock. Figure 2.2, p. 21.</a:t>
            </a:r>
          </a:p>
        </p:txBody>
      </p:sp>
    </p:spTree>
    <p:extLst>
      <p:ext uri="{BB962C8B-B14F-4D97-AF65-F5344CB8AC3E}">
        <p14:creationId xmlns:p14="http://schemas.microsoft.com/office/powerpoint/2010/main" val="177876400"/>
      </p:ext>
    </p:extLst>
  </p:cSld>
  <p:transition spd="fast" advClick="1">
    <p:fade/>
  </p:transition>
</p:sld>
</file>

<file path=ppt/slides/slide3.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A04684-4AA9-4AF4-BFA9-B6FABE917414}"/>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buNone/>
              <a:defRPr sz="3600" b="1">
                <a:solidFill>
                  <a:srgbClr val="142D44"/>
                </a:solidFill>
                <a:latin typeface="Arial"/>
                <a:ea typeface="Arial"/>
                <a:cs typeface="Arial"/>
              </a:defRPr>
            </a:pPr>
            <a:r>
              <a:rPr sz="3600" b="1">
                <a:solidFill>
                  <a:srgbClr val="142D44"/>
                </a:solidFill>
                <a:latin typeface="Arial"/>
                <a:ea typeface="Arial"/>
                <a:cs typeface="Arial"/>
              </a:rPr>
              <a:t>A checkpoint before the deadline</a:t>
            </a:r>
          </a:p>
        </p:txBody>
      </p:sp>
      <p:sp>
        <p:nvSpPr>
          <p:cNvPr id="2" name="">
            <a:extLst xmlns:a="http://schemas.openxmlformats.org/drawingml/2006/main">
              <a:ext uri="{FF2B5EF4-FFF2-40B4-BE49-F238E27FC236}">
                <a16:creationId xmlns:a16="http://schemas.microsoft.com/office/drawing/2014/main" id="{5DBBECD3-36E0-48F3-B313-A4E96BD1DDB8}"/>
              </a:ext>
            </a:extLst>
          </p:cNvPr>
          <p:cNvSpPr>
            <a:spLocks xmlns:a="http://schemas.openxmlformats.org/drawingml/2006/main" noGrp="1"/>
          </p:cNvSpPr>
          <p:nvPr/>
        </p:nvSpPr>
        <p:spPr>
          <a:xfrm xmlns:a="http://schemas.openxmlformats.org/drawingml/2006/main">
            <a:off x="609600" y="1666875"/>
            <a:ext cx="1076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87D83"/>
                </a:solidFill>
                <a:latin typeface="Arial"/>
                <a:ea typeface="Arial"/>
                <a:cs typeface="Arial"/>
              </a:defRPr>
            </a:defPPr>
          </a:lstStyle>
          <a:p xmlns:a="http://schemas.openxmlformats.org/drawingml/2006/main">
            <a:pPr>
              <a:buNone/>
              <a:defRPr sz="3450" b="1">
                <a:solidFill>
                  <a:srgbClr val="087D83"/>
                </a:solidFill>
                <a:latin typeface="Arial"/>
                <a:ea typeface="Arial"/>
                <a:cs typeface="Arial"/>
              </a:defRPr>
            </a:pPr>
            <a:r>
              <a:rPr sz="3450" b="1">
                <a:solidFill>
                  <a:srgbClr val="087D83"/>
                </a:solidFill>
                <a:latin typeface="Arial"/>
                <a:ea typeface="Arial"/>
                <a:cs typeface="Arial"/>
              </a:rPr>
              <a:t>Goal: 24 pairs sold in one week</a:t>
            </a:r>
          </a:p>
          <a:p xmlns:a="http://schemas.openxmlformats.org/drawingml/2006/main">
            <a:pPr>
              <a:buNone/>
              <a:defRPr sz="3450" b="1">
                <a:solidFill>
                  <a:srgbClr val="087D83"/>
                </a:solidFill>
                <a:latin typeface="Arial"/>
                <a:ea typeface="Arial"/>
                <a:cs typeface="Arial"/>
              </a:defRPr>
            </a:pPr>
            <a:r>
              <a:rPr sz="3450" b="1">
                <a:solidFill>
                  <a:srgbClr val="087D83"/>
                </a:solidFill>
                <a:latin typeface="Arial"/>
                <a:ea typeface="Arial"/>
                <a:cs typeface="Arial"/>
              </a:rPr>
              <a:t>by November 13</a:t>
            </a:r>
          </a:p>
        </p:txBody>
      </p:sp>
      <p:sp>
        <p:nvSpPr>
          <p:cNvPr id="3" name="">
            <a:extLst xmlns:a="http://schemas.openxmlformats.org/drawingml/2006/main">
              <a:ext uri="{FF2B5EF4-FFF2-40B4-BE49-F238E27FC236}">
                <a16:creationId xmlns:a16="http://schemas.microsoft.com/office/drawing/2014/main" id="{6E9413D5-707E-499C-BE64-7D1604B57EC8}"/>
              </a:ext>
            </a:extLst>
          </p:cNvPr>
          <p:cNvSpPr>
            <a:spLocks xmlns:a="http://schemas.openxmlformats.org/drawingml/2006/main" noGrp="1"/>
          </p:cNvSpPr>
          <p:nvPr/>
        </p:nvSpPr>
        <p:spPr>
          <a:xfrm xmlns:a="http://schemas.openxmlformats.org/drawingml/2006/main">
            <a:off x="609600" y="3552825"/>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142D44"/>
                </a:solidFill>
                <a:latin typeface="Arial"/>
                <a:ea typeface="Arial"/>
                <a:cs typeface="Arial"/>
              </a:defRPr>
            </a:defPPr>
          </a:lstStyle>
          <a:p xmlns:a="http://schemas.openxmlformats.org/drawingml/2006/main">
            <a:pPr>
              <a:buNone/>
              <a:defRPr sz="3150" b="0">
                <a:solidFill>
                  <a:srgbClr val="142D44"/>
                </a:solidFill>
                <a:latin typeface="Arial"/>
                <a:ea typeface="Arial"/>
                <a:cs typeface="Arial"/>
              </a:defRPr>
            </a:pPr>
            <a:r>
              <a:rPr sz="3150" b="0">
                <a:solidFill>
                  <a:srgbClr val="142D44"/>
                </a:solidFill>
                <a:latin typeface="Arial"/>
                <a:ea typeface="Arial"/>
                <a:cs typeface="Arial"/>
              </a:rPr>
              <a:t>What smaller result could we check</a:t>
            </a:r>
          </a:p>
          <a:p xmlns:a="http://schemas.openxmlformats.org/drawingml/2006/main">
            <a:pPr>
              <a:buNone/>
              <a:defRPr sz="3150" b="0">
                <a:solidFill>
                  <a:srgbClr val="142D44"/>
                </a:solidFill>
                <a:latin typeface="Arial"/>
                <a:ea typeface="Arial"/>
                <a:cs typeface="Arial"/>
              </a:defRPr>
            </a:pPr>
            <a:r>
              <a:rPr sz="3150" b="0">
                <a:solidFill>
                  <a:srgbClr val="142D44"/>
                </a:solidFill>
                <a:latin typeface="Arial"/>
                <a:ea typeface="Arial"/>
                <a:cs typeface="Arial"/>
              </a:rPr>
              <a:t>before November 13?</a:t>
            </a:r>
          </a:p>
        </p:txBody>
      </p:sp>
      <p:sp>
        <p:nvSpPr>
          <p:cNvPr id="4" name="">
            <a:extLst xmlns:a="http://schemas.openxmlformats.org/drawingml/2006/main">
              <a:ext uri="{FF2B5EF4-FFF2-40B4-BE49-F238E27FC236}">
                <a16:creationId xmlns:a16="http://schemas.microsoft.com/office/drawing/2014/main" id="{F061ADB0-7FDD-46FF-A5C9-E824FF7D3CFA}"/>
              </a:ext>
            </a:extLst>
          </p:cNvPr>
          <p:cNvSpPr>
            <a:spLocks xmlns:a="http://schemas.openxmlformats.org/drawingml/2006/main" noGrp="1"/>
          </p:cNvSpPr>
          <p:nvPr/>
        </p:nvSpPr>
        <p:spPr>
          <a:xfrm xmlns:a="http://schemas.openxmlformats.org/drawingml/2006/main">
            <a:off x="609600" y="54197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44"/>
                </a:solidFill>
                <a:latin typeface="Arial"/>
                <a:ea typeface="Arial"/>
                <a:cs typeface="Arial"/>
              </a:defRPr>
            </a:defPPr>
          </a:lstStyle>
          <a:p xmlns:a="http://schemas.openxmlformats.org/drawingml/2006/main">
            <a:pPr>
              <a:buNone/>
              <a:defRPr sz="2250" b="0">
                <a:solidFill>
                  <a:srgbClr val="142D44"/>
                </a:solidFill>
                <a:latin typeface="Arial"/>
                <a:ea typeface="Arial"/>
                <a:cs typeface="Arial"/>
              </a:defRPr>
            </a:pPr>
            <a:r>
              <a:rPr sz="2250" b="0">
                <a:solidFill>
                  <a:srgbClr val="142D44"/>
                </a:solidFill>
                <a:latin typeface="Arial"/>
                <a:ea typeface="Arial"/>
                <a:cs typeface="Arial"/>
              </a:rPr>
              <a:t>Use the milestone definition on p. 21. Suggest a checkpoint and date.</a:t>
            </a:r>
          </a:p>
        </p:txBody>
      </p:sp>
    </p:spTree>
    <p:extLst>
      <p:ext uri="{BB962C8B-B14F-4D97-AF65-F5344CB8AC3E}">
        <p14:creationId xmlns:p14="http://schemas.microsoft.com/office/powerpoint/2010/main" val="1822634310"/>
      </p:ext>
    </p:extLst>
  </p:cSld>
  <p:transition spd="fast" advClick="1">
    <p:fade/>
  </p:transition>
</p:sld>
</file>

<file path=ppt/slides/slide4.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878CD0-D853-439D-9969-23533F4C693B}"/>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buNone/>
              <a:defRPr sz="3600" b="1">
                <a:solidFill>
                  <a:srgbClr val="142D44"/>
                </a:solidFill>
                <a:latin typeface="Arial"/>
                <a:ea typeface="Arial"/>
                <a:cs typeface="Arial"/>
              </a:defRPr>
            </a:pPr>
            <a:r>
              <a:rPr sz="3600" b="1">
                <a:solidFill>
                  <a:srgbClr val="142D44"/>
                </a:solidFill>
                <a:latin typeface="Arial"/>
                <a:ea typeface="Arial"/>
                <a:cs typeface="Arial"/>
              </a:rPr>
              <a:t>Four steps for a milestone</a:t>
            </a:r>
          </a:p>
        </p:txBody>
      </p:sp>
      <p:sp>
        <p:nvSpPr>
          <p:cNvPr id="2" name="">
            <a:extLst xmlns:a="http://schemas.openxmlformats.org/drawingml/2006/main">
              <a:ext uri="{FF2B5EF4-FFF2-40B4-BE49-F238E27FC236}">
                <a16:creationId xmlns:a16="http://schemas.microsoft.com/office/drawing/2014/main" id="{4D427786-1A98-47DA-A761-0CC1738872F1}"/>
              </a:ext>
            </a:extLst>
          </p:cNvPr>
          <p:cNvSpPr>
            <a:spLocks xmlns:a="http://schemas.openxmlformats.org/drawingml/2006/main" noGrp="1"/>
          </p:cNvSpPr>
          <p:nvPr/>
        </p:nvSpPr>
        <p:spPr>
          <a:xfrm xmlns:a="http://schemas.openxmlformats.org/drawingml/2006/main">
            <a:off x="609600" y="147637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D83"/>
                </a:solidFill>
                <a:latin typeface="Arial"/>
                <a:ea typeface="Arial"/>
                <a:cs typeface="Arial"/>
              </a:defRPr>
            </a:defPPr>
          </a:lstStyle>
          <a:p xmlns:a="http://schemas.openxmlformats.org/drawingml/2006/main">
            <a:pPr>
              <a:buNone/>
              <a:defRPr sz="2550" b="1">
                <a:solidFill>
                  <a:srgbClr val="087D83"/>
                </a:solidFill>
                <a:latin typeface="Arial"/>
                <a:ea typeface="Arial"/>
                <a:cs typeface="Arial"/>
              </a:defRPr>
            </a:pPr>
            <a:r>
              <a:rPr sz="2550" b="1">
                <a:solidFill>
                  <a:srgbClr val="087D83"/>
                </a:solidFill>
                <a:latin typeface="Arial"/>
                <a:ea typeface="Arial"/>
                <a:cs typeface="Arial"/>
              </a:rPr>
              <a:t>1  Define the checkpoint and date</a:t>
            </a:r>
          </a:p>
          <a:p xmlns:a="http://schemas.openxmlformats.org/drawingml/2006/main">
            <a:pPr>
              <a:buNone/>
              <a:defRPr sz="2550" b="1">
                <a:solidFill>
                  <a:srgbClr val="087D83"/>
                </a:solidFill>
                <a:latin typeface="Arial"/>
                <a:ea typeface="Arial"/>
                <a:cs typeface="Arial"/>
              </a:defRPr>
            </a:pPr>
            <a:r>
              <a:rPr sz="2550" b="1">
                <a:solidFill>
                  <a:srgbClr val="087D83"/>
                </a:solidFill>
                <a:latin typeface="Arial"/>
                <a:ea typeface="Arial"/>
                <a:cs typeface="Arial"/>
              </a:rPr>
              <a:t>    Sell 22 pairs in one week by October 30.</a:t>
            </a:r>
          </a:p>
        </p:txBody>
      </p:sp>
      <p:sp>
        <p:nvSpPr>
          <p:cNvPr id="3" name="">
            <a:extLst xmlns:a="http://schemas.openxmlformats.org/drawingml/2006/main">
              <a:ext uri="{FF2B5EF4-FFF2-40B4-BE49-F238E27FC236}">
                <a16:creationId xmlns:a16="http://schemas.microsoft.com/office/drawing/2014/main" id="{110D5E4A-F965-4AA1-B158-C5E624AFCEFA}"/>
              </a:ext>
            </a:extLst>
          </p:cNvPr>
          <p:cNvSpPr>
            <a:spLocks xmlns:a="http://schemas.openxmlformats.org/drawingml/2006/main" noGrp="1"/>
          </p:cNvSpPr>
          <p:nvPr/>
        </p:nvSpPr>
        <p:spPr>
          <a:xfrm xmlns:a="http://schemas.openxmlformats.org/drawingml/2006/main">
            <a:off x="609600" y="26574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44"/>
                </a:solidFill>
                <a:latin typeface="Arial"/>
                <a:ea typeface="Arial"/>
                <a:cs typeface="Arial"/>
              </a:defRPr>
            </a:defPPr>
          </a:lstStyle>
          <a:p xmlns:a="http://schemas.openxmlformats.org/drawingml/2006/main">
            <a:pPr>
              <a:buNone/>
              <a:defRPr sz="2400" b="0">
                <a:solidFill>
                  <a:srgbClr val="142D44"/>
                </a:solidFill>
                <a:latin typeface="Arial"/>
                <a:ea typeface="Arial"/>
                <a:cs typeface="Arial"/>
              </a:defRPr>
            </a:pPr>
            <a:r>
              <a:rPr sz="2400" b="0">
                <a:solidFill>
                  <a:srgbClr val="142D44"/>
                </a:solidFill>
                <a:latin typeface="Arial"/>
                <a:ea typeface="Arial"/>
                <a:cs typeface="Arial"/>
              </a:rPr>
              <a:t>2  Explain how to reach it</a:t>
            </a:r>
          </a:p>
          <a:p xmlns:a="http://schemas.openxmlformats.org/drawingml/2006/main">
            <a:pPr>
              <a:buNone/>
              <a:defRPr sz="2400" b="0">
                <a:solidFill>
                  <a:srgbClr val="142D44"/>
                </a:solidFill>
                <a:latin typeface="Arial"/>
                <a:ea typeface="Arial"/>
                <a:cs typeface="Arial"/>
              </a:defRPr>
            </a:pPr>
            <a:r>
              <a:rPr sz="2400" b="0">
                <a:solidFill>
                  <a:srgbClr val="142D44"/>
                </a:solidFill>
                <a:latin typeface="Arial"/>
                <a:ea typeface="Arial"/>
                <a:cs typeface="Arial"/>
              </a:rPr>
              <a:t>    Repeat the successful promotion with available stock.</a:t>
            </a:r>
          </a:p>
        </p:txBody>
      </p:sp>
      <p:sp>
        <p:nvSpPr>
          <p:cNvPr id="4" name="">
            <a:extLst xmlns:a="http://schemas.openxmlformats.org/drawingml/2006/main">
              <a:ext uri="{FF2B5EF4-FFF2-40B4-BE49-F238E27FC236}">
                <a16:creationId xmlns:a16="http://schemas.microsoft.com/office/drawing/2014/main" id="{104C3DA8-5CE6-41D6-9BDD-84CC815D0B4E}"/>
              </a:ext>
            </a:extLst>
          </p:cNvPr>
          <p:cNvSpPr>
            <a:spLocks xmlns:a="http://schemas.openxmlformats.org/drawingml/2006/main" noGrp="1"/>
          </p:cNvSpPr>
          <p:nvPr/>
        </p:nvSpPr>
        <p:spPr>
          <a:xfrm xmlns:a="http://schemas.openxmlformats.org/drawingml/2006/main">
            <a:off x="609600" y="3952875"/>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44"/>
                </a:solidFill>
                <a:latin typeface="Arial"/>
                <a:ea typeface="Arial"/>
                <a:cs typeface="Arial"/>
              </a:defRPr>
            </a:defPPr>
          </a:lstStyle>
          <a:p xmlns:a="http://schemas.openxmlformats.org/drawingml/2006/main">
            <a:pPr>
              <a:buNone/>
              <a:defRPr sz="2400" b="0">
                <a:solidFill>
                  <a:srgbClr val="142D44"/>
                </a:solidFill>
                <a:latin typeface="Arial"/>
                <a:ea typeface="Arial"/>
                <a:cs typeface="Arial"/>
              </a:defRPr>
            </a:pPr>
            <a:r>
              <a:rPr sz="2400" b="0">
                <a:solidFill>
                  <a:srgbClr val="142D44"/>
                </a:solidFill>
                <a:latin typeface="Arial"/>
                <a:ea typeface="Arial"/>
                <a:cs typeface="Arial"/>
              </a:rPr>
              <a:t>3  Measure progress: check the weekly sales log.</a:t>
            </a:r>
          </a:p>
          <a:p xmlns:a="http://schemas.openxmlformats.org/drawingml/2006/main">
            <a:pPr>
              <a:buNone/>
              <a:defRPr sz="2550" b="0">
                <a:solidFill>
                  <a:srgbClr val="142D44"/>
                </a:solidFill>
                <a:latin typeface="Arial"/>
                <a:ea typeface="Arial"/>
                <a:cs typeface="Arial"/>
              </a:defRPr>
            </a:pPr>
            <a:r>
              <a:rPr sz="2550" b="0">
                <a:solidFill>
                  <a:srgbClr val="142D44"/>
                </a:solidFill>
                <a:latin typeface="Arial"/>
                <a:ea typeface="Arial"/>
                <a:cs typeface="Arial"/>
              </a:rPr>
              <a:t/>
            </a:r>
          </a:p>
          <a:p xmlns:a="http://schemas.openxmlformats.org/drawingml/2006/main">
            <a:pPr>
              <a:buNone/>
              <a:defRPr sz="2400" b="0">
                <a:solidFill>
                  <a:srgbClr val="142D44"/>
                </a:solidFill>
                <a:latin typeface="Arial"/>
                <a:ea typeface="Arial"/>
                <a:cs typeface="Arial"/>
              </a:defRPr>
            </a:pPr>
            <a:r>
              <a:rPr sz="2400" b="0">
                <a:solidFill>
                  <a:srgbClr val="142D44"/>
                </a:solidFill>
                <a:latin typeface="Arial"/>
                <a:ea typeface="Arial"/>
                <a:cs typeface="Arial"/>
              </a:rPr>
              <a:t>4  Review results and adjust the plan if needed.</a:t>
            </a:r>
          </a:p>
        </p:txBody>
      </p:sp>
      <p:sp>
        <p:nvSpPr>
          <p:cNvPr id="6" name="">
            <a:extLst xmlns:a="http://schemas.openxmlformats.org/drawingml/2006/main">
              <a:ext uri="{FF2B5EF4-FFF2-40B4-BE49-F238E27FC236}">
                <a16:creationId xmlns:a16="http://schemas.microsoft.com/office/drawing/2014/main" id="{D1E47AB4-8004-414F-8B44-DEC6A3CD1E27}"/>
              </a:ext>
            </a:extLst>
          </p:cNvPr>
          <p:cNvSpPr>
            <a:spLocks xmlns:a="http://schemas.openxmlformats.org/drawingml/2006/main" noGrp="1"/>
          </p:cNvSpPr>
          <p:nvPr/>
        </p:nvSpPr>
        <p:spPr>
          <a:xfrm xmlns:a="http://schemas.openxmlformats.org/drawingml/2006/main">
            <a:off x="609600" y="61912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a:solidFill>
                  <a:srgbClr val="142D44"/>
                </a:solidFill>
              </a:defRPr>
            </a:defPPr>
          </a:lstStyle>
          <a:p xmlns:a="http://schemas.openxmlformats.org/drawingml/2006/main">
            <a:pPr>
              <a:defRPr sz="1500">
                <a:solidFill>
                  <a:srgbClr val="142D44"/>
                </a:solidFill>
              </a:defRPr>
            </a:pPr>
            <a:r>
              <a:rPr sz="1500">
                <a:solidFill>
                  <a:srgbClr val="142D44"/>
                </a:solidFill>
              </a:rPr>
              <a:t>Chapter 2 pp. 22–23     Final goal: 24 pairs per week by November 13</a:t>
            </a:r>
          </a:p>
        </p:txBody>
      </p:sp>
    </p:spTree>
    <p:extLst>
      <p:ext uri="{BB962C8B-B14F-4D97-AF65-F5344CB8AC3E}">
        <p14:creationId xmlns:p14="http://schemas.microsoft.com/office/powerpoint/2010/main" val="751913109"/>
      </p:ext>
    </p:extLst>
  </p:cSld>
  <p:transition spd="fast" advClick="1">
    <p:fade/>
  </p:transition>
</p:sld>
</file>

<file path=ppt/slides/slide5.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A44D34-2C28-4B90-AB66-13D6E7632276}"/>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buNone/>
              <a:defRPr sz="3600" b="1">
                <a:solidFill>
                  <a:srgbClr val="142D44"/>
                </a:solidFill>
                <a:latin typeface="Arial"/>
                <a:ea typeface="Arial"/>
                <a:cs typeface="Arial"/>
              </a:defRPr>
            </a:pPr>
            <a:r>
              <a:rPr sz="3600" b="1">
                <a:solidFill>
                  <a:srgbClr val="142D44"/>
                </a:solidFill>
                <a:latin typeface="Arial"/>
                <a:ea typeface="Arial"/>
                <a:cs typeface="Arial"/>
              </a:rPr>
              <a:t>Chapter 2 independent review</a:t>
            </a:r>
          </a:p>
        </p:txBody>
      </p:sp>
      <p:sp>
        <p:nvSpPr>
          <p:cNvPr id="2" name="">
            <a:extLst xmlns:a="http://schemas.openxmlformats.org/drawingml/2006/main">
              <a:ext uri="{FF2B5EF4-FFF2-40B4-BE49-F238E27FC236}">
                <a16:creationId xmlns:a16="http://schemas.microsoft.com/office/drawing/2014/main" id="{2FDCAAAF-E007-41B3-AC98-A8B13F43ECC3}"/>
              </a:ext>
            </a:extLst>
          </p:cNvPr>
          <p:cNvSpPr>
            <a:spLocks xmlns:a="http://schemas.openxmlformats.org/drawingml/2006/main" noGrp="1"/>
          </p:cNvSpPr>
          <p:nvPr/>
        </p:nvSpPr>
        <p:spPr>
          <a:xfrm xmlns:a="http://schemas.openxmlformats.org/drawingml/2006/main">
            <a:off x="609600" y="14097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44"/>
                </a:solidFill>
                <a:latin typeface="Arial"/>
                <a:ea typeface="Arial"/>
                <a:cs typeface="Arial"/>
              </a:defRPr>
            </a:defPPr>
          </a:lstStyle>
          <a:p xmlns:a="http://schemas.openxmlformats.org/drawingml/2006/main">
            <a:pPr>
              <a:buNone/>
              <a:defRPr sz="2250" b="0">
                <a:solidFill>
                  <a:srgbClr val="142D44"/>
                </a:solidFill>
                <a:latin typeface="Arial"/>
                <a:ea typeface="Arial"/>
                <a:cs typeface="Arial"/>
              </a:defRPr>
            </a:pPr>
            <a:r>
              <a:rPr sz="2250" b="0">
                <a:solidFill>
                  <a:srgbClr val="142D44"/>
                </a:solidFill>
                <a:latin typeface="Arial"/>
                <a:ea typeface="Arial"/>
                <a:cs typeface="Arial"/>
              </a:rPr>
              <a:t>Use your existing Test Your Knowledge worksheet.</a:t>
            </a:r>
          </a:p>
        </p:txBody>
      </p:sp>
      <p:sp>
        <p:nvSpPr>
          <p:cNvPr id="3" name="">
            <a:extLst xmlns:a="http://schemas.openxmlformats.org/drawingml/2006/main">
              <a:ext uri="{FF2B5EF4-FFF2-40B4-BE49-F238E27FC236}">
                <a16:creationId xmlns:a16="http://schemas.microsoft.com/office/drawing/2014/main" id="{95FD6594-F358-4555-809D-9E729FFD4283}"/>
              </a:ext>
            </a:extLst>
          </p:cNvPr>
          <p:cNvSpPr>
            <a:spLocks xmlns:a="http://schemas.openxmlformats.org/drawingml/2006/main" noGrp="1"/>
          </p:cNvSpPr>
          <p:nvPr/>
        </p:nvSpPr>
        <p:spPr>
          <a:xfrm xmlns:a="http://schemas.openxmlformats.org/drawingml/2006/main">
            <a:off x="609600" y="22002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D83"/>
                </a:solidFill>
                <a:latin typeface="Arial"/>
                <a:ea typeface="Arial"/>
                <a:cs typeface="Arial"/>
              </a:defRPr>
            </a:defPPr>
          </a:lstStyle>
          <a:p xmlns:a="http://schemas.openxmlformats.org/drawingml/2006/main">
            <a:pPr>
              <a:buNone/>
              <a:defRPr sz="2250" b="1">
                <a:solidFill>
                  <a:srgbClr val="087D83"/>
                </a:solidFill>
                <a:latin typeface="Arial"/>
                <a:ea typeface="Arial"/>
                <a:cs typeface="Arial"/>
              </a:defRPr>
            </a:pPr>
            <a:r>
              <a:rPr sz="2250" b="1">
                <a:solidFill>
                  <a:srgbClr val="087D83"/>
                </a:solidFill>
                <a:latin typeface="Arial"/>
                <a:ea typeface="Arial"/>
                <a:cs typeface="Arial"/>
              </a:rPr>
              <a:t>Q4  Explain why identifying the target market matters.</a:t>
            </a:r>
          </a:p>
          <a:p xmlns:a="http://schemas.openxmlformats.org/drawingml/2006/main">
            <a:pPr>
              <a:buNone/>
              <a:defRPr sz="2250" b="1">
                <a:solidFill>
                  <a:srgbClr val="087D83"/>
                </a:solidFill>
                <a:latin typeface="Arial"/>
                <a:ea typeface="Arial"/>
                <a:cs typeface="Arial"/>
              </a:defRPr>
            </a:pPr>
            <a:r>
              <a:rPr sz="2250" b="1">
                <a:solidFill>
                  <a:srgbClr val="087D83"/>
                </a:solidFill>
                <a:latin typeface="Arial"/>
                <a:ea typeface="Arial"/>
                <a:cs typeface="Arial"/>
              </a:rPr>
              <a:t>        Reference: p. 23 and Chapter 1 notes.</a:t>
            </a:r>
          </a:p>
        </p:txBody>
      </p:sp>
      <p:sp>
        <p:nvSpPr>
          <p:cNvPr id="4" name="">
            <a:extLst xmlns:a="http://schemas.openxmlformats.org/drawingml/2006/main">
              <a:ext uri="{FF2B5EF4-FFF2-40B4-BE49-F238E27FC236}">
                <a16:creationId xmlns:a16="http://schemas.microsoft.com/office/drawing/2014/main" id="{2C10FC11-46A3-46C7-8EC1-61F2372EEA4F}"/>
              </a:ext>
            </a:extLst>
          </p:cNvPr>
          <p:cNvSpPr>
            <a:spLocks xmlns:a="http://schemas.openxmlformats.org/drawingml/2006/main" noGrp="1"/>
          </p:cNvSpPr>
          <p:nvPr/>
        </p:nvSpPr>
        <p:spPr>
          <a:xfrm xmlns:a="http://schemas.openxmlformats.org/drawingml/2006/main">
            <a:off x="609600" y="3286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D83"/>
                </a:solidFill>
                <a:latin typeface="Arial"/>
                <a:ea typeface="Arial"/>
                <a:cs typeface="Arial"/>
              </a:defRPr>
            </a:defPPr>
          </a:lstStyle>
          <a:p xmlns:a="http://schemas.openxmlformats.org/drawingml/2006/main">
            <a:pPr>
              <a:buNone/>
              <a:defRPr sz="2250" b="1">
                <a:solidFill>
                  <a:srgbClr val="087D83"/>
                </a:solidFill>
                <a:latin typeface="Arial"/>
                <a:ea typeface="Arial"/>
                <a:cs typeface="Arial"/>
              </a:defRPr>
            </a:pPr>
            <a:r>
              <a:rPr sz="2250" b="1">
                <a:solidFill>
                  <a:srgbClr val="087D83"/>
                </a:solidFill>
                <a:latin typeface="Arial"/>
                <a:ea typeface="Arial"/>
                <a:cs typeface="Arial"/>
              </a:rPr>
              <a:t>Q5  Write a brief paragraph on plan elements and purpose.</a:t>
            </a:r>
          </a:p>
          <a:p xmlns:a="http://schemas.openxmlformats.org/drawingml/2006/main">
            <a:pPr>
              <a:buNone/>
              <a:defRPr sz="2250" b="1">
                <a:solidFill>
                  <a:srgbClr val="087D83"/>
                </a:solidFill>
                <a:latin typeface="Arial"/>
                <a:ea typeface="Arial"/>
                <a:cs typeface="Arial"/>
              </a:defRPr>
            </a:pPr>
            <a:r>
              <a:rPr sz="2250" b="1">
                <a:solidFill>
                  <a:srgbClr val="087D83"/>
                </a:solidFill>
                <a:latin typeface="Arial"/>
                <a:ea typeface="Arial"/>
                <a:cs typeface="Arial"/>
              </a:rPr>
              <a:t>        Reference: p. 19. Recheck the appendix on Thursday.</a:t>
            </a:r>
          </a:p>
        </p:txBody>
      </p:sp>
      <p:sp>
        <p:nvSpPr>
          <p:cNvPr id="5" name="">
            <a:extLst xmlns:a="http://schemas.openxmlformats.org/drawingml/2006/main">
              <a:ext uri="{FF2B5EF4-FFF2-40B4-BE49-F238E27FC236}">
                <a16:creationId xmlns:a16="http://schemas.microsoft.com/office/drawing/2014/main" id="{60991652-3A99-4AC1-A272-DE8666C72E13}"/>
              </a:ext>
            </a:extLst>
          </p:cNvPr>
          <p:cNvSpPr>
            <a:spLocks xmlns:a="http://schemas.openxmlformats.org/drawingml/2006/main" noGrp="1"/>
          </p:cNvSpPr>
          <p:nvPr/>
        </p:nvSpPr>
        <p:spPr>
          <a:xfrm xmlns:a="http://schemas.openxmlformats.org/drawingml/2006/main">
            <a:off x="609600" y="4371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D83"/>
                </a:solidFill>
                <a:latin typeface="Arial"/>
                <a:ea typeface="Arial"/>
                <a:cs typeface="Arial"/>
              </a:defRPr>
            </a:defPPr>
          </a:lstStyle>
          <a:p xmlns:a="http://schemas.openxmlformats.org/drawingml/2006/main">
            <a:pPr>
              <a:buNone/>
              <a:defRPr sz="2250" b="1">
                <a:solidFill>
                  <a:srgbClr val="087D83"/>
                </a:solidFill>
                <a:latin typeface="Arial"/>
                <a:ea typeface="Arial"/>
                <a:cs typeface="Arial"/>
              </a:defRPr>
            </a:pPr>
            <a:r>
              <a:rPr sz="2250" b="1">
                <a:solidFill>
                  <a:srgbClr val="087D83"/>
                </a:solidFill>
                <a:latin typeface="Arial"/>
                <a:ea typeface="Arial"/>
                <a:cs typeface="Arial"/>
              </a:rPr>
              <a:t>Q8  Name and explain all five SMART criteria.</a:t>
            </a:r>
          </a:p>
          <a:p xmlns:a="http://schemas.openxmlformats.org/drawingml/2006/main">
            <a:pPr>
              <a:buNone/>
              <a:defRPr sz="2250" b="1">
                <a:solidFill>
                  <a:srgbClr val="087D83"/>
                </a:solidFill>
                <a:latin typeface="Arial"/>
                <a:ea typeface="Arial"/>
                <a:cs typeface="Arial"/>
              </a:defRPr>
            </a:pPr>
            <a:r>
              <a:rPr sz="2250" b="1">
                <a:solidFill>
                  <a:srgbClr val="087D83"/>
                </a:solidFill>
                <a:latin typeface="Arial"/>
                <a:ea typeface="Arial"/>
                <a:cs typeface="Arial"/>
              </a:rPr>
              <a:t>        Reference: pp. 20–21, Figure 2.2.</a:t>
            </a:r>
          </a:p>
        </p:txBody>
      </p:sp>
      <p:sp>
        <p:nvSpPr>
          <p:cNvPr id="6" name="">
            <a:extLst xmlns:a="http://schemas.openxmlformats.org/drawingml/2006/main">
              <a:ext uri="{FF2B5EF4-FFF2-40B4-BE49-F238E27FC236}">
                <a16:creationId xmlns:a16="http://schemas.microsoft.com/office/drawing/2014/main" id="{287E2D56-5268-4511-8AFC-ECC94C6EEC5D}"/>
              </a:ext>
            </a:extLst>
          </p:cNvPr>
          <p:cNvSpPr>
            <a:spLocks xmlns:a="http://schemas.openxmlformats.org/drawingml/2006/main" noGrp="1"/>
          </p:cNvSpPr>
          <p:nvPr/>
        </p:nvSpPr>
        <p:spPr>
          <a:xfrm xmlns:a="http://schemas.openxmlformats.org/drawingml/2006/main">
            <a:off x="609600" y="57245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44"/>
                </a:solidFill>
                <a:latin typeface="Arial"/>
                <a:ea typeface="Arial"/>
                <a:cs typeface="Arial"/>
              </a:defRPr>
            </a:defPPr>
          </a:lstStyle>
          <a:p xmlns:a="http://schemas.openxmlformats.org/drawingml/2006/main">
            <a:pPr>
              <a:buNone/>
              <a:defRPr sz="2100" b="0">
                <a:solidFill>
                  <a:srgbClr val="142D44"/>
                </a:solidFill>
                <a:latin typeface="Arial"/>
                <a:ea typeface="Arial"/>
                <a:cs typeface="Arial"/>
              </a:defRPr>
            </a:pPr>
            <a:r>
              <a:rPr sz="2100" b="0">
                <a:solidFill>
                  <a:srgbClr val="142D44"/>
                </a:solidFill>
                <a:latin typeface="Arial"/>
                <a:ea typeface="Arial"/>
                <a:cs typeface="Arial"/>
              </a:rPr>
              <a:t>Then finish missing Q1–3. Save answers for Friday’s test review.</a:t>
            </a:r>
          </a:p>
        </p:txBody>
      </p:sp>
    </p:spTree>
    <p:extLst>
      <p:ext uri="{BB962C8B-B14F-4D97-AF65-F5344CB8AC3E}">
        <p14:creationId xmlns:p14="http://schemas.microsoft.com/office/powerpoint/2010/main" val="1649171267"/>
      </p:ext>
    </p:extLst>
  </p:cSld>
  <p:transition spd="fast" advClick="1">
    <p:fade/>
  </p:transition>
</p:sld>
</file>

<file path=ppt/slides/slide6.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330C0D-701A-4905-BAC5-FAF435749307}"/>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44"/>
                </a:solidFill>
                <a:latin typeface="Arial"/>
                <a:ea typeface="Arial"/>
                <a:cs typeface="Arial"/>
              </a:defRPr>
            </a:defPPr>
          </a:lstStyle>
          <a:p xmlns:a="http://schemas.openxmlformats.org/drawingml/2006/main">
            <a:pPr>
              <a:buNone/>
              <a:defRPr sz="3300" b="1">
                <a:solidFill>
                  <a:srgbClr val="142D44"/>
                </a:solidFill>
                <a:latin typeface="Arial"/>
                <a:ea typeface="Arial"/>
                <a:cs typeface="Arial"/>
              </a:defRPr>
            </a:pPr>
            <a:r>
              <a:rPr sz="3300" b="1">
                <a:solidFill>
                  <a:srgbClr val="142D44"/>
                </a:solidFill>
                <a:latin typeface="Arial"/>
                <a:ea typeface="Arial"/>
                <a:cs typeface="Arial"/>
              </a:rPr>
              <a:t>Preparation for Friday’s Chapter 2 test</a:t>
            </a:r>
          </a:p>
        </p:txBody>
      </p:sp>
      <p:sp>
        <p:nvSpPr>
          <p:cNvPr id="2" name="">
            <a:extLst xmlns:a="http://schemas.openxmlformats.org/drawingml/2006/main">
              <a:ext uri="{FF2B5EF4-FFF2-40B4-BE49-F238E27FC236}">
                <a16:creationId xmlns:a16="http://schemas.microsoft.com/office/drawing/2014/main" id="{674ABF0C-89FC-48A7-86D1-7F0BC978570A}"/>
              </a:ext>
            </a:extLst>
          </p:cNvPr>
          <p:cNvSpPr>
            <a:spLocks xmlns:a="http://schemas.openxmlformats.org/drawingml/2006/main" noGrp="1"/>
          </p:cNvSpPr>
          <p:nvPr/>
        </p:nvSpPr>
        <p:spPr>
          <a:xfrm xmlns:a="http://schemas.openxmlformats.org/drawingml/2006/main">
            <a:off x="609600" y="15811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D83"/>
                </a:solidFill>
                <a:latin typeface="Arial"/>
                <a:ea typeface="Arial"/>
                <a:cs typeface="Arial"/>
              </a:defRPr>
            </a:defPPr>
          </a:lstStyle>
          <a:p xmlns:a="http://schemas.openxmlformats.org/drawingml/2006/main">
            <a:pPr>
              <a:buNone/>
              <a:defRPr sz="2550" b="1">
                <a:solidFill>
                  <a:srgbClr val="087D83"/>
                </a:solidFill>
                <a:latin typeface="Arial"/>
                <a:ea typeface="Arial"/>
                <a:cs typeface="Arial"/>
              </a:defRPr>
            </a:pPr>
            <a:r>
              <a:rPr sz="2550" b="1">
                <a:solidFill>
                  <a:srgbClr val="087D83"/>
                </a:solidFill>
                <a:latin typeface="Arial"/>
                <a:ea typeface="Arial"/>
                <a:cs typeface="Arial"/>
              </a:rPr>
              <a:t>First, recall without looking</a:t>
            </a:r>
          </a:p>
          <a:p xmlns:a="http://schemas.openxmlformats.org/drawingml/2006/main">
            <a:pPr>
              <a:buNone/>
              <a:defRPr sz="2550" b="1">
                <a:solidFill>
                  <a:srgbClr val="087D83"/>
                </a:solidFill>
                <a:latin typeface="Arial"/>
                <a:ea typeface="Arial"/>
                <a:cs typeface="Arial"/>
              </a:defRPr>
            </a:pPr>
            <a:r>
              <a:rPr sz="2550" b="1">
                <a:solidFill>
                  <a:srgbClr val="087D83"/>
                </a:solidFill>
                <a:latin typeface="Arial"/>
                <a:ea typeface="Arial"/>
                <a:cs typeface="Arial"/>
              </a:rPr>
              <a:t>Explain SMART. How does a milestone support a goal?</a:t>
            </a:r>
          </a:p>
        </p:txBody>
      </p:sp>
      <p:sp>
        <p:nvSpPr>
          <p:cNvPr id="3" name="">
            <a:extLst xmlns:a="http://schemas.openxmlformats.org/drawingml/2006/main">
              <a:ext uri="{FF2B5EF4-FFF2-40B4-BE49-F238E27FC236}">
                <a16:creationId xmlns:a16="http://schemas.microsoft.com/office/drawing/2014/main" id="{BB4BA833-D0B6-48E9-9246-EEFB3727243D}"/>
              </a:ext>
            </a:extLst>
          </p:cNvPr>
          <p:cNvSpPr>
            <a:spLocks xmlns:a="http://schemas.openxmlformats.org/drawingml/2006/main" noGrp="1"/>
          </p:cNvSpPr>
          <p:nvPr/>
        </p:nvSpPr>
        <p:spPr>
          <a:xfrm xmlns:a="http://schemas.openxmlformats.org/drawingml/2006/main">
            <a:off x="609600" y="314325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44"/>
                </a:solidFill>
                <a:latin typeface="Arial"/>
                <a:ea typeface="Arial"/>
                <a:cs typeface="Arial"/>
              </a:defRPr>
            </a:defPPr>
          </a:lstStyle>
          <a:p xmlns:a="http://schemas.openxmlformats.org/drawingml/2006/main">
            <a:pPr>
              <a:buNone/>
              <a:defRPr sz="2400" b="0">
                <a:solidFill>
                  <a:srgbClr val="142D44"/>
                </a:solidFill>
                <a:latin typeface="Arial"/>
                <a:ea typeface="Arial"/>
                <a:cs typeface="Arial"/>
              </a:defRPr>
            </a:pPr>
            <a:r>
              <a:rPr sz="2400" b="0">
                <a:solidFill>
                  <a:srgbClr val="142D44"/>
                </a:solidFill>
                <a:latin typeface="Arial"/>
                <a:ea typeface="Arial"/>
                <a:cs typeface="Arial"/>
              </a:rPr>
              <a:t>Then check and correct your existing answers</a:t>
            </a:r>
          </a:p>
          <a:p xmlns:a="http://schemas.openxmlformats.org/drawingml/2006/main">
            <a:pPr>
              <a:buNone/>
              <a:defRPr sz="2400" b="0">
                <a:solidFill>
                  <a:srgbClr val="142D44"/>
                </a:solidFill>
                <a:latin typeface="Arial"/>
                <a:ea typeface="Arial"/>
                <a:cs typeface="Arial"/>
              </a:defRPr>
            </a:pPr>
            <a:r>
              <a:rPr sz="2400" b="0">
                <a:solidFill>
                  <a:srgbClr val="142D44"/>
                </a:solidFill>
                <a:latin typeface="Arial"/>
                <a:ea typeface="Arial"/>
                <a:cs typeface="Arial"/>
              </a:rPr>
              <a:t>Q4: why the target market matters</a:t>
            </a:r>
          </a:p>
          <a:p xmlns:a="http://schemas.openxmlformats.org/drawingml/2006/main">
            <a:pPr>
              <a:buNone/>
              <a:defRPr sz="2400" b="0">
                <a:solidFill>
                  <a:srgbClr val="142D44"/>
                </a:solidFill>
                <a:latin typeface="Arial"/>
                <a:ea typeface="Arial"/>
                <a:cs typeface="Arial"/>
              </a:defRPr>
            </a:pPr>
            <a:r>
              <a:rPr sz="2400" b="0">
                <a:solidFill>
                  <a:srgbClr val="142D44"/>
                </a:solidFill>
                <a:latin typeface="Arial"/>
                <a:ea typeface="Arial"/>
                <a:cs typeface="Arial"/>
              </a:rPr>
              <a:t>Q5: how plan elements serve a purpose</a:t>
            </a:r>
          </a:p>
          <a:p xmlns:a="http://schemas.openxmlformats.org/drawingml/2006/main">
            <a:pPr>
              <a:buNone/>
              <a:defRPr sz="2400" b="0">
                <a:solidFill>
                  <a:srgbClr val="142D44"/>
                </a:solidFill>
                <a:latin typeface="Arial"/>
                <a:ea typeface="Arial"/>
                <a:cs typeface="Arial"/>
              </a:defRPr>
            </a:pPr>
            <a:r>
              <a:rPr sz="2400" b="0">
                <a:solidFill>
                  <a:srgbClr val="142D44"/>
                </a:solidFill>
                <a:latin typeface="Arial"/>
                <a:ea typeface="Arial"/>
                <a:cs typeface="Arial"/>
              </a:rPr>
              <a:t>Q8: all five criteria, using Figure 2.2 on p. 21</a:t>
            </a:r>
          </a:p>
        </p:txBody>
      </p:sp>
      <p:sp>
        <p:nvSpPr>
          <p:cNvPr id="4" name="">
            <a:extLst xmlns:a="http://schemas.openxmlformats.org/drawingml/2006/main">
              <a:ext uri="{FF2B5EF4-FFF2-40B4-BE49-F238E27FC236}">
                <a16:creationId xmlns:a16="http://schemas.microsoft.com/office/drawing/2014/main" id="{9B379CA5-9B96-42BE-AB4C-E491836DBC01}"/>
              </a:ext>
            </a:extLst>
          </p:cNvPr>
          <p:cNvSpPr>
            <a:spLocks xmlns:a="http://schemas.openxmlformats.org/drawingml/2006/main" noGrp="1"/>
          </p:cNvSpPr>
          <p:nvPr/>
        </p:nvSpPr>
        <p:spPr>
          <a:xfrm xmlns:a="http://schemas.openxmlformats.org/drawingml/2006/main">
            <a:off x="609600" y="56102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44"/>
                </a:solidFill>
                <a:latin typeface="Arial"/>
                <a:ea typeface="Arial"/>
                <a:cs typeface="Arial"/>
              </a:defRPr>
            </a:defPPr>
          </a:lstStyle>
          <a:p xmlns:a="http://schemas.openxmlformats.org/drawingml/2006/main">
            <a:pPr>
              <a:buNone/>
              <a:defRPr sz="2250" b="0">
                <a:solidFill>
                  <a:srgbClr val="142D44"/>
                </a:solidFill>
                <a:latin typeface="Arial"/>
                <a:ea typeface="Arial"/>
                <a:cs typeface="Arial"/>
              </a:defRPr>
            </a:pPr>
            <a:r>
              <a:rPr sz="2250" b="0">
                <a:solidFill>
                  <a:srgbClr val="142D44"/>
                </a:solidFill>
                <a:latin typeface="Arial"/>
                <a:ea typeface="Arial"/>
                <a:cs typeface="Arial"/>
              </a:rPr>
              <a:t>Save your work. Flag one unclear point for help before the test.</a:t>
            </a:r>
          </a:p>
        </p:txBody>
      </p:sp>
    </p:spTree>
    <p:extLst>
      <p:ext uri="{BB962C8B-B14F-4D97-AF65-F5344CB8AC3E}">
        <p14:creationId xmlns:p14="http://schemas.microsoft.com/office/powerpoint/2010/main" val="763026375"/>
      </p:ext>
    </p:extLst>
  </p:cSld>
  <p:transition spd="fast"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2026-10-19T00:22:08.8660000Z</dcterms:created>
  <dcterms:modified xsi:type="dcterms:W3CDTF">2026-10-19T00:22:08.8660000Z</dcterms:modified>
</coreProperties>
</file>