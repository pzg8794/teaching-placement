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65d3d797b64e0a" /><Relationship Type="http://schemas.openxmlformats.org/officeDocument/2006/relationships/extended-properties" Target="/docProps/app.xml" Id="R235dbff8b4d842a0" /><Relationship Type="http://schemas.openxmlformats.org/officeDocument/2006/relationships/officeDocument" Target="/ppt/presentation.xml" Id="R2c6b58b3457e4b1f" /></Relationships>
</file>

<file path=ppt/presentation.xml><?xml version="1.0" encoding="utf-8"?>
<p:presentation xmlns:p="http://schemas.openxmlformats.org/presentationml/2006/main">
  <p:sldMasterIdLst>
    <p:sldMasterId xmlns:r="http://schemas.openxmlformats.org/officeDocument/2006/relationships" id="2147483648" r:id="Rc90a831272cf4c4d"/>
  </p:sldMasterIdLst>
  <p:notesMasterIdLst>
    <p:notesMasterId xmlns:r="http://schemas.openxmlformats.org/officeDocument/2006/relationships" r:id="R0c7f1bdbcf1b4487"/>
  </p:notesMasterIdLst>
  <p:sldIdLst>
    <p:sldId xmlns:r="http://schemas.openxmlformats.org/officeDocument/2006/relationships" id="256" r:id="R86b7dd91c9a148d7"/>
    <p:sldId xmlns:r="http://schemas.openxmlformats.org/officeDocument/2006/relationships" id="257" r:id="R04b45b24ce9b4b00"/>
    <p:sldId xmlns:r="http://schemas.openxmlformats.org/officeDocument/2006/relationships" id="258" r:id="R428646bf763a411e"/>
    <p:sldId xmlns:r="http://schemas.openxmlformats.org/officeDocument/2006/relationships" id="259" r:id="R32cf5aec1f96489c"/>
    <p:sldId xmlns:r="http://schemas.openxmlformats.org/officeDocument/2006/relationships" id="260" r:id="R134dd154870e4c4c"/>
    <p:sldId xmlns:r="http://schemas.openxmlformats.org/officeDocument/2006/relationships" id="261" r:id="Rf027e9d7017f42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4312b7f6904af1" /><Relationship Type="http://schemas.openxmlformats.org/officeDocument/2006/relationships/slideMaster" Target="/ppt/slideMasters/slideMaster1.xml" Id="Rc90a831272cf4c4d" /><Relationship Type="http://schemas.openxmlformats.org/officeDocument/2006/relationships/notesMaster" Target="/ppt/notesMasters/notesMaster1.xml" Id="R0c7f1bdbcf1b4487" /><Relationship Type="http://schemas.openxmlformats.org/officeDocument/2006/relationships/presProps" Target="/ppt/presProps.xml" Id="Rf675820174d5417f" /><Relationship Type="http://schemas.openxmlformats.org/officeDocument/2006/relationships/tableStyles" Target="/ppt/tableStyles.xml" Id="R95edc41a6b6d4596" /><Relationship Type="http://schemas.openxmlformats.org/officeDocument/2006/relationships/slide" Target="/ppt/slides/slide1.xml" Id="R86b7dd91c9a148d7" /><Relationship Type="http://schemas.openxmlformats.org/officeDocument/2006/relationships/slide" Target="/ppt/slides/slide2.xml" Id="R04b45b24ce9b4b00" /><Relationship Type="http://schemas.openxmlformats.org/officeDocument/2006/relationships/slide" Target="/ppt/slides/slide3.xml" Id="R428646bf763a411e" /><Relationship Type="http://schemas.openxmlformats.org/officeDocument/2006/relationships/slide" Target="/ppt/slides/slide4.xml" Id="R32cf5aec1f96489c" /><Relationship Type="http://schemas.openxmlformats.org/officeDocument/2006/relationships/slide" Target="/ppt/slides/slide5.xml" Id="R134dd154870e4c4c" /><Relationship Type="http://schemas.openxmlformats.org/officeDocument/2006/relationships/slide" Target="/ppt/slides/slide6.xml" Id="Rf027e9d7017f42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e680f0ac254c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7129fcc25d4a69" /><Relationship Type="http://schemas.openxmlformats.org/officeDocument/2006/relationships/notesMaster" Target="/ppt/notesMasters/notesMaster1.xml" Id="R9de9704f350445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52e142672b43cc" /><Relationship Type="http://schemas.openxmlformats.org/officeDocument/2006/relationships/notesMaster" Target="/ppt/notesMasters/notesMaster1.xml" Id="R85e9d92d13d744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bb5d2366134489" /><Relationship Type="http://schemas.openxmlformats.org/officeDocument/2006/relationships/notesMaster" Target="/ppt/notesMasters/notesMaster1.xml" Id="R0002780a42e64c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5ffe0045ea45c8" /><Relationship Type="http://schemas.openxmlformats.org/officeDocument/2006/relationships/notesMaster" Target="/ppt/notesMasters/notesMaster1.xml" Id="R3d5bef08d22646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bf85c24e5f4686" /><Relationship Type="http://schemas.openxmlformats.org/officeDocument/2006/relationships/notesMaster" Target="/ppt/notesMasters/notesMaster1.xml" Id="R3a31ed8ae6a141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ea24796dc24f18" /><Relationship Type="http://schemas.openxmlformats.org/officeDocument/2006/relationships/notesMaster" Target="/ppt/notesMasters/notesMaster1.xml" Id="Raf97448b607940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minutes. Take attendance while students think. Ask what is missing from sell more. Take one or two short answers, then move to school teaching deck slide9. No need to hear from every student. Fictional store illustration generated for this lesson. Weekly planv4 Monday; SMART Figure2.2 printedp21.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after students respond and after reading SMART on printedpp20–21. Teacher-created hypothetical example; numbers are not textbook findings. Specific: sneaker sales. Measurable:20to24pairs perweek. Achievable only with evidence: this fictional store has sold24pairs in a prior promotion and can support that volume. Results-focused: increased completed sales, not merely posting ads. Time-bound:Nov13. Use the book wording Results-focused, not a different SMART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milestone introduction printedp21 and four steps onpp22–23; skip Practical Marketing case onp22 untilTuesday. Ask one short response; next click reveals the example checkpoint. Keep this within the16-minute read/notes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students propose a checkpoint. A milestone is a smaller, dated achievement toward the larger goal. The weekly sales log is the evidence. If the checkpoint is missed, examine why and adjust; the goal is not automatically impossible. This model illustrates rather than replaces all four textbook milestone steps. School deck slide9; bookpp21–23.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20–37 minutes in a42-minute lesson. Use existing Test Your Knowledge worksheet inTeams, not a new project. Q4 retrieves Chapter1 targetmarket learning; printedp23 is a reference and will be readTuesday. Q5 draws on elements listp19; revisit appendix detailThursday. Q8 usespp20–21, Figure2.2. Catch upQ1–3 only after today’s questions. Circulate; check explanations not just labels. No invented grading or new deadline.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37–42 minutes. Check Q8 names and explains all five criteria. Ask how a milestone differs from the final goal, using the same example. Students save and identify unfinished work. Do not assign a new exit worksheet; responses can be spoken or in existing notes. Record separate actual stops forMarketingBlocks1and5. Tomorrowmain schoolslide10; no case study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786e200c3345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b55293123e40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7161fba30749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5b6ad79cff41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a988440a2646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3bf156feff40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972463-1E32-4E44-B787-289F701B9D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1E42B1-6487-453F-8FF3-C045BCA8E5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841402-3637-46AA-844C-84903AB94F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9BD43-E86C-40E7-BF36-0C8E0E2539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A0AEDC-9168-46F3-99F9-C74F975019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2554D9-4343-4D5E-B4F8-D292D85767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03D57A-65CF-488F-82D2-449B7572CB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B70B5D-3212-4868-AB2A-0626FFA2C2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570AE-53C2-4D5D-BC82-1506FC2E6B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A57AA5-F7C0-46DC-9A4E-C200F9041F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b16eb6949c4fef" /><Relationship Type="http://schemas.openxmlformats.org/officeDocument/2006/relationships/slideLayout" Target="/ppt/slideLayouts/slideLayout1.xml" Id="R5ad5af3d68f94b90" /><Relationship Type="http://schemas.openxmlformats.org/officeDocument/2006/relationships/slideLayout" Target="/ppt/slideLayouts/slideLayout2.xml" Id="R0f138efb9fc84e26" /><Relationship Type="http://schemas.openxmlformats.org/officeDocument/2006/relationships/slideLayout" Target="/ppt/slideLayouts/slideLayout3.xml" Id="R90ececa54ffb4d44" /><Relationship Type="http://schemas.openxmlformats.org/officeDocument/2006/relationships/slideLayout" Target="/ppt/slideLayouts/slideLayout4.xml" Id="Ra0c9785ea2f846fb" /><Relationship Type="http://schemas.openxmlformats.org/officeDocument/2006/relationships/slideLayout" Target="/ppt/slideLayouts/slideLayout5.xml" Id="R68b5df2b8d424c3e" /><Relationship Type="http://schemas.openxmlformats.org/officeDocument/2006/relationships/slideLayout" Target="/ppt/slideLayouts/slideLayout6.xml" Id="R12d75b9c9f6e40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d5af3d68f94b90"/>
    <p:sldLayoutId xmlns:r="http://schemas.openxmlformats.org/officeDocument/2006/relationships" id="2147483650" r:id="R0f138efb9fc84e26"/>
    <p:sldLayoutId xmlns:r="http://schemas.openxmlformats.org/officeDocument/2006/relationships" id="2147483651" r:id="R90ececa54ffb4d44"/>
    <p:sldLayoutId xmlns:r="http://schemas.openxmlformats.org/officeDocument/2006/relationships" id="2147483652" r:id="Ra0c9785ea2f846fb"/>
    <p:sldLayoutId xmlns:r="http://schemas.openxmlformats.org/officeDocument/2006/relationships" id="2147483653" r:id="R68b5df2b8d424c3e"/>
    <p:sldLayoutId xmlns:r="http://schemas.openxmlformats.org/officeDocument/2006/relationships" id="2147483654" r:id="R12d75b9c9f6e40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8dfde90730438c" /><Relationship Type="http://schemas.openxmlformats.org/officeDocument/2006/relationships/image" Target="/ppt/media/image.png" Id="Rf33e098db9214ca8" /><Relationship Type="http://schemas.openxmlformats.org/officeDocument/2006/relationships/notesSlide" Target="/ppt/notesSlides/notesSlide1.xml" Id="Rc2e76a7a6b9840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5558cda59e4dc2" /><Relationship Type="http://schemas.openxmlformats.org/officeDocument/2006/relationships/image" Target="/ppt/media/image2.png" Id="Rfff54eb17fcd4237" /><Relationship Type="http://schemas.openxmlformats.org/officeDocument/2006/relationships/notesSlide" Target="/ppt/notesSlides/notesSlide2.xml" Id="Reb509ab21dfc43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b501adb5bd47d4" /><Relationship Type="http://schemas.openxmlformats.org/officeDocument/2006/relationships/notesSlide" Target="/ppt/notesSlides/notesSlide3.xml" Id="R03934410834d4b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15a44a241843f1" /><Relationship Type="http://schemas.openxmlformats.org/officeDocument/2006/relationships/notesSlide" Target="/ppt/notesSlides/notesSlide4.xml" Id="R6e1fe5360fde48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d843d4fa1b48b4" /><Relationship Type="http://schemas.openxmlformats.org/officeDocument/2006/relationships/notesSlide" Target="/ppt/notesSlides/notesSlide5.xml" Id="R96a65a27319348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bbd865289a423d" /><Relationship Type="http://schemas.openxmlformats.org/officeDocument/2006/relationships/notesSlide" Target="/ppt/notesSlides/notesSlide6.xml" Id="Rda585a80e624496d"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BCDFF1-9695-4097-8570-91526C6F17F0}"/>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defRPr sz="3600" b="1">
                <a:solidFill>
                  <a:srgbClr val="142D44"/>
                </a:solidFill>
                <a:latin typeface="Arial"/>
                <a:ea typeface="Arial"/>
                <a:cs typeface="Arial"/>
              </a:defRPr>
            </a:pPr>
            <a:r>
              <a:rPr sz="3600" b="1">
                <a:solidFill>
                  <a:srgbClr val="142D44"/>
                </a:solidFill>
                <a:latin typeface="Arial"/>
                <a:ea typeface="Arial"/>
                <a:cs typeface="Arial"/>
              </a:rPr>
              <a:t>A goal for the sneaker store</a:t>
            </a:r>
          </a:p>
        </p:txBody>
      </p:sp>
      <p:sp>
        <p:nvSpPr>
          <p:cNvPr id="2" name="">
            <a:extLst xmlns:a="http://schemas.openxmlformats.org/drawingml/2006/main">
              <a:ext uri="{FF2B5EF4-FFF2-40B4-BE49-F238E27FC236}">
                <a16:creationId xmlns:a16="http://schemas.microsoft.com/office/drawing/2014/main" id="{336EEDCE-7053-4BE5-88BF-033A78C612AB}"/>
              </a:ext>
            </a:extLst>
          </p:cNvPr>
          <p:cNvSpPr>
            <a:spLocks xmlns:a="http://schemas.openxmlformats.org/drawingml/2006/main" noGrp="1"/>
          </p:cNvSpPr>
          <p:nvPr/>
        </p:nvSpPr>
        <p:spPr>
          <a:xfrm xmlns:a="http://schemas.openxmlformats.org/drawingml/2006/main">
            <a:off x="609600" y="16573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087D83"/>
                </a:solidFill>
                <a:latin typeface="Arial"/>
                <a:ea typeface="Arial"/>
                <a:cs typeface="Arial"/>
              </a:defRPr>
            </a:defPPr>
          </a:lstStyle>
          <a:p xmlns:a="http://schemas.openxmlformats.org/drawingml/2006/main">
            <a:pPr>
              <a:defRPr sz="4950" b="1">
                <a:solidFill>
                  <a:srgbClr val="087D83"/>
                </a:solidFill>
                <a:latin typeface="Arial"/>
                <a:ea typeface="Arial"/>
                <a:cs typeface="Arial"/>
              </a:defRPr>
            </a:pPr>
            <a:r>
              <a:rPr sz="4950" b="1">
                <a:solidFill>
                  <a:srgbClr val="087D83"/>
                </a:solidFill>
                <a:latin typeface="Arial"/>
                <a:ea typeface="Arial"/>
                <a:cs typeface="Arial"/>
              </a:rPr>
              <a:t>“Sell more.”</a:t>
            </a:r>
          </a:p>
        </p:txBody>
      </p:sp>
      <p:sp>
        <p:nvSpPr>
          <p:cNvPr id="3" name="">
            <a:extLst xmlns:a="http://schemas.openxmlformats.org/drawingml/2006/main">
              <a:ext uri="{FF2B5EF4-FFF2-40B4-BE49-F238E27FC236}">
                <a16:creationId xmlns:a16="http://schemas.microsoft.com/office/drawing/2014/main" id="{C84DF20A-8137-4002-8016-2A6A756919D6}"/>
              </a:ext>
            </a:extLst>
          </p:cNvPr>
          <p:cNvSpPr>
            <a:spLocks xmlns:a="http://schemas.openxmlformats.org/drawingml/2006/main" noGrp="1"/>
          </p:cNvSpPr>
          <p:nvPr/>
        </p:nvSpPr>
        <p:spPr>
          <a:xfrm xmlns:a="http://schemas.openxmlformats.org/drawingml/2006/main">
            <a:off x="609600" y="2905125"/>
            <a:ext cx="5429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42D44"/>
                </a:solidFill>
                <a:latin typeface="Arial"/>
                <a:ea typeface="Arial"/>
                <a:cs typeface="Arial"/>
              </a:defRPr>
            </a:defPPr>
          </a:lstStyle>
          <a:p xmlns:a="http://schemas.openxmlformats.org/drawingml/2006/main">
            <a:pPr>
              <a:defRPr sz="2850" b="0">
                <a:solidFill>
                  <a:srgbClr val="142D44"/>
                </a:solidFill>
                <a:latin typeface="Arial"/>
                <a:ea typeface="Arial"/>
                <a:cs typeface="Arial"/>
              </a:defRPr>
            </a:pPr>
            <a:r>
              <a:rPr sz="2850" b="0">
                <a:solidFill>
                  <a:srgbClr val="142D44"/>
                </a:solidFill>
                <a:latin typeface="Arial"/>
                <a:ea typeface="Arial"/>
                <a:cs typeface="Arial"/>
              </a:rPr>
              <a:t>What information is missing?</a:t>
            </a:r>
          </a:p>
        </p:txBody>
      </p:sp>
      <p:sp>
        <p:nvSpPr>
          <p:cNvPr id="4" name="">
            <a:extLst xmlns:a="http://schemas.openxmlformats.org/drawingml/2006/main">
              <a:ext uri="{FF2B5EF4-FFF2-40B4-BE49-F238E27FC236}">
                <a16:creationId xmlns:a16="http://schemas.microsoft.com/office/drawing/2014/main" id="{CCCDC92A-5F06-4DEC-9159-52FEFF3AD043}"/>
              </a:ext>
            </a:extLst>
          </p:cNvPr>
          <p:cNvSpPr>
            <a:spLocks xmlns:a="http://schemas.openxmlformats.org/drawingml/2006/main" noGrp="1"/>
          </p:cNvSpPr>
          <p:nvPr/>
        </p:nvSpPr>
        <p:spPr>
          <a:xfrm xmlns:a="http://schemas.openxmlformats.org/drawingml/2006/main">
            <a:off x="609600" y="4438650"/>
            <a:ext cx="5572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latin typeface="Arial"/>
                <a:ea typeface="Arial"/>
                <a:cs typeface="Arial"/>
              </a:defRPr>
            </a:defPPr>
          </a:lstStyle>
          <a:p xmlns:a="http://schemas.openxmlformats.org/drawingml/2006/main">
            <a:pPr>
              <a:defRPr sz="2250" b="0">
                <a:solidFill>
                  <a:srgbClr val="142D44"/>
                </a:solidFill>
                <a:latin typeface="Arial"/>
                <a:ea typeface="Arial"/>
                <a:cs typeface="Arial"/>
              </a:defRPr>
            </a:pPr>
            <a:r>
              <a:rPr sz="2250" b="0">
                <a:solidFill>
                  <a:srgbClr val="142D44"/>
                </a:solidFill>
                <a:latin typeface="Arial"/>
                <a:ea typeface="Arial"/>
                <a:cs typeface="Arial"/>
              </a:rPr>
              <a:t>Think quietly. Be ready to give</a:t>
            </a:r>
          </a:p>
          <a:p xmlns:a="http://schemas.openxmlformats.org/drawingml/2006/main">
            <a:pPr>
              <a:defRPr sz="2250" b="0">
                <a:solidFill>
                  <a:srgbClr val="142D44"/>
                </a:solidFill>
                <a:latin typeface="Arial"/>
                <a:ea typeface="Arial"/>
                <a:cs typeface="Arial"/>
              </a:defRPr>
            </a:pPr>
            <a:r>
              <a:rPr sz="2250" b="0">
                <a:solidFill>
                  <a:srgbClr val="142D44"/>
                </a:solidFill>
                <a:latin typeface="Arial"/>
                <a:ea typeface="Arial"/>
                <a:cs typeface="Arial"/>
              </a:rPr>
              <a:t>one short answer.</a:t>
            </a:r>
          </a:p>
        </p:txBody>
      </p:sp>
      <p:pic>
        <p:nvPicPr>
          <p:cNvPr id="5" name="">
            <a:extLst xmlns:a="http://schemas.openxmlformats.org/drawingml/2006/main">
              <a:ext uri="{FF2B5EF4-FFF2-40B4-BE49-F238E27FC236}">
                <a16:creationId xmlns:a16="http://schemas.microsoft.com/office/drawing/2014/main" id="{5A9EF906-C07C-43C7-B1DE-A46EAB244C83}"/>
              </a:ext>
            </a:extLst>
          </p:cNvPr>
          <p:cNvPicPr>
            <a:picLocks xmlns:a="http://schemas.openxmlformats.org/drawingml/2006/main" noChangeAspect="1"/>
          </p:cNvPicPr>
          <p:nvPr/>
        </p:nvPicPr>
        <p:blipFill>
          <a:blip xmlns:r="http://schemas.openxmlformats.org/officeDocument/2006/relationships" xmlns:a="http://schemas.openxmlformats.org/drawingml/2006/main" r:embed="Rf33e098db9214ca8"/>
          <a:srcRect xmlns:a="http://schemas.openxmlformats.org/drawingml/2006/main" l="10310" t="0" r="10310" b="0"/>
          <a:stretch xmlns:a="http://schemas.openxmlformats.org/drawingml/2006/main">
            <a:fillRect l="0" t="0" r="0" b="0"/>
          </a:stretch>
        </p:blipFill>
        <p:spPr>
          <a:xfrm xmlns:a="http://schemas.openxmlformats.org/drawingml/2006/main">
            <a:off x="6705600" y="1543050"/>
            <a:ext cx="48768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4C94DB1-4E1D-4C2A-8C19-ADDE8F7083AF}"/>
              </a:ext>
            </a:extLst>
          </p:cNvPr>
          <p:cNvSpPr>
            <a:spLocks xmlns:a="http://schemas.openxmlformats.org/drawingml/2006/main" noGrp="1"/>
          </p:cNvSpPr>
          <p:nvPr/>
        </p:nvSpPr>
        <p:spPr>
          <a:xfrm xmlns:a="http://schemas.openxmlformats.org/drawingml/2006/main">
            <a:off x="609600" y="62103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44"/>
                </a:solidFill>
                <a:latin typeface="Arial"/>
                <a:ea typeface="Arial"/>
                <a:cs typeface="Arial"/>
              </a:defRPr>
            </a:defPPr>
          </a:lstStyle>
          <a:p xmlns:a="http://schemas.openxmlformats.org/drawingml/2006/main">
            <a:pPr>
              <a:defRPr sz="1500" b="0">
                <a:solidFill>
                  <a:srgbClr val="142D44"/>
                </a:solidFill>
                <a:latin typeface="Arial"/>
                <a:ea typeface="Arial"/>
                <a:cs typeface="Arial"/>
              </a:defRPr>
            </a:pPr>
            <a:r>
              <a:rPr sz="1500" b="0">
                <a:solidFill>
                  <a:srgbClr val="142D44"/>
                </a:solidFill>
                <a:latin typeface="Arial"/>
                <a:ea typeface="Arial"/>
                <a:cs typeface="Arial"/>
              </a:rPr>
              <a:t>Monday October 19  •  Start → Read and take notes → Work → Finish</a:t>
            </a:r>
          </a:p>
        </p:txBody>
      </p:sp>
    </p:spTree>
    <p:extLst>
      <p:ext uri="{BB962C8B-B14F-4D97-AF65-F5344CB8AC3E}">
        <p14:creationId xmlns:p14="http://schemas.microsoft.com/office/powerpoint/2010/main" val="1162833796"/>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9A3D4C-175E-43E9-823A-C1AF20F3F339}"/>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defRPr sz="3600" b="1">
                <a:solidFill>
                  <a:srgbClr val="142D44"/>
                </a:solidFill>
                <a:latin typeface="Arial"/>
                <a:ea typeface="Arial"/>
                <a:cs typeface="Arial"/>
              </a:defRPr>
            </a:pPr>
            <a:r>
              <a:rPr sz="3600" b="1">
                <a:solidFill>
                  <a:srgbClr val="142D44"/>
                </a:solidFill>
                <a:latin typeface="Arial"/>
                <a:ea typeface="Arial"/>
                <a:cs typeface="Arial"/>
              </a:rPr>
              <a:t>A clearer sales goal</a:t>
            </a:r>
          </a:p>
        </p:txBody>
      </p:sp>
      <p:sp>
        <p:nvSpPr>
          <p:cNvPr id="2" name="">
            <a:extLst xmlns:a="http://schemas.openxmlformats.org/drawingml/2006/main">
              <a:ext uri="{FF2B5EF4-FFF2-40B4-BE49-F238E27FC236}">
                <a16:creationId xmlns:a16="http://schemas.microsoft.com/office/drawing/2014/main" id="{1489A0FE-4298-45E8-955F-B328E887E25F}"/>
              </a:ext>
            </a:extLst>
          </p:cNvPr>
          <p:cNvSpPr>
            <a:spLocks xmlns:a="http://schemas.openxmlformats.org/drawingml/2006/main" noGrp="1"/>
          </p:cNvSpPr>
          <p:nvPr/>
        </p:nvSpPr>
        <p:spPr>
          <a:xfrm xmlns:a="http://schemas.openxmlformats.org/drawingml/2006/main">
            <a:off x="609600" y="1666875"/>
            <a:ext cx="5619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87D83"/>
                </a:solidFill>
                <a:latin typeface="Arial"/>
                <a:ea typeface="Arial"/>
                <a:cs typeface="Arial"/>
              </a:defRPr>
            </a:defPPr>
          </a:lstStyle>
          <a:p xmlns:a="http://schemas.openxmlformats.org/drawingml/2006/main">
            <a:pPr>
              <a:defRPr sz="3225" b="1">
                <a:solidFill>
                  <a:srgbClr val="087D83"/>
                </a:solidFill>
                <a:latin typeface="Arial"/>
                <a:ea typeface="Arial"/>
                <a:cs typeface="Arial"/>
              </a:defRPr>
            </a:pPr>
            <a:r>
              <a:rPr sz="3225" b="1">
                <a:solidFill>
                  <a:srgbClr val="087D83"/>
                </a:solidFill>
                <a:latin typeface="Arial"/>
                <a:ea typeface="Arial"/>
                <a:cs typeface="Arial"/>
              </a:rPr>
              <a:t>By November 13,</a:t>
            </a:r>
          </a:p>
          <a:p xmlns:a="http://schemas.openxmlformats.org/drawingml/2006/main">
            <a:pPr>
              <a:defRPr sz="3225" b="1">
                <a:solidFill>
                  <a:srgbClr val="087D83"/>
                </a:solidFill>
                <a:latin typeface="Arial"/>
                <a:ea typeface="Arial"/>
                <a:cs typeface="Arial"/>
              </a:defRPr>
            </a:pPr>
            <a:r>
              <a:rPr sz="3225" b="1">
                <a:solidFill>
                  <a:srgbClr val="087D83"/>
                </a:solidFill>
                <a:latin typeface="Arial"/>
                <a:ea typeface="Arial"/>
                <a:cs typeface="Arial"/>
              </a:rPr>
              <a:t>increase weekly sneaker sales</a:t>
            </a:r>
          </a:p>
          <a:p xmlns:a="http://schemas.openxmlformats.org/drawingml/2006/main">
            <a:pPr>
              <a:defRPr sz="3225" b="1">
                <a:solidFill>
                  <a:srgbClr val="087D83"/>
                </a:solidFill>
                <a:latin typeface="Arial"/>
                <a:ea typeface="Arial"/>
                <a:cs typeface="Arial"/>
              </a:defRPr>
            </a:pPr>
            <a:r>
              <a:rPr sz="3225" b="1">
                <a:solidFill>
                  <a:srgbClr val="087D83"/>
                </a:solidFill>
                <a:latin typeface="Arial"/>
                <a:ea typeface="Arial"/>
                <a:cs typeface="Arial"/>
              </a:rPr>
              <a:t>from 20 to 24 pairs.</a:t>
            </a:r>
          </a:p>
        </p:txBody>
      </p:sp>
      <p:sp>
        <p:nvSpPr>
          <p:cNvPr id="3" name="">
            <a:extLst xmlns:a="http://schemas.openxmlformats.org/drawingml/2006/main">
              <a:ext uri="{FF2B5EF4-FFF2-40B4-BE49-F238E27FC236}">
                <a16:creationId xmlns:a16="http://schemas.microsoft.com/office/drawing/2014/main" id="{1E08B100-8277-406D-B26E-4DA0395E1590}"/>
              </a:ext>
            </a:extLst>
          </p:cNvPr>
          <p:cNvSpPr>
            <a:spLocks xmlns:a="http://schemas.openxmlformats.org/drawingml/2006/main" noGrp="1"/>
          </p:cNvSpPr>
          <p:nvPr/>
        </p:nvSpPr>
        <p:spPr>
          <a:xfrm xmlns:a="http://schemas.openxmlformats.org/drawingml/2006/main">
            <a:off x="609600" y="4095750"/>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44"/>
                </a:solidFill>
                <a:latin typeface="Arial"/>
                <a:ea typeface="Arial"/>
                <a:cs typeface="Arial"/>
              </a:defRPr>
            </a:defPPr>
          </a:lstStyle>
          <a:p xmlns:a="http://schemas.openxmlformats.org/drawingml/2006/main">
            <a:pPr>
              <a:defRPr sz="2100" b="0">
                <a:solidFill>
                  <a:srgbClr val="142D44"/>
                </a:solidFill>
                <a:latin typeface="Arial"/>
                <a:ea typeface="Arial"/>
                <a:cs typeface="Arial"/>
              </a:defRPr>
            </a:pPr>
            <a:r>
              <a:rPr sz="2100" b="0">
                <a:solidFill>
                  <a:srgbClr val="142D44"/>
                </a:solidFill>
                <a:latin typeface="Arial"/>
                <a:ea typeface="Arial"/>
                <a:cs typeface="Arial"/>
              </a:rPr>
              <a:t>Assume the same team has sold</a:t>
            </a:r>
          </a:p>
          <a:p xmlns:a="http://schemas.openxmlformats.org/drawingml/2006/main">
            <a:pPr>
              <a:defRPr sz="2100" b="0">
                <a:solidFill>
                  <a:srgbClr val="142D44"/>
                </a:solidFill>
                <a:latin typeface="Arial"/>
                <a:ea typeface="Arial"/>
                <a:cs typeface="Arial"/>
              </a:defRPr>
            </a:pPr>
            <a:r>
              <a:rPr sz="2100" b="0">
                <a:solidFill>
                  <a:srgbClr val="142D44"/>
                </a:solidFill>
                <a:latin typeface="Arial"/>
                <a:ea typeface="Arial"/>
                <a:cs typeface="Arial"/>
              </a:rPr>
              <a:t>24 pairs during a past promotion.</a:t>
            </a:r>
          </a:p>
        </p:txBody>
      </p:sp>
      <p:sp>
        <p:nvSpPr>
          <p:cNvPr id="4" name="">
            <a:extLst xmlns:a="http://schemas.openxmlformats.org/drawingml/2006/main">
              <a:ext uri="{FF2B5EF4-FFF2-40B4-BE49-F238E27FC236}">
                <a16:creationId xmlns:a16="http://schemas.microsoft.com/office/drawing/2014/main" id="{B332DEA3-ED54-4FEE-820A-D145CDA12CF1}"/>
              </a:ext>
            </a:extLst>
          </p:cNvPr>
          <p:cNvSpPr>
            <a:spLocks xmlns:a="http://schemas.openxmlformats.org/drawingml/2006/main" noGrp="1"/>
          </p:cNvSpPr>
          <p:nvPr/>
        </p:nvSpPr>
        <p:spPr>
          <a:xfrm xmlns:a="http://schemas.openxmlformats.org/drawingml/2006/main">
            <a:off x="609600" y="527685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44"/>
                </a:solidFill>
                <a:latin typeface="Arial"/>
                <a:ea typeface="Arial"/>
                <a:cs typeface="Arial"/>
              </a:defRPr>
            </a:defPPr>
          </a:lstStyle>
          <a:p xmlns:a="http://schemas.openxmlformats.org/drawingml/2006/main">
            <a:pPr>
              <a:defRPr sz="2100" b="1">
                <a:solidFill>
                  <a:srgbClr val="142D44"/>
                </a:solidFill>
                <a:latin typeface="Arial"/>
                <a:ea typeface="Arial"/>
                <a:cs typeface="Arial"/>
              </a:defRPr>
            </a:pPr>
            <a:r>
              <a:rPr sz="2100" b="1">
                <a:solidFill>
                  <a:srgbClr val="142D44"/>
                </a:solidFill>
                <a:latin typeface="Arial"/>
                <a:ea typeface="Arial"/>
                <a:cs typeface="Arial"/>
              </a:rPr>
              <a:t>Which words make this goal clearer?</a:t>
            </a:r>
          </a:p>
        </p:txBody>
      </p:sp>
      <p:pic>
        <p:nvPicPr>
          <p:cNvPr id="5" name="">
            <a:extLst xmlns:a="http://schemas.openxmlformats.org/drawingml/2006/main">
              <a:ext uri="{FF2B5EF4-FFF2-40B4-BE49-F238E27FC236}">
                <a16:creationId xmlns:a16="http://schemas.microsoft.com/office/drawing/2014/main" id="{EEB7B5C4-7443-449E-99C5-815B15ADD807}"/>
              </a:ext>
            </a:extLst>
          </p:cNvPr>
          <p:cNvPicPr>
            <a:picLocks xmlns:a="http://schemas.openxmlformats.org/drawingml/2006/main" noChangeAspect="1"/>
          </p:cNvPicPr>
          <p:nvPr/>
        </p:nvPicPr>
        <p:blipFill>
          <a:blip xmlns:r="http://schemas.openxmlformats.org/officeDocument/2006/relationships" xmlns:a="http://schemas.openxmlformats.org/drawingml/2006/main" r:embed="Rfff54eb17fcd4237"/>
          <a:srcRect xmlns:a="http://schemas.openxmlformats.org/drawingml/2006/main" l="10310" t="0" r="10310" b="0"/>
          <a:stretch xmlns:a="http://schemas.openxmlformats.org/drawingml/2006/main">
            <a:fillRect l="0" t="0" r="0" b="0"/>
          </a:stretch>
        </p:blipFill>
        <p:spPr>
          <a:xfrm xmlns:a="http://schemas.openxmlformats.org/drawingml/2006/main">
            <a:off x="6705600" y="1543050"/>
            <a:ext cx="4876800"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D35213-47F8-4453-AA10-33AA366C928A}"/>
              </a:ext>
            </a:extLst>
          </p:cNvPr>
          <p:cNvSpPr>
            <a:spLocks xmlns:a="http://schemas.openxmlformats.org/drawingml/2006/main" noGrp="1"/>
          </p:cNvSpPr>
          <p:nvPr/>
        </p:nvSpPr>
        <p:spPr>
          <a:xfrm xmlns:a="http://schemas.openxmlformats.org/drawingml/2006/main">
            <a:off x="609600" y="62103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42D44"/>
                </a:solidFill>
                <a:latin typeface="Arial"/>
                <a:ea typeface="Arial"/>
                <a:cs typeface="Arial"/>
              </a:defRPr>
            </a:defPPr>
          </a:lstStyle>
          <a:p xmlns:a="http://schemas.openxmlformats.org/drawingml/2006/main">
            <a:pPr>
              <a:defRPr sz="1500" b="0">
                <a:solidFill>
                  <a:srgbClr val="142D44"/>
                </a:solidFill>
                <a:latin typeface="Arial"/>
                <a:ea typeface="Arial"/>
                <a:cs typeface="Arial"/>
              </a:defRPr>
            </a:pPr>
            <a:r>
              <a:rPr sz="1500" b="0">
                <a:solidFill>
                  <a:srgbClr val="142D44"/>
                </a:solidFill>
                <a:latin typeface="Arial"/>
                <a:ea typeface="Arial"/>
                <a:cs typeface="Arial"/>
              </a:rPr>
              <a:t>Fictional example  •  Check all five SMART criteria in Figure 2.2, book p. 21</a:t>
            </a:r>
          </a:p>
        </p:txBody>
      </p:sp>
    </p:spTree>
    <p:extLst>
      <p:ext uri="{BB962C8B-B14F-4D97-AF65-F5344CB8AC3E}">
        <p14:creationId xmlns:p14="http://schemas.microsoft.com/office/powerpoint/2010/main" val="177876400"/>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A04684-4AA9-4AF4-BFA9-B6FABE917414}"/>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defRPr sz="3600" b="1">
                <a:solidFill>
                  <a:srgbClr val="142D44"/>
                </a:solidFill>
                <a:latin typeface="Arial"/>
                <a:ea typeface="Arial"/>
                <a:cs typeface="Arial"/>
              </a:defRPr>
            </a:pPr>
            <a:r>
              <a:rPr sz="3600" b="1">
                <a:solidFill>
                  <a:srgbClr val="142D44"/>
                </a:solidFill>
                <a:latin typeface="Arial"/>
                <a:ea typeface="Arial"/>
                <a:cs typeface="Arial"/>
              </a:rPr>
              <a:t>A checkpoint before the deadline</a:t>
            </a:r>
          </a:p>
        </p:txBody>
      </p:sp>
      <p:sp>
        <p:nvSpPr>
          <p:cNvPr id="2" name="">
            <a:extLst xmlns:a="http://schemas.openxmlformats.org/drawingml/2006/main">
              <a:ext uri="{FF2B5EF4-FFF2-40B4-BE49-F238E27FC236}">
                <a16:creationId xmlns:a16="http://schemas.microsoft.com/office/drawing/2014/main" id="{5DBBECD3-36E0-48F3-B313-A4E96BD1DDB8}"/>
              </a:ext>
            </a:extLst>
          </p:cNvPr>
          <p:cNvSpPr>
            <a:spLocks xmlns:a="http://schemas.openxmlformats.org/drawingml/2006/main" noGrp="1"/>
          </p:cNvSpPr>
          <p:nvPr/>
        </p:nvSpPr>
        <p:spPr>
          <a:xfrm xmlns:a="http://schemas.openxmlformats.org/drawingml/2006/main">
            <a:off x="609600" y="1666875"/>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87D83"/>
                </a:solidFill>
                <a:latin typeface="Arial"/>
                <a:ea typeface="Arial"/>
                <a:cs typeface="Arial"/>
              </a:defRPr>
            </a:defPPr>
          </a:lstStyle>
          <a:p xmlns:a="http://schemas.openxmlformats.org/drawingml/2006/main">
            <a:pPr>
              <a:defRPr sz="3450" b="1">
                <a:solidFill>
                  <a:srgbClr val="087D83"/>
                </a:solidFill>
                <a:latin typeface="Arial"/>
                <a:ea typeface="Arial"/>
                <a:cs typeface="Arial"/>
              </a:defRPr>
            </a:pPr>
            <a:r>
              <a:rPr sz="3450" b="1">
                <a:solidFill>
                  <a:srgbClr val="087D83"/>
                </a:solidFill>
                <a:latin typeface="Arial"/>
                <a:ea typeface="Arial"/>
                <a:cs typeface="Arial"/>
              </a:rPr>
              <a:t>Goal: 24 pairs sold in one week</a:t>
            </a:r>
          </a:p>
          <a:p xmlns:a="http://schemas.openxmlformats.org/drawingml/2006/main">
            <a:pPr>
              <a:defRPr sz="3450" b="1">
                <a:solidFill>
                  <a:srgbClr val="087D83"/>
                </a:solidFill>
                <a:latin typeface="Arial"/>
                <a:ea typeface="Arial"/>
                <a:cs typeface="Arial"/>
              </a:defRPr>
            </a:pPr>
            <a:r>
              <a:rPr sz="3450" b="1">
                <a:solidFill>
                  <a:srgbClr val="087D83"/>
                </a:solidFill>
                <a:latin typeface="Arial"/>
                <a:ea typeface="Arial"/>
                <a:cs typeface="Arial"/>
              </a:rPr>
              <a:t>by November 13</a:t>
            </a:r>
          </a:p>
        </p:txBody>
      </p:sp>
      <p:sp>
        <p:nvSpPr>
          <p:cNvPr id="3" name="">
            <a:extLst xmlns:a="http://schemas.openxmlformats.org/drawingml/2006/main">
              <a:ext uri="{FF2B5EF4-FFF2-40B4-BE49-F238E27FC236}">
                <a16:creationId xmlns:a16="http://schemas.microsoft.com/office/drawing/2014/main" id="{6E9413D5-707E-499C-BE64-7D1604B57EC8}"/>
              </a:ext>
            </a:extLst>
          </p:cNvPr>
          <p:cNvSpPr>
            <a:spLocks xmlns:a="http://schemas.openxmlformats.org/drawingml/2006/main" noGrp="1"/>
          </p:cNvSpPr>
          <p:nvPr/>
        </p:nvSpPr>
        <p:spPr>
          <a:xfrm xmlns:a="http://schemas.openxmlformats.org/drawingml/2006/main">
            <a:off x="609600" y="355282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42D44"/>
                </a:solidFill>
                <a:latin typeface="Arial"/>
                <a:ea typeface="Arial"/>
                <a:cs typeface="Arial"/>
              </a:defRPr>
            </a:defPPr>
          </a:lstStyle>
          <a:p xmlns:a="http://schemas.openxmlformats.org/drawingml/2006/main">
            <a:pPr>
              <a:defRPr sz="3150" b="0">
                <a:solidFill>
                  <a:srgbClr val="142D44"/>
                </a:solidFill>
                <a:latin typeface="Arial"/>
                <a:ea typeface="Arial"/>
                <a:cs typeface="Arial"/>
              </a:defRPr>
            </a:pPr>
            <a:r>
              <a:rPr sz="3150" b="0">
                <a:solidFill>
                  <a:srgbClr val="142D44"/>
                </a:solidFill>
                <a:latin typeface="Arial"/>
                <a:ea typeface="Arial"/>
                <a:cs typeface="Arial"/>
              </a:rPr>
              <a:t>What smaller result could we check</a:t>
            </a:r>
          </a:p>
          <a:p xmlns:a="http://schemas.openxmlformats.org/drawingml/2006/main">
            <a:pPr>
              <a:defRPr sz="3150" b="0">
                <a:solidFill>
                  <a:srgbClr val="142D44"/>
                </a:solidFill>
                <a:latin typeface="Arial"/>
                <a:ea typeface="Arial"/>
                <a:cs typeface="Arial"/>
              </a:defRPr>
            </a:pPr>
            <a:r>
              <a:rPr sz="3150" b="0">
                <a:solidFill>
                  <a:srgbClr val="142D44"/>
                </a:solidFill>
                <a:latin typeface="Arial"/>
                <a:ea typeface="Arial"/>
                <a:cs typeface="Arial"/>
              </a:rPr>
              <a:t>before November 13?</a:t>
            </a:r>
          </a:p>
        </p:txBody>
      </p:sp>
      <p:sp>
        <p:nvSpPr>
          <p:cNvPr id="4" name="">
            <a:extLst xmlns:a="http://schemas.openxmlformats.org/drawingml/2006/main">
              <a:ext uri="{FF2B5EF4-FFF2-40B4-BE49-F238E27FC236}">
                <a16:creationId xmlns:a16="http://schemas.microsoft.com/office/drawing/2014/main" id="{F061ADB0-7FDD-46FF-A5C9-E824FF7D3CFA}"/>
              </a:ext>
            </a:extLst>
          </p:cNvPr>
          <p:cNvSpPr>
            <a:spLocks xmlns:a="http://schemas.openxmlformats.org/drawingml/2006/main" noGrp="1"/>
          </p:cNvSpPr>
          <p:nvPr/>
        </p:nvSpPr>
        <p:spPr>
          <a:xfrm xmlns:a="http://schemas.openxmlformats.org/drawingml/2006/main">
            <a:off x="609600" y="54197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latin typeface="Arial"/>
                <a:ea typeface="Arial"/>
                <a:cs typeface="Arial"/>
              </a:defRPr>
            </a:defPPr>
          </a:lstStyle>
          <a:p xmlns:a="http://schemas.openxmlformats.org/drawingml/2006/main">
            <a:pPr>
              <a:defRPr sz="2250" b="0">
                <a:solidFill>
                  <a:srgbClr val="142D44"/>
                </a:solidFill>
                <a:latin typeface="Arial"/>
                <a:ea typeface="Arial"/>
                <a:cs typeface="Arial"/>
              </a:defRPr>
            </a:pPr>
            <a:r>
              <a:rPr sz="2250" b="0">
                <a:solidFill>
                  <a:srgbClr val="142D44"/>
                </a:solidFill>
                <a:latin typeface="Arial"/>
                <a:ea typeface="Arial"/>
                <a:cs typeface="Arial"/>
              </a:rPr>
              <a:t>Suggest one checkpoint and a date.</a:t>
            </a:r>
          </a:p>
        </p:txBody>
      </p:sp>
    </p:spTree>
    <p:extLst>
      <p:ext uri="{BB962C8B-B14F-4D97-AF65-F5344CB8AC3E}">
        <p14:creationId xmlns:p14="http://schemas.microsoft.com/office/powerpoint/2010/main" val="1822634310"/>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878CD0-D853-439D-9969-23533F4C693B}"/>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defRPr sz="3600" b="1">
                <a:solidFill>
                  <a:srgbClr val="142D44"/>
                </a:solidFill>
                <a:latin typeface="Arial"/>
                <a:ea typeface="Arial"/>
                <a:cs typeface="Arial"/>
              </a:defRPr>
            </a:pPr>
            <a:r>
              <a:rPr sz="3600" b="1">
                <a:solidFill>
                  <a:srgbClr val="142D44"/>
                </a:solidFill>
                <a:latin typeface="Arial"/>
                <a:ea typeface="Arial"/>
                <a:cs typeface="Arial"/>
              </a:rPr>
              <a:t>A milestone checks progress</a:t>
            </a:r>
          </a:p>
        </p:txBody>
      </p:sp>
      <p:sp>
        <p:nvSpPr>
          <p:cNvPr id="2" name="">
            <a:extLst xmlns:a="http://schemas.openxmlformats.org/drawingml/2006/main">
              <a:ext uri="{FF2B5EF4-FFF2-40B4-BE49-F238E27FC236}">
                <a16:creationId xmlns:a16="http://schemas.microsoft.com/office/drawing/2014/main" id="{4D427786-1A98-47DA-A761-0CC1738872F1}"/>
              </a:ext>
            </a:extLst>
          </p:cNvPr>
          <p:cNvSpPr>
            <a:spLocks xmlns:a="http://schemas.openxmlformats.org/drawingml/2006/main" noGrp="1"/>
          </p:cNvSpPr>
          <p:nvPr/>
        </p:nvSpPr>
        <p:spPr>
          <a:xfrm xmlns:a="http://schemas.openxmlformats.org/drawingml/2006/main">
            <a:off x="609600" y="1657350"/>
            <a:ext cx="1076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7D83"/>
                </a:solidFill>
                <a:latin typeface="Arial"/>
                <a:ea typeface="Arial"/>
                <a:cs typeface="Arial"/>
              </a:defRPr>
            </a:defPPr>
          </a:lstStyle>
          <a:p xmlns:a="http://schemas.openxmlformats.org/drawingml/2006/main">
            <a:pPr>
              <a:defRPr sz="3900" b="1">
                <a:solidFill>
                  <a:srgbClr val="087D83"/>
                </a:solidFill>
                <a:latin typeface="Arial"/>
                <a:ea typeface="Arial"/>
                <a:cs typeface="Arial"/>
              </a:defRPr>
            </a:pPr>
            <a:r>
              <a:rPr sz="3900" b="1">
                <a:solidFill>
                  <a:srgbClr val="087D83"/>
                </a:solidFill>
                <a:latin typeface="Arial"/>
                <a:ea typeface="Arial"/>
                <a:cs typeface="Arial"/>
              </a:rPr>
              <a:t>By October 30, sell 22 pairs</a:t>
            </a:r>
          </a:p>
          <a:p xmlns:a="http://schemas.openxmlformats.org/drawingml/2006/main">
            <a:pPr>
              <a:defRPr sz="3900" b="1">
                <a:solidFill>
                  <a:srgbClr val="087D83"/>
                </a:solidFill>
                <a:latin typeface="Arial"/>
                <a:ea typeface="Arial"/>
                <a:cs typeface="Arial"/>
              </a:defRPr>
            </a:pPr>
            <a:r>
              <a:rPr sz="3900" b="1">
                <a:solidFill>
                  <a:srgbClr val="087D83"/>
                </a:solidFill>
                <a:latin typeface="Arial"/>
                <a:ea typeface="Arial"/>
                <a:cs typeface="Arial"/>
              </a:rPr>
              <a:t>in one week.</a:t>
            </a:r>
          </a:p>
        </p:txBody>
      </p:sp>
      <p:sp>
        <p:nvSpPr>
          <p:cNvPr id="3" name="">
            <a:extLst xmlns:a="http://schemas.openxmlformats.org/drawingml/2006/main">
              <a:ext uri="{FF2B5EF4-FFF2-40B4-BE49-F238E27FC236}">
                <a16:creationId xmlns:a16="http://schemas.microsoft.com/office/drawing/2014/main" id="{110D5E4A-F965-4AA1-B158-C5E624AFCEFA}"/>
              </a:ext>
            </a:extLst>
          </p:cNvPr>
          <p:cNvSpPr>
            <a:spLocks xmlns:a="http://schemas.openxmlformats.org/drawingml/2006/main" noGrp="1"/>
          </p:cNvSpPr>
          <p:nvPr/>
        </p:nvSpPr>
        <p:spPr>
          <a:xfrm xmlns:a="http://schemas.openxmlformats.org/drawingml/2006/main">
            <a:off x="609600" y="36290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42D44"/>
                </a:solidFill>
                <a:latin typeface="Arial"/>
                <a:ea typeface="Arial"/>
                <a:cs typeface="Arial"/>
              </a:defRPr>
            </a:defPPr>
          </a:lstStyle>
          <a:p xmlns:a="http://schemas.openxmlformats.org/drawingml/2006/main">
            <a:pPr>
              <a:defRPr sz="2700" b="0">
                <a:solidFill>
                  <a:srgbClr val="142D44"/>
                </a:solidFill>
                <a:latin typeface="Arial"/>
                <a:ea typeface="Arial"/>
                <a:cs typeface="Arial"/>
              </a:defRPr>
            </a:pPr>
            <a:r>
              <a:rPr sz="2700" b="0">
                <a:solidFill>
                  <a:srgbClr val="142D44"/>
                </a:solidFill>
                <a:latin typeface="Arial"/>
                <a:ea typeface="Arial"/>
                <a:cs typeface="Arial"/>
              </a:rPr>
              <a:t>Check the weekly sales log.</a:t>
            </a:r>
          </a:p>
        </p:txBody>
      </p:sp>
      <p:sp>
        <p:nvSpPr>
          <p:cNvPr id="4" name="">
            <a:extLst xmlns:a="http://schemas.openxmlformats.org/drawingml/2006/main">
              <a:ext uri="{FF2B5EF4-FFF2-40B4-BE49-F238E27FC236}">
                <a16:creationId xmlns:a16="http://schemas.microsoft.com/office/drawing/2014/main" id="{104C3DA8-5CE6-41D6-9BDD-84CC815D0B4E}"/>
              </a:ext>
            </a:extLst>
          </p:cNvPr>
          <p:cNvSpPr>
            <a:spLocks xmlns:a="http://schemas.openxmlformats.org/drawingml/2006/main" noGrp="1"/>
          </p:cNvSpPr>
          <p:nvPr/>
        </p:nvSpPr>
        <p:spPr>
          <a:xfrm xmlns:a="http://schemas.openxmlformats.org/drawingml/2006/main">
            <a:off x="609600" y="467677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D44"/>
                </a:solidFill>
                <a:latin typeface="Arial"/>
                <a:ea typeface="Arial"/>
                <a:cs typeface="Arial"/>
              </a:defRPr>
            </a:defPPr>
          </a:lstStyle>
          <a:p xmlns:a="http://schemas.openxmlformats.org/drawingml/2006/main">
            <a:pPr>
              <a:defRPr sz="2550" b="0">
                <a:solidFill>
                  <a:srgbClr val="142D44"/>
                </a:solidFill>
                <a:latin typeface="Arial"/>
                <a:ea typeface="Arial"/>
                <a:cs typeface="Arial"/>
              </a:defRPr>
            </a:pPr>
            <a:r>
              <a:rPr sz="2550" b="0">
                <a:solidFill>
                  <a:srgbClr val="142D44"/>
                </a:solidFill>
                <a:latin typeface="Arial"/>
                <a:ea typeface="Arial"/>
                <a:cs typeface="Arial"/>
              </a:rPr>
              <a:t>If sales are below 22, examine why</a:t>
            </a:r>
          </a:p>
          <a:p xmlns:a="http://schemas.openxmlformats.org/drawingml/2006/main">
            <a:pPr>
              <a:defRPr sz="2550" b="0">
                <a:solidFill>
                  <a:srgbClr val="142D44"/>
                </a:solidFill>
                <a:latin typeface="Arial"/>
                <a:ea typeface="Arial"/>
                <a:cs typeface="Arial"/>
              </a:defRPr>
            </a:pPr>
            <a:r>
              <a:rPr sz="2550" b="0">
                <a:solidFill>
                  <a:srgbClr val="142D44"/>
                </a:solidFill>
                <a:latin typeface="Arial"/>
                <a:ea typeface="Arial"/>
                <a:cs typeface="Arial"/>
              </a:rPr>
              <a:t>and adjust the plan.</a:t>
            </a:r>
          </a:p>
        </p:txBody>
      </p:sp>
    </p:spTree>
    <p:extLst>
      <p:ext uri="{BB962C8B-B14F-4D97-AF65-F5344CB8AC3E}">
        <p14:creationId xmlns:p14="http://schemas.microsoft.com/office/powerpoint/2010/main" val="751913109"/>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A44D34-2C28-4B90-AB66-13D6E7632276}"/>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defRPr sz="3600" b="1">
                <a:solidFill>
                  <a:srgbClr val="142D44"/>
                </a:solidFill>
                <a:latin typeface="Arial"/>
                <a:ea typeface="Arial"/>
                <a:cs typeface="Arial"/>
              </a:defRPr>
            </a:pPr>
            <a:r>
              <a:rPr sz="3600" b="1">
                <a:solidFill>
                  <a:srgbClr val="142D44"/>
                </a:solidFill>
                <a:latin typeface="Arial"/>
                <a:ea typeface="Arial"/>
                <a:cs typeface="Arial"/>
              </a:rPr>
              <a:t>Independent review</a:t>
            </a:r>
          </a:p>
        </p:txBody>
      </p:sp>
      <p:sp>
        <p:nvSpPr>
          <p:cNvPr id="2" name="">
            <a:extLst xmlns:a="http://schemas.openxmlformats.org/drawingml/2006/main">
              <a:ext uri="{FF2B5EF4-FFF2-40B4-BE49-F238E27FC236}">
                <a16:creationId xmlns:a16="http://schemas.microsoft.com/office/drawing/2014/main" id="{2FDCAAAF-E007-41B3-AC98-A8B13F43ECC3}"/>
              </a:ext>
            </a:extLst>
          </p:cNvPr>
          <p:cNvSpPr>
            <a:spLocks xmlns:a="http://schemas.openxmlformats.org/drawingml/2006/main" noGrp="1"/>
          </p:cNvSpPr>
          <p:nvPr/>
        </p:nvSpPr>
        <p:spPr>
          <a:xfrm xmlns:a="http://schemas.openxmlformats.org/drawingml/2006/main">
            <a:off x="609600" y="15240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D44"/>
                </a:solidFill>
                <a:latin typeface="Arial"/>
                <a:ea typeface="Arial"/>
                <a:cs typeface="Arial"/>
              </a:defRPr>
            </a:defPPr>
          </a:lstStyle>
          <a:p xmlns:a="http://schemas.openxmlformats.org/drawingml/2006/main">
            <a:pPr>
              <a:defRPr sz="2550" b="0">
                <a:solidFill>
                  <a:srgbClr val="142D44"/>
                </a:solidFill>
                <a:latin typeface="Arial"/>
                <a:ea typeface="Arial"/>
                <a:cs typeface="Arial"/>
              </a:defRPr>
            </a:pPr>
            <a:r>
              <a:rPr sz="2550" b="0">
                <a:solidFill>
                  <a:srgbClr val="142D44"/>
                </a:solidFill>
                <a:latin typeface="Arial"/>
                <a:ea typeface="Arial"/>
                <a:cs typeface="Arial"/>
              </a:rPr>
              <a:t>Open Chapter 2 Test Your Knowledge.</a:t>
            </a:r>
          </a:p>
        </p:txBody>
      </p:sp>
      <p:sp>
        <p:nvSpPr>
          <p:cNvPr id="3" name="">
            <a:extLst xmlns:a="http://schemas.openxmlformats.org/drawingml/2006/main">
              <a:ext uri="{FF2B5EF4-FFF2-40B4-BE49-F238E27FC236}">
                <a16:creationId xmlns:a16="http://schemas.microsoft.com/office/drawing/2014/main" id="{95FD6594-F358-4555-809D-9E729FFD4283}"/>
              </a:ext>
            </a:extLst>
          </p:cNvPr>
          <p:cNvSpPr>
            <a:spLocks xmlns:a="http://schemas.openxmlformats.org/drawingml/2006/main" noGrp="1"/>
          </p:cNvSpPr>
          <p:nvPr/>
        </p:nvSpPr>
        <p:spPr>
          <a:xfrm xmlns:a="http://schemas.openxmlformats.org/drawingml/2006/main">
            <a:off x="609600" y="252412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latin typeface="Arial"/>
                <a:ea typeface="Arial"/>
                <a:cs typeface="Arial"/>
              </a:defRPr>
            </a:defPPr>
          </a:lstStyle>
          <a:p xmlns:a="http://schemas.openxmlformats.org/drawingml/2006/main">
            <a:pPr>
              <a:defRPr sz="2550" b="1">
                <a:solidFill>
                  <a:srgbClr val="087D83"/>
                </a:solidFill>
                <a:latin typeface="Arial"/>
                <a:ea typeface="Arial"/>
                <a:cs typeface="Arial"/>
              </a:defRPr>
            </a:pPr>
            <a:r>
              <a:rPr sz="2550" b="1">
                <a:solidFill>
                  <a:srgbClr val="087D83"/>
                </a:solidFill>
                <a:latin typeface="Arial"/>
                <a:ea typeface="Arial"/>
                <a:cs typeface="Arial"/>
              </a:rPr>
              <a:t>Q4   Target market — book p. 23 / Chapter 1</a:t>
            </a:r>
          </a:p>
        </p:txBody>
      </p:sp>
      <p:sp>
        <p:nvSpPr>
          <p:cNvPr id="4" name="">
            <a:extLst xmlns:a="http://schemas.openxmlformats.org/drawingml/2006/main">
              <a:ext uri="{FF2B5EF4-FFF2-40B4-BE49-F238E27FC236}">
                <a16:creationId xmlns:a16="http://schemas.microsoft.com/office/drawing/2014/main" id="{2C10FC11-46A3-46C7-8EC1-61F2372EEA4F}"/>
              </a:ext>
            </a:extLst>
          </p:cNvPr>
          <p:cNvSpPr>
            <a:spLocks xmlns:a="http://schemas.openxmlformats.org/drawingml/2006/main" noGrp="1"/>
          </p:cNvSpPr>
          <p:nvPr/>
        </p:nvSpPr>
        <p:spPr>
          <a:xfrm xmlns:a="http://schemas.openxmlformats.org/drawingml/2006/main">
            <a:off x="609600" y="336232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latin typeface="Arial"/>
                <a:ea typeface="Arial"/>
                <a:cs typeface="Arial"/>
              </a:defRPr>
            </a:defPPr>
          </a:lstStyle>
          <a:p xmlns:a="http://schemas.openxmlformats.org/drawingml/2006/main">
            <a:pPr>
              <a:defRPr sz="2550" b="1">
                <a:solidFill>
                  <a:srgbClr val="087D83"/>
                </a:solidFill>
                <a:latin typeface="Arial"/>
                <a:ea typeface="Arial"/>
                <a:cs typeface="Arial"/>
              </a:defRPr>
            </a:pPr>
            <a:r>
              <a:rPr sz="2550" b="1">
                <a:solidFill>
                  <a:srgbClr val="087D83"/>
                </a:solidFill>
                <a:latin typeface="Arial"/>
                <a:ea typeface="Arial"/>
                <a:cs typeface="Arial"/>
              </a:rPr>
              <a:t>Q5   Marketing plan — book p. 19</a:t>
            </a:r>
          </a:p>
        </p:txBody>
      </p:sp>
      <p:sp>
        <p:nvSpPr>
          <p:cNvPr id="5" name="">
            <a:extLst xmlns:a="http://schemas.openxmlformats.org/drawingml/2006/main">
              <a:ext uri="{FF2B5EF4-FFF2-40B4-BE49-F238E27FC236}">
                <a16:creationId xmlns:a16="http://schemas.microsoft.com/office/drawing/2014/main" id="{60991652-3A99-4AC1-A272-DE8666C72E13}"/>
              </a:ext>
            </a:extLst>
          </p:cNvPr>
          <p:cNvSpPr>
            <a:spLocks xmlns:a="http://schemas.openxmlformats.org/drawingml/2006/main" noGrp="1"/>
          </p:cNvSpPr>
          <p:nvPr/>
        </p:nvSpPr>
        <p:spPr>
          <a:xfrm xmlns:a="http://schemas.openxmlformats.org/drawingml/2006/main">
            <a:off x="609600" y="420052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latin typeface="Arial"/>
                <a:ea typeface="Arial"/>
                <a:cs typeface="Arial"/>
              </a:defRPr>
            </a:defPPr>
          </a:lstStyle>
          <a:p xmlns:a="http://schemas.openxmlformats.org/drawingml/2006/main">
            <a:pPr>
              <a:defRPr sz="2550" b="1">
                <a:solidFill>
                  <a:srgbClr val="087D83"/>
                </a:solidFill>
                <a:latin typeface="Arial"/>
                <a:ea typeface="Arial"/>
                <a:cs typeface="Arial"/>
              </a:defRPr>
            </a:pPr>
            <a:r>
              <a:rPr sz="2550" b="1">
                <a:solidFill>
                  <a:srgbClr val="087D83"/>
                </a:solidFill>
                <a:latin typeface="Arial"/>
                <a:ea typeface="Arial"/>
                <a:cs typeface="Arial"/>
              </a:rPr>
              <a:t>Q8   SMART goals — book pp. 20–21</a:t>
            </a:r>
          </a:p>
        </p:txBody>
      </p:sp>
      <p:sp>
        <p:nvSpPr>
          <p:cNvPr id="6" name="">
            <a:extLst xmlns:a="http://schemas.openxmlformats.org/drawingml/2006/main">
              <a:ext uri="{FF2B5EF4-FFF2-40B4-BE49-F238E27FC236}">
                <a16:creationId xmlns:a16="http://schemas.microsoft.com/office/drawing/2014/main" id="{287E2D56-5268-4511-8AFC-ECC94C6EEC5D}"/>
              </a:ext>
            </a:extLst>
          </p:cNvPr>
          <p:cNvSpPr>
            <a:spLocks xmlns:a="http://schemas.openxmlformats.org/drawingml/2006/main" noGrp="1"/>
          </p:cNvSpPr>
          <p:nvPr/>
        </p:nvSpPr>
        <p:spPr>
          <a:xfrm xmlns:a="http://schemas.openxmlformats.org/drawingml/2006/main">
            <a:off x="609600" y="5381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latin typeface="Arial"/>
                <a:ea typeface="Arial"/>
                <a:cs typeface="Arial"/>
              </a:defRPr>
            </a:defPPr>
          </a:lstStyle>
          <a:p xmlns:a="http://schemas.openxmlformats.org/drawingml/2006/main">
            <a:pPr>
              <a:defRPr sz="2400" b="0">
                <a:solidFill>
                  <a:srgbClr val="142D44"/>
                </a:solidFill>
                <a:latin typeface="Arial"/>
                <a:ea typeface="Arial"/>
                <a:cs typeface="Arial"/>
              </a:defRPr>
            </a:pPr>
            <a:r>
              <a:rPr sz="2400" b="0">
                <a:solidFill>
                  <a:srgbClr val="142D44"/>
                </a:solidFill>
                <a:latin typeface="Arial"/>
                <a:ea typeface="Arial"/>
                <a:cs typeface="Arial"/>
              </a:rPr>
              <a:t>Then finish missing Q1–3. Save your work.</a:t>
            </a:r>
          </a:p>
        </p:txBody>
      </p:sp>
    </p:spTree>
    <p:extLst>
      <p:ext uri="{BB962C8B-B14F-4D97-AF65-F5344CB8AC3E}">
        <p14:creationId xmlns:p14="http://schemas.microsoft.com/office/powerpoint/2010/main" val="1649171267"/>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330C0D-701A-4905-BAC5-FAF435749307}"/>
              </a:ext>
            </a:extLst>
          </p:cNvPr>
          <p:cNvSpPr>
            <a:spLocks xmlns:a="http://schemas.openxmlformats.org/drawingml/2006/main" noGrp="1"/>
          </p:cNvSpPr>
          <p:nvPr/>
        </p:nvSpPr>
        <p:spPr>
          <a:xfrm xmlns:a="http://schemas.openxmlformats.org/drawingml/2006/main">
            <a:off x="609600" y="4572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2D44"/>
                </a:solidFill>
                <a:latin typeface="Arial"/>
                <a:ea typeface="Arial"/>
                <a:cs typeface="Arial"/>
              </a:defRPr>
            </a:defPPr>
          </a:lstStyle>
          <a:p xmlns:a="http://schemas.openxmlformats.org/drawingml/2006/main">
            <a:pPr>
              <a:defRPr sz="3600" b="1">
                <a:solidFill>
                  <a:srgbClr val="142D44"/>
                </a:solidFill>
                <a:latin typeface="Arial"/>
                <a:ea typeface="Arial"/>
                <a:cs typeface="Arial"/>
              </a:defRPr>
            </a:pPr>
            <a:r>
              <a:rPr sz="3600" b="1">
                <a:solidFill>
                  <a:srgbClr val="142D44"/>
                </a:solidFill>
                <a:latin typeface="Arial"/>
                <a:ea typeface="Arial"/>
                <a:cs typeface="Arial"/>
              </a:rPr>
              <a:t>Check and save</a:t>
            </a:r>
          </a:p>
        </p:txBody>
      </p:sp>
      <p:sp>
        <p:nvSpPr>
          <p:cNvPr id="2" name="">
            <a:extLst xmlns:a="http://schemas.openxmlformats.org/drawingml/2006/main">
              <a:ext uri="{FF2B5EF4-FFF2-40B4-BE49-F238E27FC236}">
                <a16:creationId xmlns:a16="http://schemas.microsoft.com/office/drawing/2014/main" id="{674ABF0C-89FC-48A7-86D1-7F0BC978570A}"/>
              </a:ext>
            </a:extLst>
          </p:cNvPr>
          <p:cNvSpPr>
            <a:spLocks xmlns:a="http://schemas.openxmlformats.org/drawingml/2006/main" noGrp="1"/>
          </p:cNvSpPr>
          <p:nvPr/>
        </p:nvSpPr>
        <p:spPr>
          <a:xfrm xmlns:a="http://schemas.openxmlformats.org/drawingml/2006/main">
            <a:off x="609600" y="16859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latin typeface="Arial"/>
                <a:ea typeface="Arial"/>
                <a:cs typeface="Arial"/>
              </a:defRPr>
            </a:defPPr>
          </a:lstStyle>
          <a:p xmlns:a="http://schemas.openxmlformats.org/drawingml/2006/main">
            <a:pPr>
              <a:defRPr sz="2850" b="1">
                <a:solidFill>
                  <a:srgbClr val="087D83"/>
                </a:solidFill>
                <a:latin typeface="Arial"/>
                <a:ea typeface="Arial"/>
                <a:cs typeface="Arial"/>
              </a:defRPr>
            </a:pPr>
            <a:r>
              <a:rPr sz="2850" b="1">
                <a:solidFill>
                  <a:srgbClr val="087D83"/>
                </a:solidFill>
                <a:latin typeface="Arial"/>
                <a:ea typeface="Arial"/>
                <a:cs typeface="Arial"/>
              </a:rPr>
              <a:t>Check Q8: explain all five SMART criteria.</a:t>
            </a:r>
          </a:p>
        </p:txBody>
      </p:sp>
      <p:sp>
        <p:nvSpPr>
          <p:cNvPr id="3" name="">
            <a:extLst xmlns:a="http://schemas.openxmlformats.org/drawingml/2006/main">
              <a:ext uri="{FF2B5EF4-FFF2-40B4-BE49-F238E27FC236}">
                <a16:creationId xmlns:a16="http://schemas.microsoft.com/office/drawing/2014/main" id="{BB4BA833-D0B6-48E9-9246-EEFB3727243D}"/>
              </a:ext>
            </a:extLst>
          </p:cNvPr>
          <p:cNvSpPr>
            <a:spLocks xmlns:a="http://schemas.openxmlformats.org/drawingml/2006/main" noGrp="1"/>
          </p:cNvSpPr>
          <p:nvPr/>
        </p:nvSpPr>
        <p:spPr>
          <a:xfrm xmlns:a="http://schemas.openxmlformats.org/drawingml/2006/main">
            <a:off x="609600" y="3181350"/>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42D44"/>
                </a:solidFill>
                <a:latin typeface="Arial"/>
                <a:ea typeface="Arial"/>
                <a:cs typeface="Arial"/>
              </a:defRPr>
            </a:defPPr>
          </a:lstStyle>
          <a:p xmlns:a="http://schemas.openxmlformats.org/drawingml/2006/main">
            <a:pPr>
              <a:defRPr sz="3150" b="0">
                <a:solidFill>
                  <a:srgbClr val="142D44"/>
                </a:solidFill>
                <a:latin typeface="Arial"/>
                <a:ea typeface="Arial"/>
                <a:cs typeface="Arial"/>
              </a:defRPr>
            </a:pPr>
            <a:r>
              <a:rPr sz="3150" b="0">
                <a:solidFill>
                  <a:srgbClr val="142D44"/>
                </a:solidFill>
                <a:latin typeface="Arial"/>
                <a:ea typeface="Arial"/>
                <a:cs typeface="Arial"/>
              </a:rPr>
              <a:t>How is a milestone different</a:t>
            </a:r>
          </a:p>
          <a:p xmlns:a="http://schemas.openxmlformats.org/drawingml/2006/main">
            <a:pPr>
              <a:defRPr sz="3150" b="0">
                <a:solidFill>
                  <a:srgbClr val="142D44"/>
                </a:solidFill>
                <a:latin typeface="Arial"/>
                <a:ea typeface="Arial"/>
                <a:cs typeface="Arial"/>
              </a:defRPr>
            </a:pPr>
            <a:r>
              <a:rPr sz="3150" b="0">
                <a:solidFill>
                  <a:srgbClr val="142D44"/>
                </a:solidFill>
                <a:latin typeface="Arial"/>
                <a:ea typeface="Arial"/>
                <a:cs typeface="Arial"/>
              </a:rPr>
              <a:t>from the final goal?</a:t>
            </a:r>
          </a:p>
        </p:txBody>
      </p:sp>
      <p:sp>
        <p:nvSpPr>
          <p:cNvPr id="4" name="">
            <a:extLst xmlns:a="http://schemas.openxmlformats.org/drawingml/2006/main">
              <a:ext uri="{FF2B5EF4-FFF2-40B4-BE49-F238E27FC236}">
                <a16:creationId xmlns:a16="http://schemas.microsoft.com/office/drawing/2014/main" id="{9B379CA5-9B96-42BE-AB4C-E491836DBC01}"/>
              </a:ext>
            </a:extLst>
          </p:cNvPr>
          <p:cNvSpPr>
            <a:spLocks xmlns:a="http://schemas.openxmlformats.org/drawingml/2006/main" noGrp="1"/>
          </p:cNvSpPr>
          <p:nvPr/>
        </p:nvSpPr>
        <p:spPr>
          <a:xfrm xmlns:a="http://schemas.openxmlformats.org/drawingml/2006/main">
            <a:off x="609600" y="53244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latin typeface="Arial"/>
                <a:ea typeface="Arial"/>
                <a:cs typeface="Arial"/>
              </a:defRPr>
            </a:defPPr>
          </a:lstStyle>
          <a:p xmlns:a="http://schemas.openxmlformats.org/drawingml/2006/main">
            <a:pPr>
              <a:defRPr sz="2400" b="0">
                <a:solidFill>
                  <a:srgbClr val="142D44"/>
                </a:solidFill>
                <a:latin typeface="Arial"/>
                <a:ea typeface="Arial"/>
                <a:cs typeface="Arial"/>
              </a:defRPr>
            </a:pPr>
            <a:r>
              <a:rPr sz="2400" b="0">
                <a:solidFill>
                  <a:srgbClr val="142D44"/>
                </a:solidFill>
                <a:latin typeface="Arial"/>
                <a:ea typeface="Arial"/>
                <a:cs typeface="Arial"/>
              </a:rPr>
              <a:t>Save your answers. Note anything unfinished.</a:t>
            </a:r>
          </a:p>
        </p:txBody>
      </p:sp>
    </p:spTree>
    <p:extLst>
      <p:ext uri="{BB962C8B-B14F-4D97-AF65-F5344CB8AC3E}">
        <p14:creationId xmlns:p14="http://schemas.microsoft.com/office/powerpoint/2010/main" val="763026375"/>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2026-10-18T23:21:42.5250000Z</dcterms:created>
  <dcterms:modified xsi:type="dcterms:W3CDTF">2026-10-18T23:21:42.5250000Z</dcterms:modified>
</coreProperties>
</file>