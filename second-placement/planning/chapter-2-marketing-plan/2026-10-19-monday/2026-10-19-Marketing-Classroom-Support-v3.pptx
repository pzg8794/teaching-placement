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073963243c451f" /><Relationship Type="http://schemas.openxmlformats.org/officeDocument/2006/relationships/extended-properties" Target="/docProps/app.xml" Id="R113e5693e82d4de2" /><Relationship Type="http://schemas.openxmlformats.org/officeDocument/2006/relationships/officeDocument" Target="/ppt/presentation.xml" Id="R16d2a72389fd4861" /></Relationships>
</file>

<file path=ppt/presentation.xml><?xml version="1.0" encoding="utf-8"?>
<p:presentation xmlns:p="http://schemas.openxmlformats.org/presentationml/2006/main">
  <p:sldMasterIdLst>
    <p:sldMasterId xmlns:r="http://schemas.openxmlformats.org/officeDocument/2006/relationships" id="2147483648" r:id="R7edd68af908a446f"/>
  </p:sldMasterIdLst>
  <p:notesMasterIdLst>
    <p:notesMasterId xmlns:r="http://schemas.openxmlformats.org/officeDocument/2006/relationships" r:id="Ra8383afdd64a4d53"/>
  </p:notesMasterIdLst>
  <p:sldIdLst>
    <p:sldId xmlns:r="http://schemas.openxmlformats.org/officeDocument/2006/relationships" id="256" r:id="Red4a6dd6432748ba"/>
    <p:sldId xmlns:r="http://schemas.openxmlformats.org/officeDocument/2006/relationships" id="257" r:id="R27d88e8aa08e4651"/>
    <p:sldId xmlns:r="http://schemas.openxmlformats.org/officeDocument/2006/relationships" id="258" r:id="R3dc70346d1b34718"/>
    <p:sldId xmlns:r="http://schemas.openxmlformats.org/officeDocument/2006/relationships" id="259" r:id="R723341d5e4284d32"/>
    <p:sldId xmlns:r="http://schemas.openxmlformats.org/officeDocument/2006/relationships" id="260" r:id="R04a9823a763c4856"/>
    <p:sldId xmlns:r="http://schemas.openxmlformats.org/officeDocument/2006/relationships" id="261" r:id="R0f28417159ae4dd1"/>
    <p:sldId xmlns:r="http://schemas.openxmlformats.org/officeDocument/2006/relationships" id="262" r:id="Rf5f4d39a681d410c"/>
    <p:sldId xmlns:r="http://schemas.openxmlformats.org/officeDocument/2006/relationships" id="263" r:id="R58088283575e41e5"/>
    <p:sldId xmlns:r="http://schemas.openxmlformats.org/officeDocument/2006/relationships" id="264" r:id="Rb993ea2a7cd34b5e"/>
    <p:sldId xmlns:r="http://schemas.openxmlformats.org/officeDocument/2006/relationships" id="265" r:id="Re45a0681d39149c2"/>
    <p:sldId xmlns:r="http://schemas.openxmlformats.org/officeDocument/2006/relationships" id="266" r:id="R1b38bc1bcff84014"/>
    <p:sldId xmlns:r="http://schemas.openxmlformats.org/officeDocument/2006/relationships" id="267" r:id="Raf1326314f644f8f"/>
    <p:sldId xmlns:r="http://schemas.openxmlformats.org/officeDocument/2006/relationships" id="268" r:id="Rc683f02324a348ba"/>
    <p:sldId xmlns:r="http://schemas.openxmlformats.org/officeDocument/2006/relationships" id="269" r:id="R6431b2b4ebfb4a15"/>
    <p:sldId xmlns:r="http://schemas.openxmlformats.org/officeDocument/2006/relationships" id="270" r:id="Re47650479b35477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d96f8ced744e53" /><Relationship Type="http://schemas.openxmlformats.org/officeDocument/2006/relationships/slideMaster" Target="/ppt/slideMasters/slideMaster1.xml" Id="R7edd68af908a446f" /><Relationship Type="http://schemas.openxmlformats.org/officeDocument/2006/relationships/notesMaster" Target="/ppt/notesMasters/notesMaster1.xml" Id="Ra8383afdd64a4d53" /><Relationship Type="http://schemas.openxmlformats.org/officeDocument/2006/relationships/presProps" Target="/ppt/presProps.xml" Id="Rc76b741c45624215" /><Relationship Type="http://schemas.openxmlformats.org/officeDocument/2006/relationships/tableStyles" Target="/ppt/tableStyles.xml" Id="R76af2244b9ca4919" /><Relationship Type="http://schemas.openxmlformats.org/officeDocument/2006/relationships/slide" Target="/ppt/slides/slide1.xml" Id="Red4a6dd6432748ba" /><Relationship Type="http://schemas.openxmlformats.org/officeDocument/2006/relationships/slide" Target="/ppt/slides/slide2.xml" Id="R27d88e8aa08e4651" /><Relationship Type="http://schemas.openxmlformats.org/officeDocument/2006/relationships/slide" Target="/ppt/slides/slide3.xml" Id="R3dc70346d1b34718" /><Relationship Type="http://schemas.openxmlformats.org/officeDocument/2006/relationships/slide" Target="/ppt/slides/slide4.xml" Id="R723341d5e4284d32" /><Relationship Type="http://schemas.openxmlformats.org/officeDocument/2006/relationships/slide" Target="/ppt/slides/slide5.xml" Id="R04a9823a763c4856" /><Relationship Type="http://schemas.openxmlformats.org/officeDocument/2006/relationships/slide" Target="/ppt/slides/slide6.xml" Id="R0f28417159ae4dd1" /><Relationship Type="http://schemas.openxmlformats.org/officeDocument/2006/relationships/slide" Target="/ppt/slides/slide7.xml" Id="Rf5f4d39a681d410c" /><Relationship Type="http://schemas.openxmlformats.org/officeDocument/2006/relationships/slide" Target="/ppt/slides/slide8.xml" Id="R58088283575e41e5" /><Relationship Type="http://schemas.openxmlformats.org/officeDocument/2006/relationships/slide" Target="/ppt/slides/slide9.xml" Id="Rb993ea2a7cd34b5e" /><Relationship Type="http://schemas.openxmlformats.org/officeDocument/2006/relationships/slide" Target="/ppt/slides/slide10.xml" Id="Re45a0681d39149c2" /><Relationship Type="http://schemas.openxmlformats.org/officeDocument/2006/relationships/slide" Target="/ppt/slides/slide11.xml" Id="R1b38bc1bcff84014" /><Relationship Type="http://schemas.openxmlformats.org/officeDocument/2006/relationships/slide" Target="/ppt/slides/slide12.xml" Id="Raf1326314f644f8f" /><Relationship Type="http://schemas.openxmlformats.org/officeDocument/2006/relationships/slide" Target="/ppt/slides/slide13.xml" Id="Rc683f02324a348ba" /><Relationship Type="http://schemas.openxmlformats.org/officeDocument/2006/relationships/slide" Target="/ppt/slides/slide14.xml" Id="R6431b2b4ebfb4a15" /><Relationship Type="http://schemas.openxmlformats.org/officeDocument/2006/relationships/slide" Target="/ppt/slides/slide15.xml" Id="Re47650479b3547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8c954dd4ac0419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959a046d6a403d" /><Relationship Type="http://schemas.openxmlformats.org/officeDocument/2006/relationships/notesMaster" Target="/ppt/notesMasters/notesMaster1.xml" Id="R253cb537042e47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4d1972490a42ec" /><Relationship Type="http://schemas.openxmlformats.org/officeDocument/2006/relationships/notesMaster" Target="/ppt/notesMasters/notesMaster1.xml" Id="Rf53cdb4e4e7f4c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ed611111ae43a2" /><Relationship Type="http://schemas.openxmlformats.org/officeDocument/2006/relationships/notesMaster" Target="/ppt/notesMasters/notesMaster1.xml" Id="R894405d3539d4f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a871ed53b8804643" /><Relationship Type="http://schemas.openxmlformats.org/officeDocument/2006/relationships/notesMaster" Target="/ppt/notesMasters/notesMaster1.xml" Id="R9143161a159a46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b7d150ed704d06" /><Relationship Type="http://schemas.openxmlformats.org/officeDocument/2006/relationships/notesMaster" Target="/ppt/notesMasters/notesMaster1.xml" Id="Rd9863c3d1df042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287bf658451a44ba" /><Relationship Type="http://schemas.openxmlformats.org/officeDocument/2006/relationships/notesMaster" Target="/ppt/notesMasters/notesMaster1.xml" Id="R2666a266349f4111" /></Relationships>
</file>

<file path=ppt/notesSlides/_rels/notesSlide7.xml.rels>&#65279;<?xml version="1.0" encoding="utf-8"?><Relationships xmlns="http://schemas.openxmlformats.org/package/2006/relationships"><Relationship Type="http://schemas.openxmlformats.org/officeDocument/2006/relationships/slide" Target="/ppt/slides/slide7.xml" Id="R7993c83a01834535" /><Relationship Type="http://schemas.openxmlformats.org/officeDocument/2006/relationships/notesMaster" Target="/ppt/notesMasters/notesMaster1.xml" Id="R7f09ee2a7e1e4b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8f573825e24dce" /><Relationship Type="http://schemas.openxmlformats.org/officeDocument/2006/relationships/notesMaster" Target="/ppt/notesMasters/notesMaster1.xml" Id="Rcabfdad832014ee1" /></Relationships>
</file>

<file path=ppt/notesSlides/_rels/notesSlide9.xml.rels>&#65279;<?xml version="1.0" encoding="utf-8"?><Relationships xmlns="http://schemas.openxmlformats.org/package/2006/relationships"><Relationship Type="http://schemas.openxmlformats.org/officeDocument/2006/relationships/slide" Target="/ppt/slides/slide9.xml" Id="R3cf6f8d9936a47d5" /><Relationship Type="http://schemas.openxmlformats.org/officeDocument/2006/relationships/notesMaster" Target="/ppt/notesMasters/notesMaster1.xml" Id="Rf3033e41e8524fb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1fb68b0ea2845d6" /><Relationship Type="http://schemas.openxmlformats.org/officeDocument/2006/relationships/notesMaster" Target="/ppt/notesMasters/notesMaster1.xml" Id="R7df7071e1ec346e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fe121c1c4684c2a" /><Relationship Type="http://schemas.openxmlformats.org/officeDocument/2006/relationships/notesMaster" Target="/ppt/notesMasters/notesMaster1.xml" Id="R61f0fba0c94b4cc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d59bfee1dc94d9a" /><Relationship Type="http://schemas.openxmlformats.org/officeDocument/2006/relationships/notesMaster" Target="/ppt/notesMasters/notesMaster1.xml" Id="Ra7b99c0e3ec441c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0c68ec9024f4322" /><Relationship Type="http://schemas.openxmlformats.org/officeDocument/2006/relationships/notesMaster" Target="/ppt/notesMasters/notesMaster1.xml" Id="Rbb54c7009ba94dc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52e5036f2a24406" /><Relationship Type="http://schemas.openxmlformats.org/officeDocument/2006/relationships/notesMaster" Target="/ppt/notesMasters/notesMaster1.xml" Id="R5363e80305b04e5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19a861ed0c549c5" /><Relationship Type="http://schemas.openxmlformats.org/officeDocument/2006/relationships/notesMaster" Target="/ppt/notesMasters/notesMaster1.xml" Id="Rfd4bcb242e4c4b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 minutes. Read the scenario and goal aloud. Allow 20 seconds quiet thinking. Take only one or two short answers. Ask what makes it clear or checkable. Do not reveal all SMART terms now. At minute 4 switch to school slide 9 and printed pp.20–21. Fictional scenario based on Chapter 2 SMART criteria.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4–20 minutes reading and notes. Five criteria together: about 2½–3 minutes. Pause 5–8 seconds. Take one short answer, then press Enter for evidence. Source: Chapter 2 pp.20–21 Figure 2.2. Keep the scenario visible.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4–20 minutes reading and notes. Five criteria together: about 2½–3 minutes. Reveal only after a student response or a brief pause. Read evidence, then move on. Source: Chapter 2 pp.20–21 Figure 2.2. Keep the scenario visible.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4–20 minutes reading and notes. Five criteria together: about 2½–3 minutes. Pause 5–8 seconds. Take one short answer, then press Enter for evidence. Source: Chapter 2 pp.20–21 Figure 2.2. Keep the scenario visible.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4–20 minutes reading and notes. Five criteria together: about 2½–3 minutes. Reveal only after a student response or a brief pause. Read evidence, then move on. Source: Chapter 2 pp.20–21 Figure 2.2. Keep the scenario visible.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4–20 minutes reading and notes. Five criteria together: about 2½–3 minutes. Pause 5–8 seconds. Take one short answer, then press Enter for evidence. Source: Chapter 2 pp.20–21 Figure 2.2. Keep the scenario visible. Past performance and stock are stated fictional assumptions, not inferred from the number.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4–20 minutes reading and notes. Five criteria together: about 2½–3 minutes. Reveal only after a student response or a brief pause. Read evidence, then move on. Source: Chapter 2 pp.20–21 Figure 2.2. Keep the scenario visible. Past performance and stock are stated fictional assumptions, not inferred from the number.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4–20 minutes reading and notes. Five criteria together: about 2½–3 minutes. Pause 5–8 seconds. Take one short answer, then press Enter for evidence. Source: Chapter 2 pp.20–21 Figure 2.2. Keep the scenario visible.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4–20 minutes reading and notes. Five criteria together: about 2½–3 minutes. Reveal only after a student response or a brief pause. Read evidence, then move on. Source: Chapter 2 pp.20–21 Figure 2.2. Keep the scenario visible.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4–20 minutes reading and notes. Five criteria together: about 2½–3 minutes. Pause 5–8 seconds. Take one short answer, then press Enter for evidence. Source: Chapter 2 pp.20–21 Figure 2.2. Keep the scenario visible.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4–20 minutes reading and notes. Five criteria together: about 2½–3 minutes. Reveal only after a student response or a brief pause. Read evidence, then move on. Source: Chapter 2 pp.20–21 Figure 2.2. Keep the scenario visible.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Within reading and notes. Read milestone definition p.21 and steps pp.22–23. Ask for one checkpoint/date and pause. Next click reveals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after one response. Briefly connect the example to each of four book steps, pp.22–23. No new project. Stop before Market Research. Leave p.22 case to Tuesday.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20–37 minutes. Existing review Q4/Q5/Q8 only, then unfinished Q1–3. Q4 retrieves Chapter1 and p.23 reference; full research reading Tuesday. Recheck Q5 appendix Thursday.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37–42 minutes. Recall first, then check/correct existing answers. No additional worksheet or claim about exact test questions. Record class stopping 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f4891bc20d4e0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af78ac44a9a465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e47c392aeb1466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bfb832dd3bf461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c8a3b29f919425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f8c910b36a443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FC0E08-1422-4079-966C-32602AE196F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541ED0B-9D33-4F94-90DF-06BD9BEDBA4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AE2B5DE-08FB-4C88-A2BA-0A79CB21E1C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75455B-EAF1-4413-B109-6544A8A16FB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56498DA-6259-4F02-AB61-5CCCE2917E4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5A28908-B827-4F7F-9AA2-01DA8AE6A8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CBA2DC0-5D70-4EB7-A13B-404EE93FD87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C0A6CE0-7559-427B-A550-09D5C59EEA6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0B1B0A3-1C0A-446E-B29E-8C84D95C744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120B088-2766-40DB-B768-A2DEF05B979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be8a64f59943fc" /><Relationship Type="http://schemas.openxmlformats.org/officeDocument/2006/relationships/slideLayout" Target="/ppt/slideLayouts/slideLayout1.xml" Id="R09bcc235eba64157" /><Relationship Type="http://schemas.openxmlformats.org/officeDocument/2006/relationships/slideLayout" Target="/ppt/slideLayouts/slideLayout2.xml" Id="R5c25288c6f6c40cb" /><Relationship Type="http://schemas.openxmlformats.org/officeDocument/2006/relationships/slideLayout" Target="/ppt/slideLayouts/slideLayout3.xml" Id="R1b6ae76d8ba54c07" /><Relationship Type="http://schemas.openxmlformats.org/officeDocument/2006/relationships/slideLayout" Target="/ppt/slideLayouts/slideLayout4.xml" Id="R005376c02f8344d8" /><Relationship Type="http://schemas.openxmlformats.org/officeDocument/2006/relationships/slideLayout" Target="/ppt/slideLayouts/slideLayout5.xml" Id="R55fdb5c09bda4999" /><Relationship Type="http://schemas.openxmlformats.org/officeDocument/2006/relationships/slideLayout" Target="/ppt/slideLayouts/slideLayout6.xml" Id="R143206aedd7641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bcc235eba64157"/>
    <p:sldLayoutId xmlns:r="http://schemas.openxmlformats.org/officeDocument/2006/relationships" id="2147483650" r:id="R5c25288c6f6c40cb"/>
    <p:sldLayoutId xmlns:r="http://schemas.openxmlformats.org/officeDocument/2006/relationships" id="2147483651" r:id="R1b6ae76d8ba54c07"/>
    <p:sldLayoutId xmlns:r="http://schemas.openxmlformats.org/officeDocument/2006/relationships" id="2147483652" r:id="R005376c02f8344d8"/>
    <p:sldLayoutId xmlns:r="http://schemas.openxmlformats.org/officeDocument/2006/relationships" id="2147483653" r:id="R55fdb5c09bda4999"/>
    <p:sldLayoutId xmlns:r="http://schemas.openxmlformats.org/officeDocument/2006/relationships" id="2147483654" r:id="R143206aedd7641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435f353ba80496e" /><Relationship Type="http://schemas.openxmlformats.org/officeDocument/2006/relationships/image" Target="/ppt/media/image.png" Id="Rcb8f28bba1b44067" /><Relationship Type="http://schemas.openxmlformats.org/officeDocument/2006/relationships/notesSlide" Target="/ppt/notesSlides/notesSlide1.xml" Id="R19bb154f91a84b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77be3f0d09b499a" /><Relationship Type="http://schemas.openxmlformats.org/officeDocument/2006/relationships/notesSlide" Target="/ppt/notesSlides/notesSlide2.xml" Id="R6f9453aae39441c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7b1ba3cb7044f73" /><Relationship Type="http://schemas.openxmlformats.org/officeDocument/2006/relationships/notesSlide" Target="/ppt/notesSlides/notesSlide3.xml" Id="Re0d1b08d702846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a80727490f84593" /><Relationship Type="http://schemas.openxmlformats.org/officeDocument/2006/relationships/notesSlide" Target="/ppt/notesSlides/notesSlide4.xml" Id="R0bba2e172a9941e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d0b773d063a4b3b" /><Relationship Type="http://schemas.openxmlformats.org/officeDocument/2006/relationships/notesSlide" Target="/ppt/notesSlides/notesSlide5.xml" Id="R7bcf1cd986604d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e3427f25a7d4fa0" /><Relationship Type="http://schemas.openxmlformats.org/officeDocument/2006/relationships/notesSlide" Target="/ppt/notesSlides/notesSlide6.xml" Id="Raf4dd30defff47f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835bf0916e34ae6" /><Relationship Type="http://schemas.openxmlformats.org/officeDocument/2006/relationships/notesSlide" Target="/ppt/notesSlides/notesSlide7.xml" Id="R5103a0a8adca450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6ce243e67a5479d" /><Relationship Type="http://schemas.openxmlformats.org/officeDocument/2006/relationships/notesSlide" Target="/ppt/notesSlides/notesSlide8.xml" Id="Rdd5b02e22b8a453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130a922aafc49e5" /><Relationship Type="http://schemas.openxmlformats.org/officeDocument/2006/relationships/notesSlide" Target="/ppt/notesSlides/notesSlide9.xml" Id="R831b1645be074fe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efe74cd79e44c91" /><Relationship Type="http://schemas.openxmlformats.org/officeDocument/2006/relationships/notesSlide" Target="/ppt/notesSlides/notesSlide10.xml" Id="Rd909b050bc8b4e6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c1246f638764263" /><Relationship Type="http://schemas.openxmlformats.org/officeDocument/2006/relationships/notesSlide" Target="/ppt/notesSlides/notesSlide11.xml" Id="R110c7121e984469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febf8a7de664fe5" /><Relationship Type="http://schemas.openxmlformats.org/officeDocument/2006/relationships/notesSlide" Target="/ppt/notesSlides/notesSlide12.xml" Id="Rf4ebca518a2841b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acf66eed5d1472d" /><Relationship Type="http://schemas.openxmlformats.org/officeDocument/2006/relationships/notesSlide" Target="/ppt/notesSlides/notesSlide13.xml" Id="Ra36921e935a8400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58fac358687479a" /><Relationship Type="http://schemas.openxmlformats.org/officeDocument/2006/relationships/notesSlide" Target="/ppt/notesSlides/notesSlide14.xml" Id="R0c56c75b174d470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e2e3657465346a4" /><Relationship Type="http://schemas.openxmlformats.org/officeDocument/2006/relationships/notesSlide" Target="/ppt/notesSlides/notesSlide15.xml" Id="R39f67488b0a54e37" /></Relationships>
</file>

<file path=ppt/slides/slide1.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ED6CF6F-2C09-476A-8825-7691C2D59E84}"/>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D44"/>
                </a:solidFill>
              </a:defRPr>
            </a:defPPr>
          </a:lstStyle>
          <a:p xmlns:a="http://schemas.openxmlformats.org/drawingml/2006/main">
            <a:pPr>
              <a:defRPr sz="3450" b="1">
                <a:solidFill>
                  <a:srgbClr val="142D44"/>
                </a:solidFill>
              </a:defRPr>
            </a:pPr>
            <a:r>
              <a:rPr sz="3450" b="1">
                <a:solidFill>
                  <a:srgbClr val="142D44"/>
                </a:solidFill>
              </a:rPr>
              <a:t>A goal for the sneaker store</a:t>
            </a:r>
          </a:p>
        </p:txBody>
      </p:sp>
      <p:sp>
        <p:nvSpPr>
          <p:cNvPr id="2" name="">
            <a:extLst xmlns:a="http://schemas.openxmlformats.org/drawingml/2006/main">
              <a:ext uri="{FF2B5EF4-FFF2-40B4-BE49-F238E27FC236}">
                <a16:creationId xmlns:a16="http://schemas.microsoft.com/office/drawing/2014/main" id="{CEE55243-BBEF-40A8-B12D-EFDEA70CC67C}"/>
              </a:ext>
            </a:extLst>
          </p:cNvPr>
          <p:cNvSpPr>
            <a:spLocks xmlns:a="http://schemas.openxmlformats.org/drawingml/2006/main" noGrp="1"/>
          </p:cNvSpPr>
          <p:nvPr/>
        </p:nvSpPr>
        <p:spPr>
          <a:xfrm xmlns:a="http://schemas.openxmlformats.org/drawingml/2006/main">
            <a:off x="609600" y="1476375"/>
            <a:ext cx="571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D44"/>
                </a:solidFill>
              </a:defRPr>
            </a:defPPr>
          </a:lstStyle>
          <a:p xmlns:a="http://schemas.openxmlformats.org/drawingml/2006/main">
            <a:pPr>
              <a:defRPr sz="2175" b="0">
                <a:solidFill>
                  <a:srgbClr val="142D44"/>
                </a:solidFill>
              </a:defRPr>
            </a:pPr>
            <a:r>
              <a:rPr sz="2175" b="0">
                <a:solidFill>
                  <a:srgbClr val="142D44"/>
                </a:solidFill>
              </a:rPr>
              <a:t>The store sells 20 pairs a week. The same team has sold 24 before and has enough stock.</a:t>
            </a:r>
          </a:p>
        </p:txBody>
      </p:sp>
      <p:sp>
        <p:nvSpPr>
          <p:cNvPr id="3" name="">
            <a:extLst xmlns:a="http://schemas.openxmlformats.org/drawingml/2006/main">
              <a:ext uri="{FF2B5EF4-FFF2-40B4-BE49-F238E27FC236}">
                <a16:creationId xmlns:a16="http://schemas.microsoft.com/office/drawing/2014/main" id="{845A529A-B669-45A3-ACF6-BCCA614FD4F5}"/>
              </a:ext>
            </a:extLst>
          </p:cNvPr>
          <p:cNvSpPr>
            <a:spLocks xmlns:a="http://schemas.openxmlformats.org/drawingml/2006/main" noGrp="1"/>
          </p:cNvSpPr>
          <p:nvPr/>
        </p:nvSpPr>
        <p:spPr>
          <a:xfrm xmlns:a="http://schemas.openxmlformats.org/drawingml/2006/main">
            <a:off x="609600" y="3048000"/>
            <a:ext cx="5715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87D83"/>
                </a:solidFill>
              </a:defRPr>
            </a:defPPr>
          </a:lstStyle>
          <a:p xmlns:a="http://schemas.openxmlformats.org/drawingml/2006/main">
            <a:pPr>
              <a:defRPr sz="2550" b="1">
                <a:solidFill>
                  <a:srgbClr val="087D83"/>
                </a:solidFill>
              </a:defRPr>
            </a:pPr>
            <a:r>
              <a:rPr sz="2550" b="1">
                <a:solidFill>
                  <a:srgbClr val="087D83"/>
                </a:solidFill>
              </a:rPr>
              <a:t>By November 13, increase weekly sneaker sales from 20 to 24 pairs.</a:t>
            </a:r>
          </a:p>
        </p:txBody>
      </p:sp>
      <p:sp>
        <p:nvSpPr>
          <p:cNvPr id="4" name="">
            <a:extLst xmlns:a="http://schemas.openxmlformats.org/drawingml/2006/main">
              <a:ext uri="{FF2B5EF4-FFF2-40B4-BE49-F238E27FC236}">
                <a16:creationId xmlns:a16="http://schemas.microsoft.com/office/drawing/2014/main" id="{25126DFD-3205-40FA-9B96-EB791E723AEF}"/>
              </a:ext>
            </a:extLst>
          </p:cNvPr>
          <p:cNvSpPr>
            <a:spLocks xmlns:a="http://schemas.openxmlformats.org/drawingml/2006/main" noGrp="1"/>
          </p:cNvSpPr>
          <p:nvPr/>
        </p:nvSpPr>
        <p:spPr>
          <a:xfrm xmlns:a="http://schemas.openxmlformats.org/drawingml/2006/main">
            <a:off x="609600" y="4905375"/>
            <a:ext cx="581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D44"/>
                </a:solidFill>
              </a:defRPr>
            </a:defPPr>
          </a:lstStyle>
          <a:p xmlns:a="http://schemas.openxmlformats.org/drawingml/2006/main">
            <a:pPr>
              <a:defRPr sz="2400" b="0">
                <a:solidFill>
                  <a:srgbClr val="142D44"/>
                </a:solidFill>
              </a:defRPr>
            </a:pPr>
            <a:r>
              <a:rPr sz="2400" b="0">
                <a:solidFill>
                  <a:srgbClr val="142D44"/>
                </a:solidFill>
              </a:rPr>
              <a:t>What makes this goal clear and checkable?</a:t>
            </a:r>
          </a:p>
        </p:txBody>
      </p:sp>
      <p:pic>
        <p:nvPicPr>
          <p:cNvPr id="5" name="">
            <a:extLst xmlns:a="http://schemas.openxmlformats.org/drawingml/2006/main">
              <a:ext uri="{FF2B5EF4-FFF2-40B4-BE49-F238E27FC236}">
                <a16:creationId xmlns:a16="http://schemas.microsoft.com/office/drawing/2014/main" id="{0E0DB093-A22E-4F24-9B5B-41FD7F2D1C4B}"/>
              </a:ext>
            </a:extLst>
          </p:cNvPr>
          <p:cNvPicPr>
            <a:picLocks xmlns:a="http://schemas.openxmlformats.org/drawingml/2006/main" noChangeAspect="1"/>
          </p:cNvPicPr>
          <p:nvPr/>
        </p:nvPicPr>
        <p:blipFill>
          <a:blip xmlns:r="http://schemas.openxmlformats.org/officeDocument/2006/relationships" xmlns:a="http://schemas.openxmlformats.org/drawingml/2006/main" r:embed="Rcb8f28bba1b44067"/>
          <a:srcRect xmlns:a="http://schemas.openxmlformats.org/drawingml/2006/main" l="11569" t="0" r="11569" b="0"/>
          <a:stretch xmlns:a="http://schemas.openxmlformats.org/drawingml/2006/main">
            <a:fillRect l="0" t="0" r="0" b="0"/>
          </a:stretch>
        </p:blipFill>
        <p:spPr>
          <a:xfrm xmlns:a="http://schemas.openxmlformats.org/drawingml/2006/main">
            <a:off x="6858000" y="1524000"/>
            <a:ext cx="4667250" cy="40481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5BE630-D8BA-40C5-ACB3-12C9FE8AE597}"/>
              </a:ext>
            </a:extLst>
          </p:cNvPr>
          <p:cNvSpPr>
            <a:spLocks xmlns:a="http://schemas.openxmlformats.org/drawingml/2006/main" noGrp="1"/>
          </p:cNvSpPr>
          <p:nvPr/>
        </p:nvSpPr>
        <p:spPr>
          <a:xfrm xmlns:a="http://schemas.openxmlformats.org/drawingml/2006/main">
            <a:off x="609600" y="62293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D44"/>
                </a:solidFill>
              </a:defRPr>
            </a:defPPr>
          </a:lstStyle>
          <a:p xmlns:a="http://schemas.openxmlformats.org/drawingml/2006/main">
            <a:pPr>
              <a:defRPr sz="1575" b="0">
                <a:solidFill>
                  <a:srgbClr val="142D44"/>
                </a:solidFill>
              </a:defRPr>
            </a:pPr>
            <a:r>
              <a:rPr sz="1575" b="0">
                <a:solidFill>
                  <a:srgbClr val="142D44"/>
                </a:solidFill>
              </a:rPr>
              <a:t>Fictional example     Think first. Be ready to point to one detail.</a:t>
            </a:r>
          </a:p>
        </p:txBody>
      </p:sp>
    </p:spTree>
    <p:extLst>
      <p:ext uri="{BB962C8B-B14F-4D97-AF65-F5344CB8AC3E}">
        <p14:creationId xmlns:p14="http://schemas.microsoft.com/office/powerpoint/2010/main" val="1943887360"/>
      </p:ext>
    </p:extLst>
  </p:cSld>
  <p:transition spd="fast" advClick="1">
    <p:fade/>
  </p:transition>
</p:sld>
</file>

<file path=ppt/slides/slide2.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2314F55-CAD5-4937-A5D5-0003506341F7}"/>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D44"/>
                </a:solidFill>
              </a:defRPr>
            </a:defPPr>
          </a:lstStyle>
          <a:p xmlns:a="http://schemas.openxmlformats.org/drawingml/2006/main">
            <a:pPr>
              <a:defRPr sz="3450" b="1">
                <a:solidFill>
                  <a:srgbClr val="142D44"/>
                </a:solidFill>
              </a:defRPr>
            </a:pPr>
            <a:r>
              <a:rPr sz="3450" b="1">
                <a:solidFill>
                  <a:srgbClr val="142D44"/>
                </a:solidFill>
              </a:rPr>
              <a:t>Specific</a:t>
            </a:r>
          </a:p>
        </p:txBody>
      </p:sp>
      <p:sp>
        <p:nvSpPr>
          <p:cNvPr id="2" name="">
            <a:extLst xmlns:a="http://schemas.openxmlformats.org/drawingml/2006/main">
              <a:ext uri="{FF2B5EF4-FFF2-40B4-BE49-F238E27FC236}">
                <a16:creationId xmlns:a16="http://schemas.microsoft.com/office/drawing/2014/main" id="{C1CDDEEB-B178-4CC2-A05F-A6FEBD94CE59}"/>
              </a:ext>
            </a:extLst>
          </p:cNvPr>
          <p:cNvSpPr>
            <a:spLocks xmlns:a="http://schemas.openxmlformats.org/drawingml/2006/main" noGrp="1"/>
          </p:cNvSpPr>
          <p:nvPr/>
        </p:nvSpPr>
        <p:spPr>
          <a:xfrm xmlns:a="http://schemas.openxmlformats.org/drawingml/2006/main">
            <a:off x="609600" y="1381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2D44"/>
                </a:solidFill>
              </a:defRPr>
            </a:defPPr>
          </a:lstStyle>
          <a:p xmlns:a="http://schemas.openxmlformats.org/drawingml/2006/main">
            <a:pPr>
              <a:defRPr sz="2325" b="0">
                <a:solidFill>
                  <a:srgbClr val="142D44"/>
                </a:solidFill>
              </a:defRPr>
            </a:pPr>
            <a:r>
              <a:rPr sz="2325" b="0">
                <a:solidFill>
                  <a:srgbClr val="142D44"/>
                </a:solidFill>
              </a:rPr>
              <a:t>By November 13, increase weekly sneaker sales from 20 to 24 pairs.</a:t>
            </a:r>
          </a:p>
        </p:txBody>
      </p:sp>
      <p:sp>
        <p:nvSpPr>
          <p:cNvPr id="3" name="">
            <a:extLst xmlns:a="http://schemas.openxmlformats.org/drawingml/2006/main">
              <a:ext uri="{FF2B5EF4-FFF2-40B4-BE49-F238E27FC236}">
                <a16:creationId xmlns:a16="http://schemas.microsoft.com/office/drawing/2014/main" id="{73FD022F-EE4A-4547-921E-562553A43AC8}"/>
              </a:ext>
            </a:extLst>
          </p:cNvPr>
          <p:cNvSpPr>
            <a:spLocks xmlns:a="http://schemas.openxmlformats.org/drawingml/2006/main" noGrp="1"/>
          </p:cNvSpPr>
          <p:nvPr/>
        </p:nvSpPr>
        <p:spPr>
          <a:xfrm xmlns:a="http://schemas.openxmlformats.org/drawingml/2006/main">
            <a:off x="609600" y="25241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D44"/>
                </a:solidFill>
              </a:defRPr>
            </a:defPPr>
          </a:lstStyle>
          <a:p xmlns:a="http://schemas.openxmlformats.org/drawingml/2006/main">
            <a:pPr>
              <a:defRPr sz="1875" b="0">
                <a:solidFill>
                  <a:srgbClr val="142D44"/>
                </a:solidFill>
              </a:defRPr>
            </a:pPr>
            <a:r>
              <a:rPr sz="1875" b="0">
                <a:solidFill>
                  <a:srgbClr val="142D44"/>
                </a:solidFill>
              </a:rPr>
              <a:t>The store sells 20 pairs a week. The same team has sold 24 before and has enough stock.</a:t>
            </a:r>
          </a:p>
        </p:txBody>
      </p:sp>
      <p:sp>
        <p:nvSpPr>
          <p:cNvPr id="4" name="">
            <a:extLst xmlns:a="http://schemas.openxmlformats.org/drawingml/2006/main">
              <a:ext uri="{FF2B5EF4-FFF2-40B4-BE49-F238E27FC236}">
                <a16:creationId xmlns:a16="http://schemas.microsoft.com/office/drawing/2014/main" id="{B3B39051-A234-4270-9F9E-F6D00E6198D6}"/>
              </a:ext>
            </a:extLst>
          </p:cNvPr>
          <p:cNvSpPr>
            <a:spLocks xmlns:a="http://schemas.openxmlformats.org/drawingml/2006/main" noGrp="1"/>
          </p:cNvSpPr>
          <p:nvPr/>
        </p:nvSpPr>
        <p:spPr>
          <a:xfrm xmlns:a="http://schemas.openxmlformats.org/drawingml/2006/main">
            <a:off x="609600" y="36671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D83"/>
                </a:solidFill>
              </a:defRPr>
            </a:defPPr>
          </a:lstStyle>
          <a:p xmlns:a="http://schemas.openxmlformats.org/drawingml/2006/main">
            <a:pPr>
              <a:defRPr sz="2850" b="1">
                <a:solidFill>
                  <a:srgbClr val="087D83"/>
                </a:solidFill>
              </a:defRPr>
            </a:pPr>
            <a:r>
              <a:rPr sz="2850" b="1">
                <a:solidFill>
                  <a:srgbClr val="087D83"/>
                </a:solidFill>
              </a:rPr>
              <a:t>What exactly will increase?</a:t>
            </a:r>
          </a:p>
        </p:txBody>
      </p:sp>
      <p:sp>
        <p:nvSpPr>
          <p:cNvPr id="5" name="">
            <a:extLst xmlns:a="http://schemas.openxmlformats.org/drawingml/2006/main">
              <a:ext uri="{FF2B5EF4-FFF2-40B4-BE49-F238E27FC236}">
                <a16:creationId xmlns:a16="http://schemas.microsoft.com/office/drawing/2014/main" id="{7ADFC02E-8F48-40F2-B0E4-B526A7457696}"/>
              </a:ext>
            </a:extLst>
          </p:cNvPr>
          <p:cNvSpPr>
            <a:spLocks xmlns:a="http://schemas.openxmlformats.org/drawingml/2006/main" noGrp="1"/>
          </p:cNvSpPr>
          <p:nvPr/>
        </p:nvSpPr>
        <p:spPr>
          <a:xfrm xmlns:a="http://schemas.openxmlformats.org/drawingml/2006/main">
            <a:off x="609600" y="62293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D44"/>
                </a:solidFill>
              </a:defRPr>
            </a:defPPr>
          </a:lstStyle>
          <a:p xmlns:a="http://schemas.openxmlformats.org/drawingml/2006/main">
            <a:pPr>
              <a:defRPr sz="1575" b="0">
                <a:solidFill>
                  <a:srgbClr val="142D44"/>
                </a:solidFill>
              </a:defRPr>
            </a:pPr>
            <a:r>
              <a:rPr sz="1575" b="0">
                <a:solidFill>
                  <a:srgbClr val="142D44"/>
                </a:solidFill>
              </a:rPr>
              <a:t>Chapter 2 pp. 20–21     Figure 2.2</a:t>
            </a:r>
          </a:p>
        </p:txBody>
      </p:sp>
    </p:spTree>
    <p:extLst>
      <p:ext uri="{BB962C8B-B14F-4D97-AF65-F5344CB8AC3E}">
        <p14:creationId xmlns:p14="http://schemas.microsoft.com/office/powerpoint/2010/main" val="1821339630"/>
      </p:ext>
    </p:extLst>
  </p:cSld>
  <p:transition spd="fast" advClick="1">
    <p:fade/>
  </p:transition>
</p:sld>
</file>

<file path=ppt/slides/slide3.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5136E6-9A2F-4234-AE4F-FE631A15C783}"/>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D44"/>
                </a:solidFill>
              </a:defRPr>
            </a:defPPr>
          </a:lstStyle>
          <a:p xmlns:a="http://schemas.openxmlformats.org/drawingml/2006/main">
            <a:pPr>
              <a:defRPr sz="3450" b="1">
                <a:solidFill>
                  <a:srgbClr val="142D44"/>
                </a:solidFill>
              </a:defRPr>
            </a:pPr>
            <a:r>
              <a:rPr sz="3450" b="1">
                <a:solidFill>
                  <a:srgbClr val="142D44"/>
                </a:solidFill>
              </a:rPr>
              <a:t>Specific</a:t>
            </a:r>
          </a:p>
        </p:txBody>
      </p:sp>
      <p:sp>
        <p:nvSpPr>
          <p:cNvPr id="2" name="">
            <a:extLst xmlns:a="http://schemas.openxmlformats.org/drawingml/2006/main">
              <a:ext uri="{FF2B5EF4-FFF2-40B4-BE49-F238E27FC236}">
                <a16:creationId xmlns:a16="http://schemas.microsoft.com/office/drawing/2014/main" id="{78C779D5-9739-4D77-972B-9201159A4E20}"/>
              </a:ext>
            </a:extLst>
          </p:cNvPr>
          <p:cNvSpPr>
            <a:spLocks xmlns:a="http://schemas.openxmlformats.org/drawingml/2006/main" noGrp="1"/>
          </p:cNvSpPr>
          <p:nvPr/>
        </p:nvSpPr>
        <p:spPr>
          <a:xfrm xmlns:a="http://schemas.openxmlformats.org/drawingml/2006/main">
            <a:off x="609600" y="1381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2D44"/>
                </a:solidFill>
              </a:defRPr>
            </a:defPPr>
          </a:lstStyle>
          <a:p xmlns:a="http://schemas.openxmlformats.org/drawingml/2006/main">
            <a:pPr>
              <a:defRPr sz="2325" b="0">
                <a:solidFill>
                  <a:srgbClr val="142D44"/>
                </a:solidFill>
              </a:defRPr>
            </a:pPr>
            <a:r>
              <a:rPr sz="2325" b="0">
                <a:solidFill>
                  <a:srgbClr val="142D44"/>
                </a:solidFill>
              </a:rPr>
              <a:t>By November 13, increase weekly sneaker sales from 20 to 24 pairs.</a:t>
            </a:r>
          </a:p>
        </p:txBody>
      </p:sp>
      <p:sp>
        <p:nvSpPr>
          <p:cNvPr id="3" name="">
            <a:extLst xmlns:a="http://schemas.openxmlformats.org/drawingml/2006/main">
              <a:ext uri="{FF2B5EF4-FFF2-40B4-BE49-F238E27FC236}">
                <a16:creationId xmlns:a16="http://schemas.microsoft.com/office/drawing/2014/main" id="{B8B4241A-2B21-469F-9F30-EA815FDC83D8}"/>
              </a:ext>
            </a:extLst>
          </p:cNvPr>
          <p:cNvSpPr>
            <a:spLocks xmlns:a="http://schemas.openxmlformats.org/drawingml/2006/main" noGrp="1"/>
          </p:cNvSpPr>
          <p:nvPr/>
        </p:nvSpPr>
        <p:spPr>
          <a:xfrm xmlns:a="http://schemas.openxmlformats.org/drawingml/2006/main">
            <a:off x="609600" y="25241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D44"/>
                </a:solidFill>
              </a:defRPr>
            </a:defPPr>
          </a:lstStyle>
          <a:p xmlns:a="http://schemas.openxmlformats.org/drawingml/2006/main">
            <a:pPr>
              <a:defRPr sz="1875" b="0">
                <a:solidFill>
                  <a:srgbClr val="142D44"/>
                </a:solidFill>
              </a:defRPr>
            </a:pPr>
            <a:r>
              <a:rPr sz="1875" b="0">
                <a:solidFill>
                  <a:srgbClr val="142D44"/>
                </a:solidFill>
              </a:rPr>
              <a:t>The store sells 20 pairs a week. The same team has sold 24 before and has enough stock.</a:t>
            </a:r>
          </a:p>
        </p:txBody>
      </p:sp>
      <p:sp>
        <p:nvSpPr>
          <p:cNvPr id="4" name="">
            <a:extLst xmlns:a="http://schemas.openxmlformats.org/drawingml/2006/main">
              <a:ext uri="{FF2B5EF4-FFF2-40B4-BE49-F238E27FC236}">
                <a16:creationId xmlns:a16="http://schemas.microsoft.com/office/drawing/2014/main" id="{DF7CFE4E-7AE4-47FB-8F95-11A9B7BFDF18}"/>
              </a:ext>
            </a:extLst>
          </p:cNvPr>
          <p:cNvSpPr>
            <a:spLocks xmlns:a="http://schemas.openxmlformats.org/drawingml/2006/main" noGrp="1"/>
          </p:cNvSpPr>
          <p:nvPr/>
        </p:nvSpPr>
        <p:spPr>
          <a:xfrm xmlns:a="http://schemas.openxmlformats.org/drawingml/2006/main">
            <a:off x="609600" y="36671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D83"/>
                </a:solidFill>
              </a:defRPr>
            </a:defPPr>
          </a:lstStyle>
          <a:p xmlns:a="http://schemas.openxmlformats.org/drawingml/2006/main">
            <a:pPr>
              <a:defRPr sz="2850" b="1">
                <a:solidFill>
                  <a:srgbClr val="087D83"/>
                </a:solidFill>
              </a:defRPr>
            </a:pPr>
            <a:r>
              <a:rPr sz="2850" b="1">
                <a:solidFill>
                  <a:srgbClr val="087D83"/>
                </a:solidFill>
              </a:rPr>
              <a:t>What exactly will increase?</a:t>
            </a:r>
          </a:p>
        </p:txBody>
      </p:sp>
      <p:sp>
        <p:nvSpPr>
          <p:cNvPr id="5" name="">
            <a:extLst xmlns:a="http://schemas.openxmlformats.org/drawingml/2006/main">
              <a:ext uri="{FF2B5EF4-FFF2-40B4-BE49-F238E27FC236}">
                <a16:creationId xmlns:a16="http://schemas.microsoft.com/office/drawing/2014/main" id="{3A1557FC-8A76-475C-B07A-E32A3EA18471}"/>
              </a:ext>
            </a:extLst>
          </p:cNvPr>
          <p:cNvSpPr>
            <a:spLocks xmlns:a="http://schemas.openxmlformats.org/drawingml/2006/main" noGrp="1"/>
          </p:cNvSpPr>
          <p:nvPr/>
        </p:nvSpPr>
        <p:spPr>
          <a:xfrm xmlns:a="http://schemas.openxmlformats.org/drawingml/2006/main">
            <a:off x="609600" y="4810125"/>
            <a:ext cx="1085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AC4A1D"/>
                </a:solidFill>
              </a:defRPr>
            </a:defPPr>
          </a:lstStyle>
          <a:p xmlns:a="http://schemas.openxmlformats.org/drawingml/2006/main">
            <a:pPr>
              <a:defRPr sz="2925" b="1">
                <a:solidFill>
                  <a:srgbClr val="AC4A1D"/>
                </a:solidFill>
              </a:defRPr>
            </a:pPr>
            <a:r>
              <a:rPr sz="2925" b="1">
                <a:solidFill>
                  <a:srgbClr val="AC4A1D"/>
                </a:solidFill>
              </a:rPr>
              <a:t>Sneaker sales</a:t>
            </a:r>
          </a:p>
        </p:txBody>
      </p:sp>
      <p:sp>
        <p:nvSpPr>
          <p:cNvPr id="6" name="">
            <a:extLst xmlns:a="http://schemas.openxmlformats.org/drawingml/2006/main">
              <a:ext uri="{FF2B5EF4-FFF2-40B4-BE49-F238E27FC236}">
                <a16:creationId xmlns:a16="http://schemas.microsoft.com/office/drawing/2014/main" id="{9EC68EFD-C37C-4A67-991C-6D1FB9AC62A8}"/>
              </a:ext>
            </a:extLst>
          </p:cNvPr>
          <p:cNvSpPr>
            <a:spLocks xmlns:a="http://schemas.openxmlformats.org/drawingml/2006/main" noGrp="1"/>
          </p:cNvSpPr>
          <p:nvPr/>
        </p:nvSpPr>
        <p:spPr>
          <a:xfrm xmlns:a="http://schemas.openxmlformats.org/drawingml/2006/main">
            <a:off x="609600" y="62293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D44"/>
                </a:solidFill>
              </a:defRPr>
            </a:defPPr>
          </a:lstStyle>
          <a:p xmlns:a="http://schemas.openxmlformats.org/drawingml/2006/main">
            <a:pPr>
              <a:defRPr sz="1575" b="0">
                <a:solidFill>
                  <a:srgbClr val="142D44"/>
                </a:solidFill>
              </a:defRPr>
            </a:pPr>
            <a:r>
              <a:rPr sz="1575" b="0">
                <a:solidFill>
                  <a:srgbClr val="142D44"/>
                </a:solidFill>
              </a:rPr>
              <a:t>Chapter 2 pp. 20–21     Figure 2.2</a:t>
            </a:r>
          </a:p>
        </p:txBody>
      </p:sp>
    </p:spTree>
    <p:extLst>
      <p:ext uri="{BB962C8B-B14F-4D97-AF65-F5344CB8AC3E}">
        <p14:creationId xmlns:p14="http://schemas.microsoft.com/office/powerpoint/2010/main" val="725427560"/>
      </p:ext>
    </p:extLst>
  </p:cSld>
  <p:transition spd="fast" advClick="1">
    <p:fade/>
  </p:transition>
</p:sld>
</file>

<file path=ppt/slides/slide4.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04E087B-66CA-40CE-9942-CD7F740991AB}"/>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D44"/>
                </a:solidFill>
              </a:defRPr>
            </a:defPPr>
          </a:lstStyle>
          <a:p xmlns:a="http://schemas.openxmlformats.org/drawingml/2006/main">
            <a:pPr>
              <a:defRPr sz="3450" b="1">
                <a:solidFill>
                  <a:srgbClr val="142D44"/>
                </a:solidFill>
              </a:defRPr>
            </a:pPr>
            <a:r>
              <a:rPr sz="3450" b="1">
                <a:solidFill>
                  <a:srgbClr val="142D44"/>
                </a:solidFill>
              </a:rPr>
              <a:t>Measurable</a:t>
            </a:r>
          </a:p>
        </p:txBody>
      </p:sp>
      <p:sp>
        <p:nvSpPr>
          <p:cNvPr id="2" name="">
            <a:extLst xmlns:a="http://schemas.openxmlformats.org/drawingml/2006/main">
              <a:ext uri="{FF2B5EF4-FFF2-40B4-BE49-F238E27FC236}">
                <a16:creationId xmlns:a16="http://schemas.microsoft.com/office/drawing/2014/main" id="{6C3D7E2B-3DDC-4C37-ABD9-F91FCC6A5111}"/>
              </a:ext>
            </a:extLst>
          </p:cNvPr>
          <p:cNvSpPr>
            <a:spLocks xmlns:a="http://schemas.openxmlformats.org/drawingml/2006/main" noGrp="1"/>
          </p:cNvSpPr>
          <p:nvPr/>
        </p:nvSpPr>
        <p:spPr>
          <a:xfrm xmlns:a="http://schemas.openxmlformats.org/drawingml/2006/main">
            <a:off x="609600" y="1381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2D44"/>
                </a:solidFill>
              </a:defRPr>
            </a:defPPr>
          </a:lstStyle>
          <a:p xmlns:a="http://schemas.openxmlformats.org/drawingml/2006/main">
            <a:pPr>
              <a:defRPr sz="2325" b="0">
                <a:solidFill>
                  <a:srgbClr val="142D44"/>
                </a:solidFill>
              </a:defRPr>
            </a:pPr>
            <a:r>
              <a:rPr sz="2325" b="0">
                <a:solidFill>
                  <a:srgbClr val="142D44"/>
                </a:solidFill>
              </a:rPr>
              <a:t>By November 13, increase weekly sneaker sales from 20 to 24 pairs.</a:t>
            </a:r>
          </a:p>
        </p:txBody>
      </p:sp>
      <p:sp>
        <p:nvSpPr>
          <p:cNvPr id="3" name="">
            <a:extLst xmlns:a="http://schemas.openxmlformats.org/drawingml/2006/main">
              <a:ext uri="{FF2B5EF4-FFF2-40B4-BE49-F238E27FC236}">
                <a16:creationId xmlns:a16="http://schemas.microsoft.com/office/drawing/2014/main" id="{A44F20FC-A5E2-4083-A020-FFAFD17F34A0}"/>
              </a:ext>
            </a:extLst>
          </p:cNvPr>
          <p:cNvSpPr>
            <a:spLocks xmlns:a="http://schemas.openxmlformats.org/drawingml/2006/main" noGrp="1"/>
          </p:cNvSpPr>
          <p:nvPr/>
        </p:nvSpPr>
        <p:spPr>
          <a:xfrm xmlns:a="http://schemas.openxmlformats.org/drawingml/2006/main">
            <a:off x="609600" y="25241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D44"/>
                </a:solidFill>
              </a:defRPr>
            </a:defPPr>
          </a:lstStyle>
          <a:p xmlns:a="http://schemas.openxmlformats.org/drawingml/2006/main">
            <a:pPr>
              <a:defRPr sz="1875" b="0">
                <a:solidFill>
                  <a:srgbClr val="142D44"/>
                </a:solidFill>
              </a:defRPr>
            </a:pPr>
            <a:r>
              <a:rPr sz="1875" b="0">
                <a:solidFill>
                  <a:srgbClr val="142D44"/>
                </a:solidFill>
              </a:rPr>
              <a:t>The store sells 20 pairs a week. The same team has sold 24 before and has enough stock.</a:t>
            </a:r>
          </a:p>
        </p:txBody>
      </p:sp>
      <p:sp>
        <p:nvSpPr>
          <p:cNvPr id="4" name="">
            <a:extLst xmlns:a="http://schemas.openxmlformats.org/drawingml/2006/main">
              <a:ext uri="{FF2B5EF4-FFF2-40B4-BE49-F238E27FC236}">
                <a16:creationId xmlns:a16="http://schemas.microsoft.com/office/drawing/2014/main" id="{9C356EAA-0724-4814-A97C-06AF88FA53B4}"/>
              </a:ext>
            </a:extLst>
          </p:cNvPr>
          <p:cNvSpPr>
            <a:spLocks xmlns:a="http://schemas.openxmlformats.org/drawingml/2006/main" noGrp="1"/>
          </p:cNvSpPr>
          <p:nvPr/>
        </p:nvSpPr>
        <p:spPr>
          <a:xfrm xmlns:a="http://schemas.openxmlformats.org/drawingml/2006/main">
            <a:off x="609600" y="36671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D83"/>
                </a:solidFill>
              </a:defRPr>
            </a:defPPr>
          </a:lstStyle>
          <a:p xmlns:a="http://schemas.openxmlformats.org/drawingml/2006/main">
            <a:pPr>
              <a:defRPr sz="2850" b="1">
                <a:solidFill>
                  <a:srgbClr val="087D83"/>
                </a:solidFill>
              </a:defRPr>
            </a:pPr>
            <a:r>
              <a:rPr sz="2850" b="1">
                <a:solidFill>
                  <a:srgbClr val="087D83"/>
                </a:solidFill>
              </a:rPr>
              <a:t>Which numbers let us check progress?</a:t>
            </a:r>
          </a:p>
        </p:txBody>
      </p:sp>
      <p:sp>
        <p:nvSpPr>
          <p:cNvPr id="5" name="">
            <a:extLst xmlns:a="http://schemas.openxmlformats.org/drawingml/2006/main">
              <a:ext uri="{FF2B5EF4-FFF2-40B4-BE49-F238E27FC236}">
                <a16:creationId xmlns:a16="http://schemas.microsoft.com/office/drawing/2014/main" id="{32BF0636-B9D4-4842-BB2E-98803C6D2D70}"/>
              </a:ext>
            </a:extLst>
          </p:cNvPr>
          <p:cNvSpPr>
            <a:spLocks xmlns:a="http://schemas.openxmlformats.org/drawingml/2006/main" noGrp="1"/>
          </p:cNvSpPr>
          <p:nvPr/>
        </p:nvSpPr>
        <p:spPr>
          <a:xfrm xmlns:a="http://schemas.openxmlformats.org/drawingml/2006/main">
            <a:off x="609600" y="62293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D44"/>
                </a:solidFill>
              </a:defRPr>
            </a:defPPr>
          </a:lstStyle>
          <a:p xmlns:a="http://schemas.openxmlformats.org/drawingml/2006/main">
            <a:pPr>
              <a:defRPr sz="1575" b="0">
                <a:solidFill>
                  <a:srgbClr val="142D44"/>
                </a:solidFill>
              </a:defRPr>
            </a:pPr>
            <a:r>
              <a:rPr sz="1575" b="0">
                <a:solidFill>
                  <a:srgbClr val="142D44"/>
                </a:solidFill>
              </a:rPr>
              <a:t>Chapter 2 pp. 20–21     Figure 2.2</a:t>
            </a:r>
          </a:p>
        </p:txBody>
      </p:sp>
    </p:spTree>
    <p:extLst>
      <p:ext uri="{BB962C8B-B14F-4D97-AF65-F5344CB8AC3E}">
        <p14:creationId xmlns:p14="http://schemas.microsoft.com/office/powerpoint/2010/main" val="799496655"/>
      </p:ext>
    </p:extLst>
  </p:cSld>
  <p:transition spd="fast" advClick="1">
    <p:fade/>
  </p:transition>
</p:sld>
</file>

<file path=ppt/slides/slide5.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2C25C58-5F81-4A66-9511-8C0AA0EDD082}"/>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D44"/>
                </a:solidFill>
              </a:defRPr>
            </a:defPPr>
          </a:lstStyle>
          <a:p xmlns:a="http://schemas.openxmlformats.org/drawingml/2006/main">
            <a:pPr>
              <a:defRPr sz="3450" b="1">
                <a:solidFill>
                  <a:srgbClr val="142D44"/>
                </a:solidFill>
              </a:defRPr>
            </a:pPr>
            <a:r>
              <a:rPr sz="3450" b="1">
                <a:solidFill>
                  <a:srgbClr val="142D44"/>
                </a:solidFill>
              </a:rPr>
              <a:t>Measurable</a:t>
            </a:r>
          </a:p>
        </p:txBody>
      </p:sp>
      <p:sp>
        <p:nvSpPr>
          <p:cNvPr id="2" name="">
            <a:extLst xmlns:a="http://schemas.openxmlformats.org/drawingml/2006/main">
              <a:ext uri="{FF2B5EF4-FFF2-40B4-BE49-F238E27FC236}">
                <a16:creationId xmlns:a16="http://schemas.microsoft.com/office/drawing/2014/main" id="{5BA47C0A-4C64-42F0-8567-7692C7AE35C3}"/>
              </a:ext>
            </a:extLst>
          </p:cNvPr>
          <p:cNvSpPr>
            <a:spLocks xmlns:a="http://schemas.openxmlformats.org/drawingml/2006/main" noGrp="1"/>
          </p:cNvSpPr>
          <p:nvPr/>
        </p:nvSpPr>
        <p:spPr>
          <a:xfrm xmlns:a="http://schemas.openxmlformats.org/drawingml/2006/main">
            <a:off x="609600" y="1381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2D44"/>
                </a:solidFill>
              </a:defRPr>
            </a:defPPr>
          </a:lstStyle>
          <a:p xmlns:a="http://schemas.openxmlformats.org/drawingml/2006/main">
            <a:pPr>
              <a:defRPr sz="2325" b="0">
                <a:solidFill>
                  <a:srgbClr val="142D44"/>
                </a:solidFill>
              </a:defRPr>
            </a:pPr>
            <a:r>
              <a:rPr sz="2325" b="0">
                <a:solidFill>
                  <a:srgbClr val="142D44"/>
                </a:solidFill>
              </a:rPr>
              <a:t>By November 13, increase weekly sneaker sales from 20 to 24 pairs.</a:t>
            </a:r>
          </a:p>
        </p:txBody>
      </p:sp>
      <p:sp>
        <p:nvSpPr>
          <p:cNvPr id="3" name="">
            <a:extLst xmlns:a="http://schemas.openxmlformats.org/drawingml/2006/main">
              <a:ext uri="{FF2B5EF4-FFF2-40B4-BE49-F238E27FC236}">
                <a16:creationId xmlns:a16="http://schemas.microsoft.com/office/drawing/2014/main" id="{84BE9101-0782-45AD-956D-2B2F2AE7EE8D}"/>
              </a:ext>
            </a:extLst>
          </p:cNvPr>
          <p:cNvSpPr>
            <a:spLocks xmlns:a="http://schemas.openxmlformats.org/drawingml/2006/main" noGrp="1"/>
          </p:cNvSpPr>
          <p:nvPr/>
        </p:nvSpPr>
        <p:spPr>
          <a:xfrm xmlns:a="http://schemas.openxmlformats.org/drawingml/2006/main">
            <a:off x="609600" y="25241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D44"/>
                </a:solidFill>
              </a:defRPr>
            </a:defPPr>
          </a:lstStyle>
          <a:p xmlns:a="http://schemas.openxmlformats.org/drawingml/2006/main">
            <a:pPr>
              <a:defRPr sz="1875" b="0">
                <a:solidFill>
                  <a:srgbClr val="142D44"/>
                </a:solidFill>
              </a:defRPr>
            </a:pPr>
            <a:r>
              <a:rPr sz="1875" b="0">
                <a:solidFill>
                  <a:srgbClr val="142D44"/>
                </a:solidFill>
              </a:rPr>
              <a:t>The store sells 20 pairs a week. The same team has sold 24 before and has enough stock.</a:t>
            </a:r>
          </a:p>
        </p:txBody>
      </p:sp>
      <p:sp>
        <p:nvSpPr>
          <p:cNvPr id="4" name="">
            <a:extLst xmlns:a="http://schemas.openxmlformats.org/drawingml/2006/main">
              <a:ext uri="{FF2B5EF4-FFF2-40B4-BE49-F238E27FC236}">
                <a16:creationId xmlns:a16="http://schemas.microsoft.com/office/drawing/2014/main" id="{F69836D5-03B1-400C-BAD2-B903A80CB766}"/>
              </a:ext>
            </a:extLst>
          </p:cNvPr>
          <p:cNvSpPr>
            <a:spLocks xmlns:a="http://schemas.openxmlformats.org/drawingml/2006/main" noGrp="1"/>
          </p:cNvSpPr>
          <p:nvPr/>
        </p:nvSpPr>
        <p:spPr>
          <a:xfrm xmlns:a="http://schemas.openxmlformats.org/drawingml/2006/main">
            <a:off x="609600" y="36671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D83"/>
                </a:solidFill>
              </a:defRPr>
            </a:defPPr>
          </a:lstStyle>
          <a:p xmlns:a="http://schemas.openxmlformats.org/drawingml/2006/main">
            <a:pPr>
              <a:defRPr sz="2850" b="1">
                <a:solidFill>
                  <a:srgbClr val="087D83"/>
                </a:solidFill>
              </a:defRPr>
            </a:pPr>
            <a:r>
              <a:rPr sz="2850" b="1">
                <a:solidFill>
                  <a:srgbClr val="087D83"/>
                </a:solidFill>
              </a:rPr>
              <a:t>Which numbers let us check progress?</a:t>
            </a:r>
          </a:p>
        </p:txBody>
      </p:sp>
      <p:sp>
        <p:nvSpPr>
          <p:cNvPr id="5" name="">
            <a:extLst xmlns:a="http://schemas.openxmlformats.org/drawingml/2006/main">
              <a:ext uri="{FF2B5EF4-FFF2-40B4-BE49-F238E27FC236}">
                <a16:creationId xmlns:a16="http://schemas.microsoft.com/office/drawing/2014/main" id="{6FE74669-2DD4-45AA-93BD-287D2EEB52CC}"/>
              </a:ext>
            </a:extLst>
          </p:cNvPr>
          <p:cNvSpPr>
            <a:spLocks xmlns:a="http://schemas.openxmlformats.org/drawingml/2006/main" noGrp="1"/>
          </p:cNvSpPr>
          <p:nvPr/>
        </p:nvSpPr>
        <p:spPr>
          <a:xfrm xmlns:a="http://schemas.openxmlformats.org/drawingml/2006/main">
            <a:off x="609600" y="4810125"/>
            <a:ext cx="1085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AC4A1D"/>
                </a:solidFill>
              </a:defRPr>
            </a:defPPr>
          </a:lstStyle>
          <a:p xmlns:a="http://schemas.openxmlformats.org/drawingml/2006/main">
            <a:pPr>
              <a:defRPr sz="2925" b="1">
                <a:solidFill>
                  <a:srgbClr val="AC4A1D"/>
                </a:solidFill>
              </a:defRPr>
            </a:pPr>
            <a:r>
              <a:rPr sz="2925" b="1">
                <a:solidFill>
                  <a:srgbClr val="AC4A1D"/>
                </a:solidFill>
              </a:rPr>
              <a:t>From 20 to 24 pairs per week</a:t>
            </a:r>
          </a:p>
        </p:txBody>
      </p:sp>
      <p:sp>
        <p:nvSpPr>
          <p:cNvPr id="6" name="">
            <a:extLst xmlns:a="http://schemas.openxmlformats.org/drawingml/2006/main">
              <a:ext uri="{FF2B5EF4-FFF2-40B4-BE49-F238E27FC236}">
                <a16:creationId xmlns:a16="http://schemas.microsoft.com/office/drawing/2014/main" id="{517AAD2E-FE10-487A-9B36-7797EDDFC7C8}"/>
              </a:ext>
            </a:extLst>
          </p:cNvPr>
          <p:cNvSpPr>
            <a:spLocks xmlns:a="http://schemas.openxmlformats.org/drawingml/2006/main" noGrp="1"/>
          </p:cNvSpPr>
          <p:nvPr/>
        </p:nvSpPr>
        <p:spPr>
          <a:xfrm xmlns:a="http://schemas.openxmlformats.org/drawingml/2006/main">
            <a:off x="609600" y="62293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D44"/>
                </a:solidFill>
              </a:defRPr>
            </a:defPPr>
          </a:lstStyle>
          <a:p xmlns:a="http://schemas.openxmlformats.org/drawingml/2006/main">
            <a:pPr>
              <a:defRPr sz="1575" b="0">
                <a:solidFill>
                  <a:srgbClr val="142D44"/>
                </a:solidFill>
              </a:defRPr>
            </a:pPr>
            <a:r>
              <a:rPr sz="1575" b="0">
                <a:solidFill>
                  <a:srgbClr val="142D44"/>
                </a:solidFill>
              </a:rPr>
              <a:t>Chapter 2 pp. 20–21     Figure 2.2</a:t>
            </a:r>
          </a:p>
        </p:txBody>
      </p:sp>
    </p:spTree>
    <p:extLst>
      <p:ext uri="{BB962C8B-B14F-4D97-AF65-F5344CB8AC3E}">
        <p14:creationId xmlns:p14="http://schemas.microsoft.com/office/powerpoint/2010/main" val="2056634875"/>
      </p:ext>
    </p:extLst>
  </p:cSld>
  <p:transition spd="fast" advClick="1">
    <p:fade/>
  </p:transition>
</p:sld>
</file>

<file path=ppt/slides/slide6.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3B7F3B3-2643-40CC-A44A-85905DDAFAB7}"/>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D44"/>
                </a:solidFill>
              </a:defRPr>
            </a:defPPr>
          </a:lstStyle>
          <a:p xmlns:a="http://schemas.openxmlformats.org/drawingml/2006/main">
            <a:pPr>
              <a:defRPr sz="3450" b="1">
                <a:solidFill>
                  <a:srgbClr val="142D44"/>
                </a:solidFill>
              </a:defRPr>
            </a:pPr>
            <a:r>
              <a:rPr sz="3450" b="1">
                <a:solidFill>
                  <a:srgbClr val="142D44"/>
                </a:solidFill>
              </a:rPr>
              <a:t>Achievable</a:t>
            </a:r>
          </a:p>
        </p:txBody>
      </p:sp>
      <p:sp>
        <p:nvSpPr>
          <p:cNvPr id="2" name="">
            <a:extLst xmlns:a="http://schemas.openxmlformats.org/drawingml/2006/main">
              <a:ext uri="{FF2B5EF4-FFF2-40B4-BE49-F238E27FC236}">
                <a16:creationId xmlns:a16="http://schemas.microsoft.com/office/drawing/2014/main" id="{B926D96E-30B5-4278-940F-68E3C4A9C33A}"/>
              </a:ext>
            </a:extLst>
          </p:cNvPr>
          <p:cNvSpPr>
            <a:spLocks xmlns:a="http://schemas.openxmlformats.org/drawingml/2006/main" noGrp="1"/>
          </p:cNvSpPr>
          <p:nvPr/>
        </p:nvSpPr>
        <p:spPr>
          <a:xfrm xmlns:a="http://schemas.openxmlformats.org/drawingml/2006/main">
            <a:off x="609600" y="1381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2D44"/>
                </a:solidFill>
              </a:defRPr>
            </a:defPPr>
          </a:lstStyle>
          <a:p xmlns:a="http://schemas.openxmlformats.org/drawingml/2006/main">
            <a:pPr>
              <a:defRPr sz="2325" b="0">
                <a:solidFill>
                  <a:srgbClr val="142D44"/>
                </a:solidFill>
              </a:defRPr>
            </a:pPr>
            <a:r>
              <a:rPr sz="2325" b="0">
                <a:solidFill>
                  <a:srgbClr val="142D44"/>
                </a:solidFill>
              </a:rPr>
              <a:t>By November 13, increase weekly sneaker sales from 20 to 24 pairs.</a:t>
            </a:r>
          </a:p>
        </p:txBody>
      </p:sp>
      <p:sp>
        <p:nvSpPr>
          <p:cNvPr id="3" name="">
            <a:extLst xmlns:a="http://schemas.openxmlformats.org/drawingml/2006/main">
              <a:ext uri="{FF2B5EF4-FFF2-40B4-BE49-F238E27FC236}">
                <a16:creationId xmlns:a16="http://schemas.microsoft.com/office/drawing/2014/main" id="{F3561388-8CA8-4579-8A2D-DC879C4B74BF}"/>
              </a:ext>
            </a:extLst>
          </p:cNvPr>
          <p:cNvSpPr>
            <a:spLocks xmlns:a="http://schemas.openxmlformats.org/drawingml/2006/main" noGrp="1"/>
          </p:cNvSpPr>
          <p:nvPr/>
        </p:nvSpPr>
        <p:spPr>
          <a:xfrm xmlns:a="http://schemas.openxmlformats.org/drawingml/2006/main">
            <a:off x="609600" y="25241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D44"/>
                </a:solidFill>
              </a:defRPr>
            </a:defPPr>
          </a:lstStyle>
          <a:p xmlns:a="http://schemas.openxmlformats.org/drawingml/2006/main">
            <a:pPr>
              <a:defRPr sz="1875" b="0">
                <a:solidFill>
                  <a:srgbClr val="142D44"/>
                </a:solidFill>
              </a:defRPr>
            </a:pPr>
            <a:r>
              <a:rPr sz="1875" b="0">
                <a:solidFill>
                  <a:srgbClr val="142D44"/>
                </a:solidFill>
              </a:rPr>
              <a:t>The store sells 20 pairs a week. The same team has sold 24 before and has enough stock.</a:t>
            </a:r>
          </a:p>
        </p:txBody>
      </p:sp>
      <p:sp>
        <p:nvSpPr>
          <p:cNvPr id="4" name="">
            <a:extLst xmlns:a="http://schemas.openxmlformats.org/drawingml/2006/main">
              <a:ext uri="{FF2B5EF4-FFF2-40B4-BE49-F238E27FC236}">
                <a16:creationId xmlns:a16="http://schemas.microsoft.com/office/drawing/2014/main" id="{D73ECEB1-734C-45AB-8155-C11880F3D5CD}"/>
              </a:ext>
            </a:extLst>
          </p:cNvPr>
          <p:cNvSpPr>
            <a:spLocks xmlns:a="http://schemas.openxmlformats.org/drawingml/2006/main" noGrp="1"/>
          </p:cNvSpPr>
          <p:nvPr/>
        </p:nvSpPr>
        <p:spPr>
          <a:xfrm xmlns:a="http://schemas.openxmlformats.org/drawingml/2006/main">
            <a:off x="609600" y="36671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D83"/>
                </a:solidFill>
              </a:defRPr>
            </a:defPPr>
          </a:lstStyle>
          <a:p xmlns:a="http://schemas.openxmlformats.org/drawingml/2006/main">
            <a:pPr>
              <a:defRPr sz="2850" b="1">
                <a:solidFill>
                  <a:srgbClr val="087D83"/>
                </a:solidFill>
              </a:defRPr>
            </a:pPr>
            <a:r>
              <a:rPr sz="2850" b="1">
                <a:solidFill>
                  <a:srgbClr val="087D83"/>
                </a:solidFill>
              </a:rPr>
              <a:t>What evidence makes this realistic?</a:t>
            </a:r>
          </a:p>
        </p:txBody>
      </p:sp>
      <p:sp>
        <p:nvSpPr>
          <p:cNvPr id="5" name="">
            <a:extLst xmlns:a="http://schemas.openxmlformats.org/drawingml/2006/main">
              <a:ext uri="{FF2B5EF4-FFF2-40B4-BE49-F238E27FC236}">
                <a16:creationId xmlns:a16="http://schemas.microsoft.com/office/drawing/2014/main" id="{BAF27675-4B91-4B21-B4D4-C68C0E5CFE84}"/>
              </a:ext>
            </a:extLst>
          </p:cNvPr>
          <p:cNvSpPr>
            <a:spLocks xmlns:a="http://schemas.openxmlformats.org/drawingml/2006/main" noGrp="1"/>
          </p:cNvSpPr>
          <p:nvPr/>
        </p:nvSpPr>
        <p:spPr>
          <a:xfrm xmlns:a="http://schemas.openxmlformats.org/drawingml/2006/main">
            <a:off x="609600" y="62293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D44"/>
                </a:solidFill>
              </a:defRPr>
            </a:defPPr>
          </a:lstStyle>
          <a:p xmlns:a="http://schemas.openxmlformats.org/drawingml/2006/main">
            <a:pPr>
              <a:defRPr sz="1575" b="0">
                <a:solidFill>
                  <a:srgbClr val="142D44"/>
                </a:solidFill>
              </a:defRPr>
            </a:pPr>
            <a:r>
              <a:rPr sz="1575" b="0">
                <a:solidFill>
                  <a:srgbClr val="142D44"/>
                </a:solidFill>
              </a:rPr>
              <a:t>Chapter 2 pp. 20–21     Figure 2.2</a:t>
            </a:r>
          </a:p>
        </p:txBody>
      </p:sp>
    </p:spTree>
    <p:extLst>
      <p:ext uri="{BB962C8B-B14F-4D97-AF65-F5344CB8AC3E}">
        <p14:creationId xmlns:p14="http://schemas.microsoft.com/office/powerpoint/2010/main" val="628453344"/>
      </p:ext>
    </p:extLst>
  </p:cSld>
  <p:transition spd="fast" advClick="1">
    <p:fade/>
  </p:transition>
</p:sld>
</file>

<file path=ppt/slides/slide7.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AB5A47D-7B2B-43F4-91BE-0A4599ADF3BB}"/>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D44"/>
                </a:solidFill>
              </a:defRPr>
            </a:defPPr>
          </a:lstStyle>
          <a:p xmlns:a="http://schemas.openxmlformats.org/drawingml/2006/main">
            <a:pPr>
              <a:defRPr sz="3450" b="1">
                <a:solidFill>
                  <a:srgbClr val="142D44"/>
                </a:solidFill>
              </a:defRPr>
            </a:pPr>
            <a:r>
              <a:rPr sz="3450" b="1">
                <a:solidFill>
                  <a:srgbClr val="142D44"/>
                </a:solidFill>
              </a:rPr>
              <a:t>Achievable</a:t>
            </a:r>
          </a:p>
        </p:txBody>
      </p:sp>
      <p:sp>
        <p:nvSpPr>
          <p:cNvPr id="2" name="">
            <a:extLst xmlns:a="http://schemas.openxmlformats.org/drawingml/2006/main">
              <a:ext uri="{FF2B5EF4-FFF2-40B4-BE49-F238E27FC236}">
                <a16:creationId xmlns:a16="http://schemas.microsoft.com/office/drawing/2014/main" id="{44AB386D-055D-454A-B944-EB85BCEBA50C}"/>
              </a:ext>
            </a:extLst>
          </p:cNvPr>
          <p:cNvSpPr>
            <a:spLocks xmlns:a="http://schemas.openxmlformats.org/drawingml/2006/main" noGrp="1"/>
          </p:cNvSpPr>
          <p:nvPr/>
        </p:nvSpPr>
        <p:spPr>
          <a:xfrm xmlns:a="http://schemas.openxmlformats.org/drawingml/2006/main">
            <a:off x="609600" y="1381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2D44"/>
                </a:solidFill>
              </a:defRPr>
            </a:defPPr>
          </a:lstStyle>
          <a:p xmlns:a="http://schemas.openxmlformats.org/drawingml/2006/main">
            <a:pPr>
              <a:defRPr sz="2325" b="0">
                <a:solidFill>
                  <a:srgbClr val="142D44"/>
                </a:solidFill>
              </a:defRPr>
            </a:pPr>
            <a:r>
              <a:rPr sz="2325" b="0">
                <a:solidFill>
                  <a:srgbClr val="142D44"/>
                </a:solidFill>
              </a:rPr>
              <a:t>By November 13, increase weekly sneaker sales from 20 to 24 pairs.</a:t>
            </a:r>
          </a:p>
        </p:txBody>
      </p:sp>
      <p:sp>
        <p:nvSpPr>
          <p:cNvPr id="3" name="">
            <a:extLst xmlns:a="http://schemas.openxmlformats.org/drawingml/2006/main">
              <a:ext uri="{FF2B5EF4-FFF2-40B4-BE49-F238E27FC236}">
                <a16:creationId xmlns:a16="http://schemas.microsoft.com/office/drawing/2014/main" id="{8EF72008-E8D6-4DBB-8AD4-8A690518B00F}"/>
              </a:ext>
            </a:extLst>
          </p:cNvPr>
          <p:cNvSpPr>
            <a:spLocks xmlns:a="http://schemas.openxmlformats.org/drawingml/2006/main" noGrp="1"/>
          </p:cNvSpPr>
          <p:nvPr/>
        </p:nvSpPr>
        <p:spPr>
          <a:xfrm xmlns:a="http://schemas.openxmlformats.org/drawingml/2006/main">
            <a:off x="609600" y="25241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D44"/>
                </a:solidFill>
              </a:defRPr>
            </a:defPPr>
          </a:lstStyle>
          <a:p xmlns:a="http://schemas.openxmlformats.org/drawingml/2006/main">
            <a:pPr>
              <a:defRPr sz="1875" b="0">
                <a:solidFill>
                  <a:srgbClr val="142D44"/>
                </a:solidFill>
              </a:defRPr>
            </a:pPr>
            <a:r>
              <a:rPr sz="1875" b="0">
                <a:solidFill>
                  <a:srgbClr val="142D44"/>
                </a:solidFill>
              </a:rPr>
              <a:t>The store sells 20 pairs a week. The same team has sold 24 before and has enough stock.</a:t>
            </a:r>
          </a:p>
        </p:txBody>
      </p:sp>
      <p:sp>
        <p:nvSpPr>
          <p:cNvPr id="4" name="">
            <a:extLst xmlns:a="http://schemas.openxmlformats.org/drawingml/2006/main">
              <a:ext uri="{FF2B5EF4-FFF2-40B4-BE49-F238E27FC236}">
                <a16:creationId xmlns:a16="http://schemas.microsoft.com/office/drawing/2014/main" id="{4961C4EC-2A86-45D4-A143-11494CD5D2FB}"/>
              </a:ext>
            </a:extLst>
          </p:cNvPr>
          <p:cNvSpPr>
            <a:spLocks xmlns:a="http://schemas.openxmlformats.org/drawingml/2006/main" noGrp="1"/>
          </p:cNvSpPr>
          <p:nvPr/>
        </p:nvSpPr>
        <p:spPr>
          <a:xfrm xmlns:a="http://schemas.openxmlformats.org/drawingml/2006/main">
            <a:off x="609600" y="36671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D83"/>
                </a:solidFill>
              </a:defRPr>
            </a:defPPr>
          </a:lstStyle>
          <a:p xmlns:a="http://schemas.openxmlformats.org/drawingml/2006/main">
            <a:pPr>
              <a:defRPr sz="2850" b="1">
                <a:solidFill>
                  <a:srgbClr val="087D83"/>
                </a:solidFill>
              </a:defRPr>
            </a:pPr>
            <a:r>
              <a:rPr sz="2850" b="1">
                <a:solidFill>
                  <a:srgbClr val="087D83"/>
                </a:solidFill>
              </a:rPr>
              <a:t>What evidence makes this realistic?</a:t>
            </a:r>
          </a:p>
        </p:txBody>
      </p:sp>
      <p:sp>
        <p:nvSpPr>
          <p:cNvPr id="5" name="">
            <a:extLst xmlns:a="http://schemas.openxmlformats.org/drawingml/2006/main">
              <a:ext uri="{FF2B5EF4-FFF2-40B4-BE49-F238E27FC236}">
                <a16:creationId xmlns:a16="http://schemas.microsoft.com/office/drawing/2014/main" id="{714CC305-ABE5-412D-8BB3-E22DFAD5B8A8}"/>
              </a:ext>
            </a:extLst>
          </p:cNvPr>
          <p:cNvSpPr>
            <a:spLocks xmlns:a="http://schemas.openxmlformats.org/drawingml/2006/main" noGrp="1"/>
          </p:cNvSpPr>
          <p:nvPr/>
        </p:nvSpPr>
        <p:spPr>
          <a:xfrm xmlns:a="http://schemas.openxmlformats.org/drawingml/2006/main">
            <a:off x="609600" y="4810125"/>
            <a:ext cx="1085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AC4A1D"/>
                </a:solidFill>
              </a:defRPr>
            </a:defPPr>
          </a:lstStyle>
          <a:p xmlns:a="http://schemas.openxmlformats.org/drawingml/2006/main">
            <a:pPr>
              <a:defRPr sz="2925" b="1">
                <a:solidFill>
                  <a:srgbClr val="AC4A1D"/>
                </a:solidFill>
              </a:defRPr>
            </a:pPr>
            <a:r>
              <a:rPr sz="2925" b="1">
                <a:solidFill>
                  <a:srgbClr val="AC4A1D"/>
                </a:solidFill>
              </a:rPr>
              <a:t>The team has sold 24 before and has enough stock</a:t>
            </a:r>
          </a:p>
        </p:txBody>
      </p:sp>
      <p:sp>
        <p:nvSpPr>
          <p:cNvPr id="6" name="">
            <a:extLst xmlns:a="http://schemas.openxmlformats.org/drawingml/2006/main">
              <a:ext uri="{FF2B5EF4-FFF2-40B4-BE49-F238E27FC236}">
                <a16:creationId xmlns:a16="http://schemas.microsoft.com/office/drawing/2014/main" id="{5D513679-5A97-499E-BAB2-2AD34E0BA0AB}"/>
              </a:ext>
            </a:extLst>
          </p:cNvPr>
          <p:cNvSpPr>
            <a:spLocks xmlns:a="http://schemas.openxmlformats.org/drawingml/2006/main" noGrp="1"/>
          </p:cNvSpPr>
          <p:nvPr/>
        </p:nvSpPr>
        <p:spPr>
          <a:xfrm xmlns:a="http://schemas.openxmlformats.org/drawingml/2006/main">
            <a:off x="609600" y="62293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D44"/>
                </a:solidFill>
              </a:defRPr>
            </a:defPPr>
          </a:lstStyle>
          <a:p xmlns:a="http://schemas.openxmlformats.org/drawingml/2006/main">
            <a:pPr>
              <a:defRPr sz="1575" b="0">
                <a:solidFill>
                  <a:srgbClr val="142D44"/>
                </a:solidFill>
              </a:defRPr>
            </a:pPr>
            <a:r>
              <a:rPr sz="1575" b="0">
                <a:solidFill>
                  <a:srgbClr val="142D44"/>
                </a:solidFill>
              </a:rPr>
              <a:t>Chapter 2 pp. 20–21     Figure 2.2</a:t>
            </a:r>
          </a:p>
        </p:txBody>
      </p:sp>
    </p:spTree>
    <p:extLst>
      <p:ext uri="{BB962C8B-B14F-4D97-AF65-F5344CB8AC3E}">
        <p14:creationId xmlns:p14="http://schemas.microsoft.com/office/powerpoint/2010/main" val="1178531635"/>
      </p:ext>
    </p:extLst>
  </p:cSld>
  <p:transition spd="fast" advClick="1">
    <p:fade/>
  </p:transition>
</p:sld>
</file>

<file path=ppt/slides/slide8.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0161B09-A1BB-4B5D-95EE-24F343655A3B}"/>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D44"/>
                </a:solidFill>
              </a:defRPr>
            </a:defPPr>
          </a:lstStyle>
          <a:p xmlns:a="http://schemas.openxmlformats.org/drawingml/2006/main">
            <a:pPr>
              <a:defRPr sz="3450" b="1">
                <a:solidFill>
                  <a:srgbClr val="142D44"/>
                </a:solidFill>
              </a:defRPr>
            </a:pPr>
            <a:r>
              <a:rPr sz="3450" b="1">
                <a:solidFill>
                  <a:srgbClr val="142D44"/>
                </a:solidFill>
              </a:rPr>
              <a:t>Results-focused</a:t>
            </a:r>
          </a:p>
        </p:txBody>
      </p:sp>
      <p:sp>
        <p:nvSpPr>
          <p:cNvPr id="2" name="">
            <a:extLst xmlns:a="http://schemas.openxmlformats.org/drawingml/2006/main">
              <a:ext uri="{FF2B5EF4-FFF2-40B4-BE49-F238E27FC236}">
                <a16:creationId xmlns:a16="http://schemas.microsoft.com/office/drawing/2014/main" id="{50623539-0893-4EE2-8382-BAEE024CCAF2}"/>
              </a:ext>
            </a:extLst>
          </p:cNvPr>
          <p:cNvSpPr>
            <a:spLocks xmlns:a="http://schemas.openxmlformats.org/drawingml/2006/main" noGrp="1"/>
          </p:cNvSpPr>
          <p:nvPr/>
        </p:nvSpPr>
        <p:spPr>
          <a:xfrm xmlns:a="http://schemas.openxmlformats.org/drawingml/2006/main">
            <a:off x="609600" y="1381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2D44"/>
                </a:solidFill>
              </a:defRPr>
            </a:defPPr>
          </a:lstStyle>
          <a:p xmlns:a="http://schemas.openxmlformats.org/drawingml/2006/main">
            <a:pPr>
              <a:defRPr sz="2325" b="0">
                <a:solidFill>
                  <a:srgbClr val="142D44"/>
                </a:solidFill>
              </a:defRPr>
            </a:pPr>
            <a:r>
              <a:rPr sz="2325" b="0">
                <a:solidFill>
                  <a:srgbClr val="142D44"/>
                </a:solidFill>
              </a:rPr>
              <a:t>By November 13, increase weekly sneaker sales from 20 to 24 pairs.</a:t>
            </a:r>
          </a:p>
        </p:txBody>
      </p:sp>
      <p:sp>
        <p:nvSpPr>
          <p:cNvPr id="3" name="">
            <a:extLst xmlns:a="http://schemas.openxmlformats.org/drawingml/2006/main">
              <a:ext uri="{FF2B5EF4-FFF2-40B4-BE49-F238E27FC236}">
                <a16:creationId xmlns:a16="http://schemas.microsoft.com/office/drawing/2014/main" id="{C94DFCD3-F8CE-4F7E-8BA0-BFA44CFD4DE7}"/>
              </a:ext>
            </a:extLst>
          </p:cNvPr>
          <p:cNvSpPr>
            <a:spLocks xmlns:a="http://schemas.openxmlformats.org/drawingml/2006/main" noGrp="1"/>
          </p:cNvSpPr>
          <p:nvPr/>
        </p:nvSpPr>
        <p:spPr>
          <a:xfrm xmlns:a="http://schemas.openxmlformats.org/drawingml/2006/main">
            <a:off x="609600" y="25241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D44"/>
                </a:solidFill>
              </a:defRPr>
            </a:defPPr>
          </a:lstStyle>
          <a:p xmlns:a="http://schemas.openxmlformats.org/drawingml/2006/main">
            <a:pPr>
              <a:defRPr sz="1875" b="0">
                <a:solidFill>
                  <a:srgbClr val="142D44"/>
                </a:solidFill>
              </a:defRPr>
            </a:pPr>
            <a:r>
              <a:rPr sz="1875" b="0">
                <a:solidFill>
                  <a:srgbClr val="142D44"/>
                </a:solidFill>
              </a:rPr>
              <a:t>The store sells 20 pairs a week. The same team has sold 24 before and has enough stock.</a:t>
            </a:r>
          </a:p>
        </p:txBody>
      </p:sp>
      <p:sp>
        <p:nvSpPr>
          <p:cNvPr id="4" name="">
            <a:extLst xmlns:a="http://schemas.openxmlformats.org/drawingml/2006/main">
              <a:ext uri="{FF2B5EF4-FFF2-40B4-BE49-F238E27FC236}">
                <a16:creationId xmlns:a16="http://schemas.microsoft.com/office/drawing/2014/main" id="{BF076E12-4050-4D3E-B9ED-212F9DF984EC}"/>
              </a:ext>
            </a:extLst>
          </p:cNvPr>
          <p:cNvSpPr>
            <a:spLocks xmlns:a="http://schemas.openxmlformats.org/drawingml/2006/main" noGrp="1"/>
          </p:cNvSpPr>
          <p:nvPr/>
        </p:nvSpPr>
        <p:spPr>
          <a:xfrm xmlns:a="http://schemas.openxmlformats.org/drawingml/2006/main">
            <a:off x="609600" y="36671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D83"/>
                </a:solidFill>
              </a:defRPr>
            </a:defPPr>
          </a:lstStyle>
          <a:p xmlns:a="http://schemas.openxmlformats.org/drawingml/2006/main">
            <a:pPr>
              <a:defRPr sz="2850" b="1">
                <a:solidFill>
                  <a:srgbClr val="087D83"/>
                </a:solidFill>
              </a:defRPr>
            </a:pPr>
            <a:r>
              <a:rPr sz="2850" b="1">
                <a:solidFill>
                  <a:srgbClr val="087D83"/>
                </a:solidFill>
              </a:rPr>
              <a:t>What outcome does the store want?</a:t>
            </a:r>
          </a:p>
        </p:txBody>
      </p:sp>
      <p:sp>
        <p:nvSpPr>
          <p:cNvPr id="5" name="">
            <a:extLst xmlns:a="http://schemas.openxmlformats.org/drawingml/2006/main">
              <a:ext uri="{FF2B5EF4-FFF2-40B4-BE49-F238E27FC236}">
                <a16:creationId xmlns:a16="http://schemas.microsoft.com/office/drawing/2014/main" id="{6CEA76A9-5C9A-491C-99A0-657C63490FD0}"/>
              </a:ext>
            </a:extLst>
          </p:cNvPr>
          <p:cNvSpPr>
            <a:spLocks xmlns:a="http://schemas.openxmlformats.org/drawingml/2006/main" noGrp="1"/>
          </p:cNvSpPr>
          <p:nvPr/>
        </p:nvSpPr>
        <p:spPr>
          <a:xfrm xmlns:a="http://schemas.openxmlformats.org/drawingml/2006/main">
            <a:off x="609600" y="62293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D44"/>
                </a:solidFill>
              </a:defRPr>
            </a:defPPr>
          </a:lstStyle>
          <a:p xmlns:a="http://schemas.openxmlformats.org/drawingml/2006/main">
            <a:pPr>
              <a:defRPr sz="1575" b="0">
                <a:solidFill>
                  <a:srgbClr val="142D44"/>
                </a:solidFill>
              </a:defRPr>
            </a:pPr>
            <a:r>
              <a:rPr sz="1575" b="0">
                <a:solidFill>
                  <a:srgbClr val="142D44"/>
                </a:solidFill>
              </a:rPr>
              <a:t>Chapter 2 pp. 20–21     Figure 2.2</a:t>
            </a:r>
          </a:p>
        </p:txBody>
      </p:sp>
    </p:spTree>
    <p:extLst>
      <p:ext uri="{BB962C8B-B14F-4D97-AF65-F5344CB8AC3E}">
        <p14:creationId xmlns:p14="http://schemas.microsoft.com/office/powerpoint/2010/main" val="7660998"/>
      </p:ext>
    </p:extLst>
  </p:cSld>
  <p:transition spd="fast" advClick="1">
    <p:fade/>
  </p:transition>
</p:sld>
</file>

<file path=ppt/slides/slide9.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69CFFDD-EC31-450B-BB6D-DBA290B9F434}"/>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D44"/>
                </a:solidFill>
              </a:defRPr>
            </a:defPPr>
          </a:lstStyle>
          <a:p xmlns:a="http://schemas.openxmlformats.org/drawingml/2006/main">
            <a:pPr>
              <a:defRPr sz="3450" b="1">
                <a:solidFill>
                  <a:srgbClr val="142D44"/>
                </a:solidFill>
              </a:defRPr>
            </a:pPr>
            <a:r>
              <a:rPr sz="3450" b="1">
                <a:solidFill>
                  <a:srgbClr val="142D44"/>
                </a:solidFill>
              </a:rPr>
              <a:t>Results-focused</a:t>
            </a:r>
          </a:p>
        </p:txBody>
      </p:sp>
      <p:sp>
        <p:nvSpPr>
          <p:cNvPr id="2" name="">
            <a:extLst xmlns:a="http://schemas.openxmlformats.org/drawingml/2006/main">
              <a:ext uri="{FF2B5EF4-FFF2-40B4-BE49-F238E27FC236}">
                <a16:creationId xmlns:a16="http://schemas.microsoft.com/office/drawing/2014/main" id="{33414EE0-70EB-4530-8768-718E134AB779}"/>
              </a:ext>
            </a:extLst>
          </p:cNvPr>
          <p:cNvSpPr>
            <a:spLocks xmlns:a="http://schemas.openxmlformats.org/drawingml/2006/main" noGrp="1"/>
          </p:cNvSpPr>
          <p:nvPr/>
        </p:nvSpPr>
        <p:spPr>
          <a:xfrm xmlns:a="http://schemas.openxmlformats.org/drawingml/2006/main">
            <a:off x="609600" y="1381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2D44"/>
                </a:solidFill>
              </a:defRPr>
            </a:defPPr>
          </a:lstStyle>
          <a:p xmlns:a="http://schemas.openxmlformats.org/drawingml/2006/main">
            <a:pPr>
              <a:defRPr sz="2325" b="0">
                <a:solidFill>
                  <a:srgbClr val="142D44"/>
                </a:solidFill>
              </a:defRPr>
            </a:pPr>
            <a:r>
              <a:rPr sz="2325" b="0">
                <a:solidFill>
                  <a:srgbClr val="142D44"/>
                </a:solidFill>
              </a:rPr>
              <a:t>By November 13, increase weekly sneaker sales from 20 to 24 pairs.</a:t>
            </a:r>
          </a:p>
        </p:txBody>
      </p:sp>
      <p:sp>
        <p:nvSpPr>
          <p:cNvPr id="3" name="">
            <a:extLst xmlns:a="http://schemas.openxmlformats.org/drawingml/2006/main">
              <a:ext uri="{FF2B5EF4-FFF2-40B4-BE49-F238E27FC236}">
                <a16:creationId xmlns:a16="http://schemas.microsoft.com/office/drawing/2014/main" id="{A41C8AB7-E113-4365-9D83-FCCA6B1A185E}"/>
              </a:ext>
            </a:extLst>
          </p:cNvPr>
          <p:cNvSpPr>
            <a:spLocks xmlns:a="http://schemas.openxmlformats.org/drawingml/2006/main" noGrp="1"/>
          </p:cNvSpPr>
          <p:nvPr/>
        </p:nvSpPr>
        <p:spPr>
          <a:xfrm xmlns:a="http://schemas.openxmlformats.org/drawingml/2006/main">
            <a:off x="609600" y="25241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D44"/>
                </a:solidFill>
              </a:defRPr>
            </a:defPPr>
          </a:lstStyle>
          <a:p xmlns:a="http://schemas.openxmlformats.org/drawingml/2006/main">
            <a:pPr>
              <a:defRPr sz="1875" b="0">
                <a:solidFill>
                  <a:srgbClr val="142D44"/>
                </a:solidFill>
              </a:defRPr>
            </a:pPr>
            <a:r>
              <a:rPr sz="1875" b="0">
                <a:solidFill>
                  <a:srgbClr val="142D44"/>
                </a:solidFill>
              </a:rPr>
              <a:t>The store sells 20 pairs a week. The same team has sold 24 before and has enough stock.</a:t>
            </a:r>
          </a:p>
        </p:txBody>
      </p:sp>
      <p:sp>
        <p:nvSpPr>
          <p:cNvPr id="4" name="">
            <a:extLst xmlns:a="http://schemas.openxmlformats.org/drawingml/2006/main">
              <a:ext uri="{FF2B5EF4-FFF2-40B4-BE49-F238E27FC236}">
                <a16:creationId xmlns:a16="http://schemas.microsoft.com/office/drawing/2014/main" id="{585B323A-4B5F-4361-B944-FF2CE66678EA}"/>
              </a:ext>
            </a:extLst>
          </p:cNvPr>
          <p:cNvSpPr>
            <a:spLocks xmlns:a="http://schemas.openxmlformats.org/drawingml/2006/main" noGrp="1"/>
          </p:cNvSpPr>
          <p:nvPr/>
        </p:nvSpPr>
        <p:spPr>
          <a:xfrm xmlns:a="http://schemas.openxmlformats.org/drawingml/2006/main">
            <a:off x="609600" y="36671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D83"/>
                </a:solidFill>
              </a:defRPr>
            </a:defPPr>
          </a:lstStyle>
          <a:p xmlns:a="http://schemas.openxmlformats.org/drawingml/2006/main">
            <a:pPr>
              <a:defRPr sz="2850" b="1">
                <a:solidFill>
                  <a:srgbClr val="087D83"/>
                </a:solidFill>
              </a:defRPr>
            </a:pPr>
            <a:r>
              <a:rPr sz="2850" b="1">
                <a:solidFill>
                  <a:srgbClr val="087D83"/>
                </a:solidFill>
              </a:rPr>
              <a:t>What outcome does the store want?</a:t>
            </a:r>
          </a:p>
        </p:txBody>
      </p:sp>
      <p:sp>
        <p:nvSpPr>
          <p:cNvPr id="5" name="">
            <a:extLst xmlns:a="http://schemas.openxmlformats.org/drawingml/2006/main">
              <a:ext uri="{FF2B5EF4-FFF2-40B4-BE49-F238E27FC236}">
                <a16:creationId xmlns:a16="http://schemas.microsoft.com/office/drawing/2014/main" id="{4FD64E23-D15A-48AB-A0B7-70FFABB0AEAD}"/>
              </a:ext>
            </a:extLst>
          </p:cNvPr>
          <p:cNvSpPr>
            <a:spLocks xmlns:a="http://schemas.openxmlformats.org/drawingml/2006/main" noGrp="1"/>
          </p:cNvSpPr>
          <p:nvPr/>
        </p:nvSpPr>
        <p:spPr>
          <a:xfrm xmlns:a="http://schemas.openxmlformats.org/drawingml/2006/main">
            <a:off x="609600" y="4810125"/>
            <a:ext cx="1085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AC4A1D"/>
                </a:solidFill>
              </a:defRPr>
            </a:defPPr>
          </a:lstStyle>
          <a:p xmlns:a="http://schemas.openxmlformats.org/drawingml/2006/main">
            <a:pPr>
              <a:defRPr sz="2925" b="1">
                <a:solidFill>
                  <a:srgbClr val="AC4A1D"/>
                </a:solidFill>
              </a:defRPr>
            </a:pPr>
            <a:r>
              <a:rPr sz="2925" b="1">
                <a:solidFill>
                  <a:srgbClr val="AC4A1D"/>
                </a:solidFill>
              </a:rPr>
              <a:t>Increased sneaker sales</a:t>
            </a:r>
          </a:p>
        </p:txBody>
      </p:sp>
      <p:sp>
        <p:nvSpPr>
          <p:cNvPr id="6" name="">
            <a:extLst xmlns:a="http://schemas.openxmlformats.org/drawingml/2006/main">
              <a:ext uri="{FF2B5EF4-FFF2-40B4-BE49-F238E27FC236}">
                <a16:creationId xmlns:a16="http://schemas.microsoft.com/office/drawing/2014/main" id="{85DED065-A8D5-4DED-AD7E-143BB9A47F4D}"/>
              </a:ext>
            </a:extLst>
          </p:cNvPr>
          <p:cNvSpPr>
            <a:spLocks xmlns:a="http://schemas.openxmlformats.org/drawingml/2006/main" noGrp="1"/>
          </p:cNvSpPr>
          <p:nvPr/>
        </p:nvSpPr>
        <p:spPr>
          <a:xfrm xmlns:a="http://schemas.openxmlformats.org/drawingml/2006/main">
            <a:off x="609600" y="62293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D44"/>
                </a:solidFill>
              </a:defRPr>
            </a:defPPr>
          </a:lstStyle>
          <a:p xmlns:a="http://schemas.openxmlformats.org/drawingml/2006/main">
            <a:pPr>
              <a:defRPr sz="1575" b="0">
                <a:solidFill>
                  <a:srgbClr val="142D44"/>
                </a:solidFill>
              </a:defRPr>
            </a:pPr>
            <a:r>
              <a:rPr sz="1575" b="0">
                <a:solidFill>
                  <a:srgbClr val="142D44"/>
                </a:solidFill>
              </a:rPr>
              <a:t>Chapter 2 pp. 20–21     Figure 2.2</a:t>
            </a:r>
          </a:p>
        </p:txBody>
      </p:sp>
    </p:spTree>
    <p:extLst>
      <p:ext uri="{BB962C8B-B14F-4D97-AF65-F5344CB8AC3E}">
        <p14:creationId xmlns:p14="http://schemas.microsoft.com/office/powerpoint/2010/main" val="1361642286"/>
      </p:ext>
    </p:extLst>
  </p:cSld>
  <p:transition spd="fast" advClick="1">
    <p:fade/>
  </p:transition>
</p:sld>
</file>

<file path=ppt/slides/slide10.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A863FDE-3C49-44A3-B3F9-6425DD5423D7}"/>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D44"/>
                </a:solidFill>
              </a:defRPr>
            </a:defPPr>
          </a:lstStyle>
          <a:p xmlns:a="http://schemas.openxmlformats.org/drawingml/2006/main">
            <a:pPr>
              <a:defRPr sz="3450" b="1">
                <a:solidFill>
                  <a:srgbClr val="142D44"/>
                </a:solidFill>
              </a:defRPr>
            </a:pPr>
            <a:r>
              <a:rPr sz="3450" b="1">
                <a:solidFill>
                  <a:srgbClr val="142D44"/>
                </a:solidFill>
              </a:rPr>
              <a:t>Time-bound</a:t>
            </a:r>
          </a:p>
        </p:txBody>
      </p:sp>
      <p:sp>
        <p:nvSpPr>
          <p:cNvPr id="2" name="">
            <a:extLst xmlns:a="http://schemas.openxmlformats.org/drawingml/2006/main">
              <a:ext uri="{FF2B5EF4-FFF2-40B4-BE49-F238E27FC236}">
                <a16:creationId xmlns:a16="http://schemas.microsoft.com/office/drawing/2014/main" id="{08C82EAE-12E1-4D75-9C1A-6091866646FB}"/>
              </a:ext>
            </a:extLst>
          </p:cNvPr>
          <p:cNvSpPr>
            <a:spLocks xmlns:a="http://schemas.openxmlformats.org/drawingml/2006/main" noGrp="1"/>
          </p:cNvSpPr>
          <p:nvPr/>
        </p:nvSpPr>
        <p:spPr>
          <a:xfrm xmlns:a="http://schemas.openxmlformats.org/drawingml/2006/main">
            <a:off x="609600" y="1381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2D44"/>
                </a:solidFill>
              </a:defRPr>
            </a:defPPr>
          </a:lstStyle>
          <a:p xmlns:a="http://schemas.openxmlformats.org/drawingml/2006/main">
            <a:pPr>
              <a:defRPr sz="2325" b="0">
                <a:solidFill>
                  <a:srgbClr val="142D44"/>
                </a:solidFill>
              </a:defRPr>
            </a:pPr>
            <a:r>
              <a:rPr sz="2325" b="0">
                <a:solidFill>
                  <a:srgbClr val="142D44"/>
                </a:solidFill>
              </a:rPr>
              <a:t>By November 13, increase weekly sneaker sales from 20 to 24 pairs.</a:t>
            </a:r>
          </a:p>
        </p:txBody>
      </p:sp>
      <p:sp>
        <p:nvSpPr>
          <p:cNvPr id="3" name="">
            <a:extLst xmlns:a="http://schemas.openxmlformats.org/drawingml/2006/main">
              <a:ext uri="{FF2B5EF4-FFF2-40B4-BE49-F238E27FC236}">
                <a16:creationId xmlns:a16="http://schemas.microsoft.com/office/drawing/2014/main" id="{5BE95FEC-3BC7-4B32-949C-BFA193E510A6}"/>
              </a:ext>
            </a:extLst>
          </p:cNvPr>
          <p:cNvSpPr>
            <a:spLocks xmlns:a="http://schemas.openxmlformats.org/drawingml/2006/main" noGrp="1"/>
          </p:cNvSpPr>
          <p:nvPr/>
        </p:nvSpPr>
        <p:spPr>
          <a:xfrm xmlns:a="http://schemas.openxmlformats.org/drawingml/2006/main">
            <a:off x="609600" y="25241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D44"/>
                </a:solidFill>
              </a:defRPr>
            </a:defPPr>
          </a:lstStyle>
          <a:p xmlns:a="http://schemas.openxmlformats.org/drawingml/2006/main">
            <a:pPr>
              <a:defRPr sz="1875" b="0">
                <a:solidFill>
                  <a:srgbClr val="142D44"/>
                </a:solidFill>
              </a:defRPr>
            </a:pPr>
            <a:r>
              <a:rPr sz="1875" b="0">
                <a:solidFill>
                  <a:srgbClr val="142D44"/>
                </a:solidFill>
              </a:rPr>
              <a:t>The store sells 20 pairs a week. The same team has sold 24 before and has enough stock.</a:t>
            </a:r>
          </a:p>
        </p:txBody>
      </p:sp>
      <p:sp>
        <p:nvSpPr>
          <p:cNvPr id="4" name="">
            <a:extLst xmlns:a="http://schemas.openxmlformats.org/drawingml/2006/main">
              <a:ext uri="{FF2B5EF4-FFF2-40B4-BE49-F238E27FC236}">
                <a16:creationId xmlns:a16="http://schemas.microsoft.com/office/drawing/2014/main" id="{59F21F87-CAD3-477F-909D-70974CA578D9}"/>
              </a:ext>
            </a:extLst>
          </p:cNvPr>
          <p:cNvSpPr>
            <a:spLocks xmlns:a="http://schemas.openxmlformats.org/drawingml/2006/main" noGrp="1"/>
          </p:cNvSpPr>
          <p:nvPr/>
        </p:nvSpPr>
        <p:spPr>
          <a:xfrm xmlns:a="http://schemas.openxmlformats.org/drawingml/2006/main">
            <a:off x="609600" y="36671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D83"/>
                </a:solidFill>
              </a:defRPr>
            </a:defPPr>
          </a:lstStyle>
          <a:p xmlns:a="http://schemas.openxmlformats.org/drawingml/2006/main">
            <a:pPr>
              <a:defRPr sz="2850" b="1">
                <a:solidFill>
                  <a:srgbClr val="087D83"/>
                </a:solidFill>
              </a:defRPr>
            </a:pPr>
            <a:r>
              <a:rPr sz="2850" b="1">
                <a:solidFill>
                  <a:srgbClr val="087D83"/>
                </a:solidFill>
              </a:rPr>
              <a:t>When must the store reach the goal?</a:t>
            </a:r>
          </a:p>
        </p:txBody>
      </p:sp>
      <p:sp>
        <p:nvSpPr>
          <p:cNvPr id="5" name="">
            <a:extLst xmlns:a="http://schemas.openxmlformats.org/drawingml/2006/main">
              <a:ext uri="{FF2B5EF4-FFF2-40B4-BE49-F238E27FC236}">
                <a16:creationId xmlns:a16="http://schemas.microsoft.com/office/drawing/2014/main" id="{E0B8E35E-054B-412C-B93E-E9440E83F00D}"/>
              </a:ext>
            </a:extLst>
          </p:cNvPr>
          <p:cNvSpPr>
            <a:spLocks xmlns:a="http://schemas.openxmlformats.org/drawingml/2006/main" noGrp="1"/>
          </p:cNvSpPr>
          <p:nvPr/>
        </p:nvSpPr>
        <p:spPr>
          <a:xfrm xmlns:a="http://schemas.openxmlformats.org/drawingml/2006/main">
            <a:off x="609600" y="62293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D44"/>
                </a:solidFill>
              </a:defRPr>
            </a:defPPr>
          </a:lstStyle>
          <a:p xmlns:a="http://schemas.openxmlformats.org/drawingml/2006/main">
            <a:pPr>
              <a:defRPr sz="1575" b="0">
                <a:solidFill>
                  <a:srgbClr val="142D44"/>
                </a:solidFill>
              </a:defRPr>
            </a:pPr>
            <a:r>
              <a:rPr sz="1575" b="0">
                <a:solidFill>
                  <a:srgbClr val="142D44"/>
                </a:solidFill>
              </a:rPr>
              <a:t>Chapter 2 pp. 20–21     Figure 2.2</a:t>
            </a:r>
          </a:p>
        </p:txBody>
      </p:sp>
    </p:spTree>
    <p:extLst>
      <p:ext uri="{BB962C8B-B14F-4D97-AF65-F5344CB8AC3E}">
        <p14:creationId xmlns:p14="http://schemas.microsoft.com/office/powerpoint/2010/main" val="662848749"/>
      </p:ext>
    </p:extLst>
  </p:cSld>
  <p:transition spd="fast" advClick="1">
    <p:fade/>
  </p:transition>
</p:sld>
</file>

<file path=ppt/slides/slide11.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CF75D53-700D-4484-80C9-1445131A88AE}"/>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D44"/>
                </a:solidFill>
              </a:defRPr>
            </a:defPPr>
          </a:lstStyle>
          <a:p xmlns:a="http://schemas.openxmlformats.org/drawingml/2006/main">
            <a:pPr>
              <a:defRPr sz="3450" b="1">
                <a:solidFill>
                  <a:srgbClr val="142D44"/>
                </a:solidFill>
              </a:defRPr>
            </a:pPr>
            <a:r>
              <a:rPr sz="3450" b="1">
                <a:solidFill>
                  <a:srgbClr val="142D44"/>
                </a:solidFill>
              </a:rPr>
              <a:t>Time-bound</a:t>
            </a:r>
          </a:p>
        </p:txBody>
      </p:sp>
      <p:sp>
        <p:nvSpPr>
          <p:cNvPr id="2" name="">
            <a:extLst xmlns:a="http://schemas.openxmlformats.org/drawingml/2006/main">
              <a:ext uri="{FF2B5EF4-FFF2-40B4-BE49-F238E27FC236}">
                <a16:creationId xmlns:a16="http://schemas.microsoft.com/office/drawing/2014/main" id="{2C8ACDD2-C056-4C11-9D63-878A9AF28BE5}"/>
              </a:ext>
            </a:extLst>
          </p:cNvPr>
          <p:cNvSpPr>
            <a:spLocks xmlns:a="http://schemas.openxmlformats.org/drawingml/2006/main" noGrp="1"/>
          </p:cNvSpPr>
          <p:nvPr/>
        </p:nvSpPr>
        <p:spPr>
          <a:xfrm xmlns:a="http://schemas.openxmlformats.org/drawingml/2006/main">
            <a:off x="609600" y="1381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2D44"/>
                </a:solidFill>
              </a:defRPr>
            </a:defPPr>
          </a:lstStyle>
          <a:p xmlns:a="http://schemas.openxmlformats.org/drawingml/2006/main">
            <a:pPr>
              <a:defRPr sz="2325" b="0">
                <a:solidFill>
                  <a:srgbClr val="142D44"/>
                </a:solidFill>
              </a:defRPr>
            </a:pPr>
            <a:r>
              <a:rPr sz="2325" b="0">
                <a:solidFill>
                  <a:srgbClr val="142D44"/>
                </a:solidFill>
              </a:rPr>
              <a:t>By November 13, increase weekly sneaker sales from 20 to 24 pairs.</a:t>
            </a:r>
          </a:p>
        </p:txBody>
      </p:sp>
      <p:sp>
        <p:nvSpPr>
          <p:cNvPr id="3" name="">
            <a:extLst xmlns:a="http://schemas.openxmlformats.org/drawingml/2006/main">
              <a:ext uri="{FF2B5EF4-FFF2-40B4-BE49-F238E27FC236}">
                <a16:creationId xmlns:a16="http://schemas.microsoft.com/office/drawing/2014/main" id="{3BB54FEE-7485-49AC-AE5D-C647E5CC3D1B}"/>
              </a:ext>
            </a:extLst>
          </p:cNvPr>
          <p:cNvSpPr>
            <a:spLocks xmlns:a="http://schemas.openxmlformats.org/drawingml/2006/main" noGrp="1"/>
          </p:cNvSpPr>
          <p:nvPr/>
        </p:nvSpPr>
        <p:spPr>
          <a:xfrm xmlns:a="http://schemas.openxmlformats.org/drawingml/2006/main">
            <a:off x="609600" y="252412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D44"/>
                </a:solidFill>
              </a:defRPr>
            </a:defPPr>
          </a:lstStyle>
          <a:p xmlns:a="http://schemas.openxmlformats.org/drawingml/2006/main">
            <a:pPr>
              <a:defRPr sz="1875" b="0">
                <a:solidFill>
                  <a:srgbClr val="142D44"/>
                </a:solidFill>
              </a:defRPr>
            </a:pPr>
            <a:r>
              <a:rPr sz="1875" b="0">
                <a:solidFill>
                  <a:srgbClr val="142D44"/>
                </a:solidFill>
              </a:rPr>
              <a:t>The store sells 20 pairs a week. The same team has sold 24 before and has enough stock.</a:t>
            </a:r>
          </a:p>
        </p:txBody>
      </p:sp>
      <p:sp>
        <p:nvSpPr>
          <p:cNvPr id="4" name="">
            <a:extLst xmlns:a="http://schemas.openxmlformats.org/drawingml/2006/main">
              <a:ext uri="{FF2B5EF4-FFF2-40B4-BE49-F238E27FC236}">
                <a16:creationId xmlns:a16="http://schemas.microsoft.com/office/drawing/2014/main" id="{313F0D41-6767-4194-A221-8BF62295BFF7}"/>
              </a:ext>
            </a:extLst>
          </p:cNvPr>
          <p:cNvSpPr>
            <a:spLocks xmlns:a="http://schemas.openxmlformats.org/drawingml/2006/main" noGrp="1"/>
          </p:cNvSpPr>
          <p:nvPr/>
        </p:nvSpPr>
        <p:spPr>
          <a:xfrm xmlns:a="http://schemas.openxmlformats.org/drawingml/2006/main">
            <a:off x="609600" y="3667125"/>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D83"/>
                </a:solidFill>
              </a:defRPr>
            </a:defPPr>
          </a:lstStyle>
          <a:p xmlns:a="http://schemas.openxmlformats.org/drawingml/2006/main">
            <a:pPr>
              <a:defRPr sz="2850" b="1">
                <a:solidFill>
                  <a:srgbClr val="087D83"/>
                </a:solidFill>
              </a:defRPr>
            </a:pPr>
            <a:r>
              <a:rPr sz="2850" b="1">
                <a:solidFill>
                  <a:srgbClr val="087D83"/>
                </a:solidFill>
              </a:rPr>
              <a:t>When must the store reach the goal?</a:t>
            </a:r>
          </a:p>
        </p:txBody>
      </p:sp>
      <p:sp>
        <p:nvSpPr>
          <p:cNvPr id="5" name="">
            <a:extLst xmlns:a="http://schemas.openxmlformats.org/drawingml/2006/main">
              <a:ext uri="{FF2B5EF4-FFF2-40B4-BE49-F238E27FC236}">
                <a16:creationId xmlns:a16="http://schemas.microsoft.com/office/drawing/2014/main" id="{CC79AEB5-43E5-4345-B47F-D80329FFD4BB}"/>
              </a:ext>
            </a:extLst>
          </p:cNvPr>
          <p:cNvSpPr>
            <a:spLocks xmlns:a="http://schemas.openxmlformats.org/drawingml/2006/main" noGrp="1"/>
          </p:cNvSpPr>
          <p:nvPr/>
        </p:nvSpPr>
        <p:spPr>
          <a:xfrm xmlns:a="http://schemas.openxmlformats.org/drawingml/2006/main">
            <a:off x="609600" y="4810125"/>
            <a:ext cx="1085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AC4A1D"/>
                </a:solidFill>
              </a:defRPr>
            </a:defPPr>
          </a:lstStyle>
          <a:p xmlns:a="http://schemas.openxmlformats.org/drawingml/2006/main">
            <a:pPr>
              <a:defRPr sz="2925" b="1">
                <a:solidFill>
                  <a:srgbClr val="AC4A1D"/>
                </a:solidFill>
              </a:defRPr>
            </a:pPr>
            <a:r>
              <a:rPr sz="2925" b="1">
                <a:solidFill>
                  <a:srgbClr val="AC4A1D"/>
                </a:solidFill>
              </a:rPr>
              <a:t>By November 13</a:t>
            </a:r>
          </a:p>
        </p:txBody>
      </p:sp>
      <p:sp>
        <p:nvSpPr>
          <p:cNvPr id="6" name="">
            <a:extLst xmlns:a="http://schemas.openxmlformats.org/drawingml/2006/main">
              <a:ext uri="{FF2B5EF4-FFF2-40B4-BE49-F238E27FC236}">
                <a16:creationId xmlns:a16="http://schemas.microsoft.com/office/drawing/2014/main" id="{DDB162DE-EF84-41A5-9A7C-5124E22768A5}"/>
              </a:ext>
            </a:extLst>
          </p:cNvPr>
          <p:cNvSpPr>
            <a:spLocks xmlns:a="http://schemas.openxmlformats.org/drawingml/2006/main" noGrp="1"/>
          </p:cNvSpPr>
          <p:nvPr/>
        </p:nvSpPr>
        <p:spPr>
          <a:xfrm xmlns:a="http://schemas.openxmlformats.org/drawingml/2006/main">
            <a:off x="609600" y="62293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D44"/>
                </a:solidFill>
              </a:defRPr>
            </a:defPPr>
          </a:lstStyle>
          <a:p xmlns:a="http://schemas.openxmlformats.org/drawingml/2006/main">
            <a:pPr>
              <a:defRPr sz="1575" b="0">
                <a:solidFill>
                  <a:srgbClr val="142D44"/>
                </a:solidFill>
              </a:defRPr>
            </a:pPr>
            <a:r>
              <a:rPr sz="1575" b="0">
                <a:solidFill>
                  <a:srgbClr val="142D44"/>
                </a:solidFill>
              </a:rPr>
              <a:t>Chapter 2 pp. 20–21     Figure 2.2</a:t>
            </a:r>
          </a:p>
        </p:txBody>
      </p:sp>
    </p:spTree>
    <p:extLst>
      <p:ext uri="{BB962C8B-B14F-4D97-AF65-F5344CB8AC3E}">
        <p14:creationId xmlns:p14="http://schemas.microsoft.com/office/powerpoint/2010/main" val="868428682"/>
      </p:ext>
    </p:extLst>
  </p:cSld>
  <p:transition spd="fast" advClick="1">
    <p:fade/>
  </p:transition>
</p:sld>
</file>

<file path=ppt/slides/slide12.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3931A19-FCDB-4844-8274-7C0A7D27E1BD}"/>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D44"/>
                </a:solidFill>
              </a:defRPr>
            </a:defPPr>
          </a:lstStyle>
          <a:p xmlns:a="http://schemas.openxmlformats.org/drawingml/2006/main">
            <a:pPr>
              <a:defRPr sz="3450" b="1">
                <a:solidFill>
                  <a:srgbClr val="142D44"/>
                </a:solidFill>
              </a:defRPr>
            </a:pPr>
            <a:r>
              <a:rPr sz="3450" b="1">
                <a:solidFill>
                  <a:srgbClr val="142D44"/>
                </a:solidFill>
              </a:rPr>
              <a:t>A milestone before the final goal</a:t>
            </a:r>
          </a:p>
        </p:txBody>
      </p:sp>
      <p:sp>
        <p:nvSpPr>
          <p:cNvPr id="2" name="">
            <a:extLst xmlns:a="http://schemas.openxmlformats.org/drawingml/2006/main">
              <a:ext uri="{FF2B5EF4-FFF2-40B4-BE49-F238E27FC236}">
                <a16:creationId xmlns:a16="http://schemas.microsoft.com/office/drawing/2014/main" id="{036687FE-DEE7-4C67-AE34-6C2D5D7C17BA}"/>
              </a:ext>
            </a:extLst>
          </p:cNvPr>
          <p:cNvSpPr>
            <a:spLocks xmlns:a="http://schemas.openxmlformats.org/drawingml/2006/main" noGrp="1"/>
          </p:cNvSpPr>
          <p:nvPr/>
        </p:nvSpPr>
        <p:spPr>
          <a:xfrm xmlns:a="http://schemas.openxmlformats.org/drawingml/2006/main">
            <a:off x="609600" y="1476375"/>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087D83"/>
                </a:solidFill>
              </a:defRPr>
            </a:defPPr>
          </a:lstStyle>
          <a:p xmlns:a="http://schemas.openxmlformats.org/drawingml/2006/main">
            <a:pPr>
              <a:defRPr sz="2625" b="1">
                <a:solidFill>
                  <a:srgbClr val="087D83"/>
                </a:solidFill>
              </a:defRPr>
            </a:pPr>
            <a:r>
              <a:rPr sz="2625" b="1">
                <a:solidFill>
                  <a:srgbClr val="087D83"/>
                </a:solidFill>
              </a:rPr>
              <a:t>By November 13, increase weekly sneaker sales from 20 to 24 pairs.</a:t>
            </a:r>
          </a:p>
        </p:txBody>
      </p:sp>
      <p:sp>
        <p:nvSpPr>
          <p:cNvPr id="3" name="">
            <a:extLst xmlns:a="http://schemas.openxmlformats.org/drawingml/2006/main">
              <a:ext uri="{FF2B5EF4-FFF2-40B4-BE49-F238E27FC236}">
                <a16:creationId xmlns:a16="http://schemas.microsoft.com/office/drawing/2014/main" id="{43E51DA5-C1A3-4519-9E2C-C5F2F3F8AD4B}"/>
              </a:ext>
            </a:extLst>
          </p:cNvPr>
          <p:cNvSpPr>
            <a:spLocks xmlns:a="http://schemas.openxmlformats.org/drawingml/2006/main" noGrp="1"/>
          </p:cNvSpPr>
          <p:nvPr/>
        </p:nvSpPr>
        <p:spPr>
          <a:xfrm xmlns:a="http://schemas.openxmlformats.org/drawingml/2006/main">
            <a:off x="609600" y="3286125"/>
            <a:ext cx="10858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142D44"/>
                </a:solidFill>
              </a:defRPr>
            </a:defPPr>
          </a:lstStyle>
          <a:p xmlns:a="http://schemas.openxmlformats.org/drawingml/2006/main">
            <a:pPr>
              <a:defRPr sz="3150" b="0">
                <a:solidFill>
                  <a:srgbClr val="142D44"/>
                </a:solidFill>
              </a:defRPr>
            </a:pPr>
            <a:r>
              <a:rPr sz="3150" b="0">
                <a:solidFill>
                  <a:srgbClr val="142D44"/>
                </a:solidFill>
              </a:rPr>
              <a:t>What smaller result could we check before November 13?</a:t>
            </a:r>
          </a:p>
        </p:txBody>
      </p:sp>
      <p:sp>
        <p:nvSpPr>
          <p:cNvPr id="4" name="">
            <a:extLst xmlns:a="http://schemas.openxmlformats.org/drawingml/2006/main">
              <a:ext uri="{FF2B5EF4-FFF2-40B4-BE49-F238E27FC236}">
                <a16:creationId xmlns:a16="http://schemas.microsoft.com/office/drawing/2014/main" id="{33E94856-2AA9-4506-BB5C-E6A7ADD1C99F}"/>
              </a:ext>
            </a:extLst>
          </p:cNvPr>
          <p:cNvSpPr>
            <a:spLocks xmlns:a="http://schemas.openxmlformats.org/drawingml/2006/main" noGrp="1"/>
          </p:cNvSpPr>
          <p:nvPr/>
        </p:nvSpPr>
        <p:spPr>
          <a:xfrm xmlns:a="http://schemas.openxmlformats.org/drawingml/2006/main">
            <a:off x="609600" y="55245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D44"/>
                </a:solidFill>
              </a:defRPr>
            </a:defPPr>
          </a:lstStyle>
          <a:p xmlns:a="http://schemas.openxmlformats.org/drawingml/2006/main">
            <a:pPr>
              <a:defRPr sz="2100" b="0">
                <a:solidFill>
                  <a:srgbClr val="142D44"/>
                </a:solidFill>
              </a:defRPr>
            </a:pPr>
            <a:r>
              <a:rPr sz="2100" b="0">
                <a:solidFill>
                  <a:srgbClr val="142D44"/>
                </a:solidFill>
              </a:rPr>
              <a:t>Suggest one checkpoint and a date. Chapter 2 p. 21.</a:t>
            </a:r>
          </a:p>
        </p:txBody>
      </p:sp>
    </p:spTree>
    <p:extLst>
      <p:ext uri="{BB962C8B-B14F-4D97-AF65-F5344CB8AC3E}">
        <p14:creationId xmlns:p14="http://schemas.microsoft.com/office/powerpoint/2010/main" val="971951962"/>
      </p:ext>
    </p:extLst>
  </p:cSld>
  <p:transition spd="fast" advClick="1">
    <p:fade/>
  </p:transition>
</p:sld>
</file>

<file path=ppt/slides/slide13.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4CFC17A-6227-4E21-93B1-EA647FB88227}"/>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D44"/>
                </a:solidFill>
              </a:defRPr>
            </a:defPPr>
          </a:lstStyle>
          <a:p xmlns:a="http://schemas.openxmlformats.org/drawingml/2006/main">
            <a:pPr>
              <a:defRPr sz="3450" b="1">
                <a:solidFill>
                  <a:srgbClr val="142D44"/>
                </a:solidFill>
              </a:defRPr>
            </a:pPr>
            <a:r>
              <a:rPr sz="3450" b="1">
                <a:solidFill>
                  <a:srgbClr val="142D44"/>
                </a:solidFill>
              </a:rPr>
              <a:t>A milestone checks progress</a:t>
            </a:r>
          </a:p>
        </p:txBody>
      </p:sp>
      <p:sp>
        <p:nvSpPr>
          <p:cNvPr id="2" name="">
            <a:extLst xmlns:a="http://schemas.openxmlformats.org/drawingml/2006/main">
              <a:ext uri="{FF2B5EF4-FFF2-40B4-BE49-F238E27FC236}">
                <a16:creationId xmlns:a16="http://schemas.microsoft.com/office/drawing/2014/main" id="{932F0974-6C97-4CC7-BB42-9D6A07C0A188}"/>
              </a:ext>
            </a:extLst>
          </p:cNvPr>
          <p:cNvSpPr>
            <a:spLocks xmlns:a="http://schemas.openxmlformats.org/drawingml/2006/main" noGrp="1"/>
          </p:cNvSpPr>
          <p:nvPr/>
        </p:nvSpPr>
        <p:spPr>
          <a:xfrm xmlns:a="http://schemas.openxmlformats.org/drawingml/2006/main">
            <a:off x="609600" y="1476375"/>
            <a:ext cx="10858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142D44"/>
                </a:solidFill>
              </a:defRPr>
            </a:defPPr>
          </a:lstStyle>
          <a:p xmlns:a="http://schemas.openxmlformats.org/drawingml/2006/main">
            <a:pPr>
              <a:defRPr sz="2475" b="0">
                <a:solidFill>
                  <a:srgbClr val="142D44"/>
                </a:solidFill>
              </a:defRPr>
            </a:pPr>
            <a:r>
              <a:rPr sz="2475" b="0">
                <a:solidFill>
                  <a:srgbClr val="142D44"/>
                </a:solidFill>
              </a:rPr>
              <a:t>1  Checkpoint: 22 pairs in one week by October 30.</a:t>
            </a:r>
          </a:p>
          <a:p xmlns:a="http://schemas.openxmlformats.org/drawingml/2006/main">
            <a:r>
              <a:t/>
            </a:r>
          </a:p>
          <a:p xmlns:a="http://schemas.openxmlformats.org/drawingml/2006/main">
            <a:pPr>
              <a:defRPr sz="2475" b="0">
                <a:solidFill>
                  <a:srgbClr val="142D44"/>
                </a:solidFill>
              </a:defRPr>
            </a:pPr>
            <a:r>
              <a:rPr sz="2475" b="0">
                <a:solidFill>
                  <a:srgbClr val="142D44"/>
                </a:solidFill>
              </a:rPr>
              <a:t>2  Action: repeat the promotion with available stock.</a:t>
            </a:r>
          </a:p>
          <a:p xmlns:a="http://schemas.openxmlformats.org/drawingml/2006/main">
            <a:r>
              <a:t/>
            </a:r>
          </a:p>
          <a:p xmlns:a="http://schemas.openxmlformats.org/drawingml/2006/main">
            <a:pPr>
              <a:defRPr sz="2475" b="0">
                <a:solidFill>
                  <a:srgbClr val="142D44"/>
                </a:solidFill>
              </a:defRPr>
            </a:pPr>
            <a:r>
              <a:rPr sz="2475" b="0">
                <a:solidFill>
                  <a:srgbClr val="142D44"/>
                </a:solidFill>
              </a:rPr>
              <a:t>3  Measurement: check the weekly sales log.</a:t>
            </a:r>
          </a:p>
          <a:p xmlns:a="http://schemas.openxmlformats.org/drawingml/2006/main">
            <a:r>
              <a:t/>
            </a:r>
          </a:p>
          <a:p xmlns:a="http://schemas.openxmlformats.org/drawingml/2006/main">
            <a:pPr>
              <a:defRPr sz="2475" b="0">
                <a:solidFill>
                  <a:srgbClr val="142D44"/>
                </a:solidFill>
              </a:defRPr>
            </a:pPr>
            <a:r>
              <a:rPr sz="2475" b="0">
                <a:solidFill>
                  <a:srgbClr val="142D44"/>
                </a:solidFill>
              </a:rPr>
              <a:t>4  Review: examine the results and adjust the plan.</a:t>
            </a:r>
          </a:p>
        </p:txBody>
      </p:sp>
      <p:sp>
        <p:nvSpPr>
          <p:cNvPr id="3" name="">
            <a:extLst xmlns:a="http://schemas.openxmlformats.org/drawingml/2006/main">
              <a:ext uri="{FF2B5EF4-FFF2-40B4-BE49-F238E27FC236}">
                <a16:creationId xmlns:a16="http://schemas.microsoft.com/office/drawing/2014/main" id="{EA50B9B2-05CC-4294-8196-B824D381C82B}"/>
              </a:ext>
            </a:extLst>
          </p:cNvPr>
          <p:cNvSpPr>
            <a:spLocks xmlns:a="http://schemas.openxmlformats.org/drawingml/2006/main" noGrp="1"/>
          </p:cNvSpPr>
          <p:nvPr/>
        </p:nvSpPr>
        <p:spPr>
          <a:xfrm xmlns:a="http://schemas.openxmlformats.org/drawingml/2006/main">
            <a:off x="609600" y="619125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42D44"/>
                </a:solidFill>
              </a:defRPr>
            </a:defPPr>
          </a:lstStyle>
          <a:p xmlns:a="http://schemas.openxmlformats.org/drawingml/2006/main">
            <a:pPr>
              <a:defRPr sz="1575" b="0">
                <a:solidFill>
                  <a:srgbClr val="142D44"/>
                </a:solidFill>
              </a:defRPr>
            </a:pPr>
            <a:r>
              <a:rPr sz="1575" b="0">
                <a:solidFill>
                  <a:srgbClr val="142D44"/>
                </a:solidFill>
              </a:rPr>
              <a:t>Chapter 2 pp. 22–23     Final goal: 24 pairs per week by November 13</a:t>
            </a:r>
          </a:p>
        </p:txBody>
      </p:sp>
    </p:spTree>
    <p:extLst>
      <p:ext uri="{BB962C8B-B14F-4D97-AF65-F5344CB8AC3E}">
        <p14:creationId xmlns:p14="http://schemas.microsoft.com/office/powerpoint/2010/main" val="961361766"/>
      </p:ext>
    </p:extLst>
  </p:cSld>
  <p:transition spd="fast" advClick="1">
    <p:fade/>
  </p:transition>
</p:sld>
</file>

<file path=ppt/slides/slide14.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9D14988-BFCA-4AFF-A33B-4234BB5332B6}"/>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D44"/>
                </a:solidFill>
              </a:defRPr>
            </a:defPPr>
          </a:lstStyle>
          <a:p xmlns:a="http://schemas.openxmlformats.org/drawingml/2006/main">
            <a:pPr>
              <a:defRPr sz="3450" b="1">
                <a:solidFill>
                  <a:srgbClr val="142D44"/>
                </a:solidFill>
              </a:defRPr>
            </a:pPr>
            <a:r>
              <a:rPr sz="3450" b="1">
                <a:solidFill>
                  <a:srgbClr val="142D44"/>
                </a:solidFill>
              </a:rPr>
              <a:t>Chapter 2 independent review</a:t>
            </a:r>
          </a:p>
        </p:txBody>
      </p:sp>
      <p:sp>
        <p:nvSpPr>
          <p:cNvPr id="2" name="">
            <a:extLst xmlns:a="http://schemas.openxmlformats.org/drawingml/2006/main">
              <a:ext uri="{FF2B5EF4-FFF2-40B4-BE49-F238E27FC236}">
                <a16:creationId xmlns:a16="http://schemas.microsoft.com/office/drawing/2014/main" id="{7D7229A8-1B61-40EF-ACDD-D417EBD77654}"/>
              </a:ext>
            </a:extLst>
          </p:cNvPr>
          <p:cNvSpPr>
            <a:spLocks xmlns:a="http://schemas.openxmlformats.org/drawingml/2006/main" noGrp="1"/>
          </p:cNvSpPr>
          <p:nvPr/>
        </p:nvSpPr>
        <p:spPr>
          <a:xfrm xmlns:a="http://schemas.openxmlformats.org/drawingml/2006/main">
            <a:off x="609600" y="142875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D44"/>
                </a:solidFill>
              </a:defRPr>
            </a:defPPr>
          </a:lstStyle>
          <a:p xmlns:a="http://schemas.openxmlformats.org/drawingml/2006/main">
            <a:pPr>
              <a:defRPr sz="2250" b="0">
                <a:solidFill>
                  <a:srgbClr val="142D44"/>
                </a:solidFill>
              </a:defRPr>
            </a:pPr>
            <a:r>
              <a:rPr sz="2250" b="0">
                <a:solidFill>
                  <a:srgbClr val="142D44"/>
                </a:solidFill>
              </a:rPr>
              <a:t>Use your existing Test Your Knowledge worksheet.</a:t>
            </a:r>
          </a:p>
        </p:txBody>
      </p:sp>
      <p:sp>
        <p:nvSpPr>
          <p:cNvPr id="3" name="">
            <a:extLst xmlns:a="http://schemas.openxmlformats.org/drawingml/2006/main">
              <a:ext uri="{FF2B5EF4-FFF2-40B4-BE49-F238E27FC236}">
                <a16:creationId xmlns:a16="http://schemas.microsoft.com/office/drawing/2014/main" id="{F5FE045A-E382-4A83-A059-EDD770AF76D6}"/>
              </a:ext>
            </a:extLst>
          </p:cNvPr>
          <p:cNvSpPr>
            <a:spLocks xmlns:a="http://schemas.openxmlformats.org/drawingml/2006/main" noGrp="1"/>
          </p:cNvSpPr>
          <p:nvPr/>
        </p:nvSpPr>
        <p:spPr>
          <a:xfrm xmlns:a="http://schemas.openxmlformats.org/drawingml/2006/main">
            <a:off x="609600" y="2333625"/>
            <a:ext cx="10858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D83"/>
                </a:solidFill>
              </a:defRPr>
            </a:defPPr>
          </a:lstStyle>
          <a:p xmlns:a="http://schemas.openxmlformats.org/drawingml/2006/main">
            <a:pPr>
              <a:defRPr sz="2250" b="1">
                <a:solidFill>
                  <a:srgbClr val="087D83"/>
                </a:solidFill>
              </a:defRPr>
            </a:pPr>
            <a:r>
              <a:rPr sz="2250" b="1">
                <a:solidFill>
                  <a:srgbClr val="087D83"/>
                </a:solidFill>
              </a:rPr>
              <a:t>Q4  Why does identifying the target market matter?</a:t>
            </a:r>
          </a:p>
          <a:p xmlns:a="http://schemas.openxmlformats.org/drawingml/2006/main">
            <a:pPr>
              <a:defRPr sz="2250" b="1">
                <a:solidFill>
                  <a:srgbClr val="087D83"/>
                </a:solidFill>
              </a:defRPr>
            </a:pPr>
            <a:r>
              <a:rPr sz="2250" b="1">
                <a:solidFill>
                  <a:srgbClr val="087D83"/>
                </a:solidFill>
              </a:rPr>
              <a:t>        p. 23 and Chapter 1 notes</a:t>
            </a:r>
          </a:p>
          <a:p xmlns:a="http://schemas.openxmlformats.org/drawingml/2006/main">
            <a:r>
              <a:t/>
            </a:r>
          </a:p>
          <a:p xmlns:a="http://schemas.openxmlformats.org/drawingml/2006/main">
            <a:pPr>
              <a:defRPr sz="2250" b="1">
                <a:solidFill>
                  <a:srgbClr val="087D83"/>
                </a:solidFill>
              </a:defRPr>
            </a:pPr>
            <a:r>
              <a:rPr sz="2250" b="1">
                <a:solidFill>
                  <a:srgbClr val="087D83"/>
                </a:solidFill>
              </a:rPr>
              <a:t>Q5  Explain the plan’s elements, design and purposes.</a:t>
            </a:r>
          </a:p>
          <a:p xmlns:a="http://schemas.openxmlformats.org/drawingml/2006/main">
            <a:pPr>
              <a:defRPr sz="2250" b="1">
                <a:solidFill>
                  <a:srgbClr val="087D83"/>
                </a:solidFill>
              </a:defRPr>
            </a:pPr>
            <a:r>
              <a:rPr sz="2250" b="1">
                <a:solidFill>
                  <a:srgbClr val="087D83"/>
                </a:solidFill>
              </a:rPr>
              <a:t>        Brief paragraph using p. 19</a:t>
            </a:r>
          </a:p>
          <a:p xmlns:a="http://schemas.openxmlformats.org/drawingml/2006/main">
            <a:r>
              <a:t/>
            </a:r>
          </a:p>
          <a:p xmlns:a="http://schemas.openxmlformats.org/drawingml/2006/main">
            <a:pPr>
              <a:defRPr sz="2250" b="1">
                <a:solidFill>
                  <a:srgbClr val="087D83"/>
                </a:solidFill>
              </a:defRPr>
            </a:pPr>
            <a:r>
              <a:rPr sz="2250" b="1">
                <a:solidFill>
                  <a:srgbClr val="087D83"/>
                </a:solidFill>
              </a:rPr>
              <a:t>Q8  Name and explain all five SMART criteria.</a:t>
            </a:r>
          </a:p>
          <a:p xmlns:a="http://schemas.openxmlformats.org/drawingml/2006/main">
            <a:pPr>
              <a:defRPr sz="2250" b="1">
                <a:solidFill>
                  <a:srgbClr val="087D83"/>
                </a:solidFill>
              </a:defRPr>
            </a:pPr>
            <a:r>
              <a:rPr sz="2250" b="1">
                <a:solidFill>
                  <a:srgbClr val="087D83"/>
                </a:solidFill>
              </a:rPr>
              <a:t>        pp. 20–21, Figure 2.2</a:t>
            </a:r>
          </a:p>
        </p:txBody>
      </p:sp>
      <p:sp>
        <p:nvSpPr>
          <p:cNvPr id="4" name="">
            <a:extLst xmlns:a="http://schemas.openxmlformats.org/drawingml/2006/main">
              <a:ext uri="{FF2B5EF4-FFF2-40B4-BE49-F238E27FC236}">
                <a16:creationId xmlns:a16="http://schemas.microsoft.com/office/drawing/2014/main" id="{282B662C-A8EF-41ED-9BF3-B5A41148528E}"/>
              </a:ext>
            </a:extLst>
          </p:cNvPr>
          <p:cNvSpPr>
            <a:spLocks xmlns:a="http://schemas.openxmlformats.org/drawingml/2006/main" noGrp="1"/>
          </p:cNvSpPr>
          <p:nvPr/>
        </p:nvSpPr>
        <p:spPr>
          <a:xfrm xmlns:a="http://schemas.openxmlformats.org/drawingml/2006/main">
            <a:off x="609600" y="60483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42D44"/>
                </a:solidFill>
              </a:defRPr>
            </a:defPPr>
          </a:lstStyle>
          <a:p xmlns:a="http://schemas.openxmlformats.org/drawingml/2006/main">
            <a:pPr>
              <a:defRPr sz="1950" b="0">
                <a:solidFill>
                  <a:srgbClr val="142D44"/>
                </a:solidFill>
              </a:defRPr>
            </a:pPr>
            <a:r>
              <a:rPr sz="1950" b="0">
                <a:solidFill>
                  <a:srgbClr val="142D44"/>
                </a:solidFill>
              </a:rPr>
              <a:t>Then finish missing Q1–3. Save your work for test preparation.</a:t>
            </a:r>
          </a:p>
        </p:txBody>
      </p:sp>
    </p:spTree>
    <p:extLst>
      <p:ext uri="{BB962C8B-B14F-4D97-AF65-F5344CB8AC3E}">
        <p14:creationId xmlns:p14="http://schemas.microsoft.com/office/powerpoint/2010/main" val="1581013692"/>
      </p:ext>
    </p:extLst>
  </p:cSld>
  <p:transition spd="fast" advClick="1">
    <p:fade/>
  </p:transition>
</p:sld>
</file>

<file path=ppt/slides/slide15.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C21CB63-2A01-4C92-90B7-ED0DA75C79C4}"/>
              </a:ext>
            </a:extLst>
          </p:cNvPr>
          <p:cNvSpPr>
            <a:spLocks xmlns:a="http://schemas.openxmlformats.org/drawingml/2006/main" noGrp="1"/>
          </p:cNvSpPr>
          <p:nvPr/>
        </p:nvSpPr>
        <p:spPr>
          <a:xfrm xmlns:a="http://schemas.openxmlformats.org/drawingml/2006/main">
            <a:off x="609600" y="428625"/>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42D44"/>
                </a:solidFill>
              </a:defRPr>
            </a:defPPr>
          </a:lstStyle>
          <a:p xmlns:a="http://schemas.openxmlformats.org/drawingml/2006/main">
            <a:pPr>
              <a:defRPr sz="3450" b="1">
                <a:solidFill>
                  <a:srgbClr val="142D44"/>
                </a:solidFill>
              </a:defRPr>
            </a:pPr>
            <a:r>
              <a:rPr sz="3450" b="1">
                <a:solidFill>
                  <a:srgbClr val="142D44"/>
                </a:solidFill>
              </a:rPr>
              <a:t>Preparation for Friday’s Chapter 2 test</a:t>
            </a:r>
          </a:p>
        </p:txBody>
      </p:sp>
      <p:sp>
        <p:nvSpPr>
          <p:cNvPr id="2" name="">
            <a:extLst xmlns:a="http://schemas.openxmlformats.org/drawingml/2006/main">
              <a:ext uri="{FF2B5EF4-FFF2-40B4-BE49-F238E27FC236}">
                <a16:creationId xmlns:a16="http://schemas.microsoft.com/office/drawing/2014/main" id="{A66211A9-8669-4CCA-8B3B-2133E334A5EA}"/>
              </a:ext>
            </a:extLst>
          </p:cNvPr>
          <p:cNvSpPr>
            <a:spLocks xmlns:a="http://schemas.openxmlformats.org/drawingml/2006/main" noGrp="1"/>
          </p:cNvSpPr>
          <p:nvPr/>
        </p:nvSpPr>
        <p:spPr>
          <a:xfrm xmlns:a="http://schemas.openxmlformats.org/drawingml/2006/main">
            <a:off x="609600" y="1524000"/>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87D83"/>
                </a:solidFill>
              </a:defRPr>
            </a:defPPr>
          </a:lstStyle>
          <a:p xmlns:a="http://schemas.openxmlformats.org/drawingml/2006/main">
            <a:pPr>
              <a:defRPr sz="2550" b="1">
                <a:solidFill>
                  <a:srgbClr val="087D83"/>
                </a:solidFill>
              </a:defRPr>
            </a:pPr>
            <a:r>
              <a:rPr sz="2550" b="1">
                <a:solidFill>
                  <a:srgbClr val="087D83"/>
                </a:solidFill>
              </a:rPr>
              <a:t>First, recall without looking</a:t>
            </a:r>
          </a:p>
          <a:p xmlns:a="http://schemas.openxmlformats.org/drawingml/2006/main">
            <a:pPr>
              <a:defRPr sz="2550" b="1">
                <a:solidFill>
                  <a:srgbClr val="087D83"/>
                </a:solidFill>
              </a:defRPr>
            </a:pPr>
            <a:r>
              <a:rPr sz="2550" b="1">
                <a:solidFill>
                  <a:srgbClr val="087D83"/>
                </a:solidFill>
              </a:rPr>
              <a:t>Explain SMART. How does a milestone support a goal?</a:t>
            </a:r>
          </a:p>
        </p:txBody>
      </p:sp>
      <p:sp>
        <p:nvSpPr>
          <p:cNvPr id="3" name="">
            <a:extLst xmlns:a="http://schemas.openxmlformats.org/drawingml/2006/main">
              <a:ext uri="{FF2B5EF4-FFF2-40B4-BE49-F238E27FC236}">
                <a16:creationId xmlns:a16="http://schemas.microsoft.com/office/drawing/2014/main" id="{A10C2CCE-EE01-4FB0-A525-923D91C7F9B3}"/>
              </a:ext>
            </a:extLst>
          </p:cNvPr>
          <p:cNvSpPr>
            <a:spLocks xmlns:a="http://schemas.openxmlformats.org/drawingml/2006/main" noGrp="1"/>
          </p:cNvSpPr>
          <p:nvPr/>
        </p:nvSpPr>
        <p:spPr>
          <a:xfrm xmlns:a="http://schemas.openxmlformats.org/drawingml/2006/main">
            <a:off x="609600" y="3238500"/>
            <a:ext cx="10858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D44"/>
                </a:solidFill>
              </a:defRPr>
            </a:defPPr>
          </a:lstStyle>
          <a:p xmlns:a="http://schemas.openxmlformats.org/drawingml/2006/main">
            <a:pPr>
              <a:defRPr sz="2400" b="0">
                <a:solidFill>
                  <a:srgbClr val="142D44"/>
                </a:solidFill>
              </a:defRPr>
            </a:pPr>
            <a:r>
              <a:rPr sz="2400" b="0">
                <a:solidFill>
                  <a:srgbClr val="142D44"/>
                </a:solidFill>
              </a:rPr>
              <a:t>Then check and correct your existing answers</a:t>
            </a:r>
          </a:p>
          <a:p xmlns:a="http://schemas.openxmlformats.org/drawingml/2006/main">
            <a:pPr>
              <a:defRPr sz="2400" b="0">
                <a:solidFill>
                  <a:srgbClr val="142D44"/>
                </a:solidFill>
              </a:defRPr>
            </a:pPr>
            <a:r>
              <a:rPr sz="2400" b="0">
                <a:solidFill>
                  <a:srgbClr val="142D44"/>
                </a:solidFill>
              </a:rPr>
              <a:t>Q4: why the target market matters</a:t>
            </a:r>
          </a:p>
          <a:p xmlns:a="http://schemas.openxmlformats.org/drawingml/2006/main">
            <a:pPr>
              <a:defRPr sz="2400" b="0">
                <a:solidFill>
                  <a:srgbClr val="142D44"/>
                </a:solidFill>
              </a:defRPr>
            </a:pPr>
            <a:r>
              <a:rPr sz="2400" b="0">
                <a:solidFill>
                  <a:srgbClr val="142D44"/>
                </a:solidFill>
              </a:rPr>
              <a:t>Q5: plan elements, design and purpose</a:t>
            </a:r>
          </a:p>
          <a:p xmlns:a="http://schemas.openxmlformats.org/drawingml/2006/main">
            <a:pPr>
              <a:defRPr sz="2400" b="0">
                <a:solidFill>
                  <a:srgbClr val="142D44"/>
                </a:solidFill>
              </a:defRPr>
            </a:pPr>
            <a:r>
              <a:rPr sz="2400" b="0">
                <a:solidFill>
                  <a:srgbClr val="142D44"/>
                </a:solidFill>
              </a:rPr>
              <a:t>Q8: all five criteria using Figure 2.2 on p. 21</a:t>
            </a:r>
          </a:p>
        </p:txBody>
      </p:sp>
      <p:sp>
        <p:nvSpPr>
          <p:cNvPr id="4" name="">
            <a:extLst xmlns:a="http://schemas.openxmlformats.org/drawingml/2006/main">
              <a:ext uri="{FF2B5EF4-FFF2-40B4-BE49-F238E27FC236}">
                <a16:creationId xmlns:a16="http://schemas.microsoft.com/office/drawing/2014/main" id="{C8F58022-7B58-4ABF-B26C-BF7FB17DD37B}"/>
              </a:ext>
            </a:extLst>
          </p:cNvPr>
          <p:cNvSpPr>
            <a:spLocks xmlns:a="http://schemas.openxmlformats.org/drawingml/2006/main" noGrp="1"/>
          </p:cNvSpPr>
          <p:nvPr/>
        </p:nvSpPr>
        <p:spPr>
          <a:xfrm xmlns:a="http://schemas.openxmlformats.org/drawingml/2006/main">
            <a:off x="609600" y="57150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D44"/>
                </a:solidFill>
              </a:defRPr>
            </a:defPPr>
          </a:lstStyle>
          <a:p xmlns:a="http://schemas.openxmlformats.org/drawingml/2006/main">
            <a:pPr>
              <a:defRPr sz="2250" b="0">
                <a:solidFill>
                  <a:srgbClr val="142D44"/>
                </a:solidFill>
              </a:defRPr>
            </a:pPr>
            <a:r>
              <a:rPr sz="2250" b="0">
                <a:solidFill>
                  <a:srgbClr val="142D44"/>
                </a:solidFill>
              </a:rPr>
              <a:t>Save your work. Flag one unclear point for help.</a:t>
            </a:r>
          </a:p>
        </p:txBody>
      </p:sp>
    </p:spTree>
    <p:extLst>
      <p:ext uri="{BB962C8B-B14F-4D97-AF65-F5344CB8AC3E}">
        <p14:creationId xmlns:p14="http://schemas.microsoft.com/office/powerpoint/2010/main" val="1433451619"/>
      </p:ext>
    </p:extLst>
  </p:cSld>
  <p:transition spd="fast"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2026-10-19T00:36:41.1820000Z</dcterms:created>
  <dcterms:modified xsi:type="dcterms:W3CDTF">2026-10-19T00:36:41.1820000Z</dcterms:modified>
</coreProperties>
</file>