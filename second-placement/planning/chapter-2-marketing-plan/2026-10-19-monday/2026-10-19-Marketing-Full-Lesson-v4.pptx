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b2e32210474b38" /><Relationship Type="http://schemas.openxmlformats.org/officeDocument/2006/relationships/extended-properties" Target="/docProps/app.xml" Id="R0793130bfae0478a" /><Relationship Type="http://schemas.openxmlformats.org/officeDocument/2006/relationships/officeDocument" Target="/ppt/presentation.xml" Id="R5c1d9f2c10cd4a1e" /></Relationships>
</file>

<file path=ppt/presentation.xml><?xml version="1.0" encoding="utf-8"?>
<p:presentation xmlns:p="http://schemas.openxmlformats.org/presentationml/2006/main">
  <p:sldMasterIdLst>
    <p:sldMasterId xmlns:r="http://schemas.openxmlformats.org/officeDocument/2006/relationships" id="2147483648" r:id="R1722499e22374a69"/>
  </p:sldMasterIdLst>
  <p:notesMasterIdLst>
    <p:notesMasterId xmlns:r="http://schemas.openxmlformats.org/officeDocument/2006/relationships" r:id="Rb8fc8ab3fd7a4b72"/>
  </p:notesMasterIdLst>
  <p:sldIdLst>
    <p:sldId xmlns:r="http://schemas.openxmlformats.org/officeDocument/2006/relationships" id="271" r:id="R9f68e7a36a59476b"/>
    <p:sldId xmlns:r="http://schemas.openxmlformats.org/officeDocument/2006/relationships" id="256" r:id="Rfe11bca5571f48ab"/>
    <p:sldId xmlns:r="http://schemas.openxmlformats.org/officeDocument/2006/relationships" id="272" r:id="R7e60c5e21dda4bd0"/>
    <p:sldId xmlns:r="http://schemas.openxmlformats.org/officeDocument/2006/relationships" id="257" r:id="R2aae2301b64c40af"/>
    <p:sldId xmlns:r="http://schemas.openxmlformats.org/officeDocument/2006/relationships" id="258" r:id="Rb31be16515824384"/>
    <p:sldId xmlns:r="http://schemas.openxmlformats.org/officeDocument/2006/relationships" id="259" r:id="R2d6da0535ce34b20"/>
    <p:sldId xmlns:r="http://schemas.openxmlformats.org/officeDocument/2006/relationships" id="260" r:id="R861395fe9f7d456a"/>
    <p:sldId xmlns:r="http://schemas.openxmlformats.org/officeDocument/2006/relationships" id="261" r:id="R28823c52615b4ac5"/>
    <p:sldId xmlns:r="http://schemas.openxmlformats.org/officeDocument/2006/relationships" id="262" r:id="Re749e208a8de4ce5"/>
    <p:sldId xmlns:r="http://schemas.openxmlformats.org/officeDocument/2006/relationships" id="263" r:id="Rbe22cc94f9f644fc"/>
    <p:sldId xmlns:r="http://schemas.openxmlformats.org/officeDocument/2006/relationships" id="264" r:id="R82d003bd7b194fa9"/>
    <p:sldId xmlns:r="http://schemas.openxmlformats.org/officeDocument/2006/relationships" id="265" r:id="R8cbdc6c2a449481c"/>
    <p:sldId xmlns:r="http://schemas.openxmlformats.org/officeDocument/2006/relationships" id="266" r:id="Rd8caf45a11f94658"/>
    <p:sldId xmlns:r="http://schemas.openxmlformats.org/officeDocument/2006/relationships" id="273" r:id="R18c9e5bd43564428"/>
    <p:sldId xmlns:r="http://schemas.openxmlformats.org/officeDocument/2006/relationships" id="267" r:id="R668f3c51995c4562"/>
    <p:sldId xmlns:r="http://schemas.openxmlformats.org/officeDocument/2006/relationships" id="268" r:id="Rba1836b6a44a425d"/>
    <p:sldId xmlns:r="http://schemas.openxmlformats.org/officeDocument/2006/relationships" id="274" r:id="R0fcfaa2eabba4505"/>
    <p:sldId xmlns:r="http://schemas.openxmlformats.org/officeDocument/2006/relationships" id="269" r:id="Rae3e37be19d2452f"/>
    <p:sldId xmlns:r="http://schemas.openxmlformats.org/officeDocument/2006/relationships" id="270" r:id="Rdb63ab64cca94f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d57c5109b84790" /><Relationship Type="http://schemas.openxmlformats.org/officeDocument/2006/relationships/slideMaster" Target="/ppt/slideMasters/slideMaster1.xml" Id="R1722499e22374a69" /><Relationship Type="http://schemas.openxmlformats.org/officeDocument/2006/relationships/notesMaster" Target="/ppt/notesMasters/notesMaster1.xml" Id="Rb8fc8ab3fd7a4b72" /><Relationship Type="http://schemas.openxmlformats.org/officeDocument/2006/relationships/presProps" Target="/ppt/presProps.xml" Id="R7dc3cc68903f4e9e" /><Relationship Type="http://schemas.openxmlformats.org/officeDocument/2006/relationships/tableStyles" Target="/ppt/tableStyles.xml" Id="Rd7a6e587fb934118" /><Relationship Type="http://schemas.openxmlformats.org/officeDocument/2006/relationships/slide" Target="/ppt/slides/slide1.xml" Id="Rfe11bca5571f48ab" /><Relationship Type="http://schemas.openxmlformats.org/officeDocument/2006/relationships/slide" Target="/ppt/slides/slide2.xml" Id="R2aae2301b64c40af" /><Relationship Type="http://schemas.openxmlformats.org/officeDocument/2006/relationships/slide" Target="/ppt/slides/slide3.xml" Id="Rb31be16515824384" /><Relationship Type="http://schemas.openxmlformats.org/officeDocument/2006/relationships/slide" Target="/ppt/slides/slide4.xml" Id="R2d6da0535ce34b20" /><Relationship Type="http://schemas.openxmlformats.org/officeDocument/2006/relationships/slide" Target="/ppt/slides/slide5.xml" Id="R861395fe9f7d456a" /><Relationship Type="http://schemas.openxmlformats.org/officeDocument/2006/relationships/slide" Target="/ppt/slides/slide6.xml" Id="R28823c52615b4ac5" /><Relationship Type="http://schemas.openxmlformats.org/officeDocument/2006/relationships/slide" Target="/ppt/slides/slide7.xml" Id="Re749e208a8de4ce5" /><Relationship Type="http://schemas.openxmlformats.org/officeDocument/2006/relationships/slide" Target="/ppt/slides/slide8.xml" Id="Rbe22cc94f9f644fc" /><Relationship Type="http://schemas.openxmlformats.org/officeDocument/2006/relationships/slide" Target="/ppt/slides/slide9.xml" Id="R82d003bd7b194fa9" /><Relationship Type="http://schemas.openxmlformats.org/officeDocument/2006/relationships/slide" Target="/ppt/slides/slide10.xml" Id="R8cbdc6c2a449481c" /><Relationship Type="http://schemas.openxmlformats.org/officeDocument/2006/relationships/slide" Target="/ppt/slides/slide11.xml" Id="Rd8caf45a11f94658" /><Relationship Type="http://schemas.openxmlformats.org/officeDocument/2006/relationships/slide" Target="/ppt/slides/slide12.xml" Id="R668f3c51995c4562" /><Relationship Type="http://schemas.openxmlformats.org/officeDocument/2006/relationships/slide" Target="/ppt/slides/slide13.xml" Id="Rba1836b6a44a425d" /><Relationship Type="http://schemas.openxmlformats.org/officeDocument/2006/relationships/slide" Target="/ppt/slides/slide14.xml" Id="Rae3e37be19d2452f" /><Relationship Type="http://schemas.openxmlformats.org/officeDocument/2006/relationships/slide" Target="/ppt/slides/slide15.xml" Id="Rdb63ab64cca94f84" /><Relationship Type="http://schemas.openxmlformats.org/officeDocument/2006/relationships/slide" Target="/ppt/slides/slide16.xml" Id="R9f68e7a36a59476b" /><Relationship Type="http://schemas.openxmlformats.org/officeDocument/2006/relationships/slide" Target="/ppt/slides/slide17.xml" Id="R7e60c5e21dda4bd0" /><Relationship Type="http://schemas.openxmlformats.org/officeDocument/2006/relationships/slide" Target="/ppt/slides/slide18.xml" Id="R18c9e5bd43564428" /><Relationship Type="http://schemas.openxmlformats.org/officeDocument/2006/relationships/slide" Target="/ppt/slides/slide19.xml" Id="R0fcfaa2eabba45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0d9d8c584948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afd124af7844d8" /><Relationship Type="http://schemas.openxmlformats.org/officeDocument/2006/relationships/notesMaster" Target="/ppt/notesMasters/notesMaster1.xml" Id="R81e78ea1af0b4c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c8a575c1214f1d" /><Relationship Type="http://schemas.openxmlformats.org/officeDocument/2006/relationships/notesMaster" Target="/ppt/notesMasters/notesMaster1.xml" Id="R91abb5d3971e4d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bde137d9024430" /><Relationship Type="http://schemas.openxmlformats.org/officeDocument/2006/relationships/notesMaster" Target="/ppt/notesMasters/notesMaster1.xml" Id="R95bf0e996f2b42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a234221b454fc1" /><Relationship Type="http://schemas.openxmlformats.org/officeDocument/2006/relationships/notesMaster" Target="/ppt/notesMasters/notesMaster1.xml" Id="R1233a51d77ec41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4763aad2bc4ccb" /><Relationship Type="http://schemas.openxmlformats.org/officeDocument/2006/relationships/notesMaster" Target="/ppt/notesMasters/notesMaster1.xml" Id="R21535d2d50ea43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fc4b70c2d84ecb" /><Relationship Type="http://schemas.openxmlformats.org/officeDocument/2006/relationships/notesMaster" Target="/ppt/notesMasters/notesMaster1.xml" Id="R2d2d9dcc44234d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8294b0ddac47a3" /><Relationship Type="http://schemas.openxmlformats.org/officeDocument/2006/relationships/notesMaster" Target="/ppt/notesMasters/notesMaster1.xml" Id="R5806f614b89742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2f1e794b764db9" /><Relationship Type="http://schemas.openxmlformats.org/officeDocument/2006/relationships/notesMaster" Target="/ppt/notesMasters/notesMaster1.xml" Id="R497467232ec54b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3b588b8f8e4ab2" /><Relationship Type="http://schemas.openxmlformats.org/officeDocument/2006/relationships/notesMaster" Target="/ppt/notesMasters/notesMaster1.xml" Id="R758619b4e2a642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a1d901fdc54b4a" /><Relationship Type="http://schemas.openxmlformats.org/officeDocument/2006/relationships/notesMaster" Target="/ppt/notesMasters/notesMaster1.xml" Id="R2bd2f152d44b46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4f59296e324707" /><Relationship Type="http://schemas.openxmlformats.org/officeDocument/2006/relationships/notesMaster" Target="/ppt/notesMasters/notesMaster1.xml" Id="R42eed5539e9d4c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fc9291c2734741" /><Relationship Type="http://schemas.openxmlformats.org/officeDocument/2006/relationships/notesMaster" Target="/ppt/notesMasters/notesMaster1.xml" Id="Rf562370e354345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8fbdf77204441b" /><Relationship Type="http://schemas.openxmlformats.org/officeDocument/2006/relationships/notesMaster" Target="/ppt/notesMasters/notesMaster1.xml" Id="Ra72c5ce501cf49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0c6a846bfa4ba1" /><Relationship Type="http://schemas.openxmlformats.org/officeDocument/2006/relationships/notesMaster" Target="/ppt/notesMasters/notesMaster1.xml" Id="R04adb49e5d9141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3279957f20482b" /><Relationship Type="http://schemas.openxmlformats.org/officeDocument/2006/relationships/notesMaster" Target="/ppt/notesMasters/notesMaster1.xml" Id="R38e0f1dde9b640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3102cefd634024" /><Relationship Type="http://schemas.openxmlformats.org/officeDocument/2006/relationships/notesMaster" Target="/ppt/notesMasters/notesMaster1.xml" Id="R8a717832c39842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bde547e3cca4a38" /><Relationship Type="http://schemas.openxmlformats.org/officeDocument/2006/relationships/notesMaster" Target="/ppt/notesMasters/notesMaster1.xml" Id="R5a4a439a05bc4e2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6b2124aa1304e8a" /><Relationship Type="http://schemas.openxmlformats.org/officeDocument/2006/relationships/notesMaster" Target="/ppt/notesMasters/notesMaster1.xml" Id="Rd05fe387264744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4ff8a9e9754e0f" /><Relationship Type="http://schemas.openxmlformats.org/officeDocument/2006/relationships/notesMaster" Target="/ppt/notesMasters/notesMaster1.xml" Id="Reae847b2746249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minutes. Read the scenario and goal aloud. Allow 20 seconds quiet thinking. Take only one or two short answers. Ask what makes it clear or checkable. Do not reveal all SMART terms now. At minute 4 switch to school slide 9 and printed pp.20–21. Fictional scenario based on Chapter 2 SMART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Past performance and stock are stated fictional assumptions, not inferred from the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Past performance and stock are stated fictional assumptions, not inferred from the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 reading and notes. Read milestone definition p.21 and steps pp.22–23. Ask for one checkpoint/date and pause. Next click reveals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after one response. Briefly connect the example to each of four book steps, pp.22–23. No new project. Stop before Market Research. Leave p.22 case to Tuesday.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20–37 minutes. Existing review Q4/Q5/Q8 only, then unfinished Q1–3. Q4 retrieves Chapter1 and p.23 reference; full research reading Tuesday. Recheck Q5 appendix Thursday.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37–42 minutes. Recall first, then check/correct existing answers. No additional worksheet or claim about exact test questions. Record class stopping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the 42-minute lesson clock. This opening minute belongs inside the four-minute start. All displayed ranges are elapsed lesson minutes, not wall-clock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original school slide 9 alongside this lesson deck. Chapter 2 printed pp.20–21. Begin at Marketing Strategy, not earlier PEST section. The following ten screens are prompt/reveal states lasting three minutes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boundary from weekly plan v4. Leave the boxed case for Tuesday. Ask for definition only after students have 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add another worksheet. End notes at minute20 and preserve 17 minutes independent work. Help individual students with remaining gaps during circulation.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3be103967844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02bab793ea44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3db31d08a44a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6bcd1cf2cf48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08f0e1f1aa45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9bd372fe6645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FC0E08-1422-4079-966C-32602AE196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41ED0B-9D33-4F94-90DF-06BD9BEDBA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E2B5DE-08FB-4C88-A2BA-0A79CB21E1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75455B-EAF1-4413-B109-6544A8A16F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56498DA-6259-4F02-AB61-5CCCE2917E4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A28908-B827-4F7F-9AA2-01DA8AE6A8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BA2DC0-5D70-4EB7-A13B-404EE93FD8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0A6CE0-7559-427B-A550-09D5C59EEA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B1B0A3-1C0A-446E-B29E-8C84D95C74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20B088-2766-40DB-B768-A2DEF05B97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dfc4bdcd704c4a" /><Relationship Type="http://schemas.openxmlformats.org/officeDocument/2006/relationships/slideLayout" Target="/ppt/slideLayouts/slideLayout1.xml" Id="Raf992cbeecd34704" /><Relationship Type="http://schemas.openxmlformats.org/officeDocument/2006/relationships/slideLayout" Target="/ppt/slideLayouts/slideLayout2.xml" Id="R7a7fec5454a9452e" /><Relationship Type="http://schemas.openxmlformats.org/officeDocument/2006/relationships/slideLayout" Target="/ppt/slideLayouts/slideLayout3.xml" Id="R06530e304d7f486b" /><Relationship Type="http://schemas.openxmlformats.org/officeDocument/2006/relationships/slideLayout" Target="/ppt/slideLayouts/slideLayout4.xml" Id="R7bee8a48fec040ee" /><Relationship Type="http://schemas.openxmlformats.org/officeDocument/2006/relationships/slideLayout" Target="/ppt/slideLayouts/slideLayout5.xml" Id="Rbd1de4c8a9854b11" /><Relationship Type="http://schemas.openxmlformats.org/officeDocument/2006/relationships/slideLayout" Target="/ppt/slideLayouts/slideLayout6.xml" Id="Rc0b60595330546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992cbeecd34704"/>
    <p:sldLayoutId xmlns:r="http://schemas.openxmlformats.org/officeDocument/2006/relationships" id="2147483650" r:id="R7a7fec5454a9452e"/>
    <p:sldLayoutId xmlns:r="http://schemas.openxmlformats.org/officeDocument/2006/relationships" id="2147483651" r:id="R06530e304d7f486b"/>
    <p:sldLayoutId xmlns:r="http://schemas.openxmlformats.org/officeDocument/2006/relationships" id="2147483652" r:id="R7bee8a48fec040ee"/>
    <p:sldLayoutId xmlns:r="http://schemas.openxmlformats.org/officeDocument/2006/relationships" id="2147483653" r:id="Rbd1de4c8a9854b11"/>
    <p:sldLayoutId xmlns:r="http://schemas.openxmlformats.org/officeDocument/2006/relationships" id="2147483654" r:id="Rc0b60595330546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1fd36d2c664e0b" /><Relationship Type="http://schemas.openxmlformats.org/officeDocument/2006/relationships/image" Target="/ppt/media/image.png" Id="R11f14a81ab6d4f7f" /><Relationship Type="http://schemas.openxmlformats.org/officeDocument/2006/relationships/notesSlide" Target="/ppt/notesSlides/notesSlide1.xml" Id="R8935ef61517440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513082a2934586" /><Relationship Type="http://schemas.openxmlformats.org/officeDocument/2006/relationships/notesSlide" Target="/ppt/notesSlides/notesSlide2.xml" Id="R3f74b8b53a2844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3c94d76db734cbd" /><Relationship Type="http://schemas.openxmlformats.org/officeDocument/2006/relationships/notesSlide" Target="/ppt/notesSlides/notesSlide3.xml" Id="R2e925d3f73c84d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b8580a9938434a" /><Relationship Type="http://schemas.openxmlformats.org/officeDocument/2006/relationships/notesSlide" Target="/ppt/notesSlides/notesSlide4.xml" Id="R68bd3cde5c4e49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7efe77e0df4bca" /><Relationship Type="http://schemas.openxmlformats.org/officeDocument/2006/relationships/notesSlide" Target="/ppt/notesSlides/notesSlide5.xml" Id="Raf22758383b448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98726cd8d24346" /><Relationship Type="http://schemas.openxmlformats.org/officeDocument/2006/relationships/notesSlide" Target="/ppt/notesSlides/notesSlide6.xml" Id="R45faa093a17f44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acbcff42dc4e4f" /><Relationship Type="http://schemas.openxmlformats.org/officeDocument/2006/relationships/notesSlide" Target="/ppt/notesSlides/notesSlide7.xml" Id="R5b6b1a5f142c48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bab8388aee45c7" /><Relationship Type="http://schemas.openxmlformats.org/officeDocument/2006/relationships/notesSlide" Target="/ppt/notesSlides/notesSlide8.xml" Id="R66147b5e95324a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aa356eee79464a" /><Relationship Type="http://schemas.openxmlformats.org/officeDocument/2006/relationships/notesSlide" Target="/ppt/notesSlides/notesSlide9.xml" Id="Rb2c9cd567e6d44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318afb33d8446a1" /><Relationship Type="http://schemas.openxmlformats.org/officeDocument/2006/relationships/notesSlide" Target="/ppt/notesSlides/notesSlide10.xml" Id="R3e972414d3a24c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b8aec6bbae14c00" /><Relationship Type="http://schemas.openxmlformats.org/officeDocument/2006/relationships/notesSlide" Target="/ppt/notesSlides/notesSlide11.xml" Id="Rffd636bb9b4a42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235bbab4b03404d" /><Relationship Type="http://schemas.openxmlformats.org/officeDocument/2006/relationships/notesSlide" Target="/ppt/notesSlides/notesSlide12.xml" Id="R02b6cae6376a47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150ba01ab774775" /><Relationship Type="http://schemas.openxmlformats.org/officeDocument/2006/relationships/notesSlide" Target="/ppt/notesSlides/notesSlide13.xml" Id="R721a7f2d48a14a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3a4065482444b0a" /><Relationship Type="http://schemas.openxmlformats.org/officeDocument/2006/relationships/notesSlide" Target="/ppt/notesSlides/notesSlide14.xml" Id="R0dcf3a8dab9747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7b2c629917a41bd" /><Relationship Type="http://schemas.openxmlformats.org/officeDocument/2006/relationships/notesSlide" Target="/ppt/notesSlides/notesSlide15.xml" Id="Rdef220c2ef3f45c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8cc91be49bc4e5c" /><Relationship Type="http://schemas.openxmlformats.org/officeDocument/2006/relationships/notesSlide" Target="/ppt/notesSlides/notesSlide16.xml" Id="R0d69bdd1f88d46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1eed2df000b4dd8" /><Relationship Type="http://schemas.openxmlformats.org/officeDocument/2006/relationships/notesSlide" Target="/ppt/notesSlides/notesSlide17.xml" Id="Re2dc0431ee094c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81964f2718b45a4" /><Relationship Type="http://schemas.openxmlformats.org/officeDocument/2006/relationships/notesSlide" Target="/ppt/notesSlides/notesSlide18.xml" Id="Rf4bc2b882af140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09f4beb26894065" /><Relationship Type="http://schemas.openxmlformats.org/officeDocument/2006/relationships/notesSlide" Target="/ppt/notesSlides/notesSlide19.xml" Id="Ra04992db6c444bff" /></Relationships>
</file>

<file path=ppt/slides/slide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D6CF6F-2C09-476A-8825-7691C2D59E84}"/>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A goal for the sneaker store</a:t>
            </a:r>
          </a:p>
        </p:txBody>
      </p:sp>
      <p:sp>
        <p:nvSpPr>
          <p:cNvPr id="2" name="">
            <a:extLst xmlns:a="http://schemas.openxmlformats.org/drawingml/2006/main">
              <a:ext uri="{FF2B5EF4-FFF2-40B4-BE49-F238E27FC236}">
                <a16:creationId xmlns:a16="http://schemas.microsoft.com/office/drawing/2014/main" id="{CEE55243-BBEF-40A8-B12D-EFDEA70CC67C}"/>
              </a:ext>
            </a:extLst>
          </p:cNvPr>
          <p:cNvSpPr>
            <a:spLocks xmlns:a="http://schemas.openxmlformats.org/drawingml/2006/main" noGrp="1"/>
          </p:cNvSpPr>
          <p:nvPr/>
        </p:nvSpPr>
        <p:spPr>
          <a:xfrm xmlns:a="http://schemas.openxmlformats.org/drawingml/2006/main">
            <a:off x="609600" y="1476375"/>
            <a:ext cx="571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44"/>
                </a:solidFill>
              </a:defRPr>
            </a:defPPr>
            <a:lvl1pPr>
              <a:defRPr sz="2175" b="0">
                <a:solidFill>
                  <a:srgbClr val="142D44"/>
                </a:solidFill>
              </a:defRPr>
            </a:lvl1pPr>
            <a:lvl2pPr>
              <a:defRPr sz="2175" b="0">
                <a:solidFill>
                  <a:srgbClr val="142D44"/>
                </a:solidFill>
              </a:defRPr>
            </a:lvl2pPr>
            <a:lvl3pPr>
              <a:defRPr sz="2175" b="0">
                <a:solidFill>
                  <a:srgbClr val="142D44"/>
                </a:solidFill>
              </a:defRPr>
            </a:lvl3pPr>
            <a:lvl4pPr>
              <a:defRPr sz="2175" b="0">
                <a:solidFill>
                  <a:srgbClr val="142D44"/>
                </a:solidFill>
              </a:defRPr>
            </a:lvl4pPr>
            <a:lvl5pPr>
              <a:defRPr sz="2175" b="0">
                <a:solidFill>
                  <a:srgbClr val="142D44"/>
                </a:solidFill>
              </a:defRPr>
            </a:lvl5pPr>
            <a:lvl6pPr>
              <a:defRPr sz="2175" b="0">
                <a:solidFill>
                  <a:srgbClr val="142D44"/>
                </a:solidFill>
              </a:defRPr>
            </a:lvl6pPr>
            <a:lvl7pPr>
              <a:defRPr sz="2175" b="0">
                <a:solidFill>
                  <a:srgbClr val="142D44"/>
                </a:solidFill>
              </a:defRPr>
            </a:lvl7pPr>
            <a:lvl8pPr>
              <a:defRPr sz="2175" b="0">
                <a:solidFill>
                  <a:srgbClr val="142D44"/>
                </a:solidFill>
              </a:defRPr>
            </a:lvl8pPr>
            <a:lvl9pPr>
              <a:defRPr sz="2175" b="0">
                <a:solidFill>
                  <a:srgbClr val="142D44"/>
                </a:solidFill>
              </a:defRPr>
            </a:lvl9pPr>
          </a:lstStyle>
          <a:p xmlns:a="http://schemas.openxmlformats.org/drawingml/2006/main">
            <a:pPr>
              <a:buNone/>
              <a:defRPr sz="2175" b="0">
                <a:solidFill>
                  <a:srgbClr val="142D44"/>
                </a:solidFill>
              </a:defRPr>
            </a:pPr>
            <a:r>
              <a:rPr sz="2175" b="0">
                <a:solidFill>
                  <a:srgbClr val="142D44"/>
                </a:solidFill>
              </a:rPr>
              <a:t>The store sells 20 pairs a week. The same team has sold 24 before and has enough stock.</a:t>
            </a:r>
          </a:p>
        </p:txBody>
      </p:sp>
      <p:sp>
        <p:nvSpPr>
          <p:cNvPr id="3" name="">
            <a:extLst xmlns:a="http://schemas.openxmlformats.org/drawingml/2006/main">
              <a:ext uri="{FF2B5EF4-FFF2-40B4-BE49-F238E27FC236}">
                <a16:creationId xmlns:a16="http://schemas.microsoft.com/office/drawing/2014/main" id="{845A529A-B669-45A3-ACF6-BCCA614FD4F5}"/>
              </a:ext>
            </a:extLst>
          </p:cNvPr>
          <p:cNvSpPr>
            <a:spLocks xmlns:a="http://schemas.openxmlformats.org/drawingml/2006/main" noGrp="1"/>
          </p:cNvSpPr>
          <p:nvPr/>
        </p:nvSpPr>
        <p:spPr>
          <a:xfrm xmlns:a="http://schemas.openxmlformats.org/drawingml/2006/main">
            <a:off x="609600" y="3048000"/>
            <a:ext cx="5715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D83"/>
                </a:solidFill>
              </a:defRPr>
            </a:defPPr>
            <a:lvl1pPr>
              <a:defRPr sz="2550" b="1">
                <a:solidFill>
                  <a:srgbClr val="087D83"/>
                </a:solidFill>
              </a:defRPr>
            </a:lvl1pPr>
            <a:lvl2pPr>
              <a:defRPr sz="2550" b="1">
                <a:solidFill>
                  <a:srgbClr val="087D83"/>
                </a:solidFill>
              </a:defRPr>
            </a:lvl2pPr>
            <a:lvl3pPr>
              <a:defRPr sz="2550" b="1">
                <a:solidFill>
                  <a:srgbClr val="087D83"/>
                </a:solidFill>
              </a:defRPr>
            </a:lvl3pPr>
            <a:lvl4pPr>
              <a:defRPr sz="2550" b="1">
                <a:solidFill>
                  <a:srgbClr val="087D83"/>
                </a:solidFill>
              </a:defRPr>
            </a:lvl4pPr>
            <a:lvl5pPr>
              <a:defRPr sz="2550" b="1">
                <a:solidFill>
                  <a:srgbClr val="087D83"/>
                </a:solidFill>
              </a:defRPr>
            </a:lvl5pPr>
            <a:lvl6pPr>
              <a:defRPr sz="2550" b="1">
                <a:solidFill>
                  <a:srgbClr val="087D83"/>
                </a:solidFill>
              </a:defRPr>
            </a:lvl6pPr>
            <a:lvl7pPr>
              <a:defRPr sz="2550" b="1">
                <a:solidFill>
                  <a:srgbClr val="087D83"/>
                </a:solidFill>
              </a:defRPr>
            </a:lvl7pPr>
            <a:lvl8pPr>
              <a:defRPr sz="2550" b="1">
                <a:solidFill>
                  <a:srgbClr val="087D83"/>
                </a:solidFill>
              </a:defRPr>
            </a:lvl8pPr>
            <a:lvl9pPr>
              <a:defRPr sz="2550" b="1">
                <a:solidFill>
                  <a:srgbClr val="087D83"/>
                </a:solidFill>
              </a:defRPr>
            </a:lvl9pPr>
          </a:lstStyle>
          <a:p xmlns:a="http://schemas.openxmlformats.org/drawingml/2006/main">
            <a:pPr>
              <a:buNone/>
              <a:defRPr sz="2550" b="1">
                <a:solidFill>
                  <a:srgbClr val="087D83"/>
                </a:solidFill>
              </a:defRPr>
            </a:pPr>
            <a:r>
              <a:rPr sz="2550" b="1">
                <a:solidFill>
                  <a:srgbClr val="087D83"/>
                </a:solidFill>
              </a:rPr>
              <a:t>By November 13, increase weekly sneaker sales from 20 to 24 pairs.</a:t>
            </a:r>
          </a:p>
        </p:txBody>
      </p:sp>
      <p:sp>
        <p:nvSpPr>
          <p:cNvPr id="4" name="">
            <a:extLst xmlns:a="http://schemas.openxmlformats.org/drawingml/2006/main">
              <a:ext uri="{FF2B5EF4-FFF2-40B4-BE49-F238E27FC236}">
                <a16:creationId xmlns:a16="http://schemas.microsoft.com/office/drawing/2014/main" id="{25126DFD-3205-40FA-9B96-EB791E723AEF}"/>
              </a:ext>
            </a:extLst>
          </p:cNvPr>
          <p:cNvSpPr>
            <a:spLocks xmlns:a="http://schemas.openxmlformats.org/drawingml/2006/main" noGrp="1"/>
          </p:cNvSpPr>
          <p:nvPr/>
        </p:nvSpPr>
        <p:spPr>
          <a:xfrm xmlns:a="http://schemas.openxmlformats.org/drawingml/2006/main">
            <a:off x="609600" y="490537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44"/>
                </a:solidFill>
              </a:defRPr>
            </a:defPPr>
            <a:lvl1pPr>
              <a:defRPr sz="2400" b="0">
                <a:solidFill>
                  <a:srgbClr val="142D44"/>
                </a:solidFill>
              </a:defRPr>
            </a:lvl1pPr>
            <a:lvl2pPr>
              <a:defRPr sz="2400" b="0">
                <a:solidFill>
                  <a:srgbClr val="142D44"/>
                </a:solidFill>
              </a:defRPr>
            </a:lvl2pPr>
            <a:lvl3pPr>
              <a:defRPr sz="2400" b="0">
                <a:solidFill>
                  <a:srgbClr val="142D44"/>
                </a:solidFill>
              </a:defRPr>
            </a:lvl3pPr>
            <a:lvl4pPr>
              <a:defRPr sz="2400" b="0">
                <a:solidFill>
                  <a:srgbClr val="142D44"/>
                </a:solidFill>
              </a:defRPr>
            </a:lvl4pPr>
            <a:lvl5pPr>
              <a:defRPr sz="2400" b="0">
                <a:solidFill>
                  <a:srgbClr val="142D44"/>
                </a:solidFill>
              </a:defRPr>
            </a:lvl5pPr>
            <a:lvl6pPr>
              <a:defRPr sz="2400" b="0">
                <a:solidFill>
                  <a:srgbClr val="142D44"/>
                </a:solidFill>
              </a:defRPr>
            </a:lvl6pPr>
            <a:lvl7pPr>
              <a:defRPr sz="2400" b="0">
                <a:solidFill>
                  <a:srgbClr val="142D44"/>
                </a:solidFill>
              </a:defRPr>
            </a:lvl7pPr>
            <a:lvl8pPr>
              <a:defRPr sz="2400" b="0">
                <a:solidFill>
                  <a:srgbClr val="142D44"/>
                </a:solidFill>
              </a:defRPr>
            </a:lvl8pPr>
            <a:lvl9pPr>
              <a:defRPr sz="2400" b="0">
                <a:solidFill>
                  <a:srgbClr val="142D44"/>
                </a:solidFill>
              </a:defRPr>
            </a:lvl9pPr>
          </a:lstStyle>
          <a:p xmlns:a="http://schemas.openxmlformats.org/drawingml/2006/main">
            <a:pPr>
              <a:buNone/>
              <a:defRPr sz="2400" b="0">
                <a:solidFill>
                  <a:srgbClr val="142D44"/>
                </a:solidFill>
              </a:defRPr>
            </a:pPr>
            <a:r>
              <a:rPr sz="2400" b="0">
                <a:solidFill>
                  <a:srgbClr val="142D44"/>
                </a:solidFill>
              </a:rPr>
              <a:t>What makes this goal clear and checkable?</a:t>
            </a:r>
          </a:p>
        </p:txBody>
      </p:sp>
      <p:pic>
        <p:nvPicPr>
          <p:cNvPr id="5" name="">
            <a:extLst xmlns:a="http://schemas.openxmlformats.org/drawingml/2006/main">
              <a:ext uri="{FF2B5EF4-FFF2-40B4-BE49-F238E27FC236}">
                <a16:creationId xmlns:a16="http://schemas.microsoft.com/office/drawing/2014/main" id="{4AD35AC7-7F1C-433A-B968-287510001457}"/>
              </a:ext>
            </a:extLst>
          </p:cNvPr>
          <p:cNvPicPr>
            <a:picLocks xmlns:a="http://schemas.openxmlformats.org/drawingml/2006/main" noChangeAspect="1"/>
          </p:cNvPicPr>
          <p:nvPr/>
        </p:nvPicPr>
        <p:blipFill>
          <a:blip xmlns:r="http://schemas.openxmlformats.org/officeDocument/2006/relationships" xmlns:a="http://schemas.openxmlformats.org/drawingml/2006/main" r:embed="R11f14a81ab6d4f7f"/>
          <a:srcRect xmlns:a="http://schemas.openxmlformats.org/drawingml/2006/main" l="11569" t="0" r="11569" b="0"/>
          <a:stretch xmlns:a="http://schemas.openxmlformats.org/drawingml/2006/main">
            <a:fillRect l="0" t="0" r="0" b="0"/>
          </a:stretch>
        </p:blipFill>
        <p:spPr>
          <a:xfrm xmlns:a="http://schemas.openxmlformats.org/drawingml/2006/main">
            <a:off x="6858000" y="1524000"/>
            <a:ext cx="4667250" cy="4048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5BE630-D8BA-40C5-ACB3-12C9FE8AE597}"/>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Fictional example     Think first. Be ready to point to one detail.</a:t>
            </a:r>
          </a:p>
        </p:txBody>
      </p:sp>
      <p:sp>
        <p:nvSpPr>
          <p:cNvPr id="8" name="">
            <a:extLst xmlns:a="http://schemas.openxmlformats.org/drawingml/2006/main">
              <a:ext uri="{FF2B5EF4-FFF2-40B4-BE49-F238E27FC236}">
                <a16:creationId xmlns:a16="http://schemas.microsoft.com/office/drawing/2014/main" id="{B73A6933-C54B-4C6F-82DB-E8F04F46E2AF}"/>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START   1–4 min   3 minutes</a:t>
            </a:r>
          </a:p>
        </p:txBody>
      </p:sp>
    </p:spTree>
    <p:extLst>
      <p:ext uri="{BB962C8B-B14F-4D97-AF65-F5344CB8AC3E}">
        <p14:creationId xmlns:p14="http://schemas.microsoft.com/office/powerpoint/2010/main" val="1943887360"/>
      </p:ext>
    </p:extLst>
  </p:cSld>
  <p:transition spd="fast" advClick="1">
    <p:fade/>
  </p:transition>
</p:sld>
</file>

<file path=ppt/slides/slide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314F55-CAD5-4937-A5D5-0003506341F7}"/>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Specific</a:t>
            </a:r>
          </a:p>
        </p:txBody>
      </p:sp>
      <p:sp>
        <p:nvSpPr>
          <p:cNvPr id="2" name="">
            <a:extLst xmlns:a="http://schemas.openxmlformats.org/drawingml/2006/main">
              <a:ext uri="{FF2B5EF4-FFF2-40B4-BE49-F238E27FC236}">
                <a16:creationId xmlns:a16="http://schemas.microsoft.com/office/drawing/2014/main" id="{C1CDDEEB-B178-4CC2-A05F-A6FEBD94CE59}"/>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73FD022F-EE4A-4547-921E-562553A43AC8}"/>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B3B39051-A234-4270-9F9E-F6D00E6198D6}"/>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What exactly will increase?</a:t>
            </a:r>
          </a:p>
        </p:txBody>
      </p:sp>
      <p:sp>
        <p:nvSpPr>
          <p:cNvPr id="5" name="">
            <a:extLst xmlns:a="http://schemas.openxmlformats.org/drawingml/2006/main">
              <a:ext uri="{FF2B5EF4-FFF2-40B4-BE49-F238E27FC236}">
                <a16:creationId xmlns:a16="http://schemas.microsoft.com/office/drawing/2014/main" id="{7ADFC02E-8F48-40F2-B0E4-B526A7457696}"/>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7" name="">
            <a:extLst xmlns:a="http://schemas.openxmlformats.org/drawingml/2006/main">
              <a:ext uri="{FF2B5EF4-FFF2-40B4-BE49-F238E27FC236}">
                <a16:creationId xmlns:a16="http://schemas.microsoft.com/office/drawing/2014/main" id="{ED944769-A491-454B-AAAB-39164820A16F}"/>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1821339630"/>
      </p:ext>
    </p:extLst>
  </p:cSld>
  <p:transition spd="fast" advClick="1">
    <p:fade/>
  </p:transition>
</p:sld>
</file>

<file path=ppt/slides/slide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5136E6-9A2F-4234-AE4F-FE631A15C783}"/>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Specific</a:t>
            </a:r>
          </a:p>
        </p:txBody>
      </p:sp>
      <p:sp>
        <p:nvSpPr>
          <p:cNvPr id="2" name="">
            <a:extLst xmlns:a="http://schemas.openxmlformats.org/drawingml/2006/main">
              <a:ext uri="{FF2B5EF4-FFF2-40B4-BE49-F238E27FC236}">
                <a16:creationId xmlns:a16="http://schemas.microsoft.com/office/drawing/2014/main" id="{78C779D5-9739-4D77-972B-9201159A4E20}"/>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B8B4241A-2B21-469F-9F30-EA815FDC83D8}"/>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DF7CFE4E-7AE4-47FB-8F95-11A9B7BFDF18}"/>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What exactly will increase?</a:t>
            </a:r>
          </a:p>
        </p:txBody>
      </p:sp>
      <p:sp>
        <p:nvSpPr>
          <p:cNvPr id="5" name="">
            <a:extLst xmlns:a="http://schemas.openxmlformats.org/drawingml/2006/main">
              <a:ext uri="{FF2B5EF4-FFF2-40B4-BE49-F238E27FC236}">
                <a16:creationId xmlns:a16="http://schemas.microsoft.com/office/drawing/2014/main" id="{3A1557FC-8A76-475C-B07A-E32A3EA18471}"/>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vl1pPr>
              <a:defRPr sz="2925" b="1">
                <a:solidFill>
                  <a:srgbClr val="AC4A1D"/>
                </a:solidFill>
              </a:defRPr>
            </a:lvl1pPr>
            <a:lvl2pPr>
              <a:defRPr sz="2925" b="1">
                <a:solidFill>
                  <a:srgbClr val="AC4A1D"/>
                </a:solidFill>
              </a:defRPr>
            </a:lvl2pPr>
            <a:lvl3pPr>
              <a:defRPr sz="2925" b="1">
                <a:solidFill>
                  <a:srgbClr val="AC4A1D"/>
                </a:solidFill>
              </a:defRPr>
            </a:lvl3pPr>
            <a:lvl4pPr>
              <a:defRPr sz="2925" b="1">
                <a:solidFill>
                  <a:srgbClr val="AC4A1D"/>
                </a:solidFill>
              </a:defRPr>
            </a:lvl4pPr>
            <a:lvl5pPr>
              <a:defRPr sz="2925" b="1">
                <a:solidFill>
                  <a:srgbClr val="AC4A1D"/>
                </a:solidFill>
              </a:defRPr>
            </a:lvl5pPr>
            <a:lvl6pPr>
              <a:defRPr sz="2925" b="1">
                <a:solidFill>
                  <a:srgbClr val="AC4A1D"/>
                </a:solidFill>
              </a:defRPr>
            </a:lvl6pPr>
            <a:lvl7pPr>
              <a:defRPr sz="2925" b="1">
                <a:solidFill>
                  <a:srgbClr val="AC4A1D"/>
                </a:solidFill>
              </a:defRPr>
            </a:lvl7pPr>
            <a:lvl8pPr>
              <a:defRPr sz="2925" b="1">
                <a:solidFill>
                  <a:srgbClr val="AC4A1D"/>
                </a:solidFill>
              </a:defRPr>
            </a:lvl8pPr>
            <a:lvl9pPr>
              <a:defRPr sz="2925" b="1">
                <a:solidFill>
                  <a:srgbClr val="AC4A1D"/>
                </a:solidFill>
              </a:defRPr>
            </a:lvl9pPr>
          </a:lstStyle>
          <a:p xmlns:a="http://schemas.openxmlformats.org/drawingml/2006/main">
            <a:pPr>
              <a:buNone/>
              <a:defRPr sz="2925" b="1">
                <a:solidFill>
                  <a:srgbClr val="AC4A1D"/>
                </a:solidFill>
              </a:defRPr>
            </a:pPr>
            <a:r>
              <a:rPr sz="2925" b="1">
                <a:solidFill>
                  <a:srgbClr val="AC4A1D"/>
                </a:solidFill>
              </a:rPr>
              <a:t>Sneaker sales</a:t>
            </a:r>
          </a:p>
        </p:txBody>
      </p:sp>
      <p:sp>
        <p:nvSpPr>
          <p:cNvPr id="6" name="">
            <a:extLst xmlns:a="http://schemas.openxmlformats.org/drawingml/2006/main">
              <a:ext uri="{FF2B5EF4-FFF2-40B4-BE49-F238E27FC236}">
                <a16:creationId xmlns:a16="http://schemas.microsoft.com/office/drawing/2014/main" id="{9EC68EFD-C37C-4A67-991C-6D1FB9AC62A8}"/>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8" name="">
            <a:extLst xmlns:a="http://schemas.openxmlformats.org/drawingml/2006/main">
              <a:ext uri="{FF2B5EF4-FFF2-40B4-BE49-F238E27FC236}">
                <a16:creationId xmlns:a16="http://schemas.microsoft.com/office/drawing/2014/main" id="{1174B269-74E8-46D9-881E-1B75BC61D7C9}"/>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725427560"/>
      </p:ext>
    </p:extLst>
  </p:cSld>
  <p:transition spd="fast" advClick="1">
    <p:fade/>
  </p:transition>
</p:sld>
</file>

<file path=ppt/slides/slide4.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4E087B-66CA-40CE-9942-CD7F740991AB}"/>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Measurable</a:t>
            </a:r>
          </a:p>
        </p:txBody>
      </p:sp>
      <p:sp>
        <p:nvSpPr>
          <p:cNvPr id="2" name="">
            <a:extLst xmlns:a="http://schemas.openxmlformats.org/drawingml/2006/main">
              <a:ext uri="{FF2B5EF4-FFF2-40B4-BE49-F238E27FC236}">
                <a16:creationId xmlns:a16="http://schemas.microsoft.com/office/drawing/2014/main" id="{6C3D7E2B-3DDC-4C37-ABD9-F91FCC6A5111}"/>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A44F20FC-A5E2-4083-A020-FFAFD17F34A0}"/>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9C356EAA-0724-4814-A97C-06AF88FA53B4}"/>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Which numbers let us check progress?</a:t>
            </a:r>
          </a:p>
        </p:txBody>
      </p:sp>
      <p:sp>
        <p:nvSpPr>
          <p:cNvPr id="5" name="">
            <a:extLst xmlns:a="http://schemas.openxmlformats.org/drawingml/2006/main">
              <a:ext uri="{FF2B5EF4-FFF2-40B4-BE49-F238E27FC236}">
                <a16:creationId xmlns:a16="http://schemas.microsoft.com/office/drawing/2014/main" id="{32BF0636-B9D4-4842-BB2E-98803C6D2D70}"/>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7" name="">
            <a:extLst xmlns:a="http://schemas.openxmlformats.org/drawingml/2006/main">
              <a:ext uri="{FF2B5EF4-FFF2-40B4-BE49-F238E27FC236}">
                <a16:creationId xmlns:a16="http://schemas.microsoft.com/office/drawing/2014/main" id="{F92E3822-5D64-439E-ABB2-B0E26DF08B24}"/>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799496655"/>
      </p:ext>
    </p:extLst>
  </p:cSld>
  <p:transition spd="fast" advClick="1">
    <p:fade/>
  </p:transition>
</p:sld>
</file>

<file path=ppt/slides/slide5.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C25C58-5F81-4A66-9511-8C0AA0EDD082}"/>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Measurable</a:t>
            </a:r>
          </a:p>
        </p:txBody>
      </p:sp>
      <p:sp>
        <p:nvSpPr>
          <p:cNvPr id="2" name="">
            <a:extLst xmlns:a="http://schemas.openxmlformats.org/drawingml/2006/main">
              <a:ext uri="{FF2B5EF4-FFF2-40B4-BE49-F238E27FC236}">
                <a16:creationId xmlns:a16="http://schemas.microsoft.com/office/drawing/2014/main" id="{5BA47C0A-4C64-42F0-8567-7692C7AE35C3}"/>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84BE9101-0782-45AD-956D-2B2F2AE7EE8D}"/>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F69836D5-03B1-400C-BAD2-B903A80CB766}"/>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Which numbers let us check progress?</a:t>
            </a:r>
          </a:p>
        </p:txBody>
      </p:sp>
      <p:sp>
        <p:nvSpPr>
          <p:cNvPr id="5" name="">
            <a:extLst xmlns:a="http://schemas.openxmlformats.org/drawingml/2006/main">
              <a:ext uri="{FF2B5EF4-FFF2-40B4-BE49-F238E27FC236}">
                <a16:creationId xmlns:a16="http://schemas.microsoft.com/office/drawing/2014/main" id="{6FE74669-2DD4-45AA-93BD-287D2EEB52CC}"/>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vl1pPr>
              <a:defRPr sz="2925" b="1">
                <a:solidFill>
                  <a:srgbClr val="AC4A1D"/>
                </a:solidFill>
              </a:defRPr>
            </a:lvl1pPr>
            <a:lvl2pPr>
              <a:defRPr sz="2925" b="1">
                <a:solidFill>
                  <a:srgbClr val="AC4A1D"/>
                </a:solidFill>
              </a:defRPr>
            </a:lvl2pPr>
            <a:lvl3pPr>
              <a:defRPr sz="2925" b="1">
                <a:solidFill>
                  <a:srgbClr val="AC4A1D"/>
                </a:solidFill>
              </a:defRPr>
            </a:lvl3pPr>
            <a:lvl4pPr>
              <a:defRPr sz="2925" b="1">
                <a:solidFill>
                  <a:srgbClr val="AC4A1D"/>
                </a:solidFill>
              </a:defRPr>
            </a:lvl4pPr>
            <a:lvl5pPr>
              <a:defRPr sz="2925" b="1">
                <a:solidFill>
                  <a:srgbClr val="AC4A1D"/>
                </a:solidFill>
              </a:defRPr>
            </a:lvl5pPr>
            <a:lvl6pPr>
              <a:defRPr sz="2925" b="1">
                <a:solidFill>
                  <a:srgbClr val="AC4A1D"/>
                </a:solidFill>
              </a:defRPr>
            </a:lvl6pPr>
            <a:lvl7pPr>
              <a:defRPr sz="2925" b="1">
                <a:solidFill>
                  <a:srgbClr val="AC4A1D"/>
                </a:solidFill>
              </a:defRPr>
            </a:lvl7pPr>
            <a:lvl8pPr>
              <a:defRPr sz="2925" b="1">
                <a:solidFill>
                  <a:srgbClr val="AC4A1D"/>
                </a:solidFill>
              </a:defRPr>
            </a:lvl8pPr>
            <a:lvl9pPr>
              <a:defRPr sz="2925" b="1">
                <a:solidFill>
                  <a:srgbClr val="AC4A1D"/>
                </a:solidFill>
              </a:defRPr>
            </a:lvl9pPr>
          </a:lstStyle>
          <a:p xmlns:a="http://schemas.openxmlformats.org/drawingml/2006/main">
            <a:pPr>
              <a:buNone/>
              <a:defRPr sz="2925" b="1">
                <a:solidFill>
                  <a:srgbClr val="AC4A1D"/>
                </a:solidFill>
              </a:defRPr>
            </a:pPr>
            <a:r>
              <a:rPr sz="2925" b="1">
                <a:solidFill>
                  <a:srgbClr val="AC4A1D"/>
                </a:solidFill>
              </a:rPr>
              <a:t>From 20 to 24 pairs per week</a:t>
            </a:r>
          </a:p>
        </p:txBody>
      </p:sp>
      <p:sp>
        <p:nvSpPr>
          <p:cNvPr id="6" name="">
            <a:extLst xmlns:a="http://schemas.openxmlformats.org/drawingml/2006/main">
              <a:ext uri="{FF2B5EF4-FFF2-40B4-BE49-F238E27FC236}">
                <a16:creationId xmlns:a16="http://schemas.microsoft.com/office/drawing/2014/main" id="{517AAD2E-FE10-487A-9B36-7797EDDFC7C8}"/>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8" name="">
            <a:extLst xmlns:a="http://schemas.openxmlformats.org/drawingml/2006/main">
              <a:ext uri="{FF2B5EF4-FFF2-40B4-BE49-F238E27FC236}">
                <a16:creationId xmlns:a16="http://schemas.microsoft.com/office/drawing/2014/main" id="{ECBE90EE-2FE4-40E1-BABD-38030A76FE60}"/>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2056634875"/>
      </p:ext>
    </p:extLst>
  </p:cSld>
  <p:transition spd="fast" advClick="1">
    <p:fade/>
  </p:transition>
</p:sld>
</file>

<file path=ppt/slides/slide6.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B7F3B3-2643-40CC-A44A-85905DDAFAB7}"/>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Achievable</a:t>
            </a:r>
          </a:p>
        </p:txBody>
      </p:sp>
      <p:sp>
        <p:nvSpPr>
          <p:cNvPr id="2" name="">
            <a:extLst xmlns:a="http://schemas.openxmlformats.org/drawingml/2006/main">
              <a:ext uri="{FF2B5EF4-FFF2-40B4-BE49-F238E27FC236}">
                <a16:creationId xmlns:a16="http://schemas.microsoft.com/office/drawing/2014/main" id="{B926D96E-30B5-4278-940F-68E3C4A9C33A}"/>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F3561388-8CA8-4579-8A2D-DC879C4B74BF}"/>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D73ECEB1-734C-45AB-8155-C11880F3D5CD}"/>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What evidence makes this realistic?</a:t>
            </a:r>
          </a:p>
        </p:txBody>
      </p:sp>
      <p:sp>
        <p:nvSpPr>
          <p:cNvPr id="5" name="">
            <a:extLst xmlns:a="http://schemas.openxmlformats.org/drawingml/2006/main">
              <a:ext uri="{FF2B5EF4-FFF2-40B4-BE49-F238E27FC236}">
                <a16:creationId xmlns:a16="http://schemas.microsoft.com/office/drawing/2014/main" id="{BAF27675-4B91-4B21-B4D4-C68C0E5CFE84}"/>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7" name="">
            <a:extLst xmlns:a="http://schemas.openxmlformats.org/drawingml/2006/main">
              <a:ext uri="{FF2B5EF4-FFF2-40B4-BE49-F238E27FC236}">
                <a16:creationId xmlns:a16="http://schemas.microsoft.com/office/drawing/2014/main" id="{FDF26E9F-BA42-4921-B66F-47D5BD29FB13}"/>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628453344"/>
      </p:ext>
    </p:extLst>
  </p:cSld>
  <p:transition spd="fast" advClick="1">
    <p:fade/>
  </p:transition>
</p:sld>
</file>

<file path=ppt/slides/slide7.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B5A47D-7B2B-43F4-91BE-0A4599ADF3BB}"/>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Achievable</a:t>
            </a:r>
          </a:p>
        </p:txBody>
      </p:sp>
      <p:sp>
        <p:nvSpPr>
          <p:cNvPr id="2" name="">
            <a:extLst xmlns:a="http://schemas.openxmlformats.org/drawingml/2006/main">
              <a:ext uri="{FF2B5EF4-FFF2-40B4-BE49-F238E27FC236}">
                <a16:creationId xmlns:a16="http://schemas.microsoft.com/office/drawing/2014/main" id="{44AB386D-055D-454A-B944-EB85BCEBA50C}"/>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8EF72008-E8D6-4DBB-8AD4-8A690518B00F}"/>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4961C4EC-2A86-45D4-A143-11494CD5D2FB}"/>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What evidence makes this realistic?</a:t>
            </a:r>
          </a:p>
        </p:txBody>
      </p:sp>
      <p:sp>
        <p:nvSpPr>
          <p:cNvPr id="5" name="">
            <a:extLst xmlns:a="http://schemas.openxmlformats.org/drawingml/2006/main">
              <a:ext uri="{FF2B5EF4-FFF2-40B4-BE49-F238E27FC236}">
                <a16:creationId xmlns:a16="http://schemas.microsoft.com/office/drawing/2014/main" id="{714CC305-ABE5-412D-8BB3-E22DFAD5B8A8}"/>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vl1pPr>
              <a:defRPr sz="2925" b="1">
                <a:solidFill>
                  <a:srgbClr val="AC4A1D"/>
                </a:solidFill>
              </a:defRPr>
            </a:lvl1pPr>
            <a:lvl2pPr>
              <a:defRPr sz="2925" b="1">
                <a:solidFill>
                  <a:srgbClr val="AC4A1D"/>
                </a:solidFill>
              </a:defRPr>
            </a:lvl2pPr>
            <a:lvl3pPr>
              <a:defRPr sz="2925" b="1">
                <a:solidFill>
                  <a:srgbClr val="AC4A1D"/>
                </a:solidFill>
              </a:defRPr>
            </a:lvl3pPr>
            <a:lvl4pPr>
              <a:defRPr sz="2925" b="1">
                <a:solidFill>
                  <a:srgbClr val="AC4A1D"/>
                </a:solidFill>
              </a:defRPr>
            </a:lvl4pPr>
            <a:lvl5pPr>
              <a:defRPr sz="2925" b="1">
                <a:solidFill>
                  <a:srgbClr val="AC4A1D"/>
                </a:solidFill>
              </a:defRPr>
            </a:lvl5pPr>
            <a:lvl6pPr>
              <a:defRPr sz="2925" b="1">
                <a:solidFill>
                  <a:srgbClr val="AC4A1D"/>
                </a:solidFill>
              </a:defRPr>
            </a:lvl6pPr>
            <a:lvl7pPr>
              <a:defRPr sz="2925" b="1">
                <a:solidFill>
                  <a:srgbClr val="AC4A1D"/>
                </a:solidFill>
              </a:defRPr>
            </a:lvl7pPr>
            <a:lvl8pPr>
              <a:defRPr sz="2925" b="1">
                <a:solidFill>
                  <a:srgbClr val="AC4A1D"/>
                </a:solidFill>
              </a:defRPr>
            </a:lvl8pPr>
            <a:lvl9pPr>
              <a:defRPr sz="2925" b="1">
                <a:solidFill>
                  <a:srgbClr val="AC4A1D"/>
                </a:solidFill>
              </a:defRPr>
            </a:lvl9pPr>
          </a:lstStyle>
          <a:p xmlns:a="http://schemas.openxmlformats.org/drawingml/2006/main">
            <a:pPr>
              <a:buNone/>
              <a:defRPr sz="2925" b="1">
                <a:solidFill>
                  <a:srgbClr val="AC4A1D"/>
                </a:solidFill>
              </a:defRPr>
            </a:pPr>
            <a:r>
              <a:rPr sz="2925" b="1">
                <a:solidFill>
                  <a:srgbClr val="AC4A1D"/>
                </a:solidFill>
              </a:rPr>
              <a:t>The team has sold 24 before and has enough stock</a:t>
            </a:r>
          </a:p>
        </p:txBody>
      </p:sp>
      <p:sp>
        <p:nvSpPr>
          <p:cNvPr id="6" name="">
            <a:extLst xmlns:a="http://schemas.openxmlformats.org/drawingml/2006/main">
              <a:ext uri="{FF2B5EF4-FFF2-40B4-BE49-F238E27FC236}">
                <a16:creationId xmlns:a16="http://schemas.microsoft.com/office/drawing/2014/main" id="{5D513679-5A97-499E-BAB2-2AD34E0BA0AB}"/>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8" name="">
            <a:extLst xmlns:a="http://schemas.openxmlformats.org/drawingml/2006/main">
              <a:ext uri="{FF2B5EF4-FFF2-40B4-BE49-F238E27FC236}">
                <a16:creationId xmlns:a16="http://schemas.microsoft.com/office/drawing/2014/main" id="{EA3E80F9-6A4B-4684-899A-FDE6E60A79D4}"/>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1178531635"/>
      </p:ext>
    </p:extLst>
  </p:cSld>
  <p:transition spd="fast" advClick="1">
    <p:fade/>
  </p:transition>
</p:sld>
</file>

<file path=ppt/slides/slide8.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161B09-A1BB-4B5D-95EE-24F343655A3B}"/>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Results-focused</a:t>
            </a:r>
          </a:p>
        </p:txBody>
      </p:sp>
      <p:sp>
        <p:nvSpPr>
          <p:cNvPr id="2" name="">
            <a:extLst xmlns:a="http://schemas.openxmlformats.org/drawingml/2006/main">
              <a:ext uri="{FF2B5EF4-FFF2-40B4-BE49-F238E27FC236}">
                <a16:creationId xmlns:a16="http://schemas.microsoft.com/office/drawing/2014/main" id="{50623539-0893-4EE2-8382-BAEE024CCAF2}"/>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C94DFCD3-F8CE-4F7E-8BA0-BFA44CFD4DE7}"/>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BF076E12-4050-4D3E-B9ED-212F9DF984EC}"/>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What outcome does the store want?</a:t>
            </a:r>
          </a:p>
        </p:txBody>
      </p:sp>
      <p:sp>
        <p:nvSpPr>
          <p:cNvPr id="5" name="">
            <a:extLst xmlns:a="http://schemas.openxmlformats.org/drawingml/2006/main">
              <a:ext uri="{FF2B5EF4-FFF2-40B4-BE49-F238E27FC236}">
                <a16:creationId xmlns:a16="http://schemas.microsoft.com/office/drawing/2014/main" id="{6CEA76A9-5C9A-491C-99A0-657C63490FD0}"/>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7" name="">
            <a:extLst xmlns:a="http://schemas.openxmlformats.org/drawingml/2006/main">
              <a:ext uri="{FF2B5EF4-FFF2-40B4-BE49-F238E27FC236}">
                <a16:creationId xmlns:a16="http://schemas.microsoft.com/office/drawing/2014/main" id="{BC239E8E-8D97-4E78-90FF-F1D7F49C4B30}"/>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7660998"/>
      </p:ext>
    </p:extLst>
  </p:cSld>
  <p:transition spd="fast" advClick="1">
    <p:fade/>
  </p:transition>
</p:sld>
</file>

<file path=ppt/slides/slide9.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9CFFDD-EC31-450B-BB6D-DBA290B9F434}"/>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Results-focused</a:t>
            </a:r>
          </a:p>
        </p:txBody>
      </p:sp>
      <p:sp>
        <p:nvSpPr>
          <p:cNvPr id="2" name="">
            <a:extLst xmlns:a="http://schemas.openxmlformats.org/drawingml/2006/main">
              <a:ext uri="{FF2B5EF4-FFF2-40B4-BE49-F238E27FC236}">
                <a16:creationId xmlns:a16="http://schemas.microsoft.com/office/drawing/2014/main" id="{33414EE0-70EB-4530-8768-718E134AB779}"/>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A41C8AB7-E113-4365-9D83-FCCA6B1A185E}"/>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585B323A-4B5F-4361-B944-FF2CE66678EA}"/>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What outcome does the store want?</a:t>
            </a:r>
          </a:p>
        </p:txBody>
      </p:sp>
      <p:sp>
        <p:nvSpPr>
          <p:cNvPr id="5" name="">
            <a:extLst xmlns:a="http://schemas.openxmlformats.org/drawingml/2006/main">
              <a:ext uri="{FF2B5EF4-FFF2-40B4-BE49-F238E27FC236}">
                <a16:creationId xmlns:a16="http://schemas.microsoft.com/office/drawing/2014/main" id="{4FD64E23-D15A-48AB-A0B7-70FFABB0AEAD}"/>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vl1pPr>
              <a:defRPr sz="2925" b="1">
                <a:solidFill>
                  <a:srgbClr val="AC4A1D"/>
                </a:solidFill>
              </a:defRPr>
            </a:lvl1pPr>
            <a:lvl2pPr>
              <a:defRPr sz="2925" b="1">
                <a:solidFill>
                  <a:srgbClr val="AC4A1D"/>
                </a:solidFill>
              </a:defRPr>
            </a:lvl2pPr>
            <a:lvl3pPr>
              <a:defRPr sz="2925" b="1">
                <a:solidFill>
                  <a:srgbClr val="AC4A1D"/>
                </a:solidFill>
              </a:defRPr>
            </a:lvl3pPr>
            <a:lvl4pPr>
              <a:defRPr sz="2925" b="1">
                <a:solidFill>
                  <a:srgbClr val="AC4A1D"/>
                </a:solidFill>
              </a:defRPr>
            </a:lvl4pPr>
            <a:lvl5pPr>
              <a:defRPr sz="2925" b="1">
                <a:solidFill>
                  <a:srgbClr val="AC4A1D"/>
                </a:solidFill>
              </a:defRPr>
            </a:lvl5pPr>
            <a:lvl6pPr>
              <a:defRPr sz="2925" b="1">
                <a:solidFill>
                  <a:srgbClr val="AC4A1D"/>
                </a:solidFill>
              </a:defRPr>
            </a:lvl6pPr>
            <a:lvl7pPr>
              <a:defRPr sz="2925" b="1">
                <a:solidFill>
                  <a:srgbClr val="AC4A1D"/>
                </a:solidFill>
              </a:defRPr>
            </a:lvl7pPr>
            <a:lvl8pPr>
              <a:defRPr sz="2925" b="1">
                <a:solidFill>
                  <a:srgbClr val="AC4A1D"/>
                </a:solidFill>
              </a:defRPr>
            </a:lvl8pPr>
            <a:lvl9pPr>
              <a:defRPr sz="2925" b="1">
                <a:solidFill>
                  <a:srgbClr val="AC4A1D"/>
                </a:solidFill>
              </a:defRPr>
            </a:lvl9pPr>
          </a:lstStyle>
          <a:p xmlns:a="http://schemas.openxmlformats.org/drawingml/2006/main">
            <a:pPr>
              <a:buNone/>
              <a:defRPr sz="2925" b="1">
                <a:solidFill>
                  <a:srgbClr val="AC4A1D"/>
                </a:solidFill>
              </a:defRPr>
            </a:pPr>
            <a:r>
              <a:rPr sz="2925" b="1">
                <a:solidFill>
                  <a:srgbClr val="AC4A1D"/>
                </a:solidFill>
              </a:rPr>
              <a:t>Increased sneaker sales</a:t>
            </a:r>
          </a:p>
        </p:txBody>
      </p:sp>
      <p:sp>
        <p:nvSpPr>
          <p:cNvPr id="6" name="">
            <a:extLst xmlns:a="http://schemas.openxmlformats.org/drawingml/2006/main">
              <a:ext uri="{FF2B5EF4-FFF2-40B4-BE49-F238E27FC236}">
                <a16:creationId xmlns:a16="http://schemas.microsoft.com/office/drawing/2014/main" id="{85DED065-A8D5-4DED-AD7E-143BB9A47F4D}"/>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8" name="">
            <a:extLst xmlns:a="http://schemas.openxmlformats.org/drawingml/2006/main">
              <a:ext uri="{FF2B5EF4-FFF2-40B4-BE49-F238E27FC236}">
                <a16:creationId xmlns:a16="http://schemas.microsoft.com/office/drawing/2014/main" id="{BDD42259-4EDA-4331-9DB4-FFADA62E2517}"/>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1361642286"/>
      </p:ext>
    </p:extLst>
  </p:cSld>
  <p:transition spd="fast" advClick="1">
    <p:fade/>
  </p:transition>
</p:sld>
</file>

<file path=ppt/slides/slide10.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863FDE-3C49-44A3-B3F9-6425DD5423D7}"/>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Time-bound</a:t>
            </a:r>
          </a:p>
        </p:txBody>
      </p:sp>
      <p:sp>
        <p:nvSpPr>
          <p:cNvPr id="2" name="">
            <a:extLst xmlns:a="http://schemas.openxmlformats.org/drawingml/2006/main">
              <a:ext uri="{FF2B5EF4-FFF2-40B4-BE49-F238E27FC236}">
                <a16:creationId xmlns:a16="http://schemas.microsoft.com/office/drawing/2014/main" id="{08C82EAE-12E1-4D75-9C1A-6091866646FB}"/>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5BE95FEC-3BC7-4B32-949C-BFA193E510A6}"/>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59F21F87-CAD3-477F-909D-70974CA578D9}"/>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When must the store reach the goal?</a:t>
            </a:r>
          </a:p>
        </p:txBody>
      </p:sp>
      <p:sp>
        <p:nvSpPr>
          <p:cNvPr id="5" name="">
            <a:extLst xmlns:a="http://schemas.openxmlformats.org/drawingml/2006/main">
              <a:ext uri="{FF2B5EF4-FFF2-40B4-BE49-F238E27FC236}">
                <a16:creationId xmlns:a16="http://schemas.microsoft.com/office/drawing/2014/main" id="{E0B8E35E-054B-412C-B93E-E9440E83F00D}"/>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7" name="">
            <a:extLst xmlns:a="http://schemas.openxmlformats.org/drawingml/2006/main">
              <a:ext uri="{FF2B5EF4-FFF2-40B4-BE49-F238E27FC236}">
                <a16:creationId xmlns:a16="http://schemas.microsoft.com/office/drawing/2014/main" id="{07CF5A63-CEF1-48A9-B8D6-D82228F40CDC}"/>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662848749"/>
      </p:ext>
    </p:extLst>
  </p:cSld>
  <p:transition spd="fast" advClick="1">
    <p:fade/>
  </p:transition>
</p:sld>
</file>

<file path=ppt/slides/slide1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F75D53-700D-4484-80C9-1445131A88AE}"/>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Time-bound</a:t>
            </a:r>
          </a:p>
        </p:txBody>
      </p:sp>
      <p:sp>
        <p:nvSpPr>
          <p:cNvPr id="2" name="">
            <a:extLst xmlns:a="http://schemas.openxmlformats.org/drawingml/2006/main">
              <a:ext uri="{FF2B5EF4-FFF2-40B4-BE49-F238E27FC236}">
                <a16:creationId xmlns:a16="http://schemas.microsoft.com/office/drawing/2014/main" id="{2C8ACDD2-C056-4C11-9D63-878A9AF28BE5}"/>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vl1pPr>
              <a:defRPr sz="2325" b="0">
                <a:solidFill>
                  <a:srgbClr val="142D44"/>
                </a:solidFill>
              </a:defRPr>
            </a:lvl1pPr>
            <a:lvl2pPr>
              <a:defRPr sz="2325" b="0">
                <a:solidFill>
                  <a:srgbClr val="142D44"/>
                </a:solidFill>
              </a:defRPr>
            </a:lvl2pPr>
            <a:lvl3pPr>
              <a:defRPr sz="2325" b="0">
                <a:solidFill>
                  <a:srgbClr val="142D44"/>
                </a:solidFill>
              </a:defRPr>
            </a:lvl3pPr>
            <a:lvl4pPr>
              <a:defRPr sz="2325" b="0">
                <a:solidFill>
                  <a:srgbClr val="142D44"/>
                </a:solidFill>
              </a:defRPr>
            </a:lvl4pPr>
            <a:lvl5pPr>
              <a:defRPr sz="2325" b="0">
                <a:solidFill>
                  <a:srgbClr val="142D44"/>
                </a:solidFill>
              </a:defRPr>
            </a:lvl5pPr>
            <a:lvl6pPr>
              <a:defRPr sz="2325" b="0">
                <a:solidFill>
                  <a:srgbClr val="142D44"/>
                </a:solidFill>
              </a:defRPr>
            </a:lvl6pPr>
            <a:lvl7pPr>
              <a:defRPr sz="2325" b="0">
                <a:solidFill>
                  <a:srgbClr val="142D44"/>
                </a:solidFill>
              </a:defRPr>
            </a:lvl7pPr>
            <a:lvl8pPr>
              <a:defRPr sz="2325" b="0">
                <a:solidFill>
                  <a:srgbClr val="142D44"/>
                </a:solidFill>
              </a:defRPr>
            </a:lvl8pPr>
            <a:lvl9pPr>
              <a:defRPr sz="2325" b="0">
                <a:solidFill>
                  <a:srgbClr val="142D44"/>
                </a:solidFill>
              </a:defRPr>
            </a:lvl9pPr>
          </a:lstStyle>
          <a:p xmlns:a="http://schemas.openxmlformats.org/drawingml/2006/main">
            <a:pPr>
              <a:buNone/>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3BB54FEE-7485-49AC-AE5D-C647E5CC3D1B}"/>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vl1pPr>
              <a:defRPr sz="1875" b="0">
                <a:solidFill>
                  <a:srgbClr val="142D44"/>
                </a:solidFill>
              </a:defRPr>
            </a:lvl1pPr>
            <a:lvl2pPr>
              <a:defRPr sz="1875" b="0">
                <a:solidFill>
                  <a:srgbClr val="142D44"/>
                </a:solidFill>
              </a:defRPr>
            </a:lvl2pPr>
            <a:lvl3pPr>
              <a:defRPr sz="1875" b="0">
                <a:solidFill>
                  <a:srgbClr val="142D44"/>
                </a:solidFill>
              </a:defRPr>
            </a:lvl3pPr>
            <a:lvl4pPr>
              <a:defRPr sz="1875" b="0">
                <a:solidFill>
                  <a:srgbClr val="142D44"/>
                </a:solidFill>
              </a:defRPr>
            </a:lvl4pPr>
            <a:lvl5pPr>
              <a:defRPr sz="1875" b="0">
                <a:solidFill>
                  <a:srgbClr val="142D44"/>
                </a:solidFill>
              </a:defRPr>
            </a:lvl5pPr>
            <a:lvl6pPr>
              <a:defRPr sz="1875" b="0">
                <a:solidFill>
                  <a:srgbClr val="142D44"/>
                </a:solidFill>
              </a:defRPr>
            </a:lvl6pPr>
            <a:lvl7pPr>
              <a:defRPr sz="1875" b="0">
                <a:solidFill>
                  <a:srgbClr val="142D44"/>
                </a:solidFill>
              </a:defRPr>
            </a:lvl7pPr>
            <a:lvl8pPr>
              <a:defRPr sz="1875" b="0">
                <a:solidFill>
                  <a:srgbClr val="142D44"/>
                </a:solidFill>
              </a:defRPr>
            </a:lvl8pPr>
            <a:lvl9pPr>
              <a:defRPr sz="1875" b="0">
                <a:solidFill>
                  <a:srgbClr val="142D44"/>
                </a:solidFill>
              </a:defRPr>
            </a:lvl9pPr>
          </a:lstStyle>
          <a:p xmlns:a="http://schemas.openxmlformats.org/drawingml/2006/main">
            <a:pPr>
              <a:buNone/>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313F0D41-6767-4194-A221-8BF62295BFF7}"/>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vl1pPr>
              <a:defRPr sz="2850" b="1">
                <a:solidFill>
                  <a:srgbClr val="087D83"/>
                </a:solidFill>
              </a:defRPr>
            </a:lvl1pPr>
            <a:lvl2pPr>
              <a:defRPr sz="2850" b="1">
                <a:solidFill>
                  <a:srgbClr val="087D83"/>
                </a:solidFill>
              </a:defRPr>
            </a:lvl2pPr>
            <a:lvl3pPr>
              <a:defRPr sz="2850" b="1">
                <a:solidFill>
                  <a:srgbClr val="087D83"/>
                </a:solidFill>
              </a:defRPr>
            </a:lvl3pPr>
            <a:lvl4pPr>
              <a:defRPr sz="2850" b="1">
                <a:solidFill>
                  <a:srgbClr val="087D83"/>
                </a:solidFill>
              </a:defRPr>
            </a:lvl4pPr>
            <a:lvl5pPr>
              <a:defRPr sz="2850" b="1">
                <a:solidFill>
                  <a:srgbClr val="087D83"/>
                </a:solidFill>
              </a:defRPr>
            </a:lvl5pPr>
            <a:lvl6pPr>
              <a:defRPr sz="2850" b="1">
                <a:solidFill>
                  <a:srgbClr val="087D83"/>
                </a:solidFill>
              </a:defRPr>
            </a:lvl6pPr>
            <a:lvl7pPr>
              <a:defRPr sz="2850" b="1">
                <a:solidFill>
                  <a:srgbClr val="087D83"/>
                </a:solidFill>
              </a:defRPr>
            </a:lvl7pPr>
            <a:lvl8pPr>
              <a:defRPr sz="2850" b="1">
                <a:solidFill>
                  <a:srgbClr val="087D83"/>
                </a:solidFill>
              </a:defRPr>
            </a:lvl8pPr>
            <a:lvl9pPr>
              <a:defRPr sz="2850" b="1">
                <a:solidFill>
                  <a:srgbClr val="087D83"/>
                </a:solidFill>
              </a:defRPr>
            </a:lvl9pPr>
          </a:lstStyle>
          <a:p xmlns:a="http://schemas.openxmlformats.org/drawingml/2006/main">
            <a:pPr>
              <a:buNone/>
              <a:defRPr sz="2850" b="1">
                <a:solidFill>
                  <a:srgbClr val="087D83"/>
                </a:solidFill>
              </a:defRPr>
            </a:pPr>
            <a:r>
              <a:rPr sz="2850" b="1">
                <a:solidFill>
                  <a:srgbClr val="087D83"/>
                </a:solidFill>
              </a:rPr>
              <a:t>When must the store reach the goal?</a:t>
            </a:r>
          </a:p>
        </p:txBody>
      </p:sp>
      <p:sp>
        <p:nvSpPr>
          <p:cNvPr id="5" name="">
            <a:extLst xmlns:a="http://schemas.openxmlformats.org/drawingml/2006/main">
              <a:ext uri="{FF2B5EF4-FFF2-40B4-BE49-F238E27FC236}">
                <a16:creationId xmlns:a16="http://schemas.microsoft.com/office/drawing/2014/main" id="{CC79AEB5-43E5-4345-B47F-D80329FFD4BB}"/>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vl1pPr>
              <a:defRPr sz="2925" b="1">
                <a:solidFill>
                  <a:srgbClr val="AC4A1D"/>
                </a:solidFill>
              </a:defRPr>
            </a:lvl1pPr>
            <a:lvl2pPr>
              <a:defRPr sz="2925" b="1">
                <a:solidFill>
                  <a:srgbClr val="AC4A1D"/>
                </a:solidFill>
              </a:defRPr>
            </a:lvl2pPr>
            <a:lvl3pPr>
              <a:defRPr sz="2925" b="1">
                <a:solidFill>
                  <a:srgbClr val="AC4A1D"/>
                </a:solidFill>
              </a:defRPr>
            </a:lvl3pPr>
            <a:lvl4pPr>
              <a:defRPr sz="2925" b="1">
                <a:solidFill>
                  <a:srgbClr val="AC4A1D"/>
                </a:solidFill>
              </a:defRPr>
            </a:lvl4pPr>
            <a:lvl5pPr>
              <a:defRPr sz="2925" b="1">
                <a:solidFill>
                  <a:srgbClr val="AC4A1D"/>
                </a:solidFill>
              </a:defRPr>
            </a:lvl5pPr>
            <a:lvl6pPr>
              <a:defRPr sz="2925" b="1">
                <a:solidFill>
                  <a:srgbClr val="AC4A1D"/>
                </a:solidFill>
              </a:defRPr>
            </a:lvl6pPr>
            <a:lvl7pPr>
              <a:defRPr sz="2925" b="1">
                <a:solidFill>
                  <a:srgbClr val="AC4A1D"/>
                </a:solidFill>
              </a:defRPr>
            </a:lvl7pPr>
            <a:lvl8pPr>
              <a:defRPr sz="2925" b="1">
                <a:solidFill>
                  <a:srgbClr val="AC4A1D"/>
                </a:solidFill>
              </a:defRPr>
            </a:lvl8pPr>
            <a:lvl9pPr>
              <a:defRPr sz="2925" b="1">
                <a:solidFill>
                  <a:srgbClr val="AC4A1D"/>
                </a:solidFill>
              </a:defRPr>
            </a:lvl9pPr>
          </a:lstStyle>
          <a:p xmlns:a="http://schemas.openxmlformats.org/drawingml/2006/main">
            <a:pPr>
              <a:buNone/>
              <a:defRPr sz="2925" b="1">
                <a:solidFill>
                  <a:srgbClr val="AC4A1D"/>
                </a:solidFill>
              </a:defRPr>
            </a:pPr>
            <a:r>
              <a:rPr sz="2925" b="1">
                <a:solidFill>
                  <a:srgbClr val="AC4A1D"/>
                </a:solidFill>
              </a:rPr>
              <a:t>By November 13</a:t>
            </a:r>
          </a:p>
        </p:txBody>
      </p:sp>
      <p:sp>
        <p:nvSpPr>
          <p:cNvPr id="6" name="">
            <a:extLst xmlns:a="http://schemas.openxmlformats.org/drawingml/2006/main">
              <a:ext uri="{FF2B5EF4-FFF2-40B4-BE49-F238E27FC236}">
                <a16:creationId xmlns:a16="http://schemas.microsoft.com/office/drawing/2014/main" id="{DDB162DE-EF84-41A5-9A7C-5124E22768A5}"/>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20–21     Figure 2.2</a:t>
            </a:r>
          </a:p>
        </p:txBody>
      </p:sp>
      <p:sp>
        <p:nvSpPr>
          <p:cNvPr id="8" name="">
            <a:extLst xmlns:a="http://schemas.openxmlformats.org/drawingml/2006/main">
              <a:ext uri="{FF2B5EF4-FFF2-40B4-BE49-F238E27FC236}">
                <a16:creationId xmlns:a16="http://schemas.microsoft.com/office/drawing/2014/main" id="{1EB6875B-4D6F-418C-A15C-DF69A3FE5A9B}"/>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SMART CHECKS   10–13 min   3 minutes for all five criteria</a:t>
            </a:r>
          </a:p>
        </p:txBody>
      </p:sp>
    </p:spTree>
    <p:extLst>
      <p:ext uri="{BB962C8B-B14F-4D97-AF65-F5344CB8AC3E}">
        <p14:creationId xmlns:p14="http://schemas.microsoft.com/office/powerpoint/2010/main" val="868428682"/>
      </p:ext>
    </p:extLst>
  </p:cSld>
  <p:transition spd="fast" advClick="1">
    <p:fade/>
  </p:transition>
</p:sld>
</file>

<file path=ppt/slides/slide1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931A19-FCDB-4844-8274-7C0A7D27E1BD}"/>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A milestone before the final goal</a:t>
            </a:r>
          </a:p>
        </p:txBody>
      </p:sp>
      <p:sp>
        <p:nvSpPr>
          <p:cNvPr id="2" name="">
            <a:extLst xmlns:a="http://schemas.openxmlformats.org/drawingml/2006/main">
              <a:ext uri="{FF2B5EF4-FFF2-40B4-BE49-F238E27FC236}">
                <a16:creationId xmlns:a16="http://schemas.microsoft.com/office/drawing/2014/main" id="{036687FE-DEE7-4C67-AE34-6C2D5D7C17BA}"/>
              </a:ext>
            </a:extLst>
          </p:cNvPr>
          <p:cNvSpPr>
            <a:spLocks xmlns:a="http://schemas.openxmlformats.org/drawingml/2006/main" noGrp="1"/>
          </p:cNvSpPr>
          <p:nvPr/>
        </p:nvSpPr>
        <p:spPr>
          <a:xfrm xmlns:a="http://schemas.openxmlformats.org/drawingml/2006/main">
            <a:off x="609600" y="1476375"/>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87D83"/>
                </a:solidFill>
              </a:defRPr>
            </a:defPPr>
            <a:lvl1pPr>
              <a:defRPr sz="2625" b="1">
                <a:solidFill>
                  <a:srgbClr val="087D83"/>
                </a:solidFill>
              </a:defRPr>
            </a:lvl1pPr>
            <a:lvl2pPr>
              <a:defRPr sz="2625" b="1">
                <a:solidFill>
                  <a:srgbClr val="087D83"/>
                </a:solidFill>
              </a:defRPr>
            </a:lvl2pPr>
            <a:lvl3pPr>
              <a:defRPr sz="2625" b="1">
                <a:solidFill>
                  <a:srgbClr val="087D83"/>
                </a:solidFill>
              </a:defRPr>
            </a:lvl3pPr>
            <a:lvl4pPr>
              <a:defRPr sz="2625" b="1">
                <a:solidFill>
                  <a:srgbClr val="087D83"/>
                </a:solidFill>
              </a:defRPr>
            </a:lvl4pPr>
            <a:lvl5pPr>
              <a:defRPr sz="2625" b="1">
                <a:solidFill>
                  <a:srgbClr val="087D83"/>
                </a:solidFill>
              </a:defRPr>
            </a:lvl5pPr>
            <a:lvl6pPr>
              <a:defRPr sz="2625" b="1">
                <a:solidFill>
                  <a:srgbClr val="087D83"/>
                </a:solidFill>
              </a:defRPr>
            </a:lvl6pPr>
            <a:lvl7pPr>
              <a:defRPr sz="2625" b="1">
                <a:solidFill>
                  <a:srgbClr val="087D83"/>
                </a:solidFill>
              </a:defRPr>
            </a:lvl7pPr>
            <a:lvl8pPr>
              <a:defRPr sz="2625" b="1">
                <a:solidFill>
                  <a:srgbClr val="087D83"/>
                </a:solidFill>
              </a:defRPr>
            </a:lvl8pPr>
            <a:lvl9pPr>
              <a:defRPr sz="2625" b="1">
                <a:solidFill>
                  <a:srgbClr val="087D83"/>
                </a:solidFill>
              </a:defRPr>
            </a:lvl9pPr>
          </a:lstStyle>
          <a:p xmlns:a="http://schemas.openxmlformats.org/drawingml/2006/main">
            <a:pPr>
              <a:buNone/>
              <a:defRPr sz="2625" b="1">
                <a:solidFill>
                  <a:srgbClr val="087D83"/>
                </a:solidFill>
              </a:defRPr>
            </a:pPr>
            <a:r>
              <a:rPr sz="2625" b="1">
                <a:solidFill>
                  <a:srgbClr val="087D83"/>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43E51DA5-C1A3-4519-9E2C-C5F2F3F8AD4B}"/>
              </a:ext>
            </a:extLst>
          </p:cNvPr>
          <p:cNvSpPr>
            <a:spLocks xmlns:a="http://schemas.openxmlformats.org/drawingml/2006/main" noGrp="1"/>
          </p:cNvSpPr>
          <p:nvPr/>
        </p:nvSpPr>
        <p:spPr>
          <a:xfrm xmlns:a="http://schemas.openxmlformats.org/drawingml/2006/main">
            <a:off x="609600" y="3286125"/>
            <a:ext cx="1085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42D44"/>
                </a:solidFill>
              </a:defRPr>
            </a:defPPr>
            <a:lvl1pPr>
              <a:defRPr sz="3150" b="0">
                <a:solidFill>
                  <a:srgbClr val="142D44"/>
                </a:solidFill>
              </a:defRPr>
            </a:lvl1pPr>
            <a:lvl2pPr>
              <a:defRPr sz="3150" b="0">
                <a:solidFill>
                  <a:srgbClr val="142D44"/>
                </a:solidFill>
              </a:defRPr>
            </a:lvl2pPr>
            <a:lvl3pPr>
              <a:defRPr sz="3150" b="0">
                <a:solidFill>
                  <a:srgbClr val="142D44"/>
                </a:solidFill>
              </a:defRPr>
            </a:lvl3pPr>
            <a:lvl4pPr>
              <a:defRPr sz="3150" b="0">
                <a:solidFill>
                  <a:srgbClr val="142D44"/>
                </a:solidFill>
              </a:defRPr>
            </a:lvl4pPr>
            <a:lvl5pPr>
              <a:defRPr sz="3150" b="0">
                <a:solidFill>
                  <a:srgbClr val="142D44"/>
                </a:solidFill>
              </a:defRPr>
            </a:lvl5pPr>
            <a:lvl6pPr>
              <a:defRPr sz="3150" b="0">
                <a:solidFill>
                  <a:srgbClr val="142D44"/>
                </a:solidFill>
              </a:defRPr>
            </a:lvl6pPr>
            <a:lvl7pPr>
              <a:defRPr sz="3150" b="0">
                <a:solidFill>
                  <a:srgbClr val="142D44"/>
                </a:solidFill>
              </a:defRPr>
            </a:lvl7pPr>
            <a:lvl8pPr>
              <a:defRPr sz="3150" b="0">
                <a:solidFill>
                  <a:srgbClr val="142D44"/>
                </a:solidFill>
              </a:defRPr>
            </a:lvl8pPr>
            <a:lvl9pPr>
              <a:defRPr sz="3150" b="0">
                <a:solidFill>
                  <a:srgbClr val="142D44"/>
                </a:solidFill>
              </a:defRPr>
            </a:lvl9pPr>
          </a:lstStyle>
          <a:p xmlns:a="http://schemas.openxmlformats.org/drawingml/2006/main">
            <a:pPr>
              <a:buNone/>
              <a:defRPr sz="3150" b="0">
                <a:solidFill>
                  <a:srgbClr val="142D44"/>
                </a:solidFill>
              </a:defRPr>
            </a:pPr>
            <a:r>
              <a:rPr sz="3150" b="0">
                <a:solidFill>
                  <a:srgbClr val="142D44"/>
                </a:solidFill>
              </a:rPr>
              <a:t>What smaller result could we check before November 13?</a:t>
            </a:r>
          </a:p>
        </p:txBody>
      </p:sp>
      <p:sp>
        <p:nvSpPr>
          <p:cNvPr id="4" name="">
            <a:extLst xmlns:a="http://schemas.openxmlformats.org/drawingml/2006/main">
              <a:ext uri="{FF2B5EF4-FFF2-40B4-BE49-F238E27FC236}">
                <a16:creationId xmlns:a16="http://schemas.microsoft.com/office/drawing/2014/main" id="{33E94856-2AA9-4506-BB5C-E6A7ADD1C99F}"/>
              </a:ext>
            </a:extLst>
          </p:cNvPr>
          <p:cNvSpPr>
            <a:spLocks xmlns:a="http://schemas.openxmlformats.org/drawingml/2006/main" noGrp="1"/>
          </p:cNvSpPr>
          <p:nvPr/>
        </p:nvSpPr>
        <p:spPr>
          <a:xfrm xmlns:a="http://schemas.openxmlformats.org/drawingml/2006/main">
            <a:off x="609600" y="552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44"/>
                </a:solidFill>
              </a:defRPr>
            </a:defPPr>
            <a:lvl1pPr>
              <a:defRPr sz="2100" b="0">
                <a:solidFill>
                  <a:srgbClr val="142D44"/>
                </a:solidFill>
              </a:defRPr>
            </a:lvl1pPr>
            <a:lvl2pPr>
              <a:defRPr sz="2100" b="0">
                <a:solidFill>
                  <a:srgbClr val="142D44"/>
                </a:solidFill>
              </a:defRPr>
            </a:lvl2pPr>
            <a:lvl3pPr>
              <a:defRPr sz="2100" b="0">
                <a:solidFill>
                  <a:srgbClr val="142D44"/>
                </a:solidFill>
              </a:defRPr>
            </a:lvl3pPr>
            <a:lvl4pPr>
              <a:defRPr sz="2100" b="0">
                <a:solidFill>
                  <a:srgbClr val="142D44"/>
                </a:solidFill>
              </a:defRPr>
            </a:lvl4pPr>
            <a:lvl5pPr>
              <a:defRPr sz="2100" b="0">
                <a:solidFill>
                  <a:srgbClr val="142D44"/>
                </a:solidFill>
              </a:defRPr>
            </a:lvl5pPr>
            <a:lvl6pPr>
              <a:defRPr sz="2100" b="0">
                <a:solidFill>
                  <a:srgbClr val="142D44"/>
                </a:solidFill>
              </a:defRPr>
            </a:lvl6pPr>
            <a:lvl7pPr>
              <a:defRPr sz="2100" b="0">
                <a:solidFill>
                  <a:srgbClr val="142D44"/>
                </a:solidFill>
              </a:defRPr>
            </a:lvl7pPr>
            <a:lvl8pPr>
              <a:defRPr sz="2100" b="0">
                <a:solidFill>
                  <a:srgbClr val="142D44"/>
                </a:solidFill>
              </a:defRPr>
            </a:lvl8pPr>
            <a:lvl9pPr>
              <a:defRPr sz="2100" b="0">
                <a:solidFill>
                  <a:srgbClr val="142D44"/>
                </a:solidFill>
              </a:defRPr>
            </a:lvl9pPr>
          </a:lstStyle>
          <a:p xmlns:a="http://schemas.openxmlformats.org/drawingml/2006/main">
            <a:pPr>
              <a:buNone/>
              <a:defRPr sz="2100" b="0">
                <a:solidFill>
                  <a:srgbClr val="142D44"/>
                </a:solidFill>
              </a:defRPr>
            </a:pPr>
            <a:r>
              <a:rPr sz="2100" b="0">
                <a:solidFill>
                  <a:srgbClr val="142D44"/>
                </a:solidFill>
              </a:rPr>
              <a:t>Suggest one checkpoint and a date. Chapter 2 p. 21.</a:t>
            </a:r>
          </a:p>
        </p:txBody>
      </p:sp>
      <p:sp>
        <p:nvSpPr>
          <p:cNvPr id="6" name="">
            <a:extLst xmlns:a="http://schemas.openxmlformats.org/drawingml/2006/main">
              <a:ext uri="{FF2B5EF4-FFF2-40B4-BE49-F238E27FC236}">
                <a16:creationId xmlns:a16="http://schemas.microsoft.com/office/drawing/2014/main" id="{A6EF1E98-25F8-43F4-8C37-FBE4827CA266}"/>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MILESTONE EXAMPLE   17–19 min   2 minutes</a:t>
            </a:r>
          </a:p>
        </p:txBody>
      </p:sp>
    </p:spTree>
    <p:extLst>
      <p:ext uri="{BB962C8B-B14F-4D97-AF65-F5344CB8AC3E}">
        <p14:creationId xmlns:p14="http://schemas.microsoft.com/office/powerpoint/2010/main" val="971951962"/>
      </p:ext>
    </p:extLst>
  </p:cSld>
  <p:transition spd="fast" advClick="1">
    <p:fade/>
  </p:transition>
</p:sld>
</file>

<file path=ppt/slides/slide1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4CFC17A-6227-4E21-93B1-EA647FB88227}"/>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A milestone checks progress</a:t>
            </a:r>
          </a:p>
        </p:txBody>
      </p:sp>
      <p:sp>
        <p:nvSpPr>
          <p:cNvPr id="2" name="">
            <a:extLst xmlns:a="http://schemas.openxmlformats.org/drawingml/2006/main">
              <a:ext uri="{FF2B5EF4-FFF2-40B4-BE49-F238E27FC236}">
                <a16:creationId xmlns:a16="http://schemas.microsoft.com/office/drawing/2014/main" id="{932F0974-6C97-4CC7-BB42-9D6A07C0A188}"/>
              </a:ext>
            </a:extLst>
          </p:cNvPr>
          <p:cNvSpPr>
            <a:spLocks xmlns:a="http://schemas.openxmlformats.org/drawingml/2006/main" noGrp="1"/>
          </p:cNvSpPr>
          <p:nvPr/>
        </p:nvSpPr>
        <p:spPr>
          <a:xfrm xmlns:a="http://schemas.openxmlformats.org/drawingml/2006/main">
            <a:off x="609600" y="14763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42D44"/>
                </a:solidFill>
              </a:defRPr>
            </a:defPPr>
            <a:lvl1pPr>
              <a:defRPr sz="2475" b="0">
                <a:solidFill>
                  <a:srgbClr val="142D44"/>
                </a:solidFill>
              </a:defRPr>
            </a:lvl1pPr>
            <a:lvl2pPr>
              <a:defRPr sz="2475" b="0">
                <a:solidFill>
                  <a:srgbClr val="142D44"/>
                </a:solidFill>
              </a:defRPr>
            </a:lvl2pPr>
            <a:lvl3pPr>
              <a:defRPr sz="2475" b="0">
                <a:solidFill>
                  <a:srgbClr val="142D44"/>
                </a:solidFill>
              </a:defRPr>
            </a:lvl3pPr>
            <a:lvl4pPr>
              <a:defRPr sz="2475" b="0">
                <a:solidFill>
                  <a:srgbClr val="142D44"/>
                </a:solidFill>
              </a:defRPr>
            </a:lvl4pPr>
            <a:lvl5pPr>
              <a:defRPr sz="2475" b="0">
                <a:solidFill>
                  <a:srgbClr val="142D44"/>
                </a:solidFill>
              </a:defRPr>
            </a:lvl5pPr>
            <a:lvl6pPr>
              <a:defRPr sz="2475" b="0">
                <a:solidFill>
                  <a:srgbClr val="142D44"/>
                </a:solidFill>
              </a:defRPr>
            </a:lvl6pPr>
            <a:lvl7pPr>
              <a:defRPr sz="2475" b="0">
                <a:solidFill>
                  <a:srgbClr val="142D44"/>
                </a:solidFill>
              </a:defRPr>
            </a:lvl7pPr>
            <a:lvl8pPr>
              <a:defRPr sz="2475" b="0">
                <a:solidFill>
                  <a:srgbClr val="142D44"/>
                </a:solidFill>
              </a:defRPr>
            </a:lvl8pPr>
            <a:lvl9pPr>
              <a:defRPr sz="2475" b="0">
                <a:solidFill>
                  <a:srgbClr val="142D44"/>
                </a:solidFill>
              </a:defRPr>
            </a:lvl9pPr>
          </a:lstStyle>
          <a:p xmlns:a="http://schemas.openxmlformats.org/drawingml/2006/main">
            <a:pPr>
              <a:buNone/>
              <a:defRPr sz="2475" b="0">
                <a:solidFill>
                  <a:srgbClr val="142D44"/>
                </a:solidFill>
              </a:defRPr>
            </a:pPr>
            <a:r>
              <a:rPr sz="2475" b="0">
                <a:solidFill>
                  <a:srgbClr val="142D44"/>
                </a:solidFill>
              </a:rPr>
              <a:t>1  Checkpoint: 22 pairs in one week by October 30.</a:t>
            </a:r>
          </a:p>
          <a:p xmlns:a="http://schemas.openxmlformats.org/drawingml/2006/main">
            <a:r>
              <a:t/>
            </a:r>
          </a:p>
          <a:p xmlns:a="http://schemas.openxmlformats.org/drawingml/2006/main">
            <a:pPr>
              <a:buNone/>
              <a:defRPr sz="2475" b="0">
                <a:solidFill>
                  <a:srgbClr val="142D44"/>
                </a:solidFill>
              </a:defRPr>
            </a:pPr>
            <a:r>
              <a:rPr sz="2475" b="0">
                <a:solidFill>
                  <a:srgbClr val="142D44"/>
                </a:solidFill>
              </a:rPr>
              <a:t>2  Action: repeat the promotion with available stock.</a:t>
            </a:r>
          </a:p>
          <a:p xmlns:a="http://schemas.openxmlformats.org/drawingml/2006/main">
            <a:r>
              <a:t/>
            </a:r>
          </a:p>
          <a:p xmlns:a="http://schemas.openxmlformats.org/drawingml/2006/main">
            <a:pPr>
              <a:buNone/>
              <a:defRPr sz="2475" b="0">
                <a:solidFill>
                  <a:srgbClr val="142D44"/>
                </a:solidFill>
              </a:defRPr>
            </a:pPr>
            <a:r>
              <a:rPr sz="2475" b="0">
                <a:solidFill>
                  <a:srgbClr val="142D44"/>
                </a:solidFill>
              </a:rPr>
              <a:t>3  Measurement: check the weekly sales log.</a:t>
            </a:r>
          </a:p>
          <a:p xmlns:a="http://schemas.openxmlformats.org/drawingml/2006/main">
            <a:r>
              <a:t/>
            </a:r>
          </a:p>
          <a:p xmlns:a="http://schemas.openxmlformats.org/drawingml/2006/main">
            <a:pPr>
              <a:buNone/>
              <a:defRPr sz="2475" b="0">
                <a:solidFill>
                  <a:srgbClr val="142D44"/>
                </a:solidFill>
              </a:defRPr>
            </a:pPr>
            <a:r>
              <a:rPr sz="2475" b="0">
                <a:solidFill>
                  <a:srgbClr val="142D44"/>
                </a:solidFill>
              </a:rPr>
              <a:t>4  Review: examine the results and adjust the plan.</a:t>
            </a:r>
          </a:p>
        </p:txBody>
      </p:sp>
      <p:sp>
        <p:nvSpPr>
          <p:cNvPr id="3" name="">
            <a:extLst xmlns:a="http://schemas.openxmlformats.org/drawingml/2006/main">
              <a:ext uri="{FF2B5EF4-FFF2-40B4-BE49-F238E27FC236}">
                <a16:creationId xmlns:a16="http://schemas.microsoft.com/office/drawing/2014/main" id="{EA50B9B2-05CC-4294-8196-B824D381C82B}"/>
              </a:ext>
            </a:extLst>
          </p:cNvPr>
          <p:cNvSpPr>
            <a:spLocks xmlns:a="http://schemas.openxmlformats.org/drawingml/2006/main" noGrp="1"/>
          </p:cNvSpPr>
          <p:nvPr/>
        </p:nvSpPr>
        <p:spPr>
          <a:xfrm xmlns:a="http://schemas.openxmlformats.org/drawingml/2006/main">
            <a:off x="609600" y="61912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vl1pPr>
              <a:defRPr sz="1575" b="0">
                <a:solidFill>
                  <a:srgbClr val="142D44"/>
                </a:solidFill>
              </a:defRPr>
            </a:lvl1pPr>
            <a:lvl2pPr>
              <a:defRPr sz="1575" b="0">
                <a:solidFill>
                  <a:srgbClr val="142D44"/>
                </a:solidFill>
              </a:defRPr>
            </a:lvl2pPr>
            <a:lvl3pPr>
              <a:defRPr sz="1575" b="0">
                <a:solidFill>
                  <a:srgbClr val="142D44"/>
                </a:solidFill>
              </a:defRPr>
            </a:lvl3pPr>
            <a:lvl4pPr>
              <a:defRPr sz="1575" b="0">
                <a:solidFill>
                  <a:srgbClr val="142D44"/>
                </a:solidFill>
              </a:defRPr>
            </a:lvl4pPr>
            <a:lvl5pPr>
              <a:defRPr sz="1575" b="0">
                <a:solidFill>
                  <a:srgbClr val="142D44"/>
                </a:solidFill>
              </a:defRPr>
            </a:lvl5pPr>
            <a:lvl6pPr>
              <a:defRPr sz="1575" b="0">
                <a:solidFill>
                  <a:srgbClr val="142D44"/>
                </a:solidFill>
              </a:defRPr>
            </a:lvl6pPr>
            <a:lvl7pPr>
              <a:defRPr sz="1575" b="0">
                <a:solidFill>
                  <a:srgbClr val="142D44"/>
                </a:solidFill>
              </a:defRPr>
            </a:lvl7pPr>
            <a:lvl8pPr>
              <a:defRPr sz="1575" b="0">
                <a:solidFill>
                  <a:srgbClr val="142D44"/>
                </a:solidFill>
              </a:defRPr>
            </a:lvl8pPr>
            <a:lvl9pPr>
              <a:defRPr sz="1575" b="0">
                <a:solidFill>
                  <a:srgbClr val="142D44"/>
                </a:solidFill>
              </a:defRPr>
            </a:lvl9pPr>
          </a:lstStyle>
          <a:p xmlns:a="http://schemas.openxmlformats.org/drawingml/2006/main">
            <a:pPr>
              <a:buNone/>
              <a:defRPr sz="1575" b="0">
                <a:solidFill>
                  <a:srgbClr val="142D44"/>
                </a:solidFill>
              </a:defRPr>
            </a:pPr>
            <a:r>
              <a:rPr sz="1575" b="0">
                <a:solidFill>
                  <a:srgbClr val="142D44"/>
                </a:solidFill>
              </a:rPr>
              <a:t>Chapter 2 pp. 22–23     Final goal: 24 pairs per week by November 13</a:t>
            </a:r>
          </a:p>
        </p:txBody>
      </p:sp>
      <p:sp>
        <p:nvSpPr>
          <p:cNvPr id="5" name="">
            <a:extLst xmlns:a="http://schemas.openxmlformats.org/drawingml/2006/main">
              <a:ext uri="{FF2B5EF4-FFF2-40B4-BE49-F238E27FC236}">
                <a16:creationId xmlns:a16="http://schemas.microsoft.com/office/drawing/2014/main" id="{1FC03147-044C-4ADA-8F05-C8E7E47367D7}"/>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MILESTONE EXAMPLE   17–19 min   2 minutes</a:t>
            </a:r>
          </a:p>
        </p:txBody>
      </p:sp>
    </p:spTree>
    <p:extLst>
      <p:ext uri="{BB962C8B-B14F-4D97-AF65-F5344CB8AC3E}">
        <p14:creationId xmlns:p14="http://schemas.microsoft.com/office/powerpoint/2010/main" val="961361766"/>
      </p:ext>
    </p:extLst>
  </p:cSld>
  <p:transition spd="fast" advClick="1">
    <p:fade/>
  </p:transition>
</p:sld>
</file>

<file path=ppt/slides/slide14.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D14988-BFCA-4AFF-A33B-4234BB5332B6}"/>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Chapter 2 independent review</a:t>
            </a:r>
          </a:p>
        </p:txBody>
      </p:sp>
      <p:sp>
        <p:nvSpPr>
          <p:cNvPr id="2" name="">
            <a:extLst xmlns:a="http://schemas.openxmlformats.org/drawingml/2006/main">
              <a:ext uri="{FF2B5EF4-FFF2-40B4-BE49-F238E27FC236}">
                <a16:creationId xmlns:a16="http://schemas.microsoft.com/office/drawing/2014/main" id="{7D7229A8-1B61-40EF-ACDD-D417EBD77654}"/>
              </a:ext>
            </a:extLst>
          </p:cNvPr>
          <p:cNvSpPr>
            <a:spLocks xmlns:a="http://schemas.openxmlformats.org/drawingml/2006/main" noGrp="1"/>
          </p:cNvSpPr>
          <p:nvPr/>
        </p:nvSpPr>
        <p:spPr>
          <a:xfrm xmlns:a="http://schemas.openxmlformats.org/drawingml/2006/main">
            <a:off x="609600" y="1428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defRPr>
            </a:defPPr>
            <a:lvl1pPr>
              <a:defRPr sz="2250" b="0">
                <a:solidFill>
                  <a:srgbClr val="142D44"/>
                </a:solidFill>
              </a:defRPr>
            </a:lvl1pPr>
            <a:lvl2pPr>
              <a:defRPr sz="2250" b="0">
                <a:solidFill>
                  <a:srgbClr val="142D44"/>
                </a:solidFill>
              </a:defRPr>
            </a:lvl2pPr>
            <a:lvl3pPr>
              <a:defRPr sz="2250" b="0">
                <a:solidFill>
                  <a:srgbClr val="142D44"/>
                </a:solidFill>
              </a:defRPr>
            </a:lvl3pPr>
            <a:lvl4pPr>
              <a:defRPr sz="2250" b="0">
                <a:solidFill>
                  <a:srgbClr val="142D44"/>
                </a:solidFill>
              </a:defRPr>
            </a:lvl4pPr>
            <a:lvl5pPr>
              <a:defRPr sz="2250" b="0">
                <a:solidFill>
                  <a:srgbClr val="142D44"/>
                </a:solidFill>
              </a:defRPr>
            </a:lvl5pPr>
            <a:lvl6pPr>
              <a:defRPr sz="2250" b="0">
                <a:solidFill>
                  <a:srgbClr val="142D44"/>
                </a:solidFill>
              </a:defRPr>
            </a:lvl6pPr>
            <a:lvl7pPr>
              <a:defRPr sz="2250" b="0">
                <a:solidFill>
                  <a:srgbClr val="142D44"/>
                </a:solidFill>
              </a:defRPr>
            </a:lvl7pPr>
            <a:lvl8pPr>
              <a:defRPr sz="2250" b="0">
                <a:solidFill>
                  <a:srgbClr val="142D44"/>
                </a:solidFill>
              </a:defRPr>
            </a:lvl8pPr>
            <a:lvl9pPr>
              <a:defRPr sz="2250" b="0">
                <a:solidFill>
                  <a:srgbClr val="142D44"/>
                </a:solidFill>
              </a:defRPr>
            </a:lvl9pPr>
          </a:lstStyle>
          <a:p xmlns:a="http://schemas.openxmlformats.org/drawingml/2006/main">
            <a:pPr>
              <a:buNone/>
              <a:defRPr sz="2250" b="0">
                <a:solidFill>
                  <a:srgbClr val="142D44"/>
                </a:solidFill>
              </a:defRPr>
            </a:pPr>
            <a:r>
              <a:rPr sz="2250" b="0">
                <a:solidFill>
                  <a:srgbClr val="142D44"/>
                </a:solidFill>
              </a:rPr>
              <a:t>Use your existing Test Your Knowledge worksheet.</a:t>
            </a:r>
          </a:p>
        </p:txBody>
      </p:sp>
      <p:sp>
        <p:nvSpPr>
          <p:cNvPr id="3" name="">
            <a:extLst xmlns:a="http://schemas.openxmlformats.org/drawingml/2006/main">
              <a:ext uri="{FF2B5EF4-FFF2-40B4-BE49-F238E27FC236}">
                <a16:creationId xmlns:a16="http://schemas.microsoft.com/office/drawing/2014/main" id="{F5FE045A-E382-4A83-A059-EDD770AF76D6}"/>
              </a:ext>
            </a:extLst>
          </p:cNvPr>
          <p:cNvSpPr>
            <a:spLocks xmlns:a="http://schemas.openxmlformats.org/drawingml/2006/main" noGrp="1"/>
          </p:cNvSpPr>
          <p:nvPr/>
        </p:nvSpPr>
        <p:spPr>
          <a:xfrm xmlns:a="http://schemas.openxmlformats.org/drawingml/2006/main">
            <a:off x="609600" y="2333625"/>
            <a:ext cx="10858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D83"/>
                </a:solidFill>
              </a:defRPr>
            </a:defPPr>
            <a:lvl1pPr>
              <a:defRPr sz="2250" b="1">
                <a:solidFill>
                  <a:srgbClr val="087D83"/>
                </a:solidFill>
              </a:defRPr>
            </a:lvl1pPr>
            <a:lvl2pPr>
              <a:defRPr sz="2250" b="1">
                <a:solidFill>
                  <a:srgbClr val="087D83"/>
                </a:solidFill>
              </a:defRPr>
            </a:lvl2pPr>
            <a:lvl3pPr>
              <a:defRPr sz="2250" b="1">
                <a:solidFill>
                  <a:srgbClr val="087D83"/>
                </a:solidFill>
              </a:defRPr>
            </a:lvl3pPr>
            <a:lvl4pPr>
              <a:defRPr sz="2250" b="1">
                <a:solidFill>
                  <a:srgbClr val="087D83"/>
                </a:solidFill>
              </a:defRPr>
            </a:lvl4pPr>
            <a:lvl5pPr>
              <a:defRPr sz="2250" b="1">
                <a:solidFill>
                  <a:srgbClr val="087D83"/>
                </a:solidFill>
              </a:defRPr>
            </a:lvl5pPr>
            <a:lvl6pPr>
              <a:defRPr sz="2250" b="1">
                <a:solidFill>
                  <a:srgbClr val="087D83"/>
                </a:solidFill>
              </a:defRPr>
            </a:lvl6pPr>
            <a:lvl7pPr>
              <a:defRPr sz="2250" b="1">
                <a:solidFill>
                  <a:srgbClr val="087D83"/>
                </a:solidFill>
              </a:defRPr>
            </a:lvl7pPr>
            <a:lvl8pPr>
              <a:defRPr sz="2250" b="1">
                <a:solidFill>
                  <a:srgbClr val="087D83"/>
                </a:solidFill>
              </a:defRPr>
            </a:lvl8pPr>
            <a:lvl9pPr>
              <a:defRPr sz="2250" b="1">
                <a:solidFill>
                  <a:srgbClr val="087D83"/>
                </a:solidFill>
              </a:defRPr>
            </a:lvl9pPr>
          </a:lstStyle>
          <a:p xmlns:a="http://schemas.openxmlformats.org/drawingml/2006/main">
            <a:pPr>
              <a:buNone/>
              <a:defRPr sz="2250" b="1">
                <a:solidFill>
                  <a:srgbClr val="087D83"/>
                </a:solidFill>
              </a:defRPr>
            </a:pPr>
            <a:r>
              <a:rPr sz="2250" b="1">
                <a:solidFill>
                  <a:srgbClr val="087D83"/>
                </a:solidFill>
              </a:rPr>
              <a:t>Q4  Why does identifying the target market matter?</a:t>
            </a:r>
          </a:p>
          <a:p xmlns:a="http://schemas.openxmlformats.org/drawingml/2006/main">
            <a:pPr>
              <a:buNone/>
              <a:defRPr sz="2250" b="1">
                <a:solidFill>
                  <a:srgbClr val="087D83"/>
                </a:solidFill>
              </a:defRPr>
            </a:pPr>
            <a:r>
              <a:rPr sz="2250" b="1">
                <a:solidFill>
                  <a:srgbClr val="087D83"/>
                </a:solidFill>
              </a:rPr>
              <a:t>        p. 23 and Chapter 1 notes</a:t>
            </a:r>
          </a:p>
          <a:p xmlns:a="http://schemas.openxmlformats.org/drawingml/2006/main">
            <a:r>
              <a:t/>
            </a:r>
          </a:p>
          <a:p xmlns:a="http://schemas.openxmlformats.org/drawingml/2006/main">
            <a:pPr>
              <a:buNone/>
              <a:defRPr sz="2250" b="1">
                <a:solidFill>
                  <a:srgbClr val="087D83"/>
                </a:solidFill>
              </a:defRPr>
            </a:pPr>
            <a:r>
              <a:rPr sz="2250" b="1">
                <a:solidFill>
                  <a:srgbClr val="087D83"/>
                </a:solidFill>
              </a:rPr>
              <a:t>Q5  Explain the plan’s elements, design and purposes.</a:t>
            </a:r>
          </a:p>
          <a:p xmlns:a="http://schemas.openxmlformats.org/drawingml/2006/main">
            <a:pPr>
              <a:buNone/>
              <a:defRPr sz="2250" b="1">
                <a:solidFill>
                  <a:srgbClr val="087D83"/>
                </a:solidFill>
              </a:defRPr>
            </a:pPr>
            <a:r>
              <a:rPr sz="2250" b="1">
                <a:solidFill>
                  <a:srgbClr val="087D83"/>
                </a:solidFill>
              </a:rPr>
              <a:t>        Brief paragraph using p. 19</a:t>
            </a:r>
          </a:p>
          <a:p xmlns:a="http://schemas.openxmlformats.org/drawingml/2006/main">
            <a:r>
              <a:t/>
            </a:r>
          </a:p>
          <a:p xmlns:a="http://schemas.openxmlformats.org/drawingml/2006/main">
            <a:pPr>
              <a:buNone/>
              <a:defRPr sz="2250" b="1">
                <a:solidFill>
                  <a:srgbClr val="087D83"/>
                </a:solidFill>
              </a:defRPr>
            </a:pPr>
            <a:r>
              <a:rPr sz="2250" b="1">
                <a:solidFill>
                  <a:srgbClr val="087D83"/>
                </a:solidFill>
              </a:rPr>
              <a:t>Q8  Name and explain all five SMART criteria.</a:t>
            </a:r>
          </a:p>
          <a:p xmlns:a="http://schemas.openxmlformats.org/drawingml/2006/main">
            <a:pPr>
              <a:buNone/>
              <a:defRPr sz="2250" b="1">
                <a:solidFill>
                  <a:srgbClr val="087D83"/>
                </a:solidFill>
              </a:defRPr>
            </a:pPr>
            <a:r>
              <a:rPr sz="2250" b="1">
                <a:solidFill>
                  <a:srgbClr val="087D83"/>
                </a:solidFill>
              </a:rPr>
              <a:t>        pp. 20–21, Figure 2.2</a:t>
            </a:r>
          </a:p>
        </p:txBody>
      </p:sp>
      <p:sp>
        <p:nvSpPr>
          <p:cNvPr id="4" name="">
            <a:extLst xmlns:a="http://schemas.openxmlformats.org/drawingml/2006/main">
              <a:ext uri="{FF2B5EF4-FFF2-40B4-BE49-F238E27FC236}">
                <a16:creationId xmlns:a16="http://schemas.microsoft.com/office/drawing/2014/main" id="{282B662C-A8EF-41ED-9BF3-B5A41148528E}"/>
              </a:ext>
            </a:extLst>
          </p:cNvPr>
          <p:cNvSpPr>
            <a:spLocks xmlns:a="http://schemas.openxmlformats.org/drawingml/2006/main" noGrp="1"/>
          </p:cNvSpPr>
          <p:nvPr/>
        </p:nvSpPr>
        <p:spPr>
          <a:xfrm xmlns:a="http://schemas.openxmlformats.org/drawingml/2006/main">
            <a:off x="609600" y="60483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D44"/>
                </a:solidFill>
              </a:defRPr>
            </a:defPPr>
            <a:lvl1pPr>
              <a:defRPr sz="1950" b="0">
                <a:solidFill>
                  <a:srgbClr val="142D44"/>
                </a:solidFill>
              </a:defRPr>
            </a:lvl1pPr>
            <a:lvl2pPr>
              <a:defRPr sz="1950" b="0">
                <a:solidFill>
                  <a:srgbClr val="142D44"/>
                </a:solidFill>
              </a:defRPr>
            </a:lvl2pPr>
            <a:lvl3pPr>
              <a:defRPr sz="1950" b="0">
                <a:solidFill>
                  <a:srgbClr val="142D44"/>
                </a:solidFill>
              </a:defRPr>
            </a:lvl3pPr>
            <a:lvl4pPr>
              <a:defRPr sz="1950" b="0">
                <a:solidFill>
                  <a:srgbClr val="142D44"/>
                </a:solidFill>
              </a:defRPr>
            </a:lvl4pPr>
            <a:lvl5pPr>
              <a:defRPr sz="1950" b="0">
                <a:solidFill>
                  <a:srgbClr val="142D44"/>
                </a:solidFill>
              </a:defRPr>
            </a:lvl5pPr>
            <a:lvl6pPr>
              <a:defRPr sz="1950" b="0">
                <a:solidFill>
                  <a:srgbClr val="142D44"/>
                </a:solidFill>
              </a:defRPr>
            </a:lvl6pPr>
            <a:lvl7pPr>
              <a:defRPr sz="1950" b="0">
                <a:solidFill>
                  <a:srgbClr val="142D44"/>
                </a:solidFill>
              </a:defRPr>
            </a:lvl7pPr>
            <a:lvl8pPr>
              <a:defRPr sz="1950" b="0">
                <a:solidFill>
                  <a:srgbClr val="142D44"/>
                </a:solidFill>
              </a:defRPr>
            </a:lvl8pPr>
            <a:lvl9pPr>
              <a:defRPr sz="1950" b="0">
                <a:solidFill>
                  <a:srgbClr val="142D44"/>
                </a:solidFill>
              </a:defRPr>
            </a:lvl9pPr>
          </a:lstStyle>
          <a:p xmlns:a="http://schemas.openxmlformats.org/drawingml/2006/main">
            <a:pPr>
              <a:buNone/>
              <a:defRPr sz="1950" b="0">
                <a:solidFill>
                  <a:srgbClr val="142D44"/>
                </a:solidFill>
              </a:defRPr>
            </a:pPr>
            <a:r>
              <a:rPr sz="1950" b="0">
                <a:solidFill>
                  <a:srgbClr val="142D44"/>
                </a:solidFill>
              </a:rPr>
              <a:t>Then finish missing Q1–3. Save your work for test preparation.</a:t>
            </a:r>
          </a:p>
        </p:txBody>
      </p:sp>
      <p:sp>
        <p:nvSpPr>
          <p:cNvPr id="6" name="">
            <a:extLst xmlns:a="http://schemas.openxmlformats.org/drawingml/2006/main">
              <a:ext uri="{FF2B5EF4-FFF2-40B4-BE49-F238E27FC236}">
                <a16:creationId xmlns:a16="http://schemas.microsoft.com/office/drawing/2014/main" id="{3DA27FB8-7160-4BD4-8F01-EF982F7E59FA}"/>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INDEPENDENT WORK   20–37 min   17 minutes</a:t>
            </a:r>
          </a:p>
        </p:txBody>
      </p:sp>
    </p:spTree>
    <p:extLst>
      <p:ext uri="{BB962C8B-B14F-4D97-AF65-F5344CB8AC3E}">
        <p14:creationId xmlns:p14="http://schemas.microsoft.com/office/powerpoint/2010/main" val="1581013692"/>
      </p:ext>
    </p:extLst>
  </p:cSld>
  <p:transition spd="fast" advClick="1">
    <p:fade/>
  </p:transition>
</p:sld>
</file>

<file path=ppt/slides/slide15.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21CB63-2A01-4C92-90B7-ED0DA75C79C4}"/>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vl1pPr>
              <a:defRPr sz="3450" b="1">
                <a:solidFill>
                  <a:srgbClr val="142D44"/>
                </a:solidFill>
              </a:defRPr>
            </a:lvl1pPr>
            <a:lvl2pPr>
              <a:defRPr sz="3450" b="1">
                <a:solidFill>
                  <a:srgbClr val="142D44"/>
                </a:solidFill>
              </a:defRPr>
            </a:lvl2pPr>
            <a:lvl3pPr>
              <a:defRPr sz="3450" b="1">
                <a:solidFill>
                  <a:srgbClr val="142D44"/>
                </a:solidFill>
              </a:defRPr>
            </a:lvl3pPr>
            <a:lvl4pPr>
              <a:defRPr sz="3450" b="1">
                <a:solidFill>
                  <a:srgbClr val="142D44"/>
                </a:solidFill>
              </a:defRPr>
            </a:lvl4pPr>
            <a:lvl5pPr>
              <a:defRPr sz="3450" b="1">
                <a:solidFill>
                  <a:srgbClr val="142D44"/>
                </a:solidFill>
              </a:defRPr>
            </a:lvl5pPr>
            <a:lvl6pPr>
              <a:defRPr sz="3450" b="1">
                <a:solidFill>
                  <a:srgbClr val="142D44"/>
                </a:solidFill>
              </a:defRPr>
            </a:lvl6pPr>
            <a:lvl7pPr>
              <a:defRPr sz="3450" b="1">
                <a:solidFill>
                  <a:srgbClr val="142D44"/>
                </a:solidFill>
              </a:defRPr>
            </a:lvl7pPr>
            <a:lvl8pPr>
              <a:defRPr sz="3450" b="1">
                <a:solidFill>
                  <a:srgbClr val="142D44"/>
                </a:solidFill>
              </a:defRPr>
            </a:lvl8pPr>
            <a:lvl9pPr>
              <a:defRPr sz="3450" b="1">
                <a:solidFill>
                  <a:srgbClr val="142D44"/>
                </a:solidFill>
              </a:defRPr>
            </a:lvl9pPr>
          </a:lstStyle>
          <a:p xmlns:a="http://schemas.openxmlformats.org/drawingml/2006/main">
            <a:pPr>
              <a:buNone/>
              <a:defRPr sz="3450" b="1">
                <a:solidFill>
                  <a:srgbClr val="142D44"/>
                </a:solidFill>
              </a:defRPr>
            </a:pPr>
            <a:r>
              <a:rPr sz="3450" b="1">
                <a:solidFill>
                  <a:srgbClr val="142D44"/>
                </a:solidFill>
              </a:rPr>
              <a:t>Preparation for Friday’s Chapter 2 test</a:t>
            </a:r>
          </a:p>
        </p:txBody>
      </p:sp>
      <p:sp>
        <p:nvSpPr>
          <p:cNvPr id="2" name="">
            <a:extLst xmlns:a="http://schemas.openxmlformats.org/drawingml/2006/main">
              <a:ext uri="{FF2B5EF4-FFF2-40B4-BE49-F238E27FC236}">
                <a16:creationId xmlns:a16="http://schemas.microsoft.com/office/drawing/2014/main" id="{A66211A9-8669-4CCA-8B3B-2133E334A5EA}"/>
              </a:ext>
            </a:extLst>
          </p:cNvPr>
          <p:cNvSpPr>
            <a:spLocks xmlns:a="http://schemas.openxmlformats.org/drawingml/2006/main" noGrp="1"/>
          </p:cNvSpPr>
          <p:nvPr/>
        </p:nvSpPr>
        <p:spPr>
          <a:xfrm xmlns:a="http://schemas.openxmlformats.org/drawingml/2006/main">
            <a:off x="609600" y="152400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D83"/>
                </a:solidFill>
              </a:defRPr>
            </a:defPPr>
            <a:lvl1pPr>
              <a:defRPr sz="2550" b="1">
                <a:solidFill>
                  <a:srgbClr val="087D83"/>
                </a:solidFill>
              </a:defRPr>
            </a:lvl1pPr>
            <a:lvl2pPr>
              <a:defRPr sz="2550" b="1">
                <a:solidFill>
                  <a:srgbClr val="087D83"/>
                </a:solidFill>
              </a:defRPr>
            </a:lvl2pPr>
            <a:lvl3pPr>
              <a:defRPr sz="2550" b="1">
                <a:solidFill>
                  <a:srgbClr val="087D83"/>
                </a:solidFill>
              </a:defRPr>
            </a:lvl3pPr>
            <a:lvl4pPr>
              <a:defRPr sz="2550" b="1">
                <a:solidFill>
                  <a:srgbClr val="087D83"/>
                </a:solidFill>
              </a:defRPr>
            </a:lvl4pPr>
            <a:lvl5pPr>
              <a:defRPr sz="2550" b="1">
                <a:solidFill>
                  <a:srgbClr val="087D83"/>
                </a:solidFill>
              </a:defRPr>
            </a:lvl5pPr>
            <a:lvl6pPr>
              <a:defRPr sz="2550" b="1">
                <a:solidFill>
                  <a:srgbClr val="087D83"/>
                </a:solidFill>
              </a:defRPr>
            </a:lvl6pPr>
            <a:lvl7pPr>
              <a:defRPr sz="2550" b="1">
                <a:solidFill>
                  <a:srgbClr val="087D83"/>
                </a:solidFill>
              </a:defRPr>
            </a:lvl7pPr>
            <a:lvl8pPr>
              <a:defRPr sz="2550" b="1">
                <a:solidFill>
                  <a:srgbClr val="087D83"/>
                </a:solidFill>
              </a:defRPr>
            </a:lvl8pPr>
            <a:lvl9pPr>
              <a:defRPr sz="2550" b="1">
                <a:solidFill>
                  <a:srgbClr val="087D83"/>
                </a:solidFill>
              </a:defRPr>
            </a:lvl9pPr>
          </a:lstStyle>
          <a:p xmlns:a="http://schemas.openxmlformats.org/drawingml/2006/main">
            <a:pPr>
              <a:buNone/>
              <a:defRPr sz="2550" b="1">
                <a:solidFill>
                  <a:srgbClr val="087D83"/>
                </a:solidFill>
              </a:defRPr>
            </a:pPr>
            <a:r>
              <a:rPr sz="2550" b="1">
                <a:solidFill>
                  <a:srgbClr val="087D83"/>
                </a:solidFill>
              </a:rPr>
              <a:t>First, recall without looking</a:t>
            </a:r>
          </a:p>
          <a:p xmlns:a="http://schemas.openxmlformats.org/drawingml/2006/main">
            <a:pPr>
              <a:buNone/>
              <a:defRPr sz="2550" b="1">
                <a:solidFill>
                  <a:srgbClr val="087D83"/>
                </a:solidFill>
              </a:defRPr>
            </a:pPr>
            <a:r>
              <a:rPr sz="2550" b="1">
                <a:solidFill>
                  <a:srgbClr val="087D83"/>
                </a:solidFill>
              </a:rPr>
              <a:t>Explain SMART. How does a milestone support a goal?</a:t>
            </a:r>
          </a:p>
        </p:txBody>
      </p:sp>
      <p:sp>
        <p:nvSpPr>
          <p:cNvPr id="3" name="">
            <a:extLst xmlns:a="http://schemas.openxmlformats.org/drawingml/2006/main">
              <a:ext uri="{FF2B5EF4-FFF2-40B4-BE49-F238E27FC236}">
                <a16:creationId xmlns:a16="http://schemas.microsoft.com/office/drawing/2014/main" id="{A10C2CCE-EE01-4FB0-A525-923D91C7F9B3}"/>
              </a:ext>
            </a:extLst>
          </p:cNvPr>
          <p:cNvSpPr>
            <a:spLocks xmlns:a="http://schemas.openxmlformats.org/drawingml/2006/main" noGrp="1"/>
          </p:cNvSpPr>
          <p:nvPr/>
        </p:nvSpPr>
        <p:spPr>
          <a:xfrm xmlns:a="http://schemas.openxmlformats.org/drawingml/2006/main">
            <a:off x="609600" y="323850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44"/>
                </a:solidFill>
              </a:defRPr>
            </a:defPPr>
            <a:lvl1pPr>
              <a:defRPr sz="2400" b="0">
                <a:solidFill>
                  <a:srgbClr val="142D44"/>
                </a:solidFill>
              </a:defRPr>
            </a:lvl1pPr>
            <a:lvl2pPr>
              <a:defRPr sz="2400" b="0">
                <a:solidFill>
                  <a:srgbClr val="142D44"/>
                </a:solidFill>
              </a:defRPr>
            </a:lvl2pPr>
            <a:lvl3pPr>
              <a:defRPr sz="2400" b="0">
                <a:solidFill>
                  <a:srgbClr val="142D44"/>
                </a:solidFill>
              </a:defRPr>
            </a:lvl3pPr>
            <a:lvl4pPr>
              <a:defRPr sz="2400" b="0">
                <a:solidFill>
                  <a:srgbClr val="142D44"/>
                </a:solidFill>
              </a:defRPr>
            </a:lvl4pPr>
            <a:lvl5pPr>
              <a:defRPr sz="2400" b="0">
                <a:solidFill>
                  <a:srgbClr val="142D44"/>
                </a:solidFill>
              </a:defRPr>
            </a:lvl5pPr>
            <a:lvl6pPr>
              <a:defRPr sz="2400" b="0">
                <a:solidFill>
                  <a:srgbClr val="142D44"/>
                </a:solidFill>
              </a:defRPr>
            </a:lvl6pPr>
            <a:lvl7pPr>
              <a:defRPr sz="2400" b="0">
                <a:solidFill>
                  <a:srgbClr val="142D44"/>
                </a:solidFill>
              </a:defRPr>
            </a:lvl7pPr>
            <a:lvl8pPr>
              <a:defRPr sz="2400" b="0">
                <a:solidFill>
                  <a:srgbClr val="142D44"/>
                </a:solidFill>
              </a:defRPr>
            </a:lvl8pPr>
            <a:lvl9pPr>
              <a:defRPr sz="2400" b="0">
                <a:solidFill>
                  <a:srgbClr val="142D44"/>
                </a:solidFill>
              </a:defRPr>
            </a:lvl9pPr>
          </a:lstStyle>
          <a:p xmlns:a="http://schemas.openxmlformats.org/drawingml/2006/main">
            <a:pPr>
              <a:buNone/>
              <a:defRPr sz="2400" b="0">
                <a:solidFill>
                  <a:srgbClr val="142D44"/>
                </a:solidFill>
              </a:defRPr>
            </a:pPr>
            <a:r>
              <a:rPr sz="2400" b="0">
                <a:solidFill>
                  <a:srgbClr val="142D44"/>
                </a:solidFill>
              </a:rPr>
              <a:t>Then check and correct your existing answers</a:t>
            </a:r>
          </a:p>
          <a:p xmlns:a="http://schemas.openxmlformats.org/drawingml/2006/main">
            <a:pPr>
              <a:buNone/>
              <a:defRPr sz="2400" b="0">
                <a:solidFill>
                  <a:srgbClr val="142D44"/>
                </a:solidFill>
              </a:defRPr>
            </a:pPr>
            <a:r>
              <a:rPr sz="2400" b="0">
                <a:solidFill>
                  <a:srgbClr val="142D44"/>
                </a:solidFill>
              </a:rPr>
              <a:t>Q4: why the target market matters</a:t>
            </a:r>
          </a:p>
          <a:p xmlns:a="http://schemas.openxmlformats.org/drawingml/2006/main">
            <a:pPr>
              <a:buNone/>
              <a:defRPr sz="2400" b="0">
                <a:solidFill>
                  <a:srgbClr val="142D44"/>
                </a:solidFill>
              </a:defRPr>
            </a:pPr>
            <a:r>
              <a:rPr sz="2400" b="0">
                <a:solidFill>
                  <a:srgbClr val="142D44"/>
                </a:solidFill>
              </a:rPr>
              <a:t>Q5: plan elements, design and purpose</a:t>
            </a:r>
          </a:p>
          <a:p xmlns:a="http://schemas.openxmlformats.org/drawingml/2006/main">
            <a:pPr>
              <a:buNone/>
              <a:defRPr sz="2400" b="0">
                <a:solidFill>
                  <a:srgbClr val="142D44"/>
                </a:solidFill>
              </a:defRPr>
            </a:pPr>
            <a:r>
              <a:rPr sz="2400" b="0">
                <a:solidFill>
                  <a:srgbClr val="142D44"/>
                </a:solidFill>
              </a:rPr>
              <a:t>Q8: all five criteria using Figure 2.2 on p. 21</a:t>
            </a:r>
          </a:p>
        </p:txBody>
      </p:sp>
      <p:sp>
        <p:nvSpPr>
          <p:cNvPr id="4" name="">
            <a:extLst xmlns:a="http://schemas.openxmlformats.org/drawingml/2006/main">
              <a:ext uri="{FF2B5EF4-FFF2-40B4-BE49-F238E27FC236}">
                <a16:creationId xmlns:a16="http://schemas.microsoft.com/office/drawing/2014/main" id="{C8F58022-7B58-4ABF-B26C-BF7FB17DD37B}"/>
              </a:ext>
            </a:extLst>
          </p:cNvPr>
          <p:cNvSpPr>
            <a:spLocks xmlns:a="http://schemas.openxmlformats.org/drawingml/2006/main" noGrp="1"/>
          </p:cNvSpPr>
          <p:nvPr/>
        </p:nvSpPr>
        <p:spPr>
          <a:xfrm xmlns:a="http://schemas.openxmlformats.org/drawingml/2006/main">
            <a:off x="609600" y="5715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defRPr>
            </a:defPPr>
            <a:lvl1pPr>
              <a:defRPr sz="2250" b="0">
                <a:solidFill>
                  <a:srgbClr val="142D44"/>
                </a:solidFill>
              </a:defRPr>
            </a:lvl1pPr>
            <a:lvl2pPr>
              <a:defRPr sz="2250" b="0">
                <a:solidFill>
                  <a:srgbClr val="142D44"/>
                </a:solidFill>
              </a:defRPr>
            </a:lvl2pPr>
            <a:lvl3pPr>
              <a:defRPr sz="2250" b="0">
                <a:solidFill>
                  <a:srgbClr val="142D44"/>
                </a:solidFill>
              </a:defRPr>
            </a:lvl3pPr>
            <a:lvl4pPr>
              <a:defRPr sz="2250" b="0">
                <a:solidFill>
                  <a:srgbClr val="142D44"/>
                </a:solidFill>
              </a:defRPr>
            </a:lvl4pPr>
            <a:lvl5pPr>
              <a:defRPr sz="2250" b="0">
                <a:solidFill>
                  <a:srgbClr val="142D44"/>
                </a:solidFill>
              </a:defRPr>
            </a:lvl5pPr>
            <a:lvl6pPr>
              <a:defRPr sz="2250" b="0">
                <a:solidFill>
                  <a:srgbClr val="142D44"/>
                </a:solidFill>
              </a:defRPr>
            </a:lvl6pPr>
            <a:lvl7pPr>
              <a:defRPr sz="2250" b="0">
                <a:solidFill>
                  <a:srgbClr val="142D44"/>
                </a:solidFill>
              </a:defRPr>
            </a:lvl7pPr>
            <a:lvl8pPr>
              <a:defRPr sz="2250" b="0">
                <a:solidFill>
                  <a:srgbClr val="142D44"/>
                </a:solidFill>
              </a:defRPr>
            </a:lvl8pPr>
            <a:lvl9pPr>
              <a:defRPr sz="2250" b="0">
                <a:solidFill>
                  <a:srgbClr val="142D44"/>
                </a:solidFill>
              </a:defRPr>
            </a:lvl9pPr>
          </a:lstStyle>
          <a:p xmlns:a="http://schemas.openxmlformats.org/drawingml/2006/main">
            <a:pPr>
              <a:buNone/>
              <a:defRPr sz="2250" b="0">
                <a:solidFill>
                  <a:srgbClr val="142D44"/>
                </a:solidFill>
              </a:defRPr>
            </a:pPr>
            <a:r>
              <a:rPr sz="2250" b="0">
                <a:solidFill>
                  <a:srgbClr val="142D44"/>
                </a:solidFill>
              </a:rPr>
              <a:t>Save your work. Flag one unclear point for help.</a:t>
            </a:r>
          </a:p>
        </p:txBody>
      </p:sp>
      <p:sp>
        <p:nvSpPr>
          <p:cNvPr id="6" name="">
            <a:extLst xmlns:a="http://schemas.openxmlformats.org/drawingml/2006/main">
              <a:ext uri="{FF2B5EF4-FFF2-40B4-BE49-F238E27FC236}">
                <a16:creationId xmlns:a16="http://schemas.microsoft.com/office/drawing/2014/main" id="{346FC2C7-17C6-4176-9268-52FF77330248}"/>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FINISH   37–42 min   5 minutes</a:t>
            </a:r>
          </a:p>
        </p:txBody>
      </p:sp>
    </p:spTree>
    <p:extLst>
      <p:ext uri="{BB962C8B-B14F-4D97-AF65-F5344CB8AC3E}">
        <p14:creationId xmlns:p14="http://schemas.microsoft.com/office/powerpoint/2010/main" val="1433451619"/>
      </p:ext>
    </p:extLst>
  </p:cSld>
  <p:transition spd="fast" advClick="1">
    <p:fade/>
  </p:transition>
</p:sld>
</file>

<file path=ppt/slides/slide16.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AE4E4E-3642-4E26-92E5-9D06A5DEA3EC}"/>
              </a:ext>
            </a:extLst>
          </p:cNvPr>
          <p:cNvSpPr>
            <a:spLocks xmlns:a="http://schemas.openxmlformats.org/drawingml/2006/main" noGrp="1"/>
          </p:cNvSpPr>
          <p:nvPr/>
        </p:nvSpPr>
        <p:spPr>
          <a:xfrm xmlns:a="http://schemas.openxmlformats.org/drawingml/2006/main">
            <a:off x="609600" y="4286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a:solidFill>
                  <a:srgbClr val="142D44"/>
                </a:solidFill>
              </a:defRPr>
            </a:defPPr>
            <a:lvl1pPr>
              <a:defRPr sz="3450">
                <a:solidFill>
                  <a:srgbClr val="142D44"/>
                </a:solidFill>
              </a:defRPr>
            </a:lvl1pPr>
            <a:lvl2pPr>
              <a:defRPr sz="3450">
                <a:solidFill>
                  <a:srgbClr val="142D44"/>
                </a:solidFill>
              </a:defRPr>
            </a:lvl2pPr>
            <a:lvl3pPr>
              <a:defRPr sz="3450">
                <a:solidFill>
                  <a:srgbClr val="142D44"/>
                </a:solidFill>
              </a:defRPr>
            </a:lvl3pPr>
            <a:lvl4pPr>
              <a:defRPr sz="3450">
                <a:solidFill>
                  <a:srgbClr val="142D44"/>
                </a:solidFill>
              </a:defRPr>
            </a:lvl4pPr>
            <a:lvl5pPr>
              <a:defRPr sz="3450">
                <a:solidFill>
                  <a:srgbClr val="142D44"/>
                </a:solidFill>
              </a:defRPr>
            </a:lvl5pPr>
            <a:lvl6pPr>
              <a:defRPr sz="3450">
                <a:solidFill>
                  <a:srgbClr val="142D44"/>
                </a:solidFill>
              </a:defRPr>
            </a:lvl6pPr>
            <a:lvl7pPr>
              <a:defRPr sz="3450">
                <a:solidFill>
                  <a:srgbClr val="142D44"/>
                </a:solidFill>
              </a:defRPr>
            </a:lvl7pPr>
            <a:lvl8pPr>
              <a:defRPr sz="3450">
                <a:solidFill>
                  <a:srgbClr val="142D44"/>
                </a:solidFill>
              </a:defRPr>
            </a:lvl8pPr>
            <a:lvl9pPr>
              <a:defRPr sz="3450">
                <a:solidFill>
                  <a:srgbClr val="142D44"/>
                </a:solidFill>
              </a:defRPr>
            </a:lvl9pPr>
          </a:lstStyle>
          <a:p xmlns:a="http://schemas.openxmlformats.org/drawingml/2006/main">
            <a:pPr>
              <a:defRPr sz="3450">
                <a:solidFill>
                  <a:srgbClr val="142D44"/>
                </a:solidFill>
              </a:defRPr>
            </a:pPr>
            <a:r>
              <a:rPr sz="3450">
                <a:solidFill>
                  <a:srgbClr val="142D44"/>
                </a:solidFill>
              </a:rPr>
              <a:t>Monday Chapter 2 lesson</a:t>
            </a:r>
          </a:p>
        </p:txBody>
      </p:sp>
      <p:sp>
        <p:nvSpPr>
          <p:cNvPr id="2" name="">
            <a:extLst xmlns:a="http://schemas.openxmlformats.org/drawingml/2006/main">
              <a:ext uri="{FF2B5EF4-FFF2-40B4-BE49-F238E27FC236}">
                <a16:creationId xmlns:a16="http://schemas.microsoft.com/office/drawing/2014/main" id="{8E11D15E-DA9F-49FD-9B20-021A5B8E8E69}"/>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START   0–1 min   1 minute</a:t>
            </a:r>
          </a:p>
        </p:txBody>
      </p:sp>
      <p:sp>
        <p:nvSpPr>
          <p:cNvPr id="3" name="">
            <a:extLst xmlns:a="http://schemas.openxmlformats.org/drawingml/2006/main">
              <a:ext uri="{FF2B5EF4-FFF2-40B4-BE49-F238E27FC236}">
                <a16:creationId xmlns:a16="http://schemas.microsoft.com/office/drawing/2014/main" id="{A8853B71-439B-499A-BE2A-0CB880E2B7F3}"/>
              </a:ext>
            </a:extLst>
          </p:cNvPr>
          <p:cNvSpPr>
            <a:spLocks xmlns:a="http://schemas.openxmlformats.org/drawingml/2006/main" noGrp="1"/>
          </p:cNvSpPr>
          <p:nvPr/>
        </p:nvSpPr>
        <p:spPr>
          <a:xfrm xmlns:a="http://schemas.openxmlformats.org/drawingml/2006/main">
            <a:off x="609600" y="16192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Today: explain SMART goals and milestones.</a:t>
            </a:r>
          </a:p>
          <a:p xmlns:a="http://schemas.openxmlformats.org/drawingml/2006/main">
            <a:pPr>
              <a:defRPr sz="2400">
                <a:solidFill>
                  <a:srgbClr val="142D44"/>
                </a:solidFill>
              </a:defRPr>
            </a:pPr>
            <a:r>
              <a:rPr sz="2400">
                <a:solidFill>
                  <a:srgbClr val="142D44"/>
                </a:solidFill>
              </a:rPr>
              <a:t>Use these ideas to strengthen your Chapter 2 review.</a:t>
            </a:r>
          </a:p>
        </p:txBody>
      </p:sp>
      <p:sp>
        <p:nvSpPr>
          <p:cNvPr id="4" name="">
            <a:extLst xmlns:a="http://schemas.openxmlformats.org/drawingml/2006/main">
              <a:ext uri="{FF2B5EF4-FFF2-40B4-BE49-F238E27FC236}">
                <a16:creationId xmlns:a16="http://schemas.microsoft.com/office/drawing/2014/main" id="{8A962FAB-E2FE-4D3E-A86C-BA4E8B46EA3B}"/>
              </a:ext>
            </a:extLst>
          </p:cNvPr>
          <p:cNvSpPr>
            <a:spLocks xmlns:a="http://schemas.openxmlformats.org/drawingml/2006/main" noGrp="1"/>
          </p:cNvSpPr>
          <p:nvPr/>
        </p:nvSpPr>
        <p:spPr>
          <a:xfrm xmlns:a="http://schemas.openxmlformats.org/drawingml/2006/main">
            <a:off x="609600" y="300037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0–4 min      Start and think about one goal</a:t>
            </a:r>
          </a:p>
          <a:p xmlns:a="http://schemas.openxmlformats.org/drawingml/2006/main">
            <a:pPr>
              <a:defRPr sz="2400">
                <a:solidFill>
                  <a:srgbClr val="142D44"/>
                </a:solidFill>
              </a:defRPr>
            </a:pPr>
            <a:r>
              <a:rPr sz="2400">
                <a:solidFill>
                  <a:srgbClr val="142D44"/>
                </a:solidFill>
              </a:rPr>
              <a:t>4–20 min    Read, discuss and complete notes</a:t>
            </a:r>
          </a:p>
        </p:txBody>
      </p:sp>
      <p:sp>
        <p:nvSpPr>
          <p:cNvPr id="5" name="">
            <a:extLst xmlns:a="http://schemas.openxmlformats.org/drawingml/2006/main">
              <a:ext uri="{FF2B5EF4-FFF2-40B4-BE49-F238E27FC236}">
                <a16:creationId xmlns:a16="http://schemas.microsoft.com/office/drawing/2014/main" id="{8C21D47A-F393-41BA-82E9-9BEC2A0ADA4D}"/>
              </a:ext>
            </a:extLst>
          </p:cNvPr>
          <p:cNvSpPr>
            <a:spLocks xmlns:a="http://schemas.openxmlformats.org/drawingml/2006/main" noGrp="1"/>
          </p:cNvSpPr>
          <p:nvPr/>
        </p:nvSpPr>
        <p:spPr>
          <a:xfrm xmlns:a="http://schemas.openxmlformats.org/drawingml/2006/main">
            <a:off x="609600" y="419100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20–37 min  Work on Q4, Q5 and Q8</a:t>
            </a:r>
          </a:p>
          <a:p xmlns:a="http://schemas.openxmlformats.org/drawingml/2006/main">
            <a:pPr>
              <a:defRPr sz="2400">
                <a:solidFill>
                  <a:srgbClr val="142D44"/>
                </a:solidFill>
              </a:defRPr>
            </a:pPr>
            <a:r>
              <a:rPr sz="2400">
                <a:solidFill>
                  <a:srgbClr val="142D44"/>
                </a:solidFill>
              </a:rPr>
              <a:t>37–42 min  Recall, check and save</a:t>
            </a:r>
          </a:p>
        </p:txBody>
      </p:sp>
      <p:sp>
        <p:nvSpPr>
          <p:cNvPr id="6" name="">
            <a:extLst xmlns:a="http://schemas.openxmlformats.org/drawingml/2006/main">
              <a:ext uri="{FF2B5EF4-FFF2-40B4-BE49-F238E27FC236}">
                <a16:creationId xmlns:a16="http://schemas.microsoft.com/office/drawing/2014/main" id="{FD9A231E-195D-41CC-9EA5-5A3EEADD0BB7}"/>
              </a:ext>
            </a:extLst>
          </p:cNvPr>
          <p:cNvSpPr>
            <a:spLocks xmlns:a="http://schemas.openxmlformats.org/drawingml/2006/main" noGrp="1"/>
          </p:cNvSpPr>
          <p:nvPr/>
        </p:nvSpPr>
        <p:spPr>
          <a:xfrm xmlns:a="http://schemas.openxmlformats.org/drawingml/2006/main">
            <a:off x="609600" y="56197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Open your book, slide 9 notes and Test Your Knowledge.</a:t>
            </a:r>
          </a:p>
        </p:txBody>
      </p:sp>
    </p:spTree>
    <p:extLst>
      <p:ext uri="{BB962C8B-B14F-4D97-AF65-F5344CB8AC3E}">
        <p14:creationId xmlns:p14="http://schemas.microsoft.com/office/powerpoint/2010/main" val="123226752"/>
      </p:ext>
    </p:extLst>
  </p:cSld>
  <p:transition spd="fast" advClick="1">
    <p:fade/>
  </p:transition>
</p:sld>
</file>

<file path=ppt/slides/slide17.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FBFD6E-C5F1-40A8-8FC3-87C998F4FF15}"/>
              </a:ext>
            </a:extLst>
          </p:cNvPr>
          <p:cNvSpPr>
            <a:spLocks xmlns:a="http://schemas.openxmlformats.org/drawingml/2006/main" noGrp="1"/>
          </p:cNvSpPr>
          <p:nvPr/>
        </p:nvSpPr>
        <p:spPr>
          <a:xfrm xmlns:a="http://schemas.openxmlformats.org/drawingml/2006/main">
            <a:off x="609600" y="4286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a:solidFill>
                  <a:srgbClr val="142D44"/>
                </a:solidFill>
              </a:defRPr>
            </a:defPPr>
            <a:lvl1pPr>
              <a:defRPr sz="3450">
                <a:solidFill>
                  <a:srgbClr val="142D44"/>
                </a:solidFill>
              </a:defRPr>
            </a:lvl1pPr>
            <a:lvl2pPr>
              <a:defRPr sz="3450">
                <a:solidFill>
                  <a:srgbClr val="142D44"/>
                </a:solidFill>
              </a:defRPr>
            </a:lvl2pPr>
            <a:lvl3pPr>
              <a:defRPr sz="3450">
                <a:solidFill>
                  <a:srgbClr val="142D44"/>
                </a:solidFill>
              </a:defRPr>
            </a:lvl3pPr>
            <a:lvl4pPr>
              <a:defRPr sz="3450">
                <a:solidFill>
                  <a:srgbClr val="142D44"/>
                </a:solidFill>
              </a:defRPr>
            </a:lvl4pPr>
            <a:lvl5pPr>
              <a:defRPr sz="3450">
                <a:solidFill>
                  <a:srgbClr val="142D44"/>
                </a:solidFill>
              </a:defRPr>
            </a:lvl5pPr>
            <a:lvl6pPr>
              <a:defRPr sz="3450">
                <a:solidFill>
                  <a:srgbClr val="142D44"/>
                </a:solidFill>
              </a:defRPr>
            </a:lvl6pPr>
            <a:lvl7pPr>
              <a:defRPr sz="3450">
                <a:solidFill>
                  <a:srgbClr val="142D44"/>
                </a:solidFill>
              </a:defRPr>
            </a:lvl7pPr>
            <a:lvl8pPr>
              <a:defRPr sz="3450">
                <a:solidFill>
                  <a:srgbClr val="142D44"/>
                </a:solidFill>
              </a:defRPr>
            </a:lvl8pPr>
            <a:lvl9pPr>
              <a:defRPr sz="3450">
                <a:solidFill>
                  <a:srgbClr val="142D44"/>
                </a:solidFill>
              </a:defRPr>
            </a:lvl9pPr>
          </a:lstStyle>
          <a:p xmlns:a="http://schemas.openxmlformats.org/drawingml/2006/main">
            <a:pPr>
              <a:defRPr sz="3450">
                <a:solidFill>
                  <a:srgbClr val="142D44"/>
                </a:solidFill>
              </a:defRPr>
            </a:pPr>
            <a:r>
              <a:rPr sz="3450">
                <a:solidFill>
                  <a:srgbClr val="142D44"/>
                </a:solidFill>
              </a:rPr>
              <a:t>Reading and notes: strategy and goals</a:t>
            </a:r>
          </a:p>
        </p:txBody>
      </p:sp>
      <p:sp>
        <p:nvSpPr>
          <p:cNvPr id="2" name="">
            <a:extLst xmlns:a="http://schemas.openxmlformats.org/drawingml/2006/main">
              <a:ext uri="{FF2B5EF4-FFF2-40B4-BE49-F238E27FC236}">
                <a16:creationId xmlns:a16="http://schemas.microsoft.com/office/drawing/2014/main" id="{6FFD5738-375B-494E-9F70-D3DF6117DED6}"/>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READ AND TAKE NOTES   4–10 min   6 minutes</a:t>
            </a:r>
          </a:p>
        </p:txBody>
      </p:sp>
      <p:sp>
        <p:nvSpPr>
          <p:cNvPr id="3" name="">
            <a:extLst xmlns:a="http://schemas.openxmlformats.org/drawingml/2006/main">
              <a:ext uri="{FF2B5EF4-FFF2-40B4-BE49-F238E27FC236}">
                <a16:creationId xmlns:a16="http://schemas.microsoft.com/office/drawing/2014/main" id="{94268E25-7648-4A32-92A7-1EDD1B8BE9E8}"/>
              </a:ext>
            </a:extLst>
          </p:cNvPr>
          <p:cNvSpPr>
            <a:spLocks xmlns:a="http://schemas.openxmlformats.org/drawingml/2006/main" noGrp="1"/>
          </p:cNvSpPr>
          <p:nvPr/>
        </p:nvSpPr>
        <p:spPr>
          <a:xfrm xmlns:a="http://schemas.openxmlformats.org/drawingml/2006/main">
            <a:off x="609600" y="16192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Open printed pp. 20–21 and your school slide 9 notes.</a:t>
            </a:r>
          </a:p>
        </p:txBody>
      </p:sp>
      <p:sp>
        <p:nvSpPr>
          <p:cNvPr id="4" name="">
            <a:extLst xmlns:a="http://schemas.openxmlformats.org/drawingml/2006/main">
              <a:ext uri="{FF2B5EF4-FFF2-40B4-BE49-F238E27FC236}">
                <a16:creationId xmlns:a16="http://schemas.microsoft.com/office/drawing/2014/main" id="{7FBC9A03-64C8-47A4-9360-BA324232820D}"/>
              </a:ext>
            </a:extLst>
          </p:cNvPr>
          <p:cNvSpPr>
            <a:spLocks xmlns:a="http://schemas.openxmlformats.org/drawingml/2006/main" noGrp="1"/>
          </p:cNvSpPr>
          <p:nvPr/>
        </p:nvSpPr>
        <p:spPr>
          <a:xfrm xmlns:a="http://schemas.openxmlformats.org/drawingml/2006/main">
            <a:off x="609600" y="266700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Read Marketing Strategy and Sales and Marketing Goals.</a:t>
            </a:r>
          </a:p>
          <a:p xmlns:a="http://schemas.openxmlformats.org/drawingml/2006/main">
            <a:pPr>
              <a:defRPr sz="2400">
                <a:solidFill>
                  <a:srgbClr val="142D44"/>
                </a:solidFill>
              </a:defRPr>
            </a:pPr>
            <a:r>
              <a:rPr sz="2400">
                <a:solidFill>
                  <a:srgbClr val="142D44"/>
                </a:solidFill>
              </a:rPr>
              <a:t>Then examine Figure 2.2 on p. 21.</a:t>
            </a:r>
          </a:p>
        </p:txBody>
      </p:sp>
      <p:sp>
        <p:nvSpPr>
          <p:cNvPr id="5" name="">
            <a:extLst xmlns:a="http://schemas.openxmlformats.org/drawingml/2006/main">
              <a:ext uri="{FF2B5EF4-FFF2-40B4-BE49-F238E27FC236}">
                <a16:creationId xmlns:a16="http://schemas.microsoft.com/office/drawing/2014/main" id="{C1D4A7E3-C166-49AE-AF25-D7099CD8D754}"/>
              </a:ext>
            </a:extLst>
          </p:cNvPr>
          <p:cNvSpPr>
            <a:spLocks xmlns:a="http://schemas.openxmlformats.org/drawingml/2006/main" noGrp="1"/>
          </p:cNvSpPr>
          <p:nvPr/>
        </p:nvSpPr>
        <p:spPr>
          <a:xfrm xmlns:a="http://schemas.openxmlformats.org/drawingml/2006/main">
            <a:off x="609600" y="40957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Complete the matching notes as we read.</a:t>
            </a:r>
          </a:p>
          <a:p xmlns:a="http://schemas.openxmlformats.org/drawingml/2006/main">
            <a:pPr>
              <a:defRPr sz="2400">
                <a:solidFill>
                  <a:srgbClr val="142D44"/>
                </a:solidFill>
              </a:defRPr>
            </a:pPr>
            <a:r>
              <a:rPr sz="2400">
                <a:solidFill>
                  <a:srgbClr val="142D44"/>
                </a:solidFill>
              </a:rPr>
              <a:t>Find the five words represented by SMART.</a:t>
            </a:r>
          </a:p>
        </p:txBody>
      </p:sp>
      <p:sp>
        <p:nvSpPr>
          <p:cNvPr id="6" name="">
            <a:extLst xmlns:a="http://schemas.openxmlformats.org/drawingml/2006/main">
              <a:ext uri="{FF2B5EF4-FFF2-40B4-BE49-F238E27FC236}">
                <a16:creationId xmlns:a16="http://schemas.microsoft.com/office/drawing/2014/main" id="{5D5A70BB-EC0E-45CC-B8F3-6144D7B0CB02}"/>
              </a:ext>
            </a:extLst>
          </p:cNvPr>
          <p:cNvSpPr>
            <a:spLocks xmlns:a="http://schemas.openxmlformats.org/drawingml/2006/main" noGrp="1"/>
          </p:cNvSpPr>
          <p:nvPr/>
        </p:nvSpPr>
        <p:spPr>
          <a:xfrm xmlns:a="http://schemas.openxmlformats.org/drawingml/2006/main">
            <a:off x="609600" y="56197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Next: use the same sneaker-store goal to explain each word.</a:t>
            </a:r>
          </a:p>
        </p:txBody>
      </p:sp>
    </p:spTree>
    <p:extLst>
      <p:ext uri="{BB962C8B-B14F-4D97-AF65-F5344CB8AC3E}">
        <p14:creationId xmlns:p14="http://schemas.microsoft.com/office/powerpoint/2010/main" val="786088282"/>
      </p:ext>
    </p:extLst>
  </p:cSld>
  <p:transition spd="fast" advClick="1">
    <p:fade/>
  </p:transition>
</p:sld>
</file>

<file path=ppt/slides/slide18.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4D2DA1-413E-48C7-86B5-6BE63594079F}"/>
              </a:ext>
            </a:extLst>
          </p:cNvPr>
          <p:cNvSpPr>
            <a:spLocks xmlns:a="http://schemas.openxmlformats.org/drawingml/2006/main" noGrp="1"/>
          </p:cNvSpPr>
          <p:nvPr/>
        </p:nvSpPr>
        <p:spPr>
          <a:xfrm xmlns:a="http://schemas.openxmlformats.org/drawingml/2006/main">
            <a:off x="609600" y="4286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a:solidFill>
                  <a:srgbClr val="142D44"/>
                </a:solidFill>
              </a:defRPr>
            </a:defPPr>
            <a:lvl1pPr>
              <a:defRPr sz="3450">
                <a:solidFill>
                  <a:srgbClr val="142D44"/>
                </a:solidFill>
              </a:defRPr>
            </a:lvl1pPr>
            <a:lvl2pPr>
              <a:defRPr sz="3450">
                <a:solidFill>
                  <a:srgbClr val="142D44"/>
                </a:solidFill>
              </a:defRPr>
            </a:lvl2pPr>
            <a:lvl3pPr>
              <a:defRPr sz="3450">
                <a:solidFill>
                  <a:srgbClr val="142D44"/>
                </a:solidFill>
              </a:defRPr>
            </a:lvl3pPr>
            <a:lvl4pPr>
              <a:defRPr sz="3450">
                <a:solidFill>
                  <a:srgbClr val="142D44"/>
                </a:solidFill>
              </a:defRPr>
            </a:lvl4pPr>
            <a:lvl5pPr>
              <a:defRPr sz="3450">
                <a:solidFill>
                  <a:srgbClr val="142D44"/>
                </a:solidFill>
              </a:defRPr>
            </a:lvl5pPr>
            <a:lvl6pPr>
              <a:defRPr sz="3450">
                <a:solidFill>
                  <a:srgbClr val="142D44"/>
                </a:solidFill>
              </a:defRPr>
            </a:lvl6pPr>
            <a:lvl7pPr>
              <a:defRPr sz="3450">
                <a:solidFill>
                  <a:srgbClr val="142D44"/>
                </a:solidFill>
              </a:defRPr>
            </a:lvl7pPr>
            <a:lvl8pPr>
              <a:defRPr sz="3450">
                <a:solidFill>
                  <a:srgbClr val="142D44"/>
                </a:solidFill>
              </a:defRPr>
            </a:lvl8pPr>
            <a:lvl9pPr>
              <a:defRPr sz="3450">
                <a:solidFill>
                  <a:srgbClr val="142D44"/>
                </a:solidFill>
              </a:defRPr>
            </a:lvl9pPr>
          </a:lstStyle>
          <a:p xmlns:a="http://schemas.openxmlformats.org/drawingml/2006/main">
            <a:pPr>
              <a:defRPr sz="3450">
                <a:solidFill>
                  <a:srgbClr val="142D44"/>
                </a:solidFill>
              </a:defRPr>
            </a:pPr>
            <a:r>
              <a:rPr sz="3450">
                <a:solidFill>
                  <a:srgbClr val="142D44"/>
                </a:solidFill>
              </a:rPr>
              <a:t>Reading and notes: milestones</a:t>
            </a:r>
          </a:p>
        </p:txBody>
      </p:sp>
      <p:sp>
        <p:nvSpPr>
          <p:cNvPr id="2" name="">
            <a:extLst xmlns:a="http://schemas.openxmlformats.org/drawingml/2006/main">
              <a:ext uri="{FF2B5EF4-FFF2-40B4-BE49-F238E27FC236}">
                <a16:creationId xmlns:a16="http://schemas.microsoft.com/office/drawing/2014/main" id="{F1ABB951-45CB-4E8D-B6CE-D2545B6ACB5B}"/>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READ AND TAKE NOTES   13–17 min   4 minutes</a:t>
            </a:r>
          </a:p>
        </p:txBody>
      </p:sp>
      <p:sp>
        <p:nvSpPr>
          <p:cNvPr id="3" name="">
            <a:extLst xmlns:a="http://schemas.openxmlformats.org/drawingml/2006/main">
              <a:ext uri="{FF2B5EF4-FFF2-40B4-BE49-F238E27FC236}">
                <a16:creationId xmlns:a16="http://schemas.microsoft.com/office/drawing/2014/main" id="{FF5A8EAE-B4CA-44DC-80BE-83EDCBF5BC4C}"/>
              </a:ext>
            </a:extLst>
          </p:cNvPr>
          <p:cNvSpPr>
            <a:spLocks xmlns:a="http://schemas.openxmlformats.org/drawingml/2006/main" noGrp="1"/>
          </p:cNvSpPr>
          <p:nvPr/>
        </p:nvSpPr>
        <p:spPr>
          <a:xfrm xmlns:a="http://schemas.openxmlformats.org/drawingml/2006/main">
            <a:off x="609600" y="16192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Read the milestone paragraph on p. 21.</a:t>
            </a:r>
          </a:p>
          <a:p xmlns:a="http://schemas.openxmlformats.org/drawingml/2006/main">
            <a:pPr>
              <a:defRPr sz="2400">
                <a:solidFill>
                  <a:srgbClr val="142D44"/>
                </a:solidFill>
              </a:defRPr>
            </a:pPr>
            <a:r>
              <a:rPr sz="2400">
                <a:solidFill>
                  <a:srgbClr val="142D44"/>
                </a:solidFill>
              </a:rPr>
              <a:t>Continue through the four steps on pp. 22–23.</a:t>
            </a:r>
          </a:p>
        </p:txBody>
      </p:sp>
      <p:sp>
        <p:nvSpPr>
          <p:cNvPr id="4" name="">
            <a:extLst xmlns:a="http://schemas.openxmlformats.org/drawingml/2006/main">
              <a:ext uri="{FF2B5EF4-FFF2-40B4-BE49-F238E27FC236}">
                <a16:creationId xmlns:a16="http://schemas.microsoft.com/office/drawing/2014/main" id="{7CA3498E-1285-462E-9A77-FD472337009E}"/>
              </a:ext>
            </a:extLst>
          </p:cNvPr>
          <p:cNvSpPr>
            <a:spLocks xmlns:a="http://schemas.openxmlformats.org/drawingml/2006/main" noGrp="1"/>
          </p:cNvSpPr>
          <p:nvPr/>
        </p:nvSpPr>
        <p:spPr>
          <a:xfrm xmlns:a="http://schemas.openxmlformats.org/drawingml/2006/main">
            <a:off x="609600" y="300037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Complete the milestone section of your slide 9 notes.</a:t>
            </a:r>
          </a:p>
          <a:p xmlns:a="http://schemas.openxmlformats.org/drawingml/2006/main">
            <a:pPr>
              <a:defRPr sz="2400">
                <a:solidFill>
                  <a:srgbClr val="142D44"/>
                </a:solidFill>
              </a:defRPr>
            </a:pPr>
            <a:r>
              <a:rPr sz="2400">
                <a:solidFill>
                  <a:srgbClr val="142D44"/>
                </a:solidFill>
              </a:rPr>
              <a:t>Look for what to set, explain, measure and review.</a:t>
            </a:r>
          </a:p>
        </p:txBody>
      </p:sp>
      <p:sp>
        <p:nvSpPr>
          <p:cNvPr id="5" name="">
            <a:extLst xmlns:a="http://schemas.openxmlformats.org/drawingml/2006/main">
              <a:ext uri="{FF2B5EF4-FFF2-40B4-BE49-F238E27FC236}">
                <a16:creationId xmlns:a16="http://schemas.microsoft.com/office/drawing/2014/main" id="{FADC532A-FF5D-45EC-BA74-20FEF8D8FCFE}"/>
              </a:ext>
            </a:extLst>
          </p:cNvPr>
          <p:cNvSpPr>
            <a:spLocks xmlns:a="http://schemas.openxmlformats.org/drawingml/2006/main" noGrp="1"/>
          </p:cNvSpPr>
          <p:nvPr/>
        </p:nvSpPr>
        <p:spPr>
          <a:xfrm xmlns:a="http://schemas.openxmlformats.org/drawingml/2006/main">
            <a:off x="609600" y="438150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Skip the boxed Practical Marketing case on p. 22.</a:t>
            </a:r>
          </a:p>
          <a:p xmlns:a="http://schemas.openxmlformats.org/drawingml/2006/main">
            <a:pPr>
              <a:defRPr sz="2400">
                <a:solidFill>
                  <a:srgbClr val="142D44"/>
                </a:solidFill>
              </a:defRPr>
            </a:pPr>
            <a:r>
              <a:rPr sz="2400">
                <a:solidFill>
                  <a:srgbClr val="142D44"/>
                </a:solidFill>
              </a:rPr>
              <a:t>Stop before Market Research on p. 23.</a:t>
            </a:r>
          </a:p>
        </p:txBody>
      </p:sp>
    </p:spTree>
    <p:extLst>
      <p:ext uri="{BB962C8B-B14F-4D97-AF65-F5344CB8AC3E}">
        <p14:creationId xmlns:p14="http://schemas.microsoft.com/office/powerpoint/2010/main" val="355620729"/>
      </p:ext>
    </p:extLst>
  </p:cSld>
  <p:transition spd="fast" advClick="1">
    <p:fade/>
  </p:transition>
</p:sld>
</file>

<file path=ppt/slides/slide19.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5B35E2-C3B3-40A1-8D12-923B3946C42C}"/>
              </a:ext>
            </a:extLst>
          </p:cNvPr>
          <p:cNvSpPr>
            <a:spLocks xmlns:a="http://schemas.openxmlformats.org/drawingml/2006/main" noGrp="1"/>
          </p:cNvSpPr>
          <p:nvPr/>
        </p:nvSpPr>
        <p:spPr>
          <a:xfrm xmlns:a="http://schemas.openxmlformats.org/drawingml/2006/main">
            <a:off x="609600" y="4286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a:solidFill>
                  <a:srgbClr val="142D44"/>
                </a:solidFill>
              </a:defRPr>
            </a:defPPr>
            <a:lvl1pPr>
              <a:defRPr sz="3450">
                <a:solidFill>
                  <a:srgbClr val="142D44"/>
                </a:solidFill>
              </a:defRPr>
            </a:lvl1pPr>
            <a:lvl2pPr>
              <a:defRPr sz="3450">
                <a:solidFill>
                  <a:srgbClr val="142D44"/>
                </a:solidFill>
              </a:defRPr>
            </a:lvl2pPr>
            <a:lvl3pPr>
              <a:defRPr sz="3450">
                <a:solidFill>
                  <a:srgbClr val="142D44"/>
                </a:solidFill>
              </a:defRPr>
            </a:lvl3pPr>
            <a:lvl4pPr>
              <a:defRPr sz="3450">
                <a:solidFill>
                  <a:srgbClr val="142D44"/>
                </a:solidFill>
              </a:defRPr>
            </a:lvl4pPr>
            <a:lvl5pPr>
              <a:defRPr sz="3450">
                <a:solidFill>
                  <a:srgbClr val="142D44"/>
                </a:solidFill>
              </a:defRPr>
            </a:lvl5pPr>
            <a:lvl6pPr>
              <a:defRPr sz="3450">
                <a:solidFill>
                  <a:srgbClr val="142D44"/>
                </a:solidFill>
              </a:defRPr>
            </a:lvl6pPr>
            <a:lvl7pPr>
              <a:defRPr sz="3450">
                <a:solidFill>
                  <a:srgbClr val="142D44"/>
                </a:solidFill>
              </a:defRPr>
            </a:lvl7pPr>
            <a:lvl8pPr>
              <a:defRPr sz="3450">
                <a:solidFill>
                  <a:srgbClr val="142D44"/>
                </a:solidFill>
              </a:defRPr>
            </a:lvl8pPr>
            <a:lvl9pPr>
              <a:defRPr sz="3450">
                <a:solidFill>
                  <a:srgbClr val="142D44"/>
                </a:solidFill>
              </a:defRPr>
            </a:lvl9pPr>
          </a:lstStyle>
          <a:p xmlns:a="http://schemas.openxmlformats.org/drawingml/2006/main">
            <a:pPr>
              <a:defRPr sz="3450">
                <a:solidFill>
                  <a:srgbClr val="142D44"/>
                </a:solidFill>
              </a:defRPr>
            </a:pPr>
            <a:r>
              <a:rPr sz="3450">
                <a:solidFill>
                  <a:srgbClr val="142D44"/>
                </a:solidFill>
              </a:rPr>
              <a:t>Notes check before independent work</a:t>
            </a:r>
          </a:p>
        </p:txBody>
      </p:sp>
      <p:sp>
        <p:nvSpPr>
          <p:cNvPr id="2" name="">
            <a:extLst xmlns:a="http://schemas.openxmlformats.org/drawingml/2006/main">
              <a:ext uri="{FF2B5EF4-FFF2-40B4-BE49-F238E27FC236}">
                <a16:creationId xmlns:a16="http://schemas.microsoft.com/office/drawing/2014/main" id="{3EECB92A-2296-4161-9031-77D6681DCB02}"/>
              </a:ext>
            </a:extLst>
          </p:cNvPr>
          <p:cNvSpPr>
            <a:spLocks xmlns:a="http://schemas.openxmlformats.org/drawingml/2006/main" noGrp="1"/>
          </p:cNvSpPr>
          <p:nvPr/>
        </p:nvSpPr>
        <p:spPr>
          <a:xfrm xmlns:a="http://schemas.openxmlformats.org/drawingml/2006/main">
            <a:off x="6096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AC4A1D"/>
                </a:solidFill>
              </a:defRPr>
            </a:defPPr>
            <a:lvl1pPr>
              <a:defRPr sz="1650">
                <a:solidFill>
                  <a:srgbClr val="AC4A1D"/>
                </a:solidFill>
              </a:defRPr>
            </a:lvl1pPr>
            <a:lvl2pPr>
              <a:defRPr sz="1650">
                <a:solidFill>
                  <a:srgbClr val="AC4A1D"/>
                </a:solidFill>
              </a:defRPr>
            </a:lvl2pPr>
            <a:lvl3pPr>
              <a:defRPr sz="1650">
                <a:solidFill>
                  <a:srgbClr val="AC4A1D"/>
                </a:solidFill>
              </a:defRPr>
            </a:lvl3pPr>
            <a:lvl4pPr>
              <a:defRPr sz="1650">
                <a:solidFill>
                  <a:srgbClr val="AC4A1D"/>
                </a:solidFill>
              </a:defRPr>
            </a:lvl4pPr>
            <a:lvl5pPr>
              <a:defRPr sz="1650">
                <a:solidFill>
                  <a:srgbClr val="AC4A1D"/>
                </a:solidFill>
              </a:defRPr>
            </a:lvl5pPr>
            <a:lvl6pPr>
              <a:defRPr sz="1650">
                <a:solidFill>
                  <a:srgbClr val="AC4A1D"/>
                </a:solidFill>
              </a:defRPr>
            </a:lvl6pPr>
            <a:lvl7pPr>
              <a:defRPr sz="1650">
                <a:solidFill>
                  <a:srgbClr val="AC4A1D"/>
                </a:solidFill>
              </a:defRPr>
            </a:lvl7pPr>
            <a:lvl8pPr>
              <a:defRPr sz="1650">
                <a:solidFill>
                  <a:srgbClr val="AC4A1D"/>
                </a:solidFill>
              </a:defRPr>
            </a:lvl8pPr>
            <a:lvl9pPr>
              <a:defRPr sz="1650">
                <a:solidFill>
                  <a:srgbClr val="AC4A1D"/>
                </a:solidFill>
              </a:defRPr>
            </a:lvl9pPr>
          </a:lstStyle>
          <a:p xmlns:a="http://schemas.openxmlformats.org/drawingml/2006/main">
            <a:pPr>
              <a:defRPr sz="1650">
                <a:solidFill>
                  <a:srgbClr val="AC4A1D"/>
                </a:solidFill>
              </a:defRPr>
            </a:pPr>
            <a:r>
              <a:rPr sz="1650">
                <a:solidFill>
                  <a:srgbClr val="AC4A1D"/>
                </a:solidFill>
              </a:rPr>
              <a:t>READ AND TAKE NOTES   19–20 min   1 minute</a:t>
            </a:r>
          </a:p>
        </p:txBody>
      </p:sp>
      <p:sp>
        <p:nvSpPr>
          <p:cNvPr id="3" name="">
            <a:extLst xmlns:a="http://schemas.openxmlformats.org/drawingml/2006/main">
              <a:ext uri="{FF2B5EF4-FFF2-40B4-BE49-F238E27FC236}">
                <a16:creationId xmlns:a16="http://schemas.microsoft.com/office/drawing/2014/main" id="{B1711BE3-1E9E-4E7D-8C6E-9B06BA10451F}"/>
              </a:ext>
            </a:extLst>
          </p:cNvPr>
          <p:cNvSpPr>
            <a:spLocks xmlns:a="http://schemas.openxmlformats.org/drawingml/2006/main" noGrp="1"/>
          </p:cNvSpPr>
          <p:nvPr/>
        </p:nvSpPr>
        <p:spPr>
          <a:xfrm xmlns:a="http://schemas.openxmlformats.org/drawingml/2006/main">
            <a:off x="609600" y="16192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Check your slide 9 notes.</a:t>
            </a:r>
          </a:p>
        </p:txBody>
      </p:sp>
      <p:sp>
        <p:nvSpPr>
          <p:cNvPr id="4" name="">
            <a:extLst xmlns:a="http://schemas.openxmlformats.org/drawingml/2006/main">
              <a:ext uri="{FF2B5EF4-FFF2-40B4-BE49-F238E27FC236}">
                <a16:creationId xmlns:a16="http://schemas.microsoft.com/office/drawing/2014/main" id="{A13BCECA-BE82-4ABC-91AD-D668578C414E}"/>
              </a:ext>
            </a:extLst>
          </p:cNvPr>
          <p:cNvSpPr>
            <a:spLocks xmlns:a="http://schemas.openxmlformats.org/drawingml/2006/main" noGrp="1"/>
          </p:cNvSpPr>
          <p:nvPr/>
        </p:nvSpPr>
        <p:spPr>
          <a:xfrm xmlns:a="http://schemas.openxmlformats.org/drawingml/2006/main">
            <a:off x="609600" y="266700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Do you have all five SMART criteria?</a:t>
            </a:r>
          </a:p>
          <a:p xmlns:a="http://schemas.openxmlformats.org/drawingml/2006/main">
            <a:pPr>
              <a:defRPr sz="2400">
                <a:solidFill>
                  <a:srgbClr val="142D44"/>
                </a:solidFill>
              </a:defRPr>
            </a:pPr>
            <a:r>
              <a:rPr sz="2400">
                <a:solidFill>
                  <a:srgbClr val="142D44"/>
                </a:solidFill>
              </a:rPr>
              <a:t>Did you include what a milestone does and its four steps?</a:t>
            </a:r>
          </a:p>
        </p:txBody>
      </p:sp>
      <p:sp>
        <p:nvSpPr>
          <p:cNvPr id="5" name="">
            <a:extLst xmlns:a="http://schemas.openxmlformats.org/drawingml/2006/main">
              <a:ext uri="{FF2B5EF4-FFF2-40B4-BE49-F238E27FC236}">
                <a16:creationId xmlns:a16="http://schemas.microsoft.com/office/drawing/2014/main" id="{144744E8-DE13-44D9-ABCD-9DB59927BCFE}"/>
              </a:ext>
            </a:extLst>
          </p:cNvPr>
          <p:cNvSpPr>
            <a:spLocks xmlns:a="http://schemas.openxmlformats.org/drawingml/2006/main" noGrp="1"/>
          </p:cNvSpPr>
          <p:nvPr/>
        </p:nvSpPr>
        <p:spPr>
          <a:xfrm xmlns:a="http://schemas.openxmlformats.org/drawingml/2006/main">
            <a:off x="609600" y="419100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Mark a gap and ask for help.</a:t>
            </a:r>
          </a:p>
          <a:p xmlns:a="http://schemas.openxmlformats.org/drawingml/2006/main">
            <a:pPr>
              <a:defRPr sz="2400">
                <a:solidFill>
                  <a:srgbClr val="142D44"/>
                </a:solidFill>
              </a:defRPr>
            </a:pPr>
            <a:r>
              <a:rPr sz="2400">
                <a:solidFill>
                  <a:srgbClr val="142D44"/>
                </a:solidFill>
              </a:rPr>
              <a:t>Keep your notes open for the review questions.</a:t>
            </a:r>
          </a:p>
        </p:txBody>
      </p:sp>
      <p:sp>
        <p:nvSpPr>
          <p:cNvPr id="6" name="">
            <a:extLst xmlns:a="http://schemas.openxmlformats.org/drawingml/2006/main">
              <a:ext uri="{FF2B5EF4-FFF2-40B4-BE49-F238E27FC236}">
                <a16:creationId xmlns:a16="http://schemas.microsoft.com/office/drawing/2014/main" id="{E5D584D8-F3D1-472C-81A2-97283C41968F}"/>
              </a:ext>
            </a:extLst>
          </p:cNvPr>
          <p:cNvSpPr>
            <a:spLocks xmlns:a="http://schemas.openxmlformats.org/drawingml/2006/main" noGrp="1"/>
          </p:cNvSpPr>
          <p:nvPr/>
        </p:nvSpPr>
        <p:spPr>
          <a:xfrm xmlns:a="http://schemas.openxmlformats.org/drawingml/2006/main">
            <a:off x="609600" y="56197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142D44"/>
                </a:solidFill>
              </a:defRPr>
            </a:defPPr>
            <a:lvl1pPr>
              <a:defRPr sz="2400">
                <a:solidFill>
                  <a:srgbClr val="142D44"/>
                </a:solidFill>
              </a:defRPr>
            </a:lvl1pPr>
            <a:lvl2pPr>
              <a:defRPr sz="2400">
                <a:solidFill>
                  <a:srgbClr val="142D44"/>
                </a:solidFill>
              </a:defRPr>
            </a:lvl2pPr>
            <a:lvl3pPr>
              <a:defRPr sz="2400">
                <a:solidFill>
                  <a:srgbClr val="142D44"/>
                </a:solidFill>
              </a:defRPr>
            </a:lvl3pPr>
            <a:lvl4pPr>
              <a:defRPr sz="2400">
                <a:solidFill>
                  <a:srgbClr val="142D44"/>
                </a:solidFill>
              </a:defRPr>
            </a:lvl4pPr>
            <a:lvl5pPr>
              <a:defRPr sz="2400">
                <a:solidFill>
                  <a:srgbClr val="142D44"/>
                </a:solidFill>
              </a:defRPr>
            </a:lvl5pPr>
            <a:lvl6pPr>
              <a:defRPr sz="2400">
                <a:solidFill>
                  <a:srgbClr val="142D44"/>
                </a:solidFill>
              </a:defRPr>
            </a:lvl6pPr>
            <a:lvl7pPr>
              <a:defRPr sz="2400">
                <a:solidFill>
                  <a:srgbClr val="142D44"/>
                </a:solidFill>
              </a:defRPr>
            </a:lvl7pPr>
            <a:lvl8pPr>
              <a:defRPr sz="2400">
                <a:solidFill>
                  <a:srgbClr val="142D44"/>
                </a:solidFill>
              </a:defRPr>
            </a:lvl8pPr>
            <a:lvl9pPr>
              <a:defRPr sz="2400">
                <a:solidFill>
                  <a:srgbClr val="142D44"/>
                </a:solidFill>
              </a:defRPr>
            </a:lvl9pPr>
          </a:lstStyle>
          <a:p xmlns:a="http://schemas.openxmlformats.org/drawingml/2006/main">
            <a:pPr>
              <a:defRPr sz="2400">
                <a:solidFill>
                  <a:srgbClr val="142D44"/>
                </a:solidFill>
              </a:defRPr>
            </a:pPr>
            <a:r>
              <a:rPr sz="2400">
                <a:solidFill>
                  <a:srgbClr val="142D44"/>
                </a:solidFill>
              </a:rPr>
              <a:t>At minute 20, begin independent work.</a:t>
            </a:r>
          </a:p>
        </p:txBody>
      </p:sp>
    </p:spTree>
    <p:extLst>
      <p:ext uri="{BB962C8B-B14F-4D97-AF65-F5344CB8AC3E}">
        <p14:creationId xmlns:p14="http://schemas.microsoft.com/office/powerpoint/2010/main" val="1600165832"/>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2026-10-19T06:05:31.0870000Z</dcterms:created>
  <dcterms:modified xsi:type="dcterms:W3CDTF">2026-10-19T06:05:31.0870000Z</dcterms:modified>
</coreProperties>
</file>