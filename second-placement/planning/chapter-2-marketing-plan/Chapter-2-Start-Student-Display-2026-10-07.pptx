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2fb2a648d640eb" /><Relationship Type="http://schemas.openxmlformats.org/officeDocument/2006/relationships/extended-properties" Target="/docProps/app.xml" Id="Re07e2d22c4c24863" /><Relationship Type="http://schemas.openxmlformats.org/officeDocument/2006/relationships/officeDocument" Target="/ppt/presentation.xml" Id="R6ec9953a636d4985" /></Relationships>
</file>

<file path=ppt/presentation.xml><?xml version="1.0" encoding="utf-8"?>
<p:presentation xmlns:p="http://schemas.openxmlformats.org/presentationml/2006/main">
  <p:sldMasterIdLst>
    <p:sldMasterId xmlns:r="http://schemas.openxmlformats.org/officeDocument/2006/relationships" id="2147483648" r:id="R114bb0e7f53843b9"/>
  </p:sldMasterIdLst>
  <p:notesMasterIdLst>
    <p:notesMasterId xmlns:r="http://schemas.openxmlformats.org/officeDocument/2006/relationships" r:id="R86cc44279a68424e"/>
  </p:notesMasterIdLst>
  <p:sldIdLst>
    <p:sldId xmlns:r="http://schemas.openxmlformats.org/officeDocument/2006/relationships" id="256" r:id="Ra6356c3d29464742"/>
    <p:sldId xmlns:r="http://schemas.openxmlformats.org/officeDocument/2006/relationships" id="257" r:id="Rb98aa05a34654711"/>
    <p:sldId xmlns:r="http://schemas.openxmlformats.org/officeDocument/2006/relationships" id="258" r:id="Rb6672964e20b402c"/>
    <p:sldId xmlns:r="http://schemas.openxmlformats.org/officeDocument/2006/relationships" id="259" r:id="Rfbd85ab818284041"/>
    <p:sldId xmlns:r="http://schemas.openxmlformats.org/officeDocument/2006/relationships" id="260" r:id="Rc55ddcce78b44678"/>
    <p:sldId xmlns:r="http://schemas.openxmlformats.org/officeDocument/2006/relationships" id="261" r:id="Rf183bee7834b46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b4089f27814c66" /><Relationship Type="http://schemas.openxmlformats.org/officeDocument/2006/relationships/slideMaster" Target="/ppt/slideMasters/slideMaster1.xml" Id="R114bb0e7f53843b9" /><Relationship Type="http://schemas.openxmlformats.org/officeDocument/2006/relationships/notesMaster" Target="/ppt/notesMasters/notesMaster1.xml" Id="R86cc44279a68424e" /><Relationship Type="http://schemas.openxmlformats.org/officeDocument/2006/relationships/presProps" Target="/ppt/presProps.xml" Id="R5d54d8cb76e245c1" /><Relationship Type="http://schemas.openxmlformats.org/officeDocument/2006/relationships/tableStyles" Target="/ppt/tableStyles.xml" Id="Rd802def6cacd4ca2" /><Relationship Type="http://schemas.openxmlformats.org/officeDocument/2006/relationships/slide" Target="/ppt/slides/slide1.xml" Id="Ra6356c3d29464742" /><Relationship Type="http://schemas.openxmlformats.org/officeDocument/2006/relationships/slide" Target="/ppt/slides/slide2.xml" Id="Rb98aa05a34654711" /><Relationship Type="http://schemas.openxmlformats.org/officeDocument/2006/relationships/slide" Target="/ppt/slides/slide3.xml" Id="Rb6672964e20b402c" /><Relationship Type="http://schemas.openxmlformats.org/officeDocument/2006/relationships/slide" Target="/ppt/slides/slide4.xml" Id="Rfbd85ab818284041" /><Relationship Type="http://schemas.openxmlformats.org/officeDocument/2006/relationships/slide" Target="/ppt/slides/slide5.xml" Id="Rc55ddcce78b44678" /><Relationship Type="http://schemas.openxmlformats.org/officeDocument/2006/relationships/slide" Target="/ppt/slides/slide6.xml" Id="Rf183bee7834b46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7d94f9a17943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a3270f2d75431b" /><Relationship Type="http://schemas.openxmlformats.org/officeDocument/2006/relationships/notesMaster" Target="/ppt/notesMasters/notesMaster1.xml" Id="Rc5c4d0538db94d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1e994e5d1a484c" /><Relationship Type="http://schemas.openxmlformats.org/officeDocument/2006/relationships/notesMaster" Target="/ppt/notesMasters/notesMaster1.xml" Id="Ra3136be689ef4e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8f110b8c5a4de3" /><Relationship Type="http://schemas.openxmlformats.org/officeDocument/2006/relationships/notesMaster" Target="/ppt/notesMasters/notesMaster1.xml" Id="Rb467fcb06ecd4a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762ee666c94469" /><Relationship Type="http://schemas.openxmlformats.org/officeDocument/2006/relationships/notesMaster" Target="/ppt/notesMasters/notesMaster1.xml" Id="R8c7bd1ad2ff14d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cddbd9d33b4f53" /><Relationship Type="http://schemas.openxmlformats.org/officeDocument/2006/relationships/notesMaster" Target="/ppt/notesMasters/notesMaster1.xml" Id="R1b4cb9cdd7d74e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0a0313bfa34674" /><Relationship Type="http://schemas.openxmlformats.org/officeDocument/2006/relationships/notesMaster" Target="/ppt/notesMasters/notesMaster1.xml" Id="R3d1d625b7b6348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each student only their own page, face down. Do not announce names, scores, or bonus cases. Say: “Read it privately. If I missed evidence or wrote something incorrectly, tell me after class or write me a note. We can look at the evidence together.” Pending means the presentation still needs to be heard; do not imply a grade. Move on within about eight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to a brief shared explanation. Say: “These are the three content areas we looked for. A 3 means the expected understanding is there. A 4 is considered when the core is there and the presentation independently extends the thinking. A follow-up question can clarify a 3; it does not create an independent 4.” Do not review any student in public.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reveal “marketing plan” yet. Ask for two different decisions, for example what to sell or whom to serve. Ask “How would the bakery know whether the decision worked?” If students give promotional ideas, accept them but ask what must be decided before the promotion. Avoid a long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only after two student ideas. This wording is a plain-language bridge from the Chapter 2 opening; students must still read printed p. 18 for the source definition and purpose. Ask which line supports the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one card using the textbook wording on p. 18. Point out that the image makes the idea meaningful but does not print the term. Allow students to paraphrase accurately. Chapter 1 used term + definition + meaningful illustration, built in reading order. Do not assign a deadline or claim a Teams posting until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in-class start, not an invented graded assignment or due date. Confirm the official Terms file/location before directing students to submit. If access is missing, use a local note or paper planning version and retain the same target. Record Block 1 and Block 5 last stops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9ddc69d85844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88291f28754b8f" /><Relationship Type="http://schemas.openxmlformats.org/officeDocument/2006/relationships/slideLayout" Target="/ppt/slideLayouts/slideLayout1.xml" Id="R3409a820ffbe4b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09a820ffbe4b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c20422d72f42f5" /><Relationship Type="http://schemas.openxmlformats.org/officeDocument/2006/relationships/notesSlide" Target="/ppt/notesSlides/notesSlide1.xml" Id="R8565b7d93fc14a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ae890c4a0a481d" /><Relationship Type="http://schemas.openxmlformats.org/officeDocument/2006/relationships/notesSlide" Target="/ppt/notesSlides/notesSlide2.xml" Id="R8d01f18baa4940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af82a54eec475f" /><Relationship Type="http://schemas.openxmlformats.org/officeDocument/2006/relationships/image" Target="/ppt/media/image.png" Id="Rbc9726e9fd9d44bb" /><Relationship Type="http://schemas.openxmlformats.org/officeDocument/2006/relationships/notesSlide" Target="/ppt/notesSlides/notesSlide3.xml" Id="R34b3822102524d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03d0dcedb24640" /><Relationship Type="http://schemas.openxmlformats.org/officeDocument/2006/relationships/image" Target="/ppt/media/image2.png" Id="R2b36f73b60bd417a" /><Relationship Type="http://schemas.openxmlformats.org/officeDocument/2006/relationships/notesSlide" Target="/ppt/notesSlides/notesSlide4.xml" Id="Ra7aa12f3777f4b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206f7ae2e74565" /><Relationship Type="http://schemas.openxmlformats.org/officeDocument/2006/relationships/image" Target="/ppt/media/image3.png" Id="R16e9a3034f734a9a" /><Relationship Type="http://schemas.openxmlformats.org/officeDocument/2006/relationships/notesSlide" Target="/ppt/notesSlides/notesSlide5.xml" Id="R649aaf429e1b44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0282eb79674c2c" /><Relationship Type="http://schemas.openxmlformats.org/officeDocument/2006/relationships/notesSlide" Target="/ppt/notesSlides/notesSlide6.xml" Id="R1ca5e3afe8da4b15" /></Relationships>
</file>

<file path=ppt/slides/slide1.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30006F-7BCE-4C6E-8E02-C81D4AFCD2F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MARKETING | CHAPTER 2</a:t>
            </a:r>
          </a:p>
        </p:txBody>
      </p:sp>
      <p:sp>
        <p:nvSpPr>
          <p:cNvPr id="2" name="">
            <a:extLst xmlns:a="http://schemas.openxmlformats.org/drawingml/2006/main">
              <a:ext uri="{FF2B5EF4-FFF2-40B4-BE49-F238E27FC236}">
                <a16:creationId xmlns:a16="http://schemas.microsoft.com/office/drawing/2014/main" id="{9DC2D5E9-772F-4A41-920B-532BD13AA39F}"/>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Today: feedback, then Chapter 2</a:t>
            </a:r>
          </a:p>
        </p:txBody>
      </p:sp>
      <p:sp>
        <p:nvSpPr>
          <p:cNvPr id="3" name="">
            <a:extLst xmlns:a="http://schemas.openxmlformats.org/drawingml/2006/main">
              <a:ext uri="{FF2B5EF4-FFF2-40B4-BE49-F238E27FC236}">
                <a16:creationId xmlns:a16="http://schemas.microsoft.com/office/drawing/2014/main" id="{6895E570-6DA9-45A5-83EF-43F17A6897FE}"/>
              </a:ext>
            </a:extLst>
          </p:cNvPr>
          <p:cNvSpPr>
            <a:spLocks xmlns:a="http://schemas.openxmlformats.org/drawingml/2006/main" noGrp="1"/>
          </p:cNvSpPr>
          <p:nvPr/>
        </p:nvSpPr>
        <p:spPr>
          <a:xfrm xmlns:a="http://schemas.openxmlformats.org/drawingml/2006/main">
            <a:off x="685800" y="1885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54A"/>
                </a:solidFill>
                <a:latin typeface="Aptos"/>
                <a:ea typeface="Aptos"/>
                <a:cs typeface="Aptos"/>
              </a:defRPr>
            </a:pPr>
            <a:r>
              <a:rPr sz="2250" b="1">
                <a:solidFill>
                  <a:srgbClr val="17354A"/>
                </a:solidFill>
                <a:latin typeface="Aptos"/>
                <a:ea typeface="Aptos"/>
                <a:cs typeface="Aptos"/>
              </a:rPr>
              <a:t>1  Read your own feedback privately</a:t>
            </a:r>
          </a:p>
        </p:txBody>
      </p:sp>
      <p:sp>
        <p:nvSpPr>
          <p:cNvPr id="4" name="">
            <a:extLst xmlns:a="http://schemas.openxmlformats.org/drawingml/2006/main">
              <a:ext uri="{FF2B5EF4-FFF2-40B4-BE49-F238E27FC236}">
                <a16:creationId xmlns:a16="http://schemas.microsoft.com/office/drawing/2014/main" id="{0F621E89-270A-4B2E-A55B-C76133CDE902}"/>
              </a:ext>
            </a:extLst>
          </p:cNvPr>
          <p:cNvSpPr>
            <a:spLocks xmlns:a="http://schemas.openxmlformats.org/drawingml/2006/main" noGrp="1"/>
          </p:cNvSpPr>
          <p:nvPr/>
        </p:nvSpPr>
        <p:spPr>
          <a:xfrm xmlns:a="http://schemas.openxmlformats.org/drawingml/2006/main">
            <a:off x="685800" y="2809875"/>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54A"/>
                </a:solidFill>
                <a:latin typeface="Aptos"/>
                <a:ea typeface="Aptos"/>
                <a:cs typeface="Aptos"/>
              </a:defRPr>
            </a:pPr>
            <a:r>
              <a:rPr sz="2250" b="1">
                <a:solidFill>
                  <a:srgbClr val="17354A"/>
                </a:solidFill>
                <a:latin typeface="Aptos"/>
                <a:ea typeface="Aptos"/>
                <a:cs typeface="Aptos"/>
              </a:rPr>
              <a:t>2  Ask about evidence or a possible error privately</a:t>
            </a:r>
          </a:p>
        </p:txBody>
      </p:sp>
      <p:sp>
        <p:nvSpPr>
          <p:cNvPr id="5" name="">
            <a:extLst xmlns:a="http://schemas.openxmlformats.org/drawingml/2006/main">
              <a:ext uri="{FF2B5EF4-FFF2-40B4-BE49-F238E27FC236}">
                <a16:creationId xmlns:a16="http://schemas.microsoft.com/office/drawing/2014/main" id="{54C4F95F-567A-45BC-87E5-594555FA3391}"/>
              </a:ext>
            </a:extLst>
          </p:cNvPr>
          <p:cNvSpPr>
            <a:spLocks xmlns:a="http://schemas.openxmlformats.org/drawingml/2006/main" noGrp="1"/>
          </p:cNvSpPr>
          <p:nvPr/>
        </p:nvSpPr>
        <p:spPr>
          <a:xfrm xmlns:a="http://schemas.openxmlformats.org/drawingml/2006/main">
            <a:off x="685800" y="38290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54A"/>
                </a:solidFill>
                <a:latin typeface="Aptos"/>
                <a:ea typeface="Aptos"/>
                <a:cs typeface="Aptos"/>
              </a:defRPr>
            </a:pPr>
            <a:r>
              <a:rPr sz="2250" b="1">
                <a:solidFill>
                  <a:srgbClr val="17354A"/>
                </a:solidFill>
                <a:latin typeface="Aptos"/>
                <a:ea typeface="Aptos"/>
                <a:cs typeface="Aptos"/>
              </a:rPr>
              <a:t>3  Open Chapter 2 and begin Terms to Know</a:t>
            </a:r>
          </a:p>
        </p:txBody>
      </p:sp>
      <p:sp>
        <p:nvSpPr>
          <p:cNvPr id="6" name="">
            <a:extLst xmlns:a="http://schemas.openxmlformats.org/drawingml/2006/main">
              <a:ext uri="{FF2B5EF4-FFF2-40B4-BE49-F238E27FC236}">
                <a16:creationId xmlns:a16="http://schemas.microsoft.com/office/drawing/2014/main" id="{30614068-8FA7-407A-B5FC-0F3856FA8258}"/>
              </a:ext>
            </a:extLst>
          </p:cNvPr>
          <p:cNvSpPr>
            <a:spLocks xmlns:a="http://schemas.openxmlformats.org/drawingml/2006/main" noGrp="1"/>
          </p:cNvSpPr>
          <p:nvPr/>
        </p:nvSpPr>
        <p:spPr>
          <a:xfrm xmlns:a="http://schemas.openxmlformats.org/drawingml/2006/main">
            <a:off x="685800" y="53721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E84"/>
                </a:solidFill>
                <a:latin typeface="Aptos"/>
                <a:ea typeface="Aptos"/>
                <a:cs typeface="Aptos"/>
              </a:defRPr>
            </a:pPr>
            <a:r>
              <a:rPr sz="1950" b="1">
                <a:solidFill>
                  <a:srgbClr val="167E84"/>
                </a:solidFill>
                <a:latin typeface="Aptos"/>
                <a:ea typeface="Aptos"/>
                <a:cs typeface="Aptos"/>
              </a:rPr>
              <a:t>No one needs to share a score with the class.</a:t>
            </a:r>
          </a:p>
        </p:txBody>
      </p:sp>
    </p:spTree>
    <p:extLst>
      <p:ext uri="{BB962C8B-B14F-4D97-AF65-F5344CB8AC3E}">
        <p14:creationId xmlns:p14="http://schemas.microsoft.com/office/powerpoint/2010/main" val="1194510006"/>
      </p:ext>
    </p:extLst>
  </p:cSld>
</p:sld>
</file>

<file path=ppt/slides/slide2.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B53538-81FC-4BCD-9992-10173AD3B484}"/>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MARKETING | CHAPTER 2</a:t>
            </a:r>
          </a:p>
        </p:txBody>
      </p:sp>
      <p:sp>
        <p:nvSpPr>
          <p:cNvPr id="2" name="">
            <a:extLst xmlns:a="http://schemas.openxmlformats.org/drawingml/2006/main">
              <a:ext uri="{FF2B5EF4-FFF2-40B4-BE49-F238E27FC236}">
                <a16:creationId xmlns:a16="http://schemas.microsoft.com/office/drawing/2014/main" id="{E3AE3289-A307-45A3-8654-4231944518CF}"/>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Your feedback is about evidence</a:t>
            </a:r>
          </a:p>
        </p:txBody>
      </p:sp>
      <p:sp>
        <p:nvSpPr>
          <p:cNvPr id="3" name="">
            <a:extLst xmlns:a="http://schemas.openxmlformats.org/drawingml/2006/main">
              <a:ext uri="{FF2B5EF4-FFF2-40B4-BE49-F238E27FC236}">
                <a16:creationId xmlns:a16="http://schemas.microsoft.com/office/drawing/2014/main" id="{159FADF2-D77C-48E9-9661-FB696A060E82}"/>
              </a:ext>
            </a:extLst>
          </p:cNvPr>
          <p:cNvSpPr>
            <a:spLocks xmlns:a="http://schemas.openxmlformats.org/drawingml/2006/main" noGrp="1"/>
          </p:cNvSpPr>
          <p:nvPr/>
        </p:nvSpPr>
        <p:spPr>
          <a:xfrm xmlns:a="http://schemas.openxmlformats.org/drawingml/2006/main">
            <a:off x="714375" y="19526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54A"/>
                </a:solidFill>
                <a:latin typeface="Aptos"/>
                <a:ea typeface="Aptos"/>
                <a:cs typeface="Aptos"/>
              </a:defRPr>
            </a:pPr>
            <a:r>
              <a:rPr sz="2700" b="1">
                <a:solidFill>
                  <a:srgbClr val="17354A"/>
                </a:solidFill>
                <a:latin typeface="Aptos"/>
                <a:ea typeface="Aptos"/>
                <a:cs typeface="Aptos"/>
              </a:rPr>
              <a:t>Purpose</a:t>
            </a:r>
          </a:p>
        </p:txBody>
      </p:sp>
      <p:sp>
        <p:nvSpPr>
          <p:cNvPr id="4" name="">
            <a:extLst xmlns:a="http://schemas.openxmlformats.org/drawingml/2006/main">
              <a:ext uri="{FF2B5EF4-FFF2-40B4-BE49-F238E27FC236}">
                <a16:creationId xmlns:a16="http://schemas.microsoft.com/office/drawing/2014/main" id="{8BAB7C17-5EB6-468B-AC39-2B385B60DE9B}"/>
              </a:ext>
            </a:extLst>
          </p:cNvPr>
          <p:cNvSpPr>
            <a:spLocks xmlns:a="http://schemas.openxmlformats.org/drawingml/2006/main" noGrp="1"/>
          </p:cNvSpPr>
          <p:nvPr/>
        </p:nvSpPr>
        <p:spPr>
          <a:xfrm xmlns:a="http://schemas.openxmlformats.org/drawingml/2006/main">
            <a:off x="714375" y="2952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54A"/>
                </a:solidFill>
                <a:latin typeface="Aptos"/>
                <a:ea typeface="Aptos"/>
                <a:cs typeface="Aptos"/>
              </a:defRPr>
            </a:pPr>
            <a:r>
              <a:rPr sz="2700" b="1">
                <a:solidFill>
                  <a:srgbClr val="17354A"/>
                </a:solidFill>
                <a:latin typeface="Aptos"/>
                <a:ea typeface="Aptos"/>
                <a:cs typeface="Aptos"/>
              </a:rPr>
              <a:t>Marketing concept</a:t>
            </a:r>
          </a:p>
        </p:txBody>
      </p:sp>
      <p:sp>
        <p:nvSpPr>
          <p:cNvPr id="5" name="">
            <a:extLst xmlns:a="http://schemas.openxmlformats.org/drawingml/2006/main">
              <a:ext uri="{FF2B5EF4-FFF2-40B4-BE49-F238E27FC236}">
                <a16:creationId xmlns:a16="http://schemas.microsoft.com/office/drawing/2014/main" id="{E08B916E-99D7-475E-90D1-9BF24AA556AB}"/>
              </a:ext>
            </a:extLst>
          </p:cNvPr>
          <p:cNvSpPr>
            <a:spLocks xmlns:a="http://schemas.openxmlformats.org/drawingml/2006/main" noGrp="1"/>
          </p:cNvSpPr>
          <p:nvPr/>
        </p:nvSpPr>
        <p:spPr>
          <a:xfrm xmlns:a="http://schemas.openxmlformats.org/drawingml/2006/main">
            <a:off x="714375" y="395287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54A"/>
                </a:solidFill>
                <a:latin typeface="Aptos"/>
                <a:ea typeface="Aptos"/>
                <a:cs typeface="Aptos"/>
              </a:defRPr>
            </a:pPr>
            <a:r>
              <a:rPr sz="2700" b="1">
                <a:solidFill>
                  <a:srgbClr val="17354A"/>
                </a:solidFill>
                <a:latin typeface="Aptos"/>
                <a:ea typeface="Aptos"/>
                <a:cs typeface="Aptos"/>
              </a:rPr>
              <a:t>Example</a:t>
            </a:r>
          </a:p>
        </p:txBody>
      </p:sp>
      <p:sp>
        <p:nvSpPr>
          <p:cNvPr id="6" name="">
            <a:extLst xmlns:a="http://schemas.openxmlformats.org/drawingml/2006/main">
              <a:ext uri="{FF2B5EF4-FFF2-40B4-BE49-F238E27FC236}">
                <a16:creationId xmlns:a16="http://schemas.microsoft.com/office/drawing/2014/main" id="{E3AC7358-6096-499E-9EC3-CC2B9A99E14F}"/>
              </a:ext>
            </a:extLst>
          </p:cNvPr>
          <p:cNvSpPr>
            <a:spLocks xmlns:a="http://schemas.openxmlformats.org/drawingml/2006/main" noGrp="1"/>
          </p:cNvSpPr>
          <p:nvPr/>
        </p:nvSpPr>
        <p:spPr>
          <a:xfrm xmlns:a="http://schemas.openxmlformats.org/drawingml/2006/main">
            <a:off x="6334125" y="2333625"/>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7E84"/>
                </a:solidFill>
                <a:latin typeface="Aptos"/>
                <a:ea typeface="Aptos"/>
                <a:cs typeface="Aptos"/>
              </a:defRPr>
            </a:pPr>
            <a:r>
              <a:rPr sz="2325" b="1">
                <a:solidFill>
                  <a:srgbClr val="167E84"/>
                </a:solidFill>
                <a:latin typeface="Aptos"/>
                <a:ea typeface="Aptos"/>
                <a:cs typeface="Aptos"/>
              </a:rPr>
              <a:t>A 3 shows the assigned learning clearly.</a:t>
            </a:r>
          </a:p>
        </p:txBody>
      </p:sp>
      <p:sp>
        <p:nvSpPr>
          <p:cNvPr id="7" name="">
            <a:extLst xmlns:a="http://schemas.openxmlformats.org/drawingml/2006/main">
              <a:ext uri="{FF2B5EF4-FFF2-40B4-BE49-F238E27FC236}">
                <a16:creationId xmlns:a16="http://schemas.microsoft.com/office/drawing/2014/main" id="{48AC1736-E19A-4EED-B419-697EC436BEAF}"/>
              </a:ext>
            </a:extLst>
          </p:cNvPr>
          <p:cNvSpPr>
            <a:spLocks xmlns:a="http://schemas.openxmlformats.org/drawingml/2006/main" noGrp="1"/>
          </p:cNvSpPr>
          <p:nvPr/>
        </p:nvSpPr>
        <p:spPr>
          <a:xfrm xmlns:a="http://schemas.openxmlformats.org/drawingml/2006/main">
            <a:off x="6334125" y="3476625"/>
            <a:ext cx="5191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D47739"/>
                </a:solidFill>
                <a:latin typeface="Aptos"/>
                <a:ea typeface="Aptos"/>
                <a:cs typeface="Aptos"/>
              </a:defRPr>
            </a:pPr>
            <a:r>
              <a:rPr sz="2175" b="1">
                <a:solidFill>
                  <a:srgbClr val="D47739"/>
                </a:solidFill>
                <a:latin typeface="Aptos"/>
                <a:ea typeface="Aptos"/>
                <a:cs typeface="Aptos"/>
              </a:rPr>
              <a:t>A 4 needs independent deeper application after the core is met.</a:t>
            </a:r>
          </a:p>
        </p:txBody>
      </p:sp>
      <p:sp>
        <p:nvSpPr>
          <p:cNvPr id="8" name="">
            <a:extLst xmlns:a="http://schemas.openxmlformats.org/drawingml/2006/main">
              <a:ext uri="{FF2B5EF4-FFF2-40B4-BE49-F238E27FC236}">
                <a16:creationId xmlns:a16="http://schemas.microsoft.com/office/drawing/2014/main" id="{6B03AD2A-63D0-4CB4-85D7-6200F1141C4B}"/>
              </a:ext>
            </a:extLst>
          </p:cNvPr>
          <p:cNvSpPr>
            <a:spLocks xmlns:a="http://schemas.openxmlformats.org/drawingml/2006/main" noGrp="1"/>
          </p:cNvSpPr>
          <p:nvPr/>
        </p:nvSpPr>
        <p:spPr>
          <a:xfrm xmlns:a="http://schemas.openxmlformats.org/drawingml/2006/main">
            <a:off x="714375" y="55816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86476"/>
                </a:solidFill>
                <a:latin typeface="Aptos"/>
                <a:ea typeface="Aptos"/>
                <a:cs typeface="Aptos"/>
              </a:defRPr>
            </a:pPr>
            <a:r>
              <a:rPr sz="1875" b="0">
                <a:solidFill>
                  <a:srgbClr val="486476"/>
                </a:solidFill>
                <a:latin typeface="Aptos"/>
                <a:ea typeface="Aptos"/>
                <a:cs typeface="Aptos"/>
              </a:rPr>
              <a:t>Questions about your page? Speak to me privately.</a:t>
            </a:r>
          </a:p>
        </p:txBody>
      </p:sp>
    </p:spTree>
    <p:extLst>
      <p:ext uri="{BB962C8B-B14F-4D97-AF65-F5344CB8AC3E}">
        <p14:creationId xmlns:p14="http://schemas.microsoft.com/office/powerpoint/2010/main" val="1772870005"/>
      </p:ext>
    </p:extLst>
  </p:cSld>
</p:sld>
</file>

<file path=ppt/slides/slide3.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6C9F12-04EC-41E8-9D6F-496CF95DBF1C}"/>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CHAPTER 2 | 3-MINUTE STARTER</a:t>
            </a:r>
          </a:p>
        </p:txBody>
      </p:sp>
      <p:sp>
        <p:nvSpPr>
          <p:cNvPr id="2" name="">
            <a:extLst xmlns:a="http://schemas.openxmlformats.org/drawingml/2006/main">
              <a:ext uri="{FF2B5EF4-FFF2-40B4-BE49-F238E27FC236}">
                <a16:creationId xmlns:a16="http://schemas.microsoft.com/office/drawing/2014/main" id="{965320B8-5D72-4676-A2B6-938BD9EEAB3B}"/>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A bakery is opening near school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c9726e9fd9d44bb"/>
          <a:srcRect xmlns:a="http://schemas.openxmlformats.org/drawingml/2006/main" l="395" t="0" r="395" b="0"/>
          <a:stretch xmlns:a="http://schemas.openxmlformats.org/drawingml/2006/main">
            <a:fillRect l="0" t="0" r="0" b="0"/>
          </a:stretch>
        </p:blipFill>
        <p:spPr>
          <a:xfrm xmlns:a="http://schemas.openxmlformats.org/drawingml/2006/main">
            <a:off x="609600" y="1638300"/>
            <a:ext cx="7219950" cy="409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B3FBF54-B3FF-4793-9C0F-57A75A38DDBB}"/>
              </a:ext>
            </a:extLst>
          </p:cNvPr>
          <p:cNvSpPr>
            <a:spLocks xmlns:a="http://schemas.openxmlformats.org/drawingml/2006/main" noGrp="1"/>
          </p:cNvSpPr>
          <p:nvPr/>
        </p:nvSpPr>
        <p:spPr>
          <a:xfrm xmlns:a="http://schemas.openxmlformats.org/drawingml/2006/main">
            <a:off x="8096250" y="188595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54A"/>
                </a:solidFill>
                <a:latin typeface="Aptos"/>
                <a:ea typeface="Aptos"/>
                <a:cs typeface="Aptos"/>
              </a:defRPr>
            </a:pPr>
            <a:r>
              <a:rPr sz="2550" b="1">
                <a:solidFill>
                  <a:srgbClr val="17354A"/>
                </a:solidFill>
                <a:latin typeface="Aptos"/>
                <a:ea typeface="Aptos"/>
                <a:cs typeface="Aptos"/>
              </a:rPr>
              <a:t>Before advertising, what should the bakery decide?</a:t>
            </a:r>
          </a:p>
        </p:txBody>
      </p:sp>
      <p:sp>
        <p:nvSpPr>
          <p:cNvPr id="5" name="">
            <a:extLst xmlns:a="http://schemas.openxmlformats.org/drawingml/2006/main">
              <a:ext uri="{FF2B5EF4-FFF2-40B4-BE49-F238E27FC236}">
                <a16:creationId xmlns:a16="http://schemas.microsoft.com/office/drawing/2014/main" id="{69182DF9-8530-4F0E-9372-51E5A0C19DD9}"/>
              </a:ext>
            </a:extLst>
          </p:cNvPr>
          <p:cNvSpPr>
            <a:spLocks xmlns:a="http://schemas.openxmlformats.org/drawingml/2006/main" noGrp="1"/>
          </p:cNvSpPr>
          <p:nvPr/>
        </p:nvSpPr>
        <p:spPr>
          <a:xfrm xmlns:a="http://schemas.openxmlformats.org/drawingml/2006/main">
            <a:off x="8096250" y="3667125"/>
            <a:ext cx="3381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7E84"/>
                </a:solidFill>
                <a:latin typeface="Aptos"/>
                <a:ea typeface="Aptos"/>
                <a:cs typeface="Aptos"/>
              </a:defRPr>
            </a:pPr>
            <a:r>
              <a:rPr sz="1950" b="0">
                <a:solidFill>
                  <a:srgbClr val="167E84"/>
                </a:solidFill>
                <a:latin typeface="Aptos"/>
                <a:ea typeface="Aptos"/>
                <a:cs typeface="Aptos"/>
              </a:rPr>
              <a:t>Think 20 seconds.</a:t>
            </a:r>
          </a:p>
          <a:p xmlns:a="http://schemas.openxmlformats.org/drawingml/2006/main">
            <a:pPr>
              <a:defRPr sz="1950" b="0">
                <a:solidFill>
                  <a:srgbClr val="167E84"/>
                </a:solidFill>
                <a:latin typeface="Aptos"/>
                <a:ea typeface="Aptos"/>
                <a:cs typeface="Aptos"/>
              </a:defRPr>
            </a:pPr>
            <a:r>
              <a:rPr sz="1950" b="0">
                <a:solidFill>
                  <a:srgbClr val="167E84"/>
                </a:solidFill>
                <a:latin typeface="Aptos"/>
                <a:ea typeface="Aptos"/>
                <a:cs typeface="Aptos"/>
              </a:rPr>
              <a:t>Tell a partner one decision.</a:t>
            </a:r>
          </a:p>
          <a:p xmlns:a="http://schemas.openxmlformats.org/drawingml/2006/main">
            <a:pPr>
              <a:defRPr sz="1950" b="0">
                <a:solidFill>
                  <a:srgbClr val="167E84"/>
                </a:solidFill>
                <a:latin typeface="Aptos"/>
                <a:ea typeface="Aptos"/>
                <a:cs typeface="Aptos"/>
              </a:defRPr>
            </a:pPr>
            <a:r>
              <a:rPr sz="1950" b="0">
                <a:solidFill>
                  <a:srgbClr val="167E84"/>
                </a:solidFill>
                <a:latin typeface="Aptos"/>
                <a:ea typeface="Aptos"/>
                <a:cs typeface="Aptos"/>
              </a:rPr>
              <a:t>Be ready to explain why.</a:t>
            </a:r>
          </a:p>
        </p:txBody>
      </p:sp>
    </p:spTree>
    <p:extLst>
      <p:ext uri="{BB962C8B-B14F-4D97-AF65-F5344CB8AC3E}">
        <p14:creationId xmlns:p14="http://schemas.microsoft.com/office/powerpoint/2010/main" val="558041887"/>
      </p:ext>
    </p:extLst>
  </p:cSld>
</p:sld>
</file>

<file path=ppt/slides/slide4.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95948B-B8BE-4A34-943C-A1A82A0476FA}"/>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CHAPTER 2 | ANSWER AFTER STUDENT IDEAS</a:t>
            </a:r>
          </a:p>
        </p:txBody>
      </p:sp>
      <p:sp>
        <p:nvSpPr>
          <p:cNvPr id="2" name="">
            <a:extLst xmlns:a="http://schemas.openxmlformats.org/drawingml/2006/main">
              <a:ext uri="{FF2B5EF4-FFF2-40B4-BE49-F238E27FC236}">
                <a16:creationId xmlns:a16="http://schemas.microsoft.com/office/drawing/2014/main" id="{7F80B728-836A-4371-A368-3F79E5A0A5F3}"/>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What connects those decisions?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b36f73b60bd417a"/>
          <a:srcRect xmlns:a="http://schemas.openxmlformats.org/drawingml/2006/main" l="2856" t="0" r="2856" b="0"/>
          <a:stretch xmlns:a="http://schemas.openxmlformats.org/drawingml/2006/main">
            <a:fillRect l="0" t="0" r="0" b="0"/>
          </a:stretch>
        </p:blipFill>
        <p:spPr>
          <a:xfrm xmlns:a="http://schemas.openxmlformats.org/drawingml/2006/main">
            <a:off x="609600" y="1676400"/>
            <a:ext cx="6143625" cy="3667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5F66268-B9C9-46A1-8E08-689CF4A868A2}"/>
              </a:ext>
            </a:extLst>
          </p:cNvPr>
          <p:cNvSpPr>
            <a:spLocks xmlns:a="http://schemas.openxmlformats.org/drawingml/2006/main" noGrp="1"/>
          </p:cNvSpPr>
          <p:nvPr/>
        </p:nvSpPr>
        <p:spPr>
          <a:xfrm xmlns:a="http://schemas.openxmlformats.org/drawingml/2006/main">
            <a:off x="7143750" y="2171700"/>
            <a:ext cx="4238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47739"/>
                </a:solidFill>
                <a:latin typeface="Aptos"/>
                <a:ea typeface="Aptos"/>
                <a:cs typeface="Aptos"/>
              </a:defRPr>
            </a:pPr>
            <a:r>
              <a:rPr sz="3225" b="1">
                <a:solidFill>
                  <a:srgbClr val="D47739"/>
                </a:solidFill>
                <a:latin typeface="Aptos"/>
                <a:ea typeface="Aptos"/>
                <a:cs typeface="Aptos"/>
              </a:rPr>
              <a:t>Marketing plan</a:t>
            </a:r>
          </a:p>
        </p:txBody>
      </p:sp>
      <p:sp>
        <p:nvSpPr>
          <p:cNvPr id="5" name="">
            <a:extLst xmlns:a="http://schemas.openxmlformats.org/drawingml/2006/main">
              <a:ext uri="{FF2B5EF4-FFF2-40B4-BE49-F238E27FC236}">
                <a16:creationId xmlns:a16="http://schemas.microsoft.com/office/drawing/2014/main" id="{7C885B61-FAB0-4446-8E71-CCD961277A71}"/>
              </a:ext>
            </a:extLst>
          </p:cNvPr>
          <p:cNvSpPr>
            <a:spLocks xmlns:a="http://schemas.openxmlformats.org/drawingml/2006/main" noGrp="1"/>
          </p:cNvSpPr>
          <p:nvPr/>
        </p:nvSpPr>
        <p:spPr>
          <a:xfrm xmlns:a="http://schemas.openxmlformats.org/drawingml/2006/main">
            <a:off x="7143750" y="3095625"/>
            <a:ext cx="4143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54A"/>
                </a:solidFill>
                <a:latin typeface="Aptos"/>
                <a:ea typeface="Aptos"/>
                <a:cs typeface="Aptos"/>
              </a:defRPr>
            </a:pPr>
            <a:r>
              <a:rPr sz="2175" b="0">
                <a:solidFill>
                  <a:srgbClr val="17354A"/>
                </a:solidFill>
                <a:latin typeface="Aptos"/>
                <a:ea typeface="Aptos"/>
                <a:cs typeface="Aptos"/>
              </a:rPr>
              <a:t>A roadmap for developing, carrying out, and evaluating marketing efforts.</a:t>
            </a:r>
          </a:p>
        </p:txBody>
      </p:sp>
      <p:sp>
        <p:nvSpPr>
          <p:cNvPr id="6" name="">
            <a:extLst xmlns:a="http://schemas.openxmlformats.org/drawingml/2006/main">
              <a:ext uri="{FF2B5EF4-FFF2-40B4-BE49-F238E27FC236}">
                <a16:creationId xmlns:a16="http://schemas.microsoft.com/office/drawing/2014/main" id="{764C68BF-F52E-4565-B579-287B218FBEBB}"/>
              </a:ext>
            </a:extLst>
          </p:cNvPr>
          <p:cNvSpPr>
            <a:spLocks xmlns:a="http://schemas.openxmlformats.org/drawingml/2006/main" noGrp="1"/>
          </p:cNvSpPr>
          <p:nvPr/>
        </p:nvSpPr>
        <p:spPr>
          <a:xfrm xmlns:a="http://schemas.openxmlformats.org/drawingml/2006/main">
            <a:off x="685800" y="58102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E84"/>
                </a:solidFill>
                <a:latin typeface="Aptos"/>
                <a:ea typeface="Aptos"/>
                <a:cs typeface="Aptos"/>
              </a:defRPr>
            </a:pPr>
            <a:r>
              <a:rPr sz="1950" b="1">
                <a:solidFill>
                  <a:srgbClr val="167E84"/>
                </a:solidFill>
                <a:latin typeface="Aptos"/>
                <a:ea typeface="Aptos"/>
                <a:cs typeface="Aptos"/>
              </a:rPr>
              <a:t>Now read printed p. 18. Find what the plan guides.</a:t>
            </a:r>
          </a:p>
        </p:txBody>
      </p:sp>
    </p:spTree>
    <p:extLst>
      <p:ext uri="{BB962C8B-B14F-4D97-AF65-F5344CB8AC3E}">
        <p14:creationId xmlns:p14="http://schemas.microsoft.com/office/powerpoint/2010/main" val="1256260099"/>
      </p:ext>
    </p:extLst>
  </p:cSld>
</p:sld>
</file>

<file path=ppt/slides/slide5.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C56F67-789E-4500-826C-80FE3DE0396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CHAPTER 2 | MODEL AFTER THE READING</a:t>
            </a:r>
          </a:p>
        </p:txBody>
      </p:sp>
      <p:sp>
        <p:nvSpPr>
          <p:cNvPr id="2" name="">
            <a:extLst xmlns:a="http://schemas.openxmlformats.org/drawingml/2006/main">
              <a:ext uri="{FF2B5EF4-FFF2-40B4-BE49-F238E27FC236}">
                <a16:creationId xmlns:a16="http://schemas.microsoft.com/office/drawing/2014/main" id="{046FC19E-DE3C-48AB-8301-76702F3C84E8}"/>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First Terms to Know card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6e9a3034f734a9a"/>
          <a:srcRect xmlns:a="http://schemas.openxmlformats.org/drawingml/2006/main" l="11212" t="0" r="11212" b="0"/>
          <a:stretch xmlns:a="http://schemas.openxmlformats.org/drawingml/2006/main">
            <a:fillRect l="0" t="0" r="0" b="0"/>
          </a:stretch>
        </p:blipFill>
        <p:spPr>
          <a:xfrm xmlns:a="http://schemas.openxmlformats.org/drawingml/2006/main">
            <a:off x="609600" y="1743075"/>
            <a:ext cx="4857750"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FD2F0D-A812-4AED-A583-FFBEDD803B14}"/>
              </a:ext>
            </a:extLst>
          </p:cNvPr>
          <p:cNvSpPr>
            <a:spLocks xmlns:a="http://schemas.openxmlformats.org/drawingml/2006/main" noGrp="1"/>
          </p:cNvSpPr>
          <p:nvPr/>
        </p:nvSpPr>
        <p:spPr>
          <a:xfrm xmlns:a="http://schemas.openxmlformats.org/drawingml/2006/main">
            <a:off x="5953125" y="1847850"/>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E84"/>
                </a:solidFill>
                <a:latin typeface="Aptos"/>
                <a:ea typeface="Aptos"/>
                <a:cs typeface="Aptos"/>
              </a:defRPr>
            </a:pPr>
            <a:r>
              <a:rPr sz="1650" b="1">
                <a:solidFill>
                  <a:srgbClr val="167E84"/>
                </a:solidFill>
                <a:latin typeface="Aptos"/>
                <a:ea typeface="Aptos"/>
                <a:cs typeface="Aptos"/>
              </a:rPr>
              <a:t>Term</a:t>
            </a:r>
          </a:p>
        </p:txBody>
      </p:sp>
      <p:sp>
        <p:nvSpPr>
          <p:cNvPr id="5" name="">
            <a:extLst xmlns:a="http://schemas.openxmlformats.org/drawingml/2006/main">
              <a:ext uri="{FF2B5EF4-FFF2-40B4-BE49-F238E27FC236}">
                <a16:creationId xmlns:a16="http://schemas.microsoft.com/office/drawing/2014/main" id="{BC0F148B-90F2-4764-9185-0A8E28735EE9}"/>
              </a:ext>
            </a:extLst>
          </p:cNvPr>
          <p:cNvSpPr>
            <a:spLocks xmlns:a="http://schemas.openxmlformats.org/drawingml/2006/main" noGrp="1"/>
          </p:cNvSpPr>
          <p:nvPr/>
        </p:nvSpPr>
        <p:spPr>
          <a:xfrm xmlns:a="http://schemas.openxmlformats.org/drawingml/2006/main">
            <a:off x="5953125" y="2238375"/>
            <a:ext cx="5476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354A"/>
                </a:solidFill>
                <a:latin typeface="Aptos"/>
                <a:ea typeface="Aptos"/>
                <a:cs typeface="Aptos"/>
              </a:defRPr>
            </a:pPr>
            <a:r>
              <a:rPr sz="2850" b="1">
                <a:solidFill>
                  <a:srgbClr val="17354A"/>
                </a:solidFill>
                <a:latin typeface="Aptos"/>
                <a:ea typeface="Aptos"/>
                <a:cs typeface="Aptos"/>
              </a:rPr>
              <a:t>marketing plan</a:t>
            </a:r>
          </a:p>
        </p:txBody>
      </p:sp>
      <p:sp>
        <p:nvSpPr>
          <p:cNvPr id="6" name="">
            <a:extLst xmlns:a="http://schemas.openxmlformats.org/drawingml/2006/main">
              <a:ext uri="{FF2B5EF4-FFF2-40B4-BE49-F238E27FC236}">
                <a16:creationId xmlns:a16="http://schemas.microsoft.com/office/drawing/2014/main" id="{CB14168D-FF41-4882-8BBC-0CCA1B3E859A}"/>
              </a:ext>
            </a:extLst>
          </p:cNvPr>
          <p:cNvSpPr>
            <a:spLocks xmlns:a="http://schemas.openxmlformats.org/drawingml/2006/main" noGrp="1"/>
          </p:cNvSpPr>
          <p:nvPr/>
        </p:nvSpPr>
        <p:spPr>
          <a:xfrm xmlns:a="http://schemas.openxmlformats.org/drawingml/2006/main">
            <a:off x="5953125" y="31337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E84"/>
                </a:solidFill>
                <a:latin typeface="Aptos"/>
                <a:ea typeface="Aptos"/>
                <a:cs typeface="Aptos"/>
              </a:defRPr>
            </a:pPr>
            <a:r>
              <a:rPr sz="1650" b="1">
                <a:solidFill>
                  <a:srgbClr val="167E84"/>
                </a:solidFill>
                <a:latin typeface="Aptos"/>
                <a:ea typeface="Aptos"/>
                <a:cs typeface="Aptos"/>
              </a:rPr>
              <a:t>Definition from p. 18</a:t>
            </a:r>
          </a:p>
        </p:txBody>
      </p:sp>
      <p:sp>
        <p:nvSpPr>
          <p:cNvPr id="7" name="">
            <a:extLst xmlns:a="http://schemas.openxmlformats.org/drawingml/2006/main">
              <a:ext uri="{FF2B5EF4-FFF2-40B4-BE49-F238E27FC236}">
                <a16:creationId xmlns:a16="http://schemas.microsoft.com/office/drawing/2014/main" id="{40EDA764-42B0-47EE-B0E2-4FB25FB8DD2A}"/>
              </a:ext>
            </a:extLst>
          </p:cNvPr>
          <p:cNvSpPr>
            <a:spLocks xmlns:a="http://schemas.openxmlformats.org/drawingml/2006/main" noGrp="1"/>
          </p:cNvSpPr>
          <p:nvPr/>
        </p:nvSpPr>
        <p:spPr>
          <a:xfrm xmlns:a="http://schemas.openxmlformats.org/drawingml/2006/main">
            <a:off x="5953125" y="3543300"/>
            <a:ext cx="5429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54A"/>
                </a:solidFill>
                <a:latin typeface="Aptos"/>
                <a:ea typeface="Aptos"/>
                <a:cs typeface="Aptos"/>
              </a:defRPr>
            </a:pPr>
            <a:r>
              <a:rPr sz="2175" b="0">
                <a:solidFill>
                  <a:srgbClr val="17354A"/>
                </a:solidFill>
                <a:latin typeface="Aptos"/>
                <a:ea typeface="Aptos"/>
                <a:cs typeface="Aptos"/>
              </a:rPr>
              <a:t>A strategy that guides how a business will generate revenue through its marketing decisions.</a:t>
            </a:r>
          </a:p>
        </p:txBody>
      </p:sp>
      <p:sp>
        <p:nvSpPr>
          <p:cNvPr id="8" name="">
            <a:extLst xmlns:a="http://schemas.openxmlformats.org/drawingml/2006/main">
              <a:ext uri="{FF2B5EF4-FFF2-40B4-BE49-F238E27FC236}">
                <a16:creationId xmlns:a16="http://schemas.microsoft.com/office/drawing/2014/main" id="{B05886BF-42FA-4C99-8E88-2167DFC66600}"/>
              </a:ext>
            </a:extLst>
          </p:cNvPr>
          <p:cNvSpPr>
            <a:spLocks xmlns:a="http://schemas.openxmlformats.org/drawingml/2006/main" noGrp="1"/>
          </p:cNvSpPr>
          <p:nvPr/>
        </p:nvSpPr>
        <p:spPr>
          <a:xfrm xmlns:a="http://schemas.openxmlformats.org/drawingml/2006/main">
            <a:off x="609600" y="57245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86476"/>
                </a:solidFill>
                <a:latin typeface="Aptos"/>
                <a:ea typeface="Aptos"/>
                <a:cs typeface="Aptos"/>
              </a:defRPr>
            </a:pPr>
            <a:r>
              <a:rPr sz="1800" b="0">
                <a:solidFill>
                  <a:srgbClr val="486476"/>
                </a:solidFill>
                <a:latin typeface="Aptos"/>
                <a:ea typeface="Aptos"/>
                <a:cs typeface="Aptos"/>
              </a:rPr>
              <a:t>Image: decisions before the bakery opens. No answer text inside the image.</a:t>
            </a:r>
          </a:p>
        </p:txBody>
      </p:sp>
    </p:spTree>
    <p:extLst>
      <p:ext uri="{BB962C8B-B14F-4D97-AF65-F5344CB8AC3E}">
        <p14:creationId xmlns:p14="http://schemas.microsoft.com/office/powerpoint/2010/main" val="1798364416"/>
      </p:ext>
    </p:extLst>
  </p:cSld>
</p:sld>
</file>

<file path=ppt/slides/slide6.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293616-E900-42E3-B509-9E982664CA64}"/>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CHAPTER 2 | READING AND TERMS</a:t>
            </a:r>
          </a:p>
        </p:txBody>
      </p:sp>
      <p:sp>
        <p:nvSpPr>
          <p:cNvPr id="2" name="">
            <a:extLst xmlns:a="http://schemas.openxmlformats.org/drawingml/2006/main">
              <a:ext uri="{FF2B5EF4-FFF2-40B4-BE49-F238E27FC236}">
                <a16:creationId xmlns:a16="http://schemas.microsoft.com/office/drawing/2014/main" id="{EE345C2E-2848-4287-8B2A-E7E8F3F79D52}"/>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Your Chapter 2 start</a:t>
            </a:r>
          </a:p>
        </p:txBody>
      </p:sp>
      <p:sp>
        <p:nvSpPr>
          <p:cNvPr id="3" name="">
            <a:extLst xmlns:a="http://schemas.openxmlformats.org/drawingml/2006/main">
              <a:ext uri="{FF2B5EF4-FFF2-40B4-BE49-F238E27FC236}">
                <a16:creationId xmlns:a16="http://schemas.microsoft.com/office/drawing/2014/main" id="{D87E4DEF-5AE3-4D63-B037-C84470D2F094}"/>
              </a:ext>
            </a:extLst>
          </p:cNvPr>
          <p:cNvSpPr>
            <a:spLocks xmlns:a="http://schemas.openxmlformats.org/drawingml/2006/main" noGrp="1"/>
          </p:cNvSpPr>
          <p:nvPr/>
        </p:nvSpPr>
        <p:spPr>
          <a:xfrm xmlns:a="http://schemas.openxmlformats.org/drawingml/2006/main">
            <a:off x="685800" y="182880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54A"/>
                </a:solidFill>
                <a:latin typeface="Aptos"/>
                <a:ea typeface="Aptos"/>
                <a:cs typeface="Aptos"/>
              </a:defRPr>
            </a:pPr>
            <a:r>
              <a:rPr sz="2325" b="1">
                <a:solidFill>
                  <a:srgbClr val="17354A"/>
                </a:solidFill>
                <a:latin typeface="Aptos"/>
                <a:ea typeface="Aptos"/>
                <a:cs typeface="Aptos"/>
              </a:rPr>
              <a:t>Open the Chapter 2 source. Read printed p. 18.</a:t>
            </a:r>
          </a:p>
        </p:txBody>
      </p:sp>
      <p:sp>
        <p:nvSpPr>
          <p:cNvPr id="4" name="">
            <a:extLst xmlns:a="http://schemas.openxmlformats.org/drawingml/2006/main">
              <a:ext uri="{FF2B5EF4-FFF2-40B4-BE49-F238E27FC236}">
                <a16:creationId xmlns:a16="http://schemas.microsoft.com/office/drawing/2014/main" id="{3EA7099D-46E2-4122-9C23-DB3A677C5EC3}"/>
              </a:ext>
            </a:extLst>
          </p:cNvPr>
          <p:cNvSpPr>
            <a:spLocks xmlns:a="http://schemas.openxmlformats.org/drawingml/2006/main" noGrp="1"/>
          </p:cNvSpPr>
          <p:nvPr/>
        </p:nvSpPr>
        <p:spPr>
          <a:xfrm xmlns:a="http://schemas.openxmlformats.org/drawingml/2006/main">
            <a:off x="685800" y="2809875"/>
            <a:ext cx="1057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54A"/>
                </a:solidFill>
                <a:latin typeface="Aptos"/>
                <a:ea typeface="Aptos"/>
                <a:cs typeface="Aptos"/>
              </a:defRPr>
            </a:pPr>
            <a:r>
              <a:rPr sz="2325" b="1">
                <a:solidFill>
                  <a:srgbClr val="17354A"/>
                </a:solidFill>
                <a:latin typeface="Aptos"/>
                <a:ea typeface="Aptos"/>
                <a:cs typeface="Aptos"/>
              </a:rPr>
              <a:t>Find one decision the plan guides. Explain it in your own words.</a:t>
            </a:r>
          </a:p>
        </p:txBody>
      </p:sp>
      <p:sp>
        <p:nvSpPr>
          <p:cNvPr id="5" name="">
            <a:extLst xmlns:a="http://schemas.openxmlformats.org/drawingml/2006/main">
              <a:ext uri="{FF2B5EF4-FFF2-40B4-BE49-F238E27FC236}">
                <a16:creationId xmlns:a16="http://schemas.microsoft.com/office/drawing/2014/main" id="{AD0BB7D3-5AFC-49FB-94AD-73FD59653531}"/>
              </a:ext>
            </a:extLst>
          </p:cNvPr>
          <p:cNvSpPr>
            <a:spLocks xmlns:a="http://schemas.openxmlformats.org/drawingml/2006/main" noGrp="1"/>
          </p:cNvSpPr>
          <p:nvPr/>
        </p:nvSpPr>
        <p:spPr>
          <a:xfrm xmlns:a="http://schemas.openxmlformats.org/drawingml/2006/main">
            <a:off x="685800" y="4162425"/>
            <a:ext cx="10572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54A"/>
                </a:solidFill>
                <a:latin typeface="Aptos"/>
                <a:ea typeface="Aptos"/>
                <a:cs typeface="Aptos"/>
              </a:defRPr>
            </a:pPr>
            <a:r>
              <a:rPr sz="2250" b="1">
                <a:solidFill>
                  <a:srgbClr val="17354A"/>
                </a:solidFill>
                <a:latin typeface="Aptos"/>
                <a:ea typeface="Aptos"/>
                <a:cs typeface="Aptos"/>
              </a:rPr>
              <a:t>Begin the marketing plan card: term, accurate definition, meaningful image.</a:t>
            </a:r>
          </a:p>
        </p:txBody>
      </p:sp>
      <p:sp>
        <p:nvSpPr>
          <p:cNvPr id="6" name="">
            <a:extLst xmlns:a="http://schemas.openxmlformats.org/drawingml/2006/main">
              <a:ext uri="{FF2B5EF4-FFF2-40B4-BE49-F238E27FC236}">
                <a16:creationId xmlns:a16="http://schemas.microsoft.com/office/drawing/2014/main" id="{C8CCD5E6-AFA6-4BCF-B860-2C2E8FDEA204}"/>
              </a:ext>
            </a:extLst>
          </p:cNvPr>
          <p:cNvSpPr>
            <a:spLocks xmlns:a="http://schemas.openxmlformats.org/drawingml/2006/main" noGrp="1"/>
          </p:cNvSpPr>
          <p:nvPr/>
        </p:nvSpPr>
        <p:spPr>
          <a:xfrm xmlns:a="http://schemas.openxmlformats.org/drawingml/2006/main">
            <a:off x="685800" y="5715000"/>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E84"/>
                </a:solidFill>
                <a:latin typeface="Aptos"/>
                <a:ea typeface="Aptos"/>
                <a:cs typeface="Aptos"/>
              </a:defRPr>
            </a:pPr>
            <a:r>
              <a:rPr sz="1875" b="1">
                <a:solidFill>
                  <a:srgbClr val="167E84"/>
                </a:solidFill>
                <a:latin typeface="Aptos"/>
                <a:ea typeface="Aptos"/>
                <a:cs typeface="Aptos"/>
              </a:rPr>
              <a:t>Stop at today’s actual page and heading. We will continue in reading order.</a:t>
            </a:r>
          </a:p>
        </p:txBody>
      </p:sp>
    </p:spTree>
    <p:extLst>
      <p:ext uri="{BB962C8B-B14F-4D97-AF65-F5344CB8AC3E}">
        <p14:creationId xmlns:p14="http://schemas.microsoft.com/office/powerpoint/2010/main" val="2288262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2026-10-06T05:13:29.3380000Z</dcterms:created>
  <dcterms:modified xsi:type="dcterms:W3CDTF">2026-10-06T05:13:29.3380000Z</dcterms:modified>
</coreProperties>
</file>