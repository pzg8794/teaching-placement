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06c168135446cb" /><Relationship Type="http://schemas.openxmlformats.org/officeDocument/2006/relationships/extended-properties" Target="/docProps/app.xml" Id="R43a2abb0e6454de7" /><Relationship Type="http://schemas.openxmlformats.org/officeDocument/2006/relationships/officeDocument" Target="/ppt/presentation.xml" Id="R32536e4285fc4d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de8e3ac614cc1"/>
  </p:sldMasterIdLst>
  <p:notesMasterIdLst>
    <p:notesMasterId xmlns:r="http://schemas.openxmlformats.org/officeDocument/2006/relationships" r:id="Rba1b207513ae45d6"/>
  </p:notesMasterIdLst>
  <p:sldIdLst>
    <p:sldId xmlns:r="http://schemas.openxmlformats.org/officeDocument/2006/relationships" id="256" r:id="R87f83ee4eed84b47"/>
    <p:sldId xmlns:r="http://schemas.openxmlformats.org/officeDocument/2006/relationships" id="257" r:id="Rc9945bae55784802"/>
    <p:sldId xmlns:r="http://schemas.openxmlformats.org/officeDocument/2006/relationships" id="258" r:id="R340af534ea45482d"/>
    <p:sldId xmlns:r="http://schemas.openxmlformats.org/officeDocument/2006/relationships" id="259" r:id="R3a6673c06fca4fb2"/>
    <p:sldId xmlns:r="http://schemas.openxmlformats.org/officeDocument/2006/relationships" id="260" r:id="R0ffa14aa3abd4160"/>
    <p:sldId xmlns:r="http://schemas.openxmlformats.org/officeDocument/2006/relationships" id="261" r:id="R4315f597b97647a0"/>
    <p:sldId xmlns:r="http://schemas.openxmlformats.org/officeDocument/2006/relationships" id="262" r:id="R8f3465be4d204007"/>
    <p:sldId xmlns:r="http://schemas.openxmlformats.org/officeDocument/2006/relationships" id="263" r:id="Rab3577b977ae45c9"/>
    <p:sldId xmlns:r="http://schemas.openxmlformats.org/officeDocument/2006/relationships" id="264" r:id="R54278e9b241e4357"/>
    <p:sldId xmlns:r="http://schemas.openxmlformats.org/officeDocument/2006/relationships" id="265" r:id="Rd92862535edf46f6"/>
    <p:sldId xmlns:r="http://schemas.openxmlformats.org/officeDocument/2006/relationships" id="266" r:id="Rfb5de551a4ad41af"/>
    <p:sldId xmlns:r="http://schemas.openxmlformats.org/officeDocument/2006/relationships" id="267" r:id="R5e983b2235654b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c735cd14254b33" /><Relationship Type="http://schemas.openxmlformats.org/officeDocument/2006/relationships/slideMaster" Target="/ppt/slideMasters/slideMaster1.xml" Id="R86ede8e3ac614cc1" /><Relationship Type="http://schemas.openxmlformats.org/officeDocument/2006/relationships/notesMaster" Target="/ppt/notesMasters/notesMaster1.xml" Id="Rba1b207513ae45d6" /><Relationship Type="http://schemas.openxmlformats.org/officeDocument/2006/relationships/presProps" Target="/ppt/presProps.xml" Id="R8265748d30cc4828" /><Relationship Type="http://schemas.openxmlformats.org/officeDocument/2006/relationships/tableStyles" Target="/ppt/tableStyles.xml" Id="R65bae899cd7144ee" /><Relationship Type="http://schemas.openxmlformats.org/officeDocument/2006/relationships/slide" Target="/ppt/slides/slide1.xml" Id="R87f83ee4eed84b47" /><Relationship Type="http://schemas.openxmlformats.org/officeDocument/2006/relationships/slide" Target="/ppt/slides/slide2.xml" Id="Rc9945bae55784802" /><Relationship Type="http://schemas.openxmlformats.org/officeDocument/2006/relationships/slide" Target="/ppt/slides/slide3.xml" Id="R340af534ea45482d" /><Relationship Type="http://schemas.openxmlformats.org/officeDocument/2006/relationships/slide" Target="/ppt/slides/slide4.xml" Id="R3a6673c06fca4fb2" /><Relationship Type="http://schemas.openxmlformats.org/officeDocument/2006/relationships/slide" Target="/ppt/slides/slide5.xml" Id="R0ffa14aa3abd4160" /><Relationship Type="http://schemas.openxmlformats.org/officeDocument/2006/relationships/slide" Target="/ppt/slides/slide6.xml" Id="R4315f597b97647a0" /><Relationship Type="http://schemas.openxmlformats.org/officeDocument/2006/relationships/slide" Target="/ppt/slides/slide7.xml" Id="R8f3465be4d204007" /><Relationship Type="http://schemas.openxmlformats.org/officeDocument/2006/relationships/slide" Target="/ppt/slides/slide8.xml" Id="Rab3577b977ae45c9" /><Relationship Type="http://schemas.openxmlformats.org/officeDocument/2006/relationships/slide" Target="/ppt/slides/slide9.xml" Id="R54278e9b241e4357" /><Relationship Type="http://schemas.openxmlformats.org/officeDocument/2006/relationships/slide" Target="/ppt/slides/slide10.xml" Id="Rd92862535edf46f6" /><Relationship Type="http://schemas.openxmlformats.org/officeDocument/2006/relationships/slide" Target="/ppt/slides/slide11.xml" Id="Rfb5de551a4ad41af" /><Relationship Type="http://schemas.openxmlformats.org/officeDocument/2006/relationships/slide" Target="/ppt/slides/slide12.xml" Id="R5e983b2235654b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983005e00b47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99b69828274592" /><Relationship Type="http://schemas.openxmlformats.org/officeDocument/2006/relationships/notesMaster" Target="/ppt/notesMasters/notesMaster1.xml" Id="R3e83ee3eb6d94a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3e2487defc4f85" /><Relationship Type="http://schemas.openxmlformats.org/officeDocument/2006/relationships/notesMaster" Target="/ppt/notesMasters/notesMaster1.xml" Id="Rca013bd2a8d94d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332891a3184522" /><Relationship Type="http://schemas.openxmlformats.org/officeDocument/2006/relationships/notesMaster" Target="/ppt/notesMasters/notesMaster1.xml" Id="Rdd92a4f695dc40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2ebeebbeaf451f" /><Relationship Type="http://schemas.openxmlformats.org/officeDocument/2006/relationships/notesMaster" Target="/ppt/notesMasters/notesMaster1.xml" Id="R8fa0bcd5a10a45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b6bd19bdbf4624" /><Relationship Type="http://schemas.openxmlformats.org/officeDocument/2006/relationships/notesMaster" Target="/ppt/notesMasters/notesMaster1.xml" Id="Rfd2652760d3f41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879de1847e46b8" /><Relationship Type="http://schemas.openxmlformats.org/officeDocument/2006/relationships/notesMaster" Target="/ppt/notesMasters/notesMaster1.xml" Id="R27c8383f920140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91db7651d841ab" /><Relationship Type="http://schemas.openxmlformats.org/officeDocument/2006/relationships/notesMaster" Target="/ppt/notesMasters/notesMaster1.xml" Id="Recb2d934389944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e5d540ea934bdd" /><Relationship Type="http://schemas.openxmlformats.org/officeDocument/2006/relationships/notesMaster" Target="/ppt/notesMasters/notesMaster1.xml" Id="R02a3d404cd5a4a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d8f5ec47db4f06" /><Relationship Type="http://schemas.openxmlformats.org/officeDocument/2006/relationships/notesMaster" Target="/ppt/notesMasters/notesMaster1.xml" Id="R99630e04ca3a4b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600fa856694c29" /><Relationship Type="http://schemas.openxmlformats.org/officeDocument/2006/relationships/notesMaster" Target="/ppt/notesMasters/notesMaster1.xml" Id="Rc55c9c8d9c8b465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ecea580e324447" /><Relationship Type="http://schemas.openxmlformats.org/officeDocument/2006/relationships/notesMaster" Target="/ppt/notesMasters/notesMaster1.xml" Id="R4caaf179e0fa4a5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147be4f7a54d5c" /><Relationship Type="http://schemas.openxmlformats.org/officeDocument/2006/relationships/notesMaster" Target="/ppt/notesMasters/notesMaster1.xml" Id="R9858184dd22949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“Today you will use PEST to explain how outside changes affect a business you choose.”</a:t>
            </a:r>
          </a:p>
          <a:p xmlns:a="http://schemas.openxmlformats.org/drawingml/2006/main">
            <a:r>
              <a:t>DO: Display the agenda, distribute the sheet, and identify the target.</a:t>
            </a:r>
          </a:p>
          <a:p xmlns:a="http://schemas.openxmlformats.org/drawingml/2006/main">
            <a:r>
              <a:t>CHECK: Students know that PEST concerns external influences, not the four 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“We will complete one PEST section at a time. I will tell you when to move.”</a:t>
            </a:r>
          </a:p>
          <a:p xmlns:a="http://schemas.openxmlformats.org/drawingml/2006/main">
            <a:r>
              <a:t>DO: Keep the introduction within five minutes, including the short model.</a:t>
            </a:r>
          </a:p>
          <a:p xmlns:a="http://schemas.openxmlformats.org/drawingml/2006/main">
            <a:r>
              <a:t>NOTE: 3–5 + 2 + 12 + 5 =22–24, leaving6–8minutes. If discussion runs longer, reduce buffer rather than claiming work finished.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“A 3 shows complete, accurate application. A 4 explains a deeper decision and why it makes sense. More words alone do not earn a 4.”</a:t>
            </a:r>
          </a:p>
          <a:p xmlns:a="http://schemas.openxmlformats.org/drawingml/2006/main">
            <a:r>
              <a:t>CHECK WITH PAT: Confirm these descriptors and whether this is formative or graded before announcing them as final. No automatic averaging, bonuses, or conversion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“Use business terms and explain because. A list of words does not yet show why a business is affected.”</a:t>
            </a:r>
          </a:p>
          <a:p xmlns:a="http://schemas.openxmlformats.org/drawingml/2006/main">
            <a:r>
              <a:t>DO: Read directions aloud and accept a spoken rehearsal before writing.</a:t>
            </a:r>
          </a:p>
          <a:p xmlns:a="http://schemas.openxmlformats.org/drawingml/2006/main">
            <a:r>
              <a:t>ASSESS: Understanding, not spelling, handwriting, accent, speed, or decorative work. Access support alone never reduces a level. Insufficient evidence is separate from level1; confirm IE and overall-score handling with Pat.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same external change can create an opportunity and a cost. Your example must explain why.”</a:t>
            </a:r>
          </a:p>
          <a:p xmlns:a="http://schemas.openxmlformats.org/drawingml/2006/main">
            <a:r>
              <a:t>DO: Model only this one factor, then let students apply the other categories.</a:t>
            </a:r>
          </a:p>
          <a:p xmlns:a="http://schemas.openxmlformats.org/drawingml/2006/main">
            <a:r>
              <a:t>RESPONSE: The shop could train staff and plan for compliance costs. This is an internal response to an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“Choose a business you understand and name its target market. Who buys from it, and what do they want?”</a:t>
            </a:r>
          </a:p>
          <a:p xmlns:a="http://schemas.openxmlformats.org/drawingml/2006/main">
            <a:r>
              <a:t>DO: Start2min timer. If stuck, offer a familiar business category such as a cafe, shoe shop, or digital-book service.</a:t>
            </a:r>
          </a:p>
          <a:p xmlns:a="http://schemas.openxmlformats.org/drawingml/2006/main">
            <a:r>
              <a:t>CHECK: Business and target market both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rule or policy could affect this business? Give a connected example and explain both possible impacts.”</a:t>
            </a:r>
          </a:p>
          <a:p xmlns:a="http://schemas.openxmlformats.org/drawingml/2006/main">
            <a:r>
              <a:t>DO: Read the category cue, start3min,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economic change could affect costs or demand? Give a connected example and explain both possible impacts.”</a:t>
            </a:r>
          </a:p>
          <a:p xmlns:a="http://schemas.openxmlformats.org/drawingml/2006/main">
            <a:r>
              <a:t>DO: Read the category cue, start3min,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 in the customers or community could affect demand? Give a connected example and explain both possible impacts.”</a:t>
            </a:r>
          </a:p>
          <a:p xmlns:a="http://schemas.openxmlformats.org/drawingml/2006/main">
            <a:r>
              <a:t>DO: Read the category cue, start3min,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technology change could affect access, service, or competition? Give a connected example and explain both possible impacts.”</a:t>
            </a:r>
          </a:p>
          <a:p xmlns:a="http://schemas.openxmlformats.org/drawingml/2006/main">
            <a:r>
              <a:t>DO: Read the category cue, start3min,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“Connect the analysis to a business decision. Which opportunity would you use? Which risk would you address? Why?”</a:t>
            </a:r>
          </a:p>
          <a:p xmlns:a="http://schemas.openxmlformats.org/drawingml/2006/main">
            <a:r>
              <a:t>DO: Invite2–4complete sentences as a planning guide, not a scored word count. Students may orally rehearse first.</a:t>
            </a:r>
          </a:p>
          <a:p xmlns:a="http://schemas.openxmlformats.org/drawingml/2006/main">
            <a:r>
              <a:t>CHECK: Responses follow from their own factors, not generic advice.</a:t>
            </a:r>
          </a:p>
          <a:p xmlns:a="http://schemas.openxmlformats.org/drawingml/2006/main">
            <a:r>
              <a:t>EXTEND: Compare priorities or two interacting factors and justify a trade-off.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“Check each section. Circle a place where you explained why. Use remaining time to practise the approved Terms to Know.”</a:t>
            </a:r>
          </a:p>
          <a:p xmlns:a="http://schemas.openxmlformats.org/drawingml/2006/main">
            <a:r>
              <a:t>DO: Record separate Block1 and Block5 stops.</a:t>
            </a:r>
          </a:p>
          <a:p xmlns:a="http://schemas.openxmlformats.org/drawingml/2006/main">
            <a:r>
              <a:t>OPEN: Confirm quiz scope, collection route, individual/pair arrangement, and grading with Pat. Do not invent a deadline.</a:t>
            </a:r>
          </a:p>
          <a:p xmlns:a="http://schemas.openxmlformats.org/drawingml/2006/main">
            <a:r>
              <a:t>RECORD: Block1 stop/support needed __ ; Block5 stop/support needed 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d10d0a63d447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572928b2b4d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ccc68a09e644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9bcbed9b6f41c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da750834144ab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bd0ba88e4f4e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A928B0-5662-437C-B1A9-9FBC2DABDA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5BE5248-3B68-4283-9A0B-F42635819BA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03AE8C6-775A-442F-B32E-4BD8BE752F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A37C734-C59D-45F0-AD0B-8DEB055085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F3CFD9-47F0-4162-97A6-81DEECEE07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FE6C24F-EAF7-41ED-8845-B61CE5F376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FCE65AE-649F-4EEB-B93A-A413A838F8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0305715-3D58-4878-BFA4-BA1AF6FF9C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604754-C656-4B63-AE67-D25DCD0A1C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FF040D6-4791-4C32-AC18-61CD6ECABD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67c2287f6d44e9" /><Relationship Type="http://schemas.openxmlformats.org/officeDocument/2006/relationships/slideLayout" Target="/ppt/slideLayouts/slideLayout1.xml" Id="Rb1e0fec742c74c63" /><Relationship Type="http://schemas.openxmlformats.org/officeDocument/2006/relationships/slideLayout" Target="/ppt/slideLayouts/slideLayout2.xml" Id="R7c93692136d04bc3" /><Relationship Type="http://schemas.openxmlformats.org/officeDocument/2006/relationships/slideLayout" Target="/ppt/slideLayouts/slideLayout3.xml" Id="R05c209a426014c8c" /><Relationship Type="http://schemas.openxmlformats.org/officeDocument/2006/relationships/slideLayout" Target="/ppt/slideLayouts/slideLayout4.xml" Id="R063f60df7f7d4f38" /><Relationship Type="http://schemas.openxmlformats.org/officeDocument/2006/relationships/slideLayout" Target="/ppt/slideLayouts/slideLayout5.xml" Id="R942540f2d6864264" /><Relationship Type="http://schemas.openxmlformats.org/officeDocument/2006/relationships/slideLayout" Target="/ppt/slideLayouts/slideLayout6.xml" Id="R47d87987a7384e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e0fec742c74c63"/>
    <p:sldLayoutId xmlns:r="http://schemas.openxmlformats.org/officeDocument/2006/relationships" id="2147483650" r:id="R7c93692136d04bc3"/>
    <p:sldLayoutId xmlns:r="http://schemas.openxmlformats.org/officeDocument/2006/relationships" id="2147483651" r:id="R05c209a426014c8c"/>
    <p:sldLayoutId xmlns:r="http://schemas.openxmlformats.org/officeDocument/2006/relationships" id="2147483652" r:id="R063f60df7f7d4f38"/>
    <p:sldLayoutId xmlns:r="http://schemas.openxmlformats.org/officeDocument/2006/relationships" id="2147483653" r:id="R942540f2d6864264"/>
    <p:sldLayoutId xmlns:r="http://schemas.openxmlformats.org/officeDocument/2006/relationships" id="2147483654" r:id="R47d87987a7384e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f8660a54341e0" /><Relationship Type="http://schemas.openxmlformats.org/officeDocument/2006/relationships/notesSlide" Target="/ppt/notesSlides/notesSlide1.xml" Id="R9e71f34b0e9843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1747029e974782" /><Relationship Type="http://schemas.openxmlformats.org/officeDocument/2006/relationships/notesSlide" Target="/ppt/notesSlides/notesSlide2.xml" Id="R11a31a17d31b49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404acb1ab24065" /><Relationship Type="http://schemas.openxmlformats.org/officeDocument/2006/relationships/notesSlide" Target="/ppt/notesSlides/notesSlide3.xml" Id="R8f7441b6ea8442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416ecfceee454c" /><Relationship Type="http://schemas.openxmlformats.org/officeDocument/2006/relationships/notesSlide" Target="/ppt/notesSlides/notesSlide4.xml" Id="R4d79f675540745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e64155338444f6" /><Relationship Type="http://schemas.openxmlformats.org/officeDocument/2006/relationships/notesSlide" Target="/ppt/notesSlides/notesSlide5.xml" Id="R0ab7a5088cf24f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bfa351f5b04458" /><Relationship Type="http://schemas.openxmlformats.org/officeDocument/2006/relationships/notesSlide" Target="/ppt/notesSlides/notesSlide6.xml" Id="R26c63f262daa48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857093e75d4ff6" /><Relationship Type="http://schemas.openxmlformats.org/officeDocument/2006/relationships/notesSlide" Target="/ppt/notesSlides/notesSlide7.xml" Id="R604de0fb986d44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80a8b92b954dde" /><Relationship Type="http://schemas.openxmlformats.org/officeDocument/2006/relationships/notesSlide" Target="/ppt/notesSlides/notesSlide8.xml" Id="R6979a4d1b6d445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7ee9391c94481a" /><Relationship Type="http://schemas.openxmlformats.org/officeDocument/2006/relationships/notesSlide" Target="/ppt/notesSlides/notesSlide9.xml" Id="R0bed4d2c8f3448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729d2e58f94281" /><Relationship Type="http://schemas.openxmlformats.org/officeDocument/2006/relationships/notesSlide" Target="/ppt/notesSlides/notesSlide10.xml" Id="R5acf6a7c0a6c4d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57a0e978524b18" /><Relationship Type="http://schemas.openxmlformats.org/officeDocument/2006/relationships/notesSlide" Target="/ppt/notesSlides/notesSlide11.xml" Id="R76de87b57dd644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7e303e9bfe4b5d" /><Relationship Type="http://schemas.openxmlformats.org/officeDocument/2006/relationships/notesSlide" Target="/ppt/notesSlides/notesSlide12.xml" Id="Rf2c00d1621f24b6a" /></Relationships>
</file>

<file path=ppt/slides/slide1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4CB9E989-A205-46C6-B3D8-7B6EDC100644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PEST analysis for your business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2EC03EB6-3B24-48C0-A2DA-CDF04002F5C0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30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6253066E-AE0A-4B31-86E9-F411A911505A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“Today you will use PEST to explain how outside changes affect a business you choose.”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Display the agenda, distribute the sheet, and identify the target.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Students know that PEST concerns external influences, not the four Ps.</ns1:t>
            </ns1:r>
          </ns1:p>
        </p:txBody>
      </p:sp>
    </p:spTree>
    <p:extLst>
      <p:ext uri="{BB962C8B-B14F-4D97-AF65-F5344CB8AC3E}">
        <ns3:creationId val="982108429"/>
      </p:ext>
    </p:extLst>
  </p:cSld>
  <p:transition spd="fast" advClick="1">
    <p:fade/>
  </p:transition>
</p:sld>
</file>

<file path=ppt/slides/slide2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12D8806A-8CAB-4EC0-ACD7-D4A95B5EF674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Activity sequence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C898A902-B651-4CD0-BD14-FBF7C16767D8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A 30-minute planning window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68445173-415D-4DF3-91AC-E08EA15BB30F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“We will complete one PEST section at a time. I will tell you when to move.”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Keep the introduction within five minutes, including the short model.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NOTE: 3–5 + 2 + 12 + 5 =22–24, leaving6–8minutes. If discussion runs longer, reduce buffer rather than claiming work finished.</ns1:t>
            </ns1:r>
          </ns1:p>
        </p:txBody>
      </p:sp>
    </p:spTree>
    <p:extLst>
      <p:ext uri="{BB962C8B-B14F-4D97-AF65-F5344CB8AC3E}">
        <ns3:creationId val="939860472"/>
      </p:ext>
    </p:extLst>
  </p:cSld>
  <p:transition spd="fast" advClick="1">
    <p:fade/>
  </p:transition>
</p:sld>
</file>

<file path=ppt/slides/slide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5C503928-CBDD-444C-9B4A-BA510CCB95F4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Proficiency and deeper reasoning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4406D686-F89A-4700-90C9-EC29FE7E7D11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Proposed grading for SBTE review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B029B579-DF2F-422D-8258-7318F9054554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“A 3 shows complete, accurate application. A 4 explains a deeper decision and why it makes sense. More words alone do not earn a 4.”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 WITH PAT: Confirm these descriptors and whether this is formative or graded before announcing them as final. No automatic averaging, bonuses, or conversion rules.</ns1:t>
            </ns1:r>
          </ns1:p>
        </p:txBody>
      </p:sp>
    </p:spTree>
    <p:extLst>
      <p:ext uri="{BB962C8B-B14F-4D97-AF65-F5344CB8AC3E}">
        <ns3:creationId val="815949101"/>
      </p:ext>
    </p:extLst>
  </p:cSld>
  <p:transition spd="fast" advClick="1">
    <p:fade/>
  </p:transition>
</p:sld>
</file>

<file path=ppt/slides/slide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11BF5614-C98D-44D5-80E3-DDCD28D72FBC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Developing understanding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E35585A-1408-42EF-AD18-57CE9710E30B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Explain the impact, not just a keyword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8FC698DA-A8F6-4F3C-8EB5-3DDA8AC2B32A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“Use business terms and explain because. A list of words does not yet show why a business is affected.”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Read directions aloud and accept a spoken rehearsal before writing.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ASSESS: Understanding, not spelling, handwriting, accent, speed, or decorative work. Access support alone never reduces a level. Insufficient evidence is separate from level1; confirm IE and overall-score handling with Pat.</ns1:t>
            </ns1:r>
          </ns1:p>
        </p:txBody>
      </p:sp>
    </p:spTree>
    <p:extLst>
      <p:ext uri="{BB962C8B-B14F-4D97-AF65-F5344CB8AC3E}">
        <ns3:creationId val="868116085"/>
      </p:ext>
    </p:extLst>
  </p:cSld>
  <p:transition spd="fast" advClick="1">
    <p:fade/>
  </p:transition>
</p:sld>
</file>

<file path=ppt/slides/slide5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3DD2DA97-07B9-4822-8692-FE5B6D06AC2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7C183440-0C86-4174-A66D-97DCE3EEFDCD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Second reveal: negative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CEA72448-4DC6-409E-8ED0-3CF8450400E8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“The same external change can create an opportunity and a cost. Your example must explain why.”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Model only this one factor, then let students apply the other categories.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RESPONSE: The shop could train staff and plan for compliance costs. This is an internal response to an external factor.</ns1:t>
            </ns1:r>
          </ns1:p>
        </p:txBody>
      </p:sp>
    </p:spTree>
    <p:extLst>
      <p:ext uri="{BB962C8B-B14F-4D97-AF65-F5344CB8AC3E}">
        <ns3:creationId val="223788572"/>
      </p:ext>
    </p:extLst>
  </p:cSld>
  <p:transition spd="fast" advClick="1">
    <p:fade/>
  </p:transition>
</p:sld>
</file>

<file path=ppt/slides/slide6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4A1F5F9-B39E-4A1C-9977-79CAE752DA91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C0214086-72B7-41DC-B6DB-BF3635EEDA73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2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D7001BE1-66E7-4066-9682-70305FDB9808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“Choose a business you understand and name its target market. Who buys from it, and what do they want?”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Start2min timer. If stuck, offer a familiar business category such as a cafe, shoe shop, or digital-book service.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Business and target market both recorded.</ns1:t>
            </ns1:r>
          </ns1:p>
        </p:txBody>
      </p:sp>
    </p:spTree>
    <p:extLst>
      <p:ext uri="{BB962C8B-B14F-4D97-AF65-F5344CB8AC3E}">
        <ns3:creationId val="2136526210"/>
      </p:ext>
    </p:extLst>
  </p:cSld>
  <p:transition spd="fast" advClick="1">
    <p:fade/>
  </p:transition>
</p:sld>
</file>

<file path=ppt/slides/slide7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B80A2D99-B9A7-426F-BC78-63BEE0A53E5D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  Political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32E730AA-3F7A-4662-9C92-163897914874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98CAEFF4-B730-4727-BD8D-A2313B8C284C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outside rule or policy could affect this business?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Read the category cue, start3min, stand at a deliberate scan point.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LISTEN FOR: External factor, category fit, effect on this business or target market, because reasoning.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WEAK: Ask “What changed outside the business? What happens to costs, customers, or access?” Model a question, not their answer.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STRONG: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Do not classify the business’s own ad, discount, or new app decision as the external factor.</ns1:t>
            </ns1:r>
          </ns1:p>
        </p:txBody>
      </p:sp>
    </p:spTree>
    <p:extLst>
      <p:ext uri="{BB962C8B-B14F-4D97-AF65-F5344CB8AC3E}">
        <ns3:creationId val="617399469"/>
      </p:ext>
    </p:extLst>
  </p:cSld>
  <p:transition spd="fast" advClick="1">
    <p:fade/>
  </p:transition>
</p:sld>
</file>

<file path=ppt/slides/slide8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55A99DC6-057C-4394-B227-A1FB4054710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  Economic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8FB69E48-6D01-41AD-BC83-FDD95C75BBBE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0B93DBE3-4A57-4A8C-A2EE-6E5E7AC4D211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outside economic change could affect costs or demand?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Read the category cue, start3min, stand at a deliberate scan point.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LISTEN FOR: External factor, category fit, effect on this business or target market, because reasoning.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WEAK: Ask “What changed outside the business? What happens to costs, customers, or access?” Model a question, not their answer.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STRONG: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Do not classify the business’s own ad, discount, or new app decision as the external factor.</ns1:t>
            </ns1:r>
          </ns1:p>
        </p:txBody>
      </p:sp>
    </p:spTree>
    <p:extLst>
      <p:ext uri="{BB962C8B-B14F-4D97-AF65-F5344CB8AC3E}">
        <ns3:creationId val="85885885"/>
      </p:ext>
    </p:extLst>
  </p:cSld>
  <p:transition spd="fast" advClick="1">
    <p:fade/>
  </p:transition>
</p:sld>
</file>

<file path=ppt/slides/slide9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58DC4845-349B-4FDA-A872-45337919A427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rPr>
              <ns1:t>S  Social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931B58D6-A332-4305-9F73-4F405819873D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A43D4E55-FB9D-4286-8857-9E5A51C8E378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change in the customers or community could affect demand?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Read the category cue, start3min, stand at a deliberate scan point.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LISTEN FOR: External factor, category fit, effect on this business or target market, because reasoning.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WEAK: Ask “What changed outside the business? What happens to costs, customers, or access?” Model a question, not their answer.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STRONG: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Do not classify the business’s own ad, discount, or new app decision as the external factor.</ns1:t>
            </ns1:r>
          </ns1:p>
        </p:txBody>
      </p:sp>
    </p:spTree>
    <p:extLst>
      <p:ext uri="{BB962C8B-B14F-4D97-AF65-F5344CB8AC3E}">
        <ns3:creationId val="1154863305"/>
      </p:ext>
    </p:extLst>
  </p:cSld>
  <p:transition spd="fast" advClick="1">
    <p:fade/>
  </p:transition>
</p:sld>
</file>

<file path=ppt/slides/slide10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89E1B7A0-767C-401E-95A0-30EA5A8CD0F0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rPr>
              <ns1:t>T  Technological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8699B88-5350-4EBC-BD58-CB3C0113552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23B369D9-F648-40E1-8701-6E28F9515529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outside technology change could affect access, service, or competition?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Read the category cue, start3min, stand at a deliberate scan point.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LISTEN FOR: External factor, category fit, effect on this business or target market, because reasoning.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WEAK: Ask “What changed outside the business? What happens to costs, customers, or access?” Model a question, not their answer.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IF STRONG: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Do not classify the business’s own ad, discount, or new app decision as the external factor.</ns1:t>
            </ns1:r>
          </ns1:p>
        </p:txBody>
      </p:sp>
    </p:spTree>
    <p:extLst>
      <p:ext uri="{BB962C8B-B14F-4D97-AF65-F5344CB8AC3E}">
        <ns3:creationId val="1332693276"/>
      </p:ext>
    </p:extLst>
  </p:cSld>
  <p:transition spd="fast" advClick="1">
    <p:fade/>
  </p:transition>
</p:sld>
</file>

<file path=ppt/slides/slide11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214F0D9C-0B6C-4FC5-B728-B26F75CB876A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710A73B4-48DF-4AB1-ACAD-C089F4876CED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5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A5E94556-3F8A-4170-964D-1B3743E382B8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“Connect the analysis to a business decision. Which opportunity would you use? Which risk would you address? Why?”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Invite2–4complete sentences as a planning guide, not a scored word count. Students may orally rehearse first.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Responses follow from their own factors, not generic advice.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EXTEND: Compare priorities or two interacting factors and justify a trade-off.</ns1:t>
            </ns1:r>
          </ns1:p>
        </p:txBody>
      </p:sp>
    </p:spTree>
    <p:extLst>
      <p:ext uri="{BB962C8B-B14F-4D97-AF65-F5344CB8AC3E}">
        <ns3:creationId val="2059742946"/>
      </p:ext>
    </p:extLst>
  </p:cSld>
  <p:transition spd="fast" advClick="1">
    <p:fade/>
  </p:transition>
</p:sld>
</file>

<file path=ppt/slides/slide12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E02B1244-2DC7-44F6-B291-309AD307F0A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Completion check and Terms to Know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7761FE40-C7C0-416C-83BB-08ACA015C509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Remaining 6–8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0CA93929-2F60-4642-BFA1-03C1B2A754E3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“Check each section. Circle a place where you explained why. Use remaining time to practise the approved Terms to Know.”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Record separate Block1 and Block5 stops.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OPEN: Confirm quiz scope, collection route, individual/pair arrangement, and grading with Pat. Do not invent a deadline.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RECORD: Block1 stop/support needed __ ; Block5 stop/support needed __.</ns1:t>
            </ns1:r>
          </ns1:p>
        </p:txBody>
      </p:sp>
    </p:spTree>
    <p:extLst>
      <p:ext uri="{BB962C8B-B14F-4D97-AF65-F5344CB8AC3E}">
        <ns3:creationId val="1954053506"/>
      </p:ext>
    </p:extLst>
  </p:cSld>
  <p:transition spd="fast" advClick="1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2026-10-13T13:22:06.5370000Z</dcterms:created>
  <dcterms:modified xsi:type="dcterms:W3CDTF">2026-10-13T13:22:06.5370000Z</dcterms:modified>
</coreProperties>
</file>