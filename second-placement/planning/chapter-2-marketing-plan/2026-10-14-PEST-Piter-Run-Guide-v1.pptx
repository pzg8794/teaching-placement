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a9232006d84cb7" /><Relationship Type="http://schemas.openxmlformats.org/officeDocument/2006/relationships/extended-properties" Target="/docProps/app.xml" Id="R6687ca17f0374901" /><Relationship Type="http://schemas.openxmlformats.org/officeDocument/2006/relationships/officeDocument" Target="/ppt/presentation.xml" Id="R5404513f53ad47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7ac0934b0a4214"/>
  </p:sldMasterIdLst>
  <p:notesMasterIdLst>
    <p:notesMasterId xmlns:r="http://schemas.openxmlformats.org/officeDocument/2006/relationships" r:id="R111d23d360ce4bcb"/>
  </p:notesMasterIdLst>
  <p:sldIdLst>
    <p:sldId xmlns:r="http://schemas.openxmlformats.org/officeDocument/2006/relationships" id="256" r:id="R0a5ce51e492940af"/>
    <p:sldId xmlns:r="http://schemas.openxmlformats.org/officeDocument/2006/relationships" id="257" r:id="R518dc50481b944ee"/>
    <p:sldId xmlns:r="http://schemas.openxmlformats.org/officeDocument/2006/relationships" id="258" r:id="R171fca5b73c84fb7"/>
    <p:sldId xmlns:r="http://schemas.openxmlformats.org/officeDocument/2006/relationships" id="259" r:id="R8672a1feb3bb4619"/>
    <p:sldId xmlns:r="http://schemas.openxmlformats.org/officeDocument/2006/relationships" id="260" r:id="R6ab2166ad6984b88"/>
    <p:sldId xmlns:r="http://schemas.openxmlformats.org/officeDocument/2006/relationships" id="261" r:id="Ra971b682859c4059"/>
    <p:sldId xmlns:r="http://schemas.openxmlformats.org/officeDocument/2006/relationships" id="262" r:id="R7780be5539f145ff"/>
    <p:sldId xmlns:r="http://schemas.openxmlformats.org/officeDocument/2006/relationships" id="263" r:id="Rdf29ce8ea6f7465a"/>
    <p:sldId xmlns:r="http://schemas.openxmlformats.org/officeDocument/2006/relationships" id="264" r:id="Re2b8ac2c87484bc1"/>
    <p:sldId xmlns:r="http://schemas.openxmlformats.org/officeDocument/2006/relationships" id="265" r:id="R152d58a92ff74013"/>
    <p:sldId xmlns:r="http://schemas.openxmlformats.org/officeDocument/2006/relationships" id="266" r:id="R71cb09afc28b43e9"/>
    <p:sldId xmlns:r="http://schemas.openxmlformats.org/officeDocument/2006/relationships" id="267" r:id="Rfd034a69f9634f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23a75689844332" /><Relationship Type="http://schemas.openxmlformats.org/officeDocument/2006/relationships/slideMaster" Target="/ppt/slideMasters/slideMaster1.xml" Id="Raf7ac0934b0a4214" /><Relationship Type="http://schemas.openxmlformats.org/officeDocument/2006/relationships/notesMaster" Target="/ppt/notesMasters/notesMaster1.xml" Id="R111d23d360ce4bcb" /><Relationship Type="http://schemas.openxmlformats.org/officeDocument/2006/relationships/presProps" Target="/ppt/presProps.xml" Id="R6ade85b644d74156" /><Relationship Type="http://schemas.openxmlformats.org/officeDocument/2006/relationships/tableStyles" Target="/ppt/tableStyles.xml" Id="R06c8cd28953644cd" /><Relationship Type="http://schemas.openxmlformats.org/officeDocument/2006/relationships/slide" Target="/ppt/slides/slide1.xml" Id="R0a5ce51e492940af" /><Relationship Type="http://schemas.openxmlformats.org/officeDocument/2006/relationships/slide" Target="/ppt/slides/slide2.xml" Id="R518dc50481b944ee" /><Relationship Type="http://schemas.openxmlformats.org/officeDocument/2006/relationships/slide" Target="/ppt/slides/slide3.xml" Id="R171fca5b73c84fb7" /><Relationship Type="http://schemas.openxmlformats.org/officeDocument/2006/relationships/slide" Target="/ppt/slides/slide4.xml" Id="R8672a1feb3bb4619" /><Relationship Type="http://schemas.openxmlformats.org/officeDocument/2006/relationships/slide" Target="/ppt/slides/slide5.xml" Id="R6ab2166ad6984b88" /><Relationship Type="http://schemas.openxmlformats.org/officeDocument/2006/relationships/slide" Target="/ppt/slides/slide6.xml" Id="Ra971b682859c4059" /><Relationship Type="http://schemas.openxmlformats.org/officeDocument/2006/relationships/slide" Target="/ppt/slides/slide7.xml" Id="R7780be5539f145ff" /><Relationship Type="http://schemas.openxmlformats.org/officeDocument/2006/relationships/slide" Target="/ppt/slides/slide8.xml" Id="Rdf29ce8ea6f7465a" /><Relationship Type="http://schemas.openxmlformats.org/officeDocument/2006/relationships/slide" Target="/ppt/slides/slide9.xml" Id="Re2b8ac2c87484bc1" /><Relationship Type="http://schemas.openxmlformats.org/officeDocument/2006/relationships/slide" Target="/ppt/slides/slide10.xml" Id="R152d58a92ff74013" /><Relationship Type="http://schemas.openxmlformats.org/officeDocument/2006/relationships/slide" Target="/ppt/slides/slide11.xml" Id="R71cb09afc28b43e9" /><Relationship Type="http://schemas.openxmlformats.org/officeDocument/2006/relationships/slide" Target="/ppt/slides/slide12.xml" Id="Rfd034a69f9634f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b6773df51d4b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6037373b674746" /><Relationship Type="http://schemas.openxmlformats.org/officeDocument/2006/relationships/notesMaster" Target="/ppt/notesMasters/notesMaster1.xml" Id="R523fb651572d41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4788a1d51a447c" /><Relationship Type="http://schemas.openxmlformats.org/officeDocument/2006/relationships/notesMaster" Target="/ppt/notesMasters/notesMaster1.xml" Id="Ra53e583552b84b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9b9ead431641b4" /><Relationship Type="http://schemas.openxmlformats.org/officeDocument/2006/relationships/notesMaster" Target="/ppt/notesMasters/notesMaster1.xml" Id="R4fcdf322eb994d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237cc15bdb46b1" /><Relationship Type="http://schemas.openxmlformats.org/officeDocument/2006/relationships/notesMaster" Target="/ppt/notesMasters/notesMaster1.xml" Id="R689ad749f0384c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4fdae7fff24e0d" /><Relationship Type="http://schemas.openxmlformats.org/officeDocument/2006/relationships/notesMaster" Target="/ppt/notesMasters/notesMaster1.xml" Id="Rdfe9a711c8ff45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dd5761deb94943" /><Relationship Type="http://schemas.openxmlformats.org/officeDocument/2006/relationships/notesMaster" Target="/ppt/notesMasters/notesMaster1.xml" Id="R354a5dfabde246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0cce7de3e44bd5" /><Relationship Type="http://schemas.openxmlformats.org/officeDocument/2006/relationships/notesMaster" Target="/ppt/notesMasters/notesMaster1.xml" Id="R44d3134b9bba4f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1fea5e04094f3f" /><Relationship Type="http://schemas.openxmlformats.org/officeDocument/2006/relationships/notesMaster" Target="/ppt/notesMasters/notesMaster1.xml" Id="R60a1f2f8f05244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0b8f6f6bc145dc" /><Relationship Type="http://schemas.openxmlformats.org/officeDocument/2006/relationships/notesMaster" Target="/ppt/notesMasters/notesMaster1.xml" Id="R4dd4b60ce42142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7b9d742c55497c" /><Relationship Type="http://schemas.openxmlformats.org/officeDocument/2006/relationships/notesMaster" Target="/ppt/notesMasters/notesMaster1.xml" Id="R90827281914549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a61bd658344b53" /><Relationship Type="http://schemas.openxmlformats.org/officeDocument/2006/relationships/notesMaster" Target="/ppt/notesMasters/notesMaster1.xml" Id="Re635983d5e0b40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d3ca3f1b5e430c" /><Relationship Type="http://schemas.openxmlformats.org/officeDocument/2006/relationships/notesMaster" Target="/ppt/notesMasters/notesMaster1.xml" Id="R42aaaafa971943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“Today you will use PEST to explain how outside changes affect a business you choose.”</a:t>
            </a:r>
          </a:p>
          <a:p xmlns:a="http://schemas.openxmlformats.org/drawingml/2006/main">
            <a:r>
              <a:t>DO: Display the agenda, distribute the sheet, and identify the target.</a:t>
            </a:r>
          </a:p>
          <a:p xmlns:a="http://schemas.openxmlformats.org/drawingml/2006/main">
            <a:r>
              <a:t>CHECK: Students know that PEST concerns external influences, not the four 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“We will complete one PEST section at a time. I will tell you when to move.”</a:t>
            </a:r>
          </a:p>
          <a:p xmlns:a="http://schemas.openxmlformats.org/drawingml/2006/main">
            <a:r>
              <a:t>DO: Keep the introduction within five minutes, including the short model.</a:t>
            </a:r>
          </a:p>
          <a:p xmlns:a="http://schemas.openxmlformats.org/drawingml/2006/main">
            <a:r>
              <a:t>NOTE: 3–5 + 2 + 12 + 5 =22–24, leaving 6–8 minutes. If discussion runs longer, reduce buffer rather than claiming work finished.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“A 3 shows complete, accurate application. A 4 explains a deeper decision and why it makes sense. More words alone do not earn a 4.”</a:t>
            </a:r>
          </a:p>
          <a:p xmlns:a="http://schemas.openxmlformats.org/drawingml/2006/main">
            <a:r>
              <a:t>CHECK WITH PAT: Confirm these descriptors and whether this is formative or graded before announcing them as final. No automatic averaging, bonuses, or conversion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“Use business terms and explain because. A list of words does not yet show why a business is affected.”</a:t>
            </a:r>
          </a:p>
          <a:p xmlns:a="http://schemas.openxmlformats.org/drawingml/2006/main">
            <a:r>
              <a:t>DO: Read directions aloud and accept a spoken rehearsal before writing.</a:t>
            </a:r>
          </a:p>
          <a:p xmlns:a="http://schemas.openxmlformats.org/drawingml/2006/main">
            <a:r>
              <a:t>ASSESS: Understanding, not spelling, handwriting, accent, speed, or decorative work. Access support alone never reduces a level. Insufficient evidence is separate from level 1; confirm IE and overall-score handling with Pat.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“The same external change can create an opportunity and a cost. Your example must explain why.”</a:t>
            </a:r>
          </a:p>
          <a:p xmlns:a="http://schemas.openxmlformats.org/drawingml/2006/main">
            <a:r>
              <a:t>DO: Model only this one factor, then let students apply the other categories.</a:t>
            </a:r>
          </a:p>
          <a:p xmlns:a="http://schemas.openxmlformats.org/drawingml/2006/main">
            <a:r>
              <a:t>RESPONSE: The shop could train staff and plan for compliance costs. This is an internal response to an external factor.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“Choose a business you understand and name its target market. Who buys from it, and what do they want?”</a:t>
            </a:r>
          </a:p>
          <a:p xmlns:a="http://schemas.openxmlformats.org/drawingml/2006/main">
            <a:r>
              <a:t>DO: Start a 2-minute timer. If stuck, offer a familiar business category such as a cafe, shoe shop, or digital-book service.</a:t>
            </a:r>
          </a:p>
          <a:p xmlns:a="http://schemas.openxmlformats.org/drawingml/2006/main">
            <a:r>
              <a:t>CHECK: Business and target market both recorded.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“What outside rule or policy could affect this business? Give a connected example and explain both possible impacts.”</a:t>
            </a:r>
          </a:p>
          <a:p xmlns:a="http://schemas.openxmlformats.org/drawingml/2006/main">
            <a:r>
              <a:t>DO: Read the category cue, start a 3-minute timer, stand at a deliberate scan point.</a:t>
            </a:r>
          </a:p>
          <a:p xmlns:a="http://schemas.openxmlformats.org/drawingml/2006/main">
            <a:r>
              <a:t>LISTEN FOR: External factor, category fit, effect on this business or target market, because reasoning.</a:t>
            </a:r>
          </a:p>
          <a:p xmlns:a="http://schemas.openxmlformats.org/drawingml/2006/main">
            <a:r>
              <a:t>IF WEAK: Ask “What changed outside the business? What happens to costs, customers, or access?” Model a question, not their answer.</a:t>
            </a:r>
          </a:p>
          <a:p xmlns:a="http://schemas.openxmlformats.org/drawingml/2006/main">
            <a:r>
              <a:t>IF STRONG: Ask which impact matters most and why.</a:t>
            </a:r>
          </a:p>
          <a:p xmlns:a="http://schemas.openxmlformats.org/drawingml/2006/main">
            <a:r>
              <a:t>CHECK: Do not classify the business’s own ad, discount, or new app decision as the external factor.</a:t>
            </a:r>
          </a:p>
          <a:p xmlns:a="http://schemas.openxmlformats.org/drawingml/2006/main">
            <a:r>
              <a:t>PAIR MOVE: Give each partner a brief turn to explain an impact before recording the shared answer. Rotate roles at the next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“What outside economic change could affect costs or demand? Give a connected example and explain both possible impacts.”</a:t>
            </a:r>
          </a:p>
          <a:p xmlns:a="http://schemas.openxmlformats.org/drawingml/2006/main">
            <a:r>
              <a:t>DO: Read the category cue, start a 3-minute timer, stand at a deliberate scan point.</a:t>
            </a:r>
          </a:p>
          <a:p xmlns:a="http://schemas.openxmlformats.org/drawingml/2006/main">
            <a:r>
              <a:t>LISTEN FOR: External factor, category fit, effect on this business or target market, because reasoning.</a:t>
            </a:r>
          </a:p>
          <a:p xmlns:a="http://schemas.openxmlformats.org/drawingml/2006/main">
            <a:r>
              <a:t>IF WEAK: Ask “What changed outside the business? What happens to costs, customers, or access?” Model a question, not their answer.</a:t>
            </a:r>
          </a:p>
          <a:p xmlns:a="http://schemas.openxmlformats.org/drawingml/2006/main">
            <a:r>
              <a:t>IF STRONG: Ask which impact matters most and why.</a:t>
            </a:r>
          </a:p>
          <a:p xmlns:a="http://schemas.openxmlformats.org/drawingml/2006/main">
            <a:r>
              <a:t>CHECK: Do not classify the business’s own ad, discount, or new app decision as the external factor.</a:t>
            </a:r>
          </a:p>
          <a:p xmlns:a="http://schemas.openxmlformats.org/drawingml/2006/main">
            <a:r>
              <a:t>PAIR MOVE: Give each partner a brief turn to explain an impact before recording the shared answer. Rotate roles at the next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“What change in the customers or community could affect demand? Give a connected example and explain both possible impacts.”</a:t>
            </a:r>
          </a:p>
          <a:p xmlns:a="http://schemas.openxmlformats.org/drawingml/2006/main">
            <a:r>
              <a:t>DO: Read the category cue, start a 3-minute timer, stand at a deliberate scan point.</a:t>
            </a:r>
          </a:p>
          <a:p xmlns:a="http://schemas.openxmlformats.org/drawingml/2006/main">
            <a:r>
              <a:t>LISTEN FOR: External factor, category fit, effect on this business or target market, because reasoning.</a:t>
            </a:r>
          </a:p>
          <a:p xmlns:a="http://schemas.openxmlformats.org/drawingml/2006/main">
            <a:r>
              <a:t>IF WEAK: Ask “What changed outside the business? What happens to costs, customers, or access?” Model a question, not their answer.</a:t>
            </a:r>
          </a:p>
          <a:p xmlns:a="http://schemas.openxmlformats.org/drawingml/2006/main">
            <a:r>
              <a:t>IF STRONG: Ask which impact matters most and why.</a:t>
            </a:r>
          </a:p>
          <a:p xmlns:a="http://schemas.openxmlformats.org/drawingml/2006/main">
            <a:r>
              <a:t>CHECK: Do not classify the business’s own ad, discount, or new app decision as the external factor.</a:t>
            </a:r>
          </a:p>
          <a:p xmlns:a="http://schemas.openxmlformats.org/drawingml/2006/main">
            <a:r>
              <a:t>PAIR MOVE: Give each partner a brief turn to explain an impact before recording the shared answer. Rotate roles at the next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“What outside technology change could affect access, service, or competition? Give a connected example and explain both possible impacts.”</a:t>
            </a:r>
          </a:p>
          <a:p xmlns:a="http://schemas.openxmlformats.org/drawingml/2006/main">
            <a:r>
              <a:t>DO: Read the category cue, start a 3-minute timer, stand at a deliberate scan point.</a:t>
            </a:r>
          </a:p>
          <a:p xmlns:a="http://schemas.openxmlformats.org/drawingml/2006/main">
            <a:r>
              <a:t>LISTEN FOR: External factor, category fit, effect on this business or target market, because reasoning.</a:t>
            </a:r>
          </a:p>
          <a:p xmlns:a="http://schemas.openxmlformats.org/drawingml/2006/main">
            <a:r>
              <a:t>IF WEAK: Ask “What changed outside the business? What happens to costs, customers, or access?” Model a question, not their answer.</a:t>
            </a:r>
          </a:p>
          <a:p xmlns:a="http://schemas.openxmlformats.org/drawingml/2006/main">
            <a:r>
              <a:t>IF STRONG: Ask which impact matters most and why.</a:t>
            </a:r>
          </a:p>
          <a:p xmlns:a="http://schemas.openxmlformats.org/drawingml/2006/main">
            <a:r>
              <a:t>CHECK: Do not classify the business’s own ad, discount, or new app decision as the external factor.</a:t>
            </a:r>
          </a:p>
          <a:p xmlns:a="http://schemas.openxmlformats.org/drawingml/2006/main">
            <a:r>
              <a:t>PAIR MOVE: Give each partner a brief turn to explain an impact before recording the shared answer. Rotate roles at the next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“Connect the analysis to a business decision. Which opportunity would you use? Which risk would you address? Why?”</a:t>
            </a:r>
          </a:p>
          <a:p xmlns:a="http://schemas.openxmlformats.org/drawingml/2006/main">
            <a:r>
              <a:t>DO: Invite2–4 complete sentences as a planning guide, not a scored word count. Students may orally rehearse first.</a:t>
            </a:r>
          </a:p>
          <a:p xmlns:a="http://schemas.openxmlformats.org/drawingml/2006/main">
            <a:r>
              <a:t>CHECK: Responses follow from their own factors, not generic advice.</a:t>
            </a:r>
          </a:p>
          <a:p xmlns:a="http://schemas.openxmlformats.org/drawingml/2006/main">
            <a:r>
              <a:t>EXTEND: Compare priorities or two interacting factors and justify a trade-off.</a:t>
            </a:r>
          </a:p>
          <a:p xmlns:a="http://schemas.openxmlformats.org/drawingml/2006/main">
            <a:r>
              <a:t>PAIR CHECK: Both partners can explain the agreed business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“Check each section. Circle a place where you explained why. Use remaining time to practise the approved Terms to Know.”</a:t>
            </a:r>
          </a:p>
          <a:p xmlns:a="http://schemas.openxmlformats.org/drawingml/2006/main">
            <a:r>
              <a:t>DO: Record separate Block 1 and Block 5 stops.</a:t>
            </a:r>
          </a:p>
          <a:p xmlns:a="http://schemas.openxmlformats.org/drawingml/2006/main">
            <a:r>
              <a:t>OPEN: Confirm quiz scope, collection route, how pair evidence will be assessed, and grading with Pat. Do not invent a deadline.</a:t>
            </a:r>
          </a:p>
          <a:p xmlns:a="http://schemas.openxmlformats.org/drawingml/2006/main">
            <a:r>
              <a:t>RECORD: Block 1 stop/support needed __ ; Block 5 stop/support needed 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27df4bd35643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83d65e5c3b4a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0f729a173c4f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cfa7a4b8eb46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b7181c842042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4b5b0ec7040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1005FD-660F-4C9A-B85C-DB0B9ABBC9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F45A8E-87FA-49F8-B35E-A8602EB6A4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2840F05-BD43-43AA-85E7-1BCC7F630C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CCD2CE-E6E7-45BA-9434-8514BF88BF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356F3DC-ECCB-42E2-BD0F-6F3EA58258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84D157-5195-431C-AFE1-9741D8F8A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09F7C7-7C64-4911-97A4-84AD962CEC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F9964BA-A02F-4479-963A-4888205BB3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2A90D3-BDBF-4454-9B94-488F882E77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36E99E-F4B6-4F2D-BE96-1497A1D294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ec2ea60f8e4644" /><Relationship Type="http://schemas.openxmlformats.org/officeDocument/2006/relationships/slideLayout" Target="/ppt/slideLayouts/slideLayout1.xml" Id="Rc4ceb14e12bd4506" /><Relationship Type="http://schemas.openxmlformats.org/officeDocument/2006/relationships/slideLayout" Target="/ppt/slideLayouts/slideLayout2.xml" Id="Red82860eda9c4b27" /><Relationship Type="http://schemas.openxmlformats.org/officeDocument/2006/relationships/slideLayout" Target="/ppt/slideLayouts/slideLayout3.xml" Id="R8b2d54f67eab47fd" /><Relationship Type="http://schemas.openxmlformats.org/officeDocument/2006/relationships/slideLayout" Target="/ppt/slideLayouts/slideLayout4.xml" Id="R8172b3a8dd844a50" /><Relationship Type="http://schemas.openxmlformats.org/officeDocument/2006/relationships/slideLayout" Target="/ppt/slideLayouts/slideLayout5.xml" Id="R95f4d958e59b4e83" /><Relationship Type="http://schemas.openxmlformats.org/officeDocument/2006/relationships/slideLayout" Target="/ppt/slideLayouts/slideLayout6.xml" Id="Rb687d839e88647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ceb14e12bd4506"/>
    <p:sldLayoutId xmlns:r="http://schemas.openxmlformats.org/officeDocument/2006/relationships" id="2147483650" r:id="Red82860eda9c4b27"/>
    <p:sldLayoutId xmlns:r="http://schemas.openxmlformats.org/officeDocument/2006/relationships" id="2147483651" r:id="R8b2d54f67eab47fd"/>
    <p:sldLayoutId xmlns:r="http://schemas.openxmlformats.org/officeDocument/2006/relationships" id="2147483652" r:id="R8172b3a8dd844a50"/>
    <p:sldLayoutId xmlns:r="http://schemas.openxmlformats.org/officeDocument/2006/relationships" id="2147483653" r:id="R95f4d958e59b4e83"/>
    <p:sldLayoutId xmlns:r="http://schemas.openxmlformats.org/officeDocument/2006/relationships" id="2147483654" r:id="Rb687d839e88647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c305f764844af4" /><Relationship Type="http://schemas.openxmlformats.org/officeDocument/2006/relationships/notesSlide" Target="/ppt/notesSlides/notesSlide1.xml" Id="R8805f296e36e47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215f0eae254a20" /><Relationship Type="http://schemas.openxmlformats.org/officeDocument/2006/relationships/notesSlide" Target="/ppt/notesSlides/notesSlide2.xml" Id="R8243fcd81d1e4f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baee2b7a0e40aa" /><Relationship Type="http://schemas.openxmlformats.org/officeDocument/2006/relationships/notesSlide" Target="/ppt/notesSlides/notesSlide3.xml" Id="R1cb9ab72ae5d44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18d46cfd1546a1" /><Relationship Type="http://schemas.openxmlformats.org/officeDocument/2006/relationships/notesSlide" Target="/ppt/notesSlides/notesSlide4.xml" Id="R5b4961db03904f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82be2a1133491b" /><Relationship Type="http://schemas.openxmlformats.org/officeDocument/2006/relationships/notesSlide" Target="/ppt/notesSlides/notesSlide5.xml" Id="Rb0cc85ccaf7f47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beb97962334ddb" /><Relationship Type="http://schemas.openxmlformats.org/officeDocument/2006/relationships/notesSlide" Target="/ppt/notesSlides/notesSlide6.xml" Id="R1537ed68b9d84a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84828fa67d47a3" /><Relationship Type="http://schemas.openxmlformats.org/officeDocument/2006/relationships/notesSlide" Target="/ppt/notesSlides/notesSlide7.xml" Id="R465d9e1f083c4a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86677fe8704559" /><Relationship Type="http://schemas.openxmlformats.org/officeDocument/2006/relationships/notesSlide" Target="/ppt/notesSlides/notesSlide8.xml" Id="R53b19979e2ba4f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54fef1e8014cc9" /><Relationship Type="http://schemas.openxmlformats.org/officeDocument/2006/relationships/notesSlide" Target="/ppt/notesSlides/notesSlide9.xml" Id="Rb955f3eace4f47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9c01b22c914aad" /><Relationship Type="http://schemas.openxmlformats.org/officeDocument/2006/relationships/notesSlide" Target="/ppt/notesSlides/notesSlide10.xml" Id="R477b30247b0c45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37a1f8af0b4540" /><Relationship Type="http://schemas.openxmlformats.org/officeDocument/2006/relationships/notesSlide" Target="/ppt/notesSlides/notesSlide11.xml" Id="Re7c32ba994424e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04abe05d504851" /><Relationship Type="http://schemas.openxmlformats.org/officeDocument/2006/relationships/notesSlide" Target="/ppt/notesSlides/notesSlide12.xml" Id="R49fa60ced23c4d07" /></Relationships>
</file>

<file path=ppt/slides/slide1.xml><?xml version="1.0" encoding="utf-8"?>
<p:sld xmlns:ns1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4" name="">
            <ns1:extLst>
              <ns1:ext uri="{FF2B5EF4-FFF2-40B4-BE49-F238E27FC236}">
                <ns2:creationId id="{D5F34E39-F88B-4864-BA3C-070D3A8896DD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PEST analysis for your business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64213D36-2E31-4203-BB5D-404E3928806C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30 minutes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D15BD7F2-AF2B-4FB8-BDF1-9E2688198F98}"/>
              </ns1:ext>
            </ns1:extLst>
          </p:cNvPr>
          <p:cNvSpPr>
            <ns1:spLocks noGrp="1"/>
          </p:cNvSpPr>
          <p:nvPr/>
        </p:nvSpPr>
        <p:spPr>
          <ns1:xfrm>
            <ns1:off x="619125" y="1381125"/>
            <ns1:ext cx="10620375" cy="4524375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SAY: “Today you will use PEST to explain how outside changes affect a business you choose.”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DO: Display the agenda, distribute the sheet, and identify the target.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CHECK: Students know that PEST concerns external influences, not the four Ps.</ns1:t>
            </ns1:r>
          </ns1:p>
        </p:txBody>
      </p:sp>
    </p:spTree>
    <p:extLst>
      <p:ext uri="{BB962C8B-B14F-4D97-AF65-F5344CB8AC3E}">
        <ns3:creationId val="1765780660"/>
      </p:ext>
    </p:extLst>
  </p:cSld>
  <p:transition spd="fast" advClick="1">
    <p:fade/>
  </p:transition>
</p:sld>
</file>

<file path=ppt/slides/slide2.xml><?xml version="1.0" encoding="utf-8"?>
<p:sld xmlns:ns1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4" name="">
            <ns1:extLst>
              <ns1:ext uri="{FF2B5EF4-FFF2-40B4-BE49-F238E27FC236}">
                <ns2:creationId id="{2D71B3B8-7806-41F0-805F-99BB147D937E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Activity sequence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CF33A0CB-7F65-4B6B-BE86-E5C8B662FE6D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A 30-minute planning window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9C2A39AD-6A9E-4BE0-BF32-A75583206A72}"/>
              </ns1:ext>
            </ns1:extLst>
          </p:cNvPr>
          <p:cNvSpPr>
            <ns1:spLocks noGrp="1"/>
          </p:cNvSpPr>
          <p:nvPr/>
        </p:nvSpPr>
        <p:spPr>
          <ns1:xfrm>
            <ns1:off x="619125" y="1381125"/>
            <ns1:ext cx="10620375" cy="4524375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SAY: “We will complete one PEST section at a time. I will tell you when to move.”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DO: Keep the introduction within five minutes, including the short model.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NOTE: 3–5 + 2 + 12 + 5 =22–24, leaving 6–8 minutes. If discussion runs longer, reduce buffer rather than claiming work finished.</ns1:t>
            </ns1:r>
          </ns1:p>
        </p:txBody>
      </p:sp>
    </p:spTree>
    <p:extLst>
      <p:ext uri="{BB962C8B-B14F-4D97-AF65-F5344CB8AC3E}">
        <ns3:creationId val="434774029"/>
      </p:ext>
    </p:extLst>
  </p:cSld>
  <p:transition spd="fast" advClick="1">
    <p:fade/>
  </p:transition>
</p:sld>
</file>

<file path=ppt/slides/slide3.xml><?xml version="1.0" encoding="utf-8"?>
<p:sld xmlns:ns1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4" name="">
            <ns1:extLst>
              <ns1:ext uri="{FF2B5EF4-FFF2-40B4-BE49-F238E27FC236}">
                <ns2:creationId id="{0D8D2DE5-FBA9-4C3F-8602-94B3BF3D4E7B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Proficiency and deeper reasoning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ED8A0811-DF14-48F4-9DC1-86324F1BD92B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Proposed grading for SBTE review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AB969B2B-41DD-4396-8242-1FD5C20DC598}"/>
              </ns1:ext>
            </ns1:extLst>
          </p:cNvPr>
          <p:cNvSpPr>
            <ns1:spLocks noGrp="1"/>
          </p:cNvSpPr>
          <p:nvPr/>
        </p:nvSpPr>
        <p:spPr>
          <ns1:xfrm>
            <ns1:off x="619125" y="1381125"/>
            <ns1:ext cx="10620375" cy="4524375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SAY: “A 3 shows complete, accurate application. A 4 explains a deeper decision and why it makes sense. More words alone do not earn a 4.”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CHECK WITH PAT: Confirm these descriptors and whether this is formative or graded before announcing them as final. No automatic averaging, bonuses, or conversion rules.</ns1:t>
            </ns1:r>
          </ns1:p>
        </p:txBody>
      </p:sp>
    </p:spTree>
    <p:extLst>
      <p:ext uri="{BB962C8B-B14F-4D97-AF65-F5344CB8AC3E}">
        <ns3:creationId val="1446806983"/>
      </p:ext>
    </p:extLst>
  </p:cSld>
  <p:transition spd="fast" advClick="1">
    <p:fade/>
  </p:transition>
</p:sld>
</file>

<file path=ppt/slides/slide4.xml><?xml version="1.0" encoding="utf-8"?>
<p:sld xmlns:ns1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4" name="">
            <ns1:extLst>
              <ns1:ext uri="{FF2B5EF4-FFF2-40B4-BE49-F238E27FC236}">
                <ns2:creationId id="{602ACB37-D0EC-4A84-8E19-DDC926B6D0A5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Developing understanding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11F0BF39-C458-43B5-A10C-5DB5A6E14A89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Explain the impact, not just a keyword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43529470-B70E-4E35-85E3-5CA846FB5571}"/>
              </ns1:ext>
            </ns1:extLst>
          </p:cNvPr>
          <p:cNvSpPr>
            <ns1:spLocks noGrp="1"/>
          </p:cNvSpPr>
          <p:nvPr/>
        </p:nvSpPr>
        <p:spPr>
          <ns1:xfrm>
            <ns1:off x="619125" y="1381125"/>
            <ns1:ext cx="10620375" cy="4524375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SAY: “Use business terms and explain because. A list of words does not yet show why a business is affected.”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DO: Read directions aloud and accept a spoken rehearsal before writing.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ASSESS: Understanding, not spelling, handwriting, accent, speed, or decorative work. Access support alone never reduces a level. Insufficient evidence is separate from level 1; confirm IE and overall-score handling with Pat.</ns1:t>
            </ns1:r>
          </ns1:p>
        </p:txBody>
      </p:sp>
    </p:spTree>
    <p:extLst>
      <p:ext uri="{BB962C8B-B14F-4D97-AF65-F5344CB8AC3E}">
        <ns3:creationId val="1106482971"/>
      </p:ext>
    </p:extLst>
  </p:cSld>
  <p:transition spd="fast" advClick="1">
    <p:fade/>
  </p:transition>
</p:sld>
</file>

<file path=ppt/slides/slide5.xml><?xml version="1.0" encoding="utf-8"?>
<p:sld xmlns:ns1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4" name="">
            <ns1:extLst>
              <ns1:ext uri="{FF2B5EF4-FFF2-40B4-BE49-F238E27FC236}">
                <ns2:creationId id="{DF36E27F-94CE-4C18-A2C9-9800CF9DDA31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245B8A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245B8A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245B8A"/>
                </ns1:solidFill>
                <ns1:latin typeface="Helvetica Neue"/>
                <ns1:ea typeface="Helvetica Neue"/>
                <ns1:cs typeface="Helvetica Neue"/>
              </ns1:rPr>
              <ns1:t>Political influence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36A54677-A0CC-4794-B222-E7B9B8041D0E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Second reveal: negative impact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5E296A78-BD7B-4202-8BD7-9BF3072B11A3}"/>
              </ns1:ext>
            </ns1:extLst>
          </p:cNvPr>
          <p:cNvSpPr>
            <ns1:spLocks noGrp="1"/>
          </p:cNvSpPr>
          <p:nvPr/>
        </p:nvSpPr>
        <p:spPr>
          <ns1:xfrm>
            <ns1:off x="619125" y="1381125"/>
            <ns1:ext cx="10620375" cy="4524375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SAY: “The same external change can create an opportunity and a cost. Your example must explain why.”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DO: Model only this one factor, then let students apply the other categories.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RESPONSE: The shop could train staff and plan for compliance costs. This is an internal response to an external factor.</ns1:t>
            </ns1:r>
          </ns1:p>
        </p:txBody>
      </p:sp>
    </p:spTree>
    <p:extLst>
      <p:ext uri="{BB962C8B-B14F-4D97-AF65-F5344CB8AC3E}">
        <ns3:creationId val="2055390681"/>
      </p:ext>
    </p:extLst>
  </p:cSld>
  <p:transition spd="fast" advClick="1">
    <p:fade/>
  </p:transition>
</p:sld>
</file>

<file path=ppt/slides/slide6.xml><?xml version="1.0" encoding="utf-8"?>
<p:sld xmlns:ns1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4" name="">
            <ns1:extLst>
              <ns1:ext uri="{FF2B5EF4-FFF2-40B4-BE49-F238E27FC236}">
                <ns2:creationId id="{4074DDF0-EB75-4E40-8189-F19405F45F81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Business and target market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72AC47B6-ADFD-40C1-9D26-950BCAD01CA0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2 minutes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CDF7D892-3F8F-44E5-9EE1-6B5874D02609}"/>
              </ns1:ext>
            </ns1:extLst>
          </p:cNvPr>
          <p:cNvSpPr>
            <ns1:spLocks noGrp="1"/>
          </p:cNvSpPr>
          <p:nvPr/>
        </p:nvSpPr>
        <p:spPr>
          <ns1:xfrm>
            <ns1:off x="619125" y="1381125"/>
            <ns1:ext cx="10620375" cy="4524375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SAY: “Choose a business you understand and name its target market. Who buys from it, and what do they want?”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DO: Start a 2-minute timer. If stuck, offer a familiar business category such as a cafe, shoe shop, or digital-book service.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CHECK: Business and target market both recorded.</ns1:t>
            </ns1:r>
          </ns1:p>
        </p:txBody>
      </p:sp>
    </p:spTree>
    <p:extLst>
      <p:ext uri="{BB962C8B-B14F-4D97-AF65-F5344CB8AC3E}">
        <ns3:creationId val="593249840"/>
      </p:ext>
    </p:extLst>
  </p:cSld>
  <p:transition spd="fast" advClick="1">
    <p:fade/>
  </p:transition>
</p:sld>
</file>

<file path=ppt/slides/slide7.xml><?xml version="1.0" encoding="utf-8"?>
<p:sld xmlns:ns1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4" name="">
            <ns1:extLst>
              <ns1:ext uri="{FF2B5EF4-FFF2-40B4-BE49-F238E27FC236}">
                <ns2:creationId id="{70B7F621-4805-43B5-8D2A-96935E08C84A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245B8A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245B8A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245B8A"/>
                </ns1:solidFill>
                <ns1:latin typeface="Helvetica Neue"/>
                <ns1:ea typeface="Helvetica Neue"/>
                <ns1:cs typeface="Helvetica Neue"/>
              </ns1:rPr>
              <ns1:t>P  Political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4440CC2F-7CEA-45D9-B512-FA26A00BB972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3 minutes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D1C90217-369A-42C8-9180-C95E8B53006B}"/>
              </ns1:ext>
            </ns1:extLst>
          </p:cNvPr>
          <p:cNvSpPr>
            <ns1:spLocks noGrp="1"/>
          </p:cNvSpPr>
          <p:nvPr/>
        </p:nvSpPr>
        <p:spPr>
          <ns1:xfrm>
            <ns1:off x="619125" y="1381125"/>
            <ns1:ext cx="10620375" cy="4524375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SAY: “What outside rule or policy could affect this business? Give a connected example and explain both possible impacts.”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DO: Start a 3-minute timer. Each partner explains an impact. Record the shared answer and switch roles for the next category.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LOOK FOR: External factor, correct category, business impact, and a because explanation.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SUPPORT: Ask what changed outside the business and what happens to costs, customers, or access.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EXTEND: Ask which impact matters most and why.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CHECK: An ad, discount, or app chosen by the business is its internal response, not the external factor.</ns1:t>
            </ns1:r>
          </ns1:p>
        </p:txBody>
      </p:sp>
    </p:spTree>
    <p:extLst>
      <p:ext uri="{BB962C8B-B14F-4D97-AF65-F5344CB8AC3E}">
        <ns3:creationId val="1086263602"/>
      </p:ext>
    </p:extLst>
  </p:cSld>
  <p:transition spd="fast" advClick="1">
    <p:fade/>
  </p:transition>
</p:sld>
</file>

<file path=ppt/slides/slide8.xml><?xml version="1.0" encoding="utf-8"?>
<p:sld xmlns:ns1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4" name="">
            <ns1:extLst>
              <ns1:ext uri="{FF2B5EF4-FFF2-40B4-BE49-F238E27FC236}">
                <ns2:creationId id="{8C68FBBF-FFF1-44EC-BCE0-CABDA771393B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E  Economic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F7B7E547-6C71-4929-BC52-16D78E5B70F4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3 minutes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F9A8EF45-1AB3-4523-A53A-12431095C954}"/>
              </ns1:ext>
            </ns1:extLst>
          </p:cNvPr>
          <p:cNvSpPr>
            <ns1:spLocks noGrp="1"/>
          </p:cNvSpPr>
          <p:nvPr/>
        </p:nvSpPr>
        <p:spPr>
          <ns1:xfrm>
            <ns1:off x="619125" y="1381125"/>
            <ns1:ext cx="10620375" cy="4524375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SAY: “What outside economic change could affect costs or demand? Give a connected example and explain both possible impacts.”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DO: Start a 3-minute timer. Each partner explains an impact. Record the shared answer and switch roles for the next category.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LOOK FOR: External factor, correct category, business impact, and a because explanation.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SUPPORT: Ask what changed outside the business and what happens to costs, customers, or access.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EXTEND: Ask which impact matters most and why.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CHECK: An ad, discount, or app chosen by the business is its internal response, not the external factor.</ns1:t>
            </ns1:r>
          </ns1:p>
        </p:txBody>
      </p:sp>
    </p:spTree>
    <p:extLst>
      <p:ext uri="{BB962C8B-B14F-4D97-AF65-F5344CB8AC3E}">
        <ns3:creationId val="1450290026"/>
      </p:ext>
    </p:extLst>
  </p:cSld>
  <p:transition spd="fast" advClick="1">
    <p:fade/>
  </p:transition>
</p:sld>
</file>

<file path=ppt/slides/slide9.xml><?xml version="1.0" encoding="utf-8"?>
<p:sld xmlns:ns1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4" name="">
            <ns1:extLst>
              <ns1:ext uri="{FF2B5EF4-FFF2-40B4-BE49-F238E27FC236}">
                <ns2:creationId id="{DBF82DC0-916E-4EEE-98EB-56D7C4BB3CD5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765091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765091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765091"/>
                </ns1:solidFill>
                <ns1:latin typeface="Helvetica Neue"/>
                <ns1:ea typeface="Helvetica Neue"/>
                <ns1:cs typeface="Helvetica Neue"/>
              </ns1:rPr>
              <ns1:t>S  Social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836DDBB3-A62B-4272-A534-822CC4ADF27D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3 minutes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527C5F3F-996B-4EDE-9EC9-633EB3BF026A}"/>
              </ns1:ext>
            </ns1:extLst>
          </p:cNvPr>
          <p:cNvSpPr>
            <ns1:spLocks noGrp="1"/>
          </p:cNvSpPr>
          <p:nvPr/>
        </p:nvSpPr>
        <p:spPr>
          <ns1:xfrm>
            <ns1:off x="619125" y="1381125"/>
            <ns1:ext cx="10620375" cy="4524375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SAY: “What change in the customers or community could affect demand? Give a connected example and explain both possible impacts.”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DO: Start a 3-minute timer. Each partner explains an impact. Record the shared answer and switch roles for the next category.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LOOK FOR: External factor, correct category, business impact, and a because explanation.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SUPPORT: Ask what changed outside the business and what happens to costs, customers, or access.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EXTEND: Ask which impact matters most and why.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CHECK: An ad, discount, or app chosen by the business is its internal response, not the external factor.</ns1:t>
            </ns1:r>
          </ns1:p>
        </p:txBody>
      </p:sp>
    </p:spTree>
    <p:extLst>
      <p:ext uri="{BB962C8B-B14F-4D97-AF65-F5344CB8AC3E}">
        <ns3:creationId val="176160057"/>
      </p:ext>
    </p:extLst>
  </p:cSld>
  <p:transition spd="fast" advClick="1">
    <p:fade/>
  </p:transition>
</p:sld>
</file>

<file path=ppt/slides/slide10.xml><?xml version="1.0" encoding="utf-8"?>
<p:sld xmlns:ns1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4" name="">
            <ns1:extLst>
              <ns1:ext uri="{FF2B5EF4-FFF2-40B4-BE49-F238E27FC236}">
                <ns2:creationId id="{F347CB34-913A-46F9-A22F-4A86E2D51777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B35722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B35722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B35722"/>
                </ns1:solidFill>
                <ns1:latin typeface="Helvetica Neue"/>
                <ns1:ea typeface="Helvetica Neue"/>
                <ns1:cs typeface="Helvetica Neue"/>
              </ns1:rPr>
              <ns1:t>T  Technological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20B679BF-0C49-475B-B0CF-4B1C64F55CF7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3 minutes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FC32B38C-8ABE-43F1-9786-758A062C0629}"/>
              </ns1:ext>
            </ns1:extLst>
          </p:cNvPr>
          <p:cNvSpPr>
            <ns1:spLocks noGrp="1"/>
          </p:cNvSpPr>
          <p:nvPr/>
        </p:nvSpPr>
        <p:spPr>
          <ns1:xfrm>
            <ns1:off x="619125" y="1381125"/>
            <ns1:ext cx="10620375" cy="4524375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SAY: “What outside technology change could affect access, service, or competition? Give a connected example and explain both possible impacts.”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DO: Start a 3-minute timer. Each partner explains an impact. Record the shared answer and switch roles for the next category.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LOOK FOR: External factor, correct category, business impact, and a because explanation.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SUPPORT: Ask what changed outside the business and what happens to costs, customers, or access.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EXTEND: Ask which impact matters most and why.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CHECK: An ad, discount, or app chosen by the business is its internal response, not the external factor.</ns1:t>
            </ns1:r>
          </ns1:p>
        </p:txBody>
      </p:sp>
    </p:spTree>
    <p:extLst>
      <p:ext uri="{BB962C8B-B14F-4D97-AF65-F5344CB8AC3E}">
        <ns3:creationId val="364950419"/>
      </p:ext>
    </p:extLst>
  </p:cSld>
  <p:transition spd="fast" advClick="1">
    <p:fade/>
  </p:transition>
</p:sld>
</file>

<file path=ppt/slides/slide11.xml><?xml version="1.0" encoding="utf-8"?>
<p:sld xmlns:ns1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4" name="">
            <ns1:extLst>
              <ns1:ext uri="{FF2B5EF4-FFF2-40B4-BE49-F238E27FC236}">
                <ns2:creationId id="{3253630C-45A7-4179-BFC9-84C8E9A24E11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Business summary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62291E7B-F9B1-44E2-8ED1-28CE7D57ACFF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5 minutes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3E8D7BD2-179B-42DB-853B-FA6C6E2BD912}"/>
              </ns1:ext>
            </ns1:extLst>
          </p:cNvPr>
          <p:cNvSpPr>
            <ns1:spLocks noGrp="1"/>
          </p:cNvSpPr>
          <p:nvPr/>
        </p:nvSpPr>
        <p:spPr>
          <ns1:xfrm>
            <ns1:off x="619125" y="1381125"/>
            <ns1:ext cx="10620375" cy="4524375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SAY: “Connect the analysis to a business decision. Which opportunity would you use? Which risk would you address? Why?”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DO: Invite2–4 complete sentences as a planning guide, not a scored word count. Students may orally rehearse first.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CHECK: Responses follow from their own factors, not generic advice.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EXTEND: Compare priorities or two interacting factors and justify a trade-off.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PAIR CHECK: Both partners can explain the agreed business response.</ns1:t>
            </ns1:r>
          </ns1:p>
        </p:txBody>
      </p:sp>
    </p:spTree>
    <p:extLst>
      <p:ext uri="{BB962C8B-B14F-4D97-AF65-F5344CB8AC3E}">
        <ns3:creationId val="1887358174"/>
      </p:ext>
    </p:extLst>
  </p:cSld>
  <p:transition spd="fast" advClick="1">
    <p:fade/>
  </p:transition>
</p:sld>
</file>

<file path=ppt/slides/slide12.xml><?xml version="1.0" encoding="utf-8"?>
<p:sld xmlns:ns1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4" name="">
            <ns1:extLst>
              <ns1:ext uri="{FF2B5EF4-FFF2-40B4-BE49-F238E27FC236}">
                <ns2:creationId id="{6E1119B4-4A34-422C-AC77-DD4200D77976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Completion check and Terms to Know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1FA8F061-18C0-4950-B889-25A5A7464A08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Remaining 6–8 minutes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705412C2-8B02-4315-99DD-E4733A3D0829}"/>
              </ns1:ext>
            </ns1:extLst>
          </p:cNvPr>
          <p:cNvSpPr>
            <ns1:spLocks noGrp="1"/>
          </p:cNvSpPr>
          <p:nvPr/>
        </p:nvSpPr>
        <p:spPr>
          <ns1:xfrm>
            <ns1:off x="619125" y="1381125"/>
            <ns1:ext cx="10620375" cy="4524375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SAY: “Check each section. Circle a place where you explained why. Use remaining time to practise the approved Terms to Know.”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DO: Record separate Block 1 and Block 5 stops.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OPEN: Confirm quiz scope, collection route, how pair evidence will be assessed, and grading with Pat. Do not invent a deadline.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7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RECORD: Block 1 stop/support needed __ ; Block 5 stop/support needed __.</ns1:t>
            </ns1:r>
          </ns1:p>
        </p:txBody>
      </p:sp>
    </p:spTree>
    <p:extLst>
      <p:ext uri="{BB962C8B-B14F-4D97-AF65-F5344CB8AC3E}">
        <ns3:creationId val="1052799414"/>
      </p:ext>
    </p:extLst>
  </p:cSld>
  <p:transition spd="fast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2026-10-13T13:31:27.0510000Z</dcterms:created>
  <dcterms:modified xsi:type="dcterms:W3CDTF">2026-10-13T13:31:27.0510000Z</dcterms:modified>
</coreProperties>
</file>