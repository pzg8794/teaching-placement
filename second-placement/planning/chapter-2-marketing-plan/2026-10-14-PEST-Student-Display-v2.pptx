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dc6968252a4a6c" /><Relationship Type="http://schemas.openxmlformats.org/officeDocument/2006/relationships/extended-properties" Target="/docProps/app.xml" Id="Re6f621d4a2704794" /><Relationship Type="http://schemas.openxmlformats.org/officeDocument/2006/relationships/officeDocument" Target="/ppt/presentation.xml" Id="R5c6f89b14abd41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a65d59b60647bb"/>
  </p:sldMasterIdLst>
  <p:notesMasterIdLst>
    <p:notesMasterId xmlns:r="http://schemas.openxmlformats.org/officeDocument/2006/relationships" r:id="Rd4e7e782de5b4724"/>
  </p:notesMasterIdLst>
  <p:sldIdLst>
    <p:sldId xmlns:r="http://schemas.openxmlformats.org/officeDocument/2006/relationships" id="256" r:id="R7b7efff1096d43e7"/>
    <p:sldId xmlns:r="http://schemas.openxmlformats.org/officeDocument/2006/relationships" id="257" r:id="Rf0b91d2ad9d04bcc"/>
    <p:sldId xmlns:r="http://schemas.openxmlformats.org/officeDocument/2006/relationships" id="258" r:id="R45d8dc199a994157"/>
    <p:sldId xmlns:r="http://schemas.openxmlformats.org/officeDocument/2006/relationships" id="259" r:id="Raf3b47a695ea47c1"/>
    <p:sldId xmlns:r="http://schemas.openxmlformats.org/officeDocument/2006/relationships" id="260" r:id="R3e6650c09eac4386"/>
    <p:sldId xmlns:r="http://schemas.openxmlformats.org/officeDocument/2006/relationships" id="261" r:id="R9130da468ca54ff1"/>
    <p:sldId xmlns:r="http://schemas.openxmlformats.org/officeDocument/2006/relationships" id="262" r:id="Ra4238fbb268746c1"/>
    <p:sldId xmlns:r="http://schemas.openxmlformats.org/officeDocument/2006/relationships" id="263" r:id="R3a5ba13debd643cf"/>
    <p:sldId xmlns:r="http://schemas.openxmlformats.org/officeDocument/2006/relationships" id="264" r:id="Rd66a08ebcdf94d0c"/>
    <p:sldId xmlns:r="http://schemas.openxmlformats.org/officeDocument/2006/relationships" id="265" r:id="R58920b12242b47b0"/>
    <p:sldId xmlns:r="http://schemas.openxmlformats.org/officeDocument/2006/relationships" id="266" r:id="R27ad16ba418346d9"/>
    <p:sldId xmlns:r="http://schemas.openxmlformats.org/officeDocument/2006/relationships" id="267" r:id="R48f9b3c112624aea"/>
    <p:sldId xmlns:r="http://schemas.openxmlformats.org/officeDocument/2006/relationships" id="268" r:id="R83c77348e045419b"/>
    <p:sldId xmlns:r="http://schemas.openxmlformats.org/officeDocument/2006/relationships" id="269" r:id="R6f131906180a46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ae6af44eed4ba4" /><Relationship Type="http://schemas.openxmlformats.org/officeDocument/2006/relationships/slideMaster" Target="/ppt/slideMasters/slideMaster1.xml" Id="R84a65d59b60647bb" /><Relationship Type="http://schemas.openxmlformats.org/officeDocument/2006/relationships/notesMaster" Target="/ppt/notesMasters/notesMaster1.xml" Id="Rd4e7e782de5b4724" /><Relationship Type="http://schemas.openxmlformats.org/officeDocument/2006/relationships/presProps" Target="/ppt/presProps.xml" Id="Rc766f2ba570c4895" /><Relationship Type="http://schemas.openxmlformats.org/officeDocument/2006/relationships/tableStyles" Target="/ppt/tableStyles.xml" Id="Rf56820481a25448f" /><Relationship Type="http://schemas.openxmlformats.org/officeDocument/2006/relationships/slide" Target="/ppt/slides/slide1.xml" Id="R7b7efff1096d43e7" /><Relationship Type="http://schemas.openxmlformats.org/officeDocument/2006/relationships/slide" Target="/ppt/slides/slide2.xml" Id="Rf0b91d2ad9d04bcc" /><Relationship Type="http://schemas.openxmlformats.org/officeDocument/2006/relationships/slide" Target="/ppt/slides/slide3.xml" Id="R45d8dc199a994157" /><Relationship Type="http://schemas.openxmlformats.org/officeDocument/2006/relationships/slide" Target="/ppt/slides/slide4.xml" Id="Raf3b47a695ea47c1" /><Relationship Type="http://schemas.openxmlformats.org/officeDocument/2006/relationships/slide" Target="/ppt/slides/slide5.xml" Id="R3e6650c09eac4386" /><Relationship Type="http://schemas.openxmlformats.org/officeDocument/2006/relationships/slide" Target="/ppt/slides/slide6.xml" Id="R9130da468ca54ff1" /><Relationship Type="http://schemas.openxmlformats.org/officeDocument/2006/relationships/slide" Target="/ppt/slides/slide7.xml" Id="Ra4238fbb268746c1" /><Relationship Type="http://schemas.openxmlformats.org/officeDocument/2006/relationships/slide" Target="/ppt/slides/slide8.xml" Id="R3a5ba13debd643cf" /><Relationship Type="http://schemas.openxmlformats.org/officeDocument/2006/relationships/slide" Target="/ppt/slides/slide9.xml" Id="Rd66a08ebcdf94d0c" /><Relationship Type="http://schemas.openxmlformats.org/officeDocument/2006/relationships/slide" Target="/ppt/slides/slide10.xml" Id="R58920b12242b47b0" /><Relationship Type="http://schemas.openxmlformats.org/officeDocument/2006/relationships/slide" Target="/ppt/slides/slide11.xml" Id="R27ad16ba418346d9" /><Relationship Type="http://schemas.openxmlformats.org/officeDocument/2006/relationships/slide" Target="/ppt/slides/slide12.xml" Id="R48f9b3c112624aea" /><Relationship Type="http://schemas.openxmlformats.org/officeDocument/2006/relationships/slide" Target="/ppt/slides/slide13.xml" Id="R83c77348e045419b" /><Relationship Type="http://schemas.openxmlformats.org/officeDocument/2006/relationships/slide" Target="/ppt/slides/slide14.xml" Id="R6f131906180a46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c0af7bff8a45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464e8827554a7d" /><Relationship Type="http://schemas.openxmlformats.org/officeDocument/2006/relationships/notesMaster" Target="/ppt/notesMasters/notesMaster1.xml" Id="R412eb3a3dcac44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0f14d14d764f11" /><Relationship Type="http://schemas.openxmlformats.org/officeDocument/2006/relationships/notesMaster" Target="/ppt/notesMasters/notesMaster1.xml" Id="R8995873a57004a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cfb710c8f24c65" /><Relationship Type="http://schemas.openxmlformats.org/officeDocument/2006/relationships/notesMaster" Target="/ppt/notesMasters/notesMaster1.xml" Id="R6852bf99b64441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4652f68aef4960" /><Relationship Type="http://schemas.openxmlformats.org/officeDocument/2006/relationships/notesMaster" Target="/ppt/notesMasters/notesMaster1.xml" Id="R36fb73963dc640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9b4f16d8f54a9e" /><Relationship Type="http://schemas.openxmlformats.org/officeDocument/2006/relationships/notesMaster" Target="/ppt/notesMasters/notesMaster1.xml" Id="Rc3b62b15a4294b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58cc4f79bb47fd" /><Relationship Type="http://schemas.openxmlformats.org/officeDocument/2006/relationships/notesMaster" Target="/ppt/notesMasters/notesMaster1.xml" Id="Rcb8420057d6048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35b99ab09a45d2" /><Relationship Type="http://schemas.openxmlformats.org/officeDocument/2006/relationships/notesMaster" Target="/ppt/notesMasters/notesMaster1.xml" Id="R89f81cdf515f4f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08f0f5a1a84d31" /><Relationship Type="http://schemas.openxmlformats.org/officeDocument/2006/relationships/notesMaster" Target="/ppt/notesMasters/notesMaster1.xml" Id="Rd4925814d3f549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e14580dad64cc2" /><Relationship Type="http://schemas.openxmlformats.org/officeDocument/2006/relationships/notesMaster" Target="/ppt/notesMasters/notesMaster1.xml" Id="R25a40bd68ddb43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91474469de42cb" /><Relationship Type="http://schemas.openxmlformats.org/officeDocument/2006/relationships/notesMaster" Target="/ppt/notesMasters/notesMaster1.xml" Id="Rcee2dfe67ee441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4181a46c6a40ba" /><Relationship Type="http://schemas.openxmlformats.org/officeDocument/2006/relationships/notesMaster" Target="/ppt/notesMasters/notesMaster1.xml" Id="R4976902ef3e549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eacc6415114273" /><Relationship Type="http://schemas.openxmlformats.org/officeDocument/2006/relationships/notesMaster" Target="/ppt/notesMasters/notesMaster1.xml" Id="R396d0784c1e842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f5f8fdad7947ea" /><Relationship Type="http://schemas.openxmlformats.org/officeDocument/2006/relationships/notesMaster" Target="/ppt/notesMasters/notesMaster1.xml" Id="R97bcfa52f6e140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61b442de654702" /><Relationship Type="http://schemas.openxmlformats.org/officeDocument/2006/relationships/notesMaster" Target="/ppt/notesMasters/notesMaster1.xml" Id="Re77936651b2b4d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“Today you will use PEST to explain how outside changes affect a business you choose.”</a:t>
            </a:r>
          </a:p>
          <a:p xmlns:a="http://schemas.openxmlformats.org/drawingml/2006/main">
            <a:r>
              <a:t>DO: Display the agenda, distribute the sheet, and identify the target.</a:t>
            </a:r>
          </a:p>
          <a:p xmlns:a="http://schemas.openxmlformats.org/drawingml/2006/main">
            <a:r>
              <a:t>CHECK: Students know that PEST concerns external influences, not the four 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  <a:p xmlns:a="http://schemas.openxmlformats.org/drawingml/2006/main">
            <a:r>
              <a:t>Pair structure: Piter explicitly confirmed October13.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“We will complete one PEST section at a time. I will tell you when to move.”</a:t>
            </a:r>
          </a:p>
          <a:p xmlns:a="http://schemas.openxmlformats.org/drawingml/2006/main">
            <a:r>
              <a:t>DO: Keep the introduction within five minutes, including the short model.</a:t>
            </a:r>
          </a:p>
          <a:p xmlns:a="http://schemas.openxmlformats.org/drawingml/2006/main">
            <a:r>
              <a:t>NOTE: 3–5 + 2 + 12 + 5 =22–24, leaving 6–8 minutes. If discussion runs longer, reduce buffer rather than claiming work finished.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  <a:p xmlns:a="http://schemas.openxmlformats.org/drawingml/2006/main">
            <a:r>
              <a:t>Pair structure: Piter explicitly confirmed October13.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PAT APPROVES THE NUMERICAL RUBRIC: SAY: “A 3 shows complete, accurate application. A 4 explains a deeper decision and why it makes sense. More words alone do not earn a 4.”</a:t>
            </a:r>
          </a:p>
          <a:p xmlns:a="http://schemas.openxmlformats.org/drawingml/2006/main">
            <a:r>
              <a:t>CHECK WITH PAT: Confirm these descriptors and whether this is formative or graded before announcing them as final. No automatic averaging, bonuses, or conversion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  <a:p xmlns:a="http://schemas.openxmlformats.org/drawingml/2006/main">
            <a:r>
              <a:t>Pair structure: Piter explicitly confirmed October13.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PAT APPROVES THE NUMERICAL RUBRIC: SAY: “Use business terms and explain because. A list of words does not yet show why a business is affected.”</a:t>
            </a:r>
          </a:p>
          <a:p xmlns:a="http://schemas.openxmlformats.org/drawingml/2006/main">
            <a:r>
              <a:t>DO: Read directions aloud and accept a spoken rehearsal before writing.</a:t>
            </a:r>
          </a:p>
          <a:p xmlns:a="http://schemas.openxmlformats.org/drawingml/2006/main">
            <a:r>
              <a:t>ASSESS: Understanding, not spelling, handwriting, accent, speed, or decorative work. Access support alone never reduces a level. Insufficient evidence is separate from level 1; confirm IE and overall-score handling with Pat.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  <a:p xmlns:a="http://schemas.openxmlformats.org/drawingml/2006/main">
            <a:r>
              <a:t>Pair structure: Piter explicitly confirmed October13.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“What changed outside the business? Which letter fits? What could be positive and negative for this shop?”</a:t>
            </a:r>
          </a:p>
          <a:p xmlns:a="http://schemas.openxmlformats.org/drawingml/2006/main">
            <a:r>
              <a:t>DO: Wait5–10seconds; invite a spoken or written response. Do not pre-answer students’ own chosen businesses.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  <a:p xmlns:a="http://schemas.openxmlformats.org/drawingml/2006/main">
            <a:r>
              <a:t>Pair structure: Piter explicitly confirmed October13.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“The factor is government regulation. One possible positive impact is customer trust. What might the cost be?”</a:t>
            </a:r>
          </a:p>
          <a:p xmlns:a="http://schemas.openxmlformats.org/drawingml/2006/main">
            <a:r>
              <a:t>DO: Pause before the next click. Explain these are possible consequences, not guarantees.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  <a:p xmlns:a="http://schemas.openxmlformats.org/drawingml/2006/main">
            <a:r>
              <a:t>Pair structure: Piter explicitly confirmed October13.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“The same external change can create an opportunity and a cost. Your example must explain why.”</a:t>
            </a:r>
          </a:p>
          <a:p xmlns:a="http://schemas.openxmlformats.org/drawingml/2006/main">
            <a:r>
              <a:t>DO: Model only this one factor, then let students apply the other categories.</a:t>
            </a:r>
          </a:p>
          <a:p xmlns:a="http://schemas.openxmlformats.org/drawingml/2006/main">
            <a:r>
              <a:t>RESPONSE: The shop could train staff and plan for compliance costs. This is an internal response to an external factor.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  <a:p xmlns:a="http://schemas.openxmlformats.org/drawingml/2006/main">
            <a:r>
              <a:t>Pair structure: Piter explicitly confirmed October13.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“Choose a business you understand and name its target market. Who buys from it, and what do they want?”</a:t>
            </a:r>
          </a:p>
          <a:p xmlns:a="http://schemas.openxmlformats.org/drawingml/2006/main">
            <a:r>
              <a:t>DO: Start a 2-minute timer. If stuck, offer a familiar business category such as a cafe, shoe shop, or digital-book service.</a:t>
            </a:r>
          </a:p>
          <a:p xmlns:a="http://schemas.openxmlformats.org/drawingml/2006/main">
            <a:r>
              <a:t>CHECK: Business and target market both recorded.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  <a:p xmlns:a="http://schemas.openxmlformats.org/drawingml/2006/main">
            <a:r>
              <a:t>Pair structure: Piter explicitly confirmed October13.</a:t>
            </a:r>
          </a:p>
          <a:p xmlns:a="http://schemas.openxmlformats.org/drawingml/2006/main">
            <a:r>
              <a:t>Worksheet: two pages printed front/back (long-edge duplex). Students may continue any answer on page 2, labeled P/E/S/T. The business summary is on page 2. Check both sides.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“What outside rule or policy could affect this business? Give a connected example and explain both possible impacts.”</a:t>
            </a:r>
          </a:p>
          <a:p xmlns:a="http://schemas.openxmlformats.org/drawingml/2006/main">
            <a:r>
              <a:t>DO: Read the category cue, start a 3-minute timer, stand at a deliberate scan point.</a:t>
            </a:r>
          </a:p>
          <a:p xmlns:a="http://schemas.openxmlformats.org/drawingml/2006/main">
            <a:r>
              <a:t>LISTEN FOR: External factor, category fit, effect on this business or target market, because reasoning.</a:t>
            </a:r>
          </a:p>
          <a:p xmlns:a="http://schemas.openxmlformats.org/drawingml/2006/main">
            <a:r>
              <a:t>IF WEAK: Ask “What changed outside the business? What happens to costs, customers, or access?” Model a question, not their answer.</a:t>
            </a:r>
          </a:p>
          <a:p xmlns:a="http://schemas.openxmlformats.org/drawingml/2006/main">
            <a:r>
              <a:t>IF STRONG: Ask which impact matters most and why.</a:t>
            </a:r>
          </a:p>
          <a:p xmlns:a="http://schemas.openxmlformats.org/drawingml/2006/main">
            <a:r>
              <a:t>CHECK: Do not classify the business’s own ad, discount, or new app decision as the external factor.</a:t>
            </a:r>
          </a:p>
          <a:p xmlns:a="http://schemas.openxmlformats.org/drawingml/2006/main">
            <a:r>
              <a:t>PAIR MOVE: Give each partner a brief turn to explain an impact before recording the shared answer. Rotate roles at the next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  <a:p xmlns:a="http://schemas.openxmlformats.org/drawingml/2006/main">
            <a:r>
              <a:t>Pair structure: Piter explicitly confirmed October13.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“What outside economic change could affect costs or demand? Give a connected example and explain both possible impacts.”</a:t>
            </a:r>
          </a:p>
          <a:p xmlns:a="http://schemas.openxmlformats.org/drawingml/2006/main">
            <a:r>
              <a:t>DO: Read the category cue, start a 3-minute timer, stand at a deliberate scan point.</a:t>
            </a:r>
          </a:p>
          <a:p xmlns:a="http://schemas.openxmlformats.org/drawingml/2006/main">
            <a:r>
              <a:t>LISTEN FOR: External factor, category fit, effect on this business or target market, because reasoning.</a:t>
            </a:r>
          </a:p>
          <a:p xmlns:a="http://schemas.openxmlformats.org/drawingml/2006/main">
            <a:r>
              <a:t>IF WEAK: Ask “What changed outside the business? What happens to costs, customers, or access?” Model a question, not their answer.</a:t>
            </a:r>
          </a:p>
          <a:p xmlns:a="http://schemas.openxmlformats.org/drawingml/2006/main">
            <a:r>
              <a:t>IF STRONG: Ask which impact matters most and why.</a:t>
            </a:r>
          </a:p>
          <a:p xmlns:a="http://schemas.openxmlformats.org/drawingml/2006/main">
            <a:r>
              <a:t>CHECK: Do not classify the business’s own ad, discount, or new app decision as the external factor.</a:t>
            </a:r>
          </a:p>
          <a:p xmlns:a="http://schemas.openxmlformats.org/drawingml/2006/main">
            <a:r>
              <a:t>PAIR MOVE: Give each partner a brief turn to explain an impact before recording the shared answer. Rotate roles at the next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  <a:p xmlns:a="http://schemas.openxmlformats.org/drawingml/2006/main">
            <a:r>
              <a:t>Pair structure: Piter explicitly confirmed October13.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“What change in the customers or community could affect demand? Give a connected example and explain both possible impacts.”</a:t>
            </a:r>
          </a:p>
          <a:p xmlns:a="http://schemas.openxmlformats.org/drawingml/2006/main">
            <a:r>
              <a:t>DO: Read the category cue, start a 3-minute timer, stand at a deliberate scan point.</a:t>
            </a:r>
          </a:p>
          <a:p xmlns:a="http://schemas.openxmlformats.org/drawingml/2006/main">
            <a:r>
              <a:t>LISTEN FOR: External factor, category fit, effect on this business or target market, because reasoning.</a:t>
            </a:r>
          </a:p>
          <a:p xmlns:a="http://schemas.openxmlformats.org/drawingml/2006/main">
            <a:r>
              <a:t>IF WEAK: Ask “What changed outside the business? What happens to costs, customers, or access?” Model a question, not their answer.</a:t>
            </a:r>
          </a:p>
          <a:p xmlns:a="http://schemas.openxmlformats.org/drawingml/2006/main">
            <a:r>
              <a:t>IF STRONG: Ask which impact matters most and why.</a:t>
            </a:r>
          </a:p>
          <a:p xmlns:a="http://schemas.openxmlformats.org/drawingml/2006/main">
            <a:r>
              <a:t>CHECK: Do not classify the business’s own ad, discount, or new app decision as the external factor.</a:t>
            </a:r>
          </a:p>
          <a:p xmlns:a="http://schemas.openxmlformats.org/drawingml/2006/main">
            <a:r>
              <a:t>PAIR MOVE: Give each partner a brief turn to explain an impact before recording the shared answer. Rotate roles at the next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  <a:p xmlns:a="http://schemas.openxmlformats.org/drawingml/2006/main">
            <a:r>
              <a:t>Pair structure: Piter explicitly confirmed October13.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“What outside technology change could affect access, service, or competition? Give a connected example and explain both possible impacts.”</a:t>
            </a:r>
          </a:p>
          <a:p xmlns:a="http://schemas.openxmlformats.org/drawingml/2006/main">
            <a:r>
              <a:t>DO: Read the category cue, start a 3-minute timer, stand at a deliberate scan point.</a:t>
            </a:r>
          </a:p>
          <a:p xmlns:a="http://schemas.openxmlformats.org/drawingml/2006/main">
            <a:r>
              <a:t>LISTEN FOR: External factor, category fit, effect on this business or target market, because reasoning.</a:t>
            </a:r>
          </a:p>
          <a:p xmlns:a="http://schemas.openxmlformats.org/drawingml/2006/main">
            <a:r>
              <a:t>IF WEAK: Ask “What changed outside the business? What happens to costs, customers, or access?” Model a question, not their answer.</a:t>
            </a:r>
          </a:p>
          <a:p xmlns:a="http://schemas.openxmlformats.org/drawingml/2006/main">
            <a:r>
              <a:t>IF STRONG: Ask which impact matters most and why.</a:t>
            </a:r>
          </a:p>
          <a:p xmlns:a="http://schemas.openxmlformats.org/drawingml/2006/main">
            <a:r>
              <a:t>CHECK: Do not classify the business’s own ad, discount, or new app decision as the external factor.</a:t>
            </a:r>
          </a:p>
          <a:p xmlns:a="http://schemas.openxmlformats.org/drawingml/2006/main">
            <a:r>
              <a:t>PAIR MOVE: Give each partner a brief turn to explain an impact before recording the shared answer. Rotate roles at the next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  <a:p xmlns:a="http://schemas.openxmlformats.org/drawingml/2006/main">
            <a:r>
              <a:t>Pair structure: Piter explicitly confirmed October13.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“Connect the analysis to a business decision. Which opportunity would you use? Which risk would you address? Why?”</a:t>
            </a:r>
          </a:p>
          <a:p xmlns:a="http://schemas.openxmlformats.org/drawingml/2006/main">
            <a:r>
              <a:t>DO: Invite2–4 complete sentences as a planning guide, not a scored word count. Students may orally rehearse first.</a:t>
            </a:r>
          </a:p>
          <a:p xmlns:a="http://schemas.openxmlformats.org/drawingml/2006/main">
            <a:r>
              <a:t>CHECK: Responses follow from their own factors, not generic advice.</a:t>
            </a:r>
          </a:p>
          <a:p xmlns:a="http://schemas.openxmlformats.org/drawingml/2006/main">
            <a:r>
              <a:t>EXTEND: Compare priorities or two interacting factors and justify a trade-off.</a:t>
            </a:r>
          </a:p>
          <a:p xmlns:a="http://schemas.openxmlformats.org/drawingml/2006/main">
            <a:r>
              <a:t>PAIR CHECK: Both partners can explain the agreed business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  <a:p xmlns:a="http://schemas.openxmlformats.org/drawingml/2006/main">
            <a:r>
              <a:t>Pair structure: Piter explicitly confirmed October13.</a:t>
            </a:r>
          </a:p>
          <a:p xmlns:a="http://schemas.openxmlformats.org/drawingml/2006/main">
            <a:r>
              <a:t>Worksheet: two pages printed front/back (long-edge duplex). Students may continue any answer on page 2, labeled P/E/S/T. The business summary is on page 2. Check both sides.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“Check each section. Circle a place where you explained why. Use remaining time to practise the approved Terms to Know.”</a:t>
            </a:r>
          </a:p>
          <a:p xmlns:a="http://schemas.openxmlformats.org/drawingml/2006/main">
            <a:r>
              <a:t>DO: Record separate Block 1 and Block 5 stops.</a:t>
            </a:r>
          </a:p>
          <a:p xmlns:a="http://schemas.openxmlformats.org/drawingml/2006/main">
            <a:r>
              <a:t>OPEN: Confirm quiz scope, collection route, how pair evidence will be assessed, and grading with Pat. Do not invent a deadline.</a:t>
            </a:r>
          </a:p>
          <a:p xmlns:a="http://schemas.openxmlformats.org/drawingml/2006/main">
            <a:r>
              <a:t>RECORD: Block 1 stop/support needed __ ; Block 5 stop/support needed 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Principles of Marketing, Chapter 2, printed pp.19–20, Figure2.1. Activity/timing: Piter reconstructed October13 notes and whiteboard reference. Grading descriptors: proposed for SBTE approval, not established school scoring policy. Images: generated hypothetical coffee-shop scenarios, not actual events.</a:t>
            </a:r>
          </a:p>
          <a:p xmlns:a="http://schemas.openxmlformats.org/drawingml/2006/main">
            <a:r>
              <a:t>Pair structure: Piter explicitly confirmed October13.</a:t>
            </a:r>
          </a:p>
          <a:p xmlns:a="http://schemas.openxmlformats.org/drawingml/2006/main">
            <a:r>
              <a:t>Worksheet: two pages printed front/back (long-edge duplex). Students may continue any answer on page 2, labeled P/E/S/T. The business summary is on page 2. Check both sides.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cb761476cb4b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8f962432ab44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013338dd6443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8e017101fd464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4d97b572e746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1e82b5361846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1FF729-94F5-4271-8DF9-FE910A9314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D3424A-3C8B-4B32-AF70-1561CB08C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F668A93-4923-462D-B480-10FFDA88BE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E429BC-8DC1-47DA-9258-51AB68C53C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1DC837-1D4B-49B9-A6E6-BAA430CE46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F049FD-8B0D-44DE-AC5E-3793B07B09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66BF9C-1F13-4D0A-93A3-C2BB86A5B4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890F5EF-D894-4A18-A936-AA06DD5815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D2E5A5-C358-4899-928F-CFA0076380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DA66C1-CD36-45F5-A5A5-05FF057C4E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c684db4edd482b" /><Relationship Type="http://schemas.openxmlformats.org/officeDocument/2006/relationships/slideLayout" Target="/ppt/slideLayouts/slideLayout1.xml" Id="Refd14b323a044f65" /><Relationship Type="http://schemas.openxmlformats.org/officeDocument/2006/relationships/slideLayout" Target="/ppt/slideLayouts/slideLayout2.xml" Id="Re796649e82024bb8" /><Relationship Type="http://schemas.openxmlformats.org/officeDocument/2006/relationships/slideLayout" Target="/ppt/slideLayouts/slideLayout3.xml" Id="Rcd94acb559f24e68" /><Relationship Type="http://schemas.openxmlformats.org/officeDocument/2006/relationships/slideLayout" Target="/ppt/slideLayouts/slideLayout4.xml" Id="Rd3fd4f51fa8f4e93" /><Relationship Type="http://schemas.openxmlformats.org/officeDocument/2006/relationships/slideLayout" Target="/ppt/slideLayouts/slideLayout5.xml" Id="Ra9c7c9c281d547f4" /><Relationship Type="http://schemas.openxmlformats.org/officeDocument/2006/relationships/slideLayout" Target="/ppt/slideLayouts/slideLayout6.xml" Id="R167899e713274d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d14b323a044f65"/>
    <p:sldLayoutId xmlns:r="http://schemas.openxmlformats.org/officeDocument/2006/relationships" id="2147483650" r:id="Re796649e82024bb8"/>
    <p:sldLayoutId xmlns:r="http://schemas.openxmlformats.org/officeDocument/2006/relationships" id="2147483651" r:id="Rcd94acb559f24e68"/>
    <p:sldLayoutId xmlns:r="http://schemas.openxmlformats.org/officeDocument/2006/relationships" id="2147483652" r:id="Rd3fd4f51fa8f4e93"/>
    <p:sldLayoutId xmlns:r="http://schemas.openxmlformats.org/officeDocument/2006/relationships" id="2147483653" r:id="Ra9c7c9c281d547f4"/>
    <p:sldLayoutId xmlns:r="http://schemas.openxmlformats.org/officeDocument/2006/relationships" id="2147483654" r:id="R167899e713274d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8bdfa20af145e7" /><Relationship Type="http://schemas.openxmlformats.org/officeDocument/2006/relationships/image" Target="/ppt/media/image.png" Id="R846ff98d214e4b49" /><Relationship Type="http://schemas.openxmlformats.org/officeDocument/2006/relationships/notesSlide" Target="/ppt/notesSlides/notesSlide1.xml" Id="R438a8aa476dd44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6c010d6a4a4b84" /><Relationship Type="http://schemas.openxmlformats.org/officeDocument/2006/relationships/notesSlide" Target="/ppt/notesSlides/notesSlide2.xml" Id="Rb6be42f790c347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a38ef1f66940ef" /><Relationship Type="http://schemas.openxmlformats.org/officeDocument/2006/relationships/notesSlide" Target="/ppt/notesSlides/notesSlide3.xml" Id="Raec9cad12d1940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feac477dc14fad" /><Relationship Type="http://schemas.openxmlformats.org/officeDocument/2006/relationships/notesSlide" Target="/ppt/notesSlides/notesSlide4.xml" Id="R1959bae3dd4645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879ab908f149da" /><Relationship Type="http://schemas.openxmlformats.org/officeDocument/2006/relationships/image" Target="/ppt/media/image2.png" Id="Ref048667347e47da" /><Relationship Type="http://schemas.openxmlformats.org/officeDocument/2006/relationships/notesSlide" Target="/ppt/notesSlides/notesSlide5.xml" Id="Rb1e75d224df74a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01d37ff7eb4e2b" /><Relationship Type="http://schemas.openxmlformats.org/officeDocument/2006/relationships/image" Target="/ppt/media/image3.png" Id="Rff6c4ea4da144669" /><Relationship Type="http://schemas.openxmlformats.org/officeDocument/2006/relationships/notesSlide" Target="/ppt/notesSlides/notesSlide6.xml" Id="R47efc28f1b6941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cf128b3ec449f2" /><Relationship Type="http://schemas.openxmlformats.org/officeDocument/2006/relationships/image" Target="/ppt/media/image4.png" Id="R090f6460d9bf491d" /><Relationship Type="http://schemas.openxmlformats.org/officeDocument/2006/relationships/notesSlide" Target="/ppt/notesSlides/notesSlide7.xml" Id="R7ed8e07b58d14c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c6668e4f184899" /><Relationship Type="http://schemas.openxmlformats.org/officeDocument/2006/relationships/notesSlide" Target="/ppt/notesSlides/notesSlide8.xml" Id="Rd9b80e378a144c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4b6234c2c84c5c" /><Relationship Type="http://schemas.openxmlformats.org/officeDocument/2006/relationships/image" Target="/ppt/media/image5.png" Id="R96982ea9feab447e" /><Relationship Type="http://schemas.openxmlformats.org/officeDocument/2006/relationships/notesSlide" Target="/ppt/notesSlides/notesSlide9.xml" Id="R1815586bcd0e46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c00b0dc9764e58" /><Relationship Type="http://schemas.openxmlformats.org/officeDocument/2006/relationships/image" Target="/ppt/media/image6.png" Id="Ra31df69b0e704eb7" /><Relationship Type="http://schemas.openxmlformats.org/officeDocument/2006/relationships/notesSlide" Target="/ppt/notesSlides/notesSlide10.xml" Id="R02ebc4ca28ac43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4c5470fb7f4574" /><Relationship Type="http://schemas.openxmlformats.org/officeDocument/2006/relationships/image" Target="/ppt/media/image7.png" Id="Rbae541e4b43b4f41" /><Relationship Type="http://schemas.openxmlformats.org/officeDocument/2006/relationships/notesSlide" Target="/ppt/notesSlides/notesSlide11.xml" Id="R90741c39b71941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a1de3dc2014559" /><Relationship Type="http://schemas.openxmlformats.org/officeDocument/2006/relationships/image" Target="/ppt/media/image8.png" Id="Re17529d5a9d84b19" /><Relationship Type="http://schemas.openxmlformats.org/officeDocument/2006/relationships/notesSlide" Target="/ppt/notesSlides/notesSlide12.xml" Id="R4730d67f0c0d4b2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b3f0a9017c457e" /><Relationship Type="http://schemas.openxmlformats.org/officeDocument/2006/relationships/notesSlide" Target="/ppt/notesSlides/notesSlide13.xml" Id="R0f96ce80338943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7bbaa1348b4cdd" /><Relationship Type="http://schemas.openxmlformats.org/officeDocument/2006/relationships/notesSlide" Target="/ppt/notesSlides/notesSlide14.xml" Id="Re8d15488353c4d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63D74-BCDB-495D-AFC0-008DEC7D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PEST analysis for your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EC1D4-77E0-42F1-9046-BC56EB24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30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6FEA5-DD06-4AAD-856C-595F8C12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6524625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Work with a partner.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Choose one business together. Explain how outside changes could help or hurt it.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AFBDF-8BFA-45EC-8AA8-E52735B209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ff98d214e4b49"/>
          <a:stretch xmlns:a="http://schemas.openxmlformats.org/drawingml/2006/main"/>
        </p:blipFill>
        <p:spPr>
          <a:xfrm xmlns:a="http://schemas.openxmlformats.org/drawingml/2006/main">
            <a:off x="7715250" y="2455109"/>
            <a:ext cx="3714750" cy="20906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99115"/>
      </p:ext>
    </p:extLst>
  </p:cSld>
  <p:transition spd="fast" advClick="1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A6555-62BB-4E48-8F17-970002D6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Activity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FC53A-0BCF-4AAF-BFFA-7196F5F4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A 30-minute planning 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0A2B9-8BBB-492B-97ED-5EBAF6FD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10572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Instructions and grading: 3–5 min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Business and target market: 2 min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P / E / S / T: 3 min each = 12 min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Business summary: 5 min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Buffer and Terms to Know: 6–8 min</a:t>
            </a:r>
          </a:p>
        </p:txBody>
      </p:sp>
    </p:spTree>
    <p:extLst>
      <p:ext uri="{BB962C8B-B14F-4D97-AF65-F5344CB8AC3E}">
        <p14:creationId xmlns:p14="http://schemas.microsoft.com/office/powerpoint/2010/main" val="1875295101"/>
      </p:ext>
    </p:extLst>
  </p:cSld>
  <p:transition spd="fast" advClick="1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5991F-CAB4-4F8C-9EA0-74DC493A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Your PEST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F8993-12E4-4860-A430-2BF6067C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Success criteria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1B949-CFA8-4C8B-B812-F2A5EE63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10572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Accurate external factors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Examples connected to your business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Positive and negative impacts with reasons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 summary explaining business responses</a:t>
            </a:r>
          </a:p>
        </p:txBody>
      </p:sp>
    </p:spTree>
    <p:extLst>
      <p:ext uri="{BB962C8B-B14F-4D97-AF65-F5344CB8AC3E}">
        <p14:creationId xmlns:p14="http://schemas.microsoft.com/office/powerpoint/2010/main" val="239302869"/>
      </p:ext>
    </p:extLst>
  </p:cSld>
  <p:transition spd="fast" advClick="1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C0767-3EA9-4974-A9CB-0EC26FFD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Clear business explanations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814F7-2009-4115-9D1F-A44D5B5B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Both partners explain why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95447-A0EA-4CF8-9180-2042CD85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10572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Use business terms and complete thoughts.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“This could affect our business because…”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“Our business could respond by… because…”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Use your textbook and notes. Rehearse your explanation with your partner.</a:t>
            </a:r>
          </a:p>
        </p:txBody>
      </p:sp>
    </p:spTree>
    <p:extLst>
      <p:ext uri="{BB962C8B-B14F-4D97-AF65-F5344CB8AC3E}">
        <p14:creationId xmlns:p14="http://schemas.microsoft.com/office/powerpoint/2010/main" val="875405738"/>
      </p:ext>
    </p:extLst>
  </p:cSld>
  <p:transition spd="fast" advClick="1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A9A2A-E0DE-4C9C-8C2A-6BB9B5F5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B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5B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45B8A"/>
                </a:solidFill>
                <a:latin typeface="Helvetica Neue"/>
                <a:ea typeface="Helvetica Neue"/>
                <a:cs typeface="Helvetica Neue"/>
              </a:rPr>
              <a:t>One hypothetical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A5168-AE56-4213-A391-26134EE7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Think first; answers appear on the next clicks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E5021-EAD6-4B29-9EC3-EC5AA14C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6524625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 coffee shop faces stricter food-safety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Which PEST category fits?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What could help the business?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What could create a difficulty?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D80DE-3F3C-4E0C-A7C4-51BF6C7651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48667347e47da"/>
          <a:srcRect xmlns:a="http://schemas.openxmlformats.org/drawingml/2006/main" l="0" t="0" r="75000" b="0"/>
          <a:stretch xmlns:a="http://schemas.openxmlformats.org/drawingml/2006/main"/>
        </p:blipFill>
        <p:spPr>
          <a:xfrm xmlns:a="http://schemas.openxmlformats.org/drawingml/2006/main">
            <a:off x="8334375" y="1571625"/>
            <a:ext cx="1762125" cy="3857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18979"/>
      </p:ext>
    </p:extLst>
  </p:cSld>
  <p:transition spd="fast" advClick="1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3F08E-0C04-4316-AE21-0ECD7767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B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5B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45B8A"/>
                </a:solidFill>
                <a:latin typeface="Helvetica Neue"/>
                <a:ea typeface="Helvetica Neue"/>
                <a:cs typeface="Helvetica Neue"/>
              </a:rPr>
              <a:t>Political influence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86C64-3BB1-4389-A094-29579F13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First reveal: category and positive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4F25F-F5D4-48C6-A608-73A19359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6524625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Stricter food-safety rules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+ Customers may trust a shop that demonstrates compliance.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− What possible cost could the shop face?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A0C73-C7DA-4AF1-847B-7FEEBF3DFB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c4ea4da144669"/>
          <a:srcRect xmlns:a="http://schemas.openxmlformats.org/drawingml/2006/main" l="0" t="0" r="75000" b="0"/>
          <a:stretch xmlns:a="http://schemas.openxmlformats.org/drawingml/2006/main"/>
        </p:blipFill>
        <p:spPr>
          <a:xfrm xmlns:a="http://schemas.openxmlformats.org/drawingml/2006/main">
            <a:off x="8334375" y="1571625"/>
            <a:ext cx="1762125" cy="3857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532592"/>
      </p:ext>
    </p:extLst>
  </p:cSld>
  <p:transition spd="fast" advClick="1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585D7-8F60-4792-B78B-D76B3C86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B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5B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45B8A"/>
                </a:solidFill>
                <a:latin typeface="Helvetica Neue"/>
                <a:ea typeface="Helvetica Neue"/>
                <a:cs typeface="Helvetica Neue"/>
              </a:rPr>
              <a:t>Political influence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1A494-B275-4834-A748-9E066A36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Second reveal: negative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D6CF8-BA9C-4D04-8F84-9343097D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6524625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Stricter food-safety rules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+ Compliance may strengthen customer trust.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− Training and equipment may increase operating costs.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FA09D-EFB3-472D-B3F0-9919E1D61D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f6460d9bf491d"/>
          <a:srcRect xmlns:a="http://schemas.openxmlformats.org/drawingml/2006/main" l="0" t="0" r="75000" b="0"/>
          <a:stretch xmlns:a="http://schemas.openxmlformats.org/drawingml/2006/main"/>
        </p:blipFill>
        <p:spPr>
          <a:xfrm xmlns:a="http://schemas.openxmlformats.org/drawingml/2006/main">
            <a:off x="8334375" y="1571625"/>
            <a:ext cx="1762125" cy="3857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205223"/>
      </p:ext>
    </p:extLst>
  </p:cSld>
  <p:transition spd="fast" advClick="1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27AAB-4671-48DA-8FD9-F2783BB6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Business and target 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93A04-D3D7-4F89-BF99-9ACCD570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2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74B09-C54E-428F-9E8E-8A2BD90B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10572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Choose one business together.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Write both names and the target market.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One partner explains; the other records.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Switch roles for each PEST category.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Both partners contribute reasoning.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More room: use the back (page 2). Label P, E, S, or T.</a:t>
            </a:r>
          </a:p>
        </p:txBody>
      </p:sp>
    </p:spTree>
    <p:extLst>
      <p:ext uri="{BB962C8B-B14F-4D97-AF65-F5344CB8AC3E}">
        <p14:creationId xmlns:p14="http://schemas.microsoft.com/office/powerpoint/2010/main" val="626453266"/>
      </p:ext>
    </p:extLst>
  </p:cSld>
  <p:transition spd="fast" advClick="1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1970E-B925-4B7D-8E08-4DF03605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B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5B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45B8A"/>
                </a:solidFill>
                <a:latin typeface="Helvetica Neue"/>
                <a:ea typeface="Helvetica Neue"/>
                <a:cs typeface="Helvetica Neue"/>
              </a:rPr>
              <a:t>P  Political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87880-19F5-4019-A9F9-CB5C7989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3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1EAC7-404B-4954-8C62-1B242432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6524625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Government policies, laws, or intervention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What outside rule or policy could affect this business?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Together: factor/example, + and − impacts.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Explain why. Switch explainer/recorder.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F092F-5483-49A7-8537-3F470AB926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82ea9feab447e"/>
          <a:srcRect xmlns:a="http://schemas.openxmlformats.org/drawingml/2006/main" l="0" t="0" r="75000" b="0"/>
          <a:stretch xmlns:a="http://schemas.openxmlformats.org/drawingml/2006/main"/>
        </p:blipFill>
        <p:spPr>
          <a:xfrm xmlns:a="http://schemas.openxmlformats.org/drawingml/2006/main">
            <a:off x="8334375" y="1571625"/>
            <a:ext cx="1762125" cy="3857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064997"/>
      </p:ext>
    </p:extLst>
  </p:cSld>
  <p:transition spd="fast" advClick="1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73B1C-034B-4B99-B883-2654E22D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E  Economic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37FED-6BB2-44E2-919C-6A238804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3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E8407-FE8A-405C-A4F9-9953ECBA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6524625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Inflation, consumer income, exchange rates, or credit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What outside economic change could affect costs or demand?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Together: factor/example, + and − impacts.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Explain why. Switch explainer/recorder.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50AD1-5C84-4DE0-9451-433863CCB6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df69b0e704eb7"/>
          <a:srcRect xmlns:a="http://schemas.openxmlformats.org/drawingml/2006/main" l="25000" t="0" r="50000" b="0"/>
          <a:stretch xmlns:a="http://schemas.openxmlformats.org/drawingml/2006/main"/>
        </p:blipFill>
        <p:spPr>
          <a:xfrm xmlns:a="http://schemas.openxmlformats.org/drawingml/2006/main">
            <a:off x="8334375" y="1571625"/>
            <a:ext cx="1762125" cy="3857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232652"/>
      </p:ext>
    </p:extLst>
  </p:cSld>
  <p:transition spd="fast" advClick="1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6BA6D-5218-420F-B088-734AAE2E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76509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7650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765091"/>
                </a:solidFill>
                <a:latin typeface="Helvetica Neue"/>
                <a:ea typeface="Helvetica Neue"/>
                <a:cs typeface="Helvetica Neue"/>
              </a:rPr>
              <a:t>S  Social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A3A9D-60D8-469E-93AB-99EB2C2C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3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52F52-15BD-4705-836E-DD8E6815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6524625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Population, education, social patterns, or preferences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What change in the customers or community could affect demand?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Together: factor/example, + and − impacts.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Explain why. Switch explainer/recorder.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4330E-993B-447E-9B91-204E6B7B42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541e4b43b4f41"/>
          <a:srcRect xmlns:a="http://schemas.openxmlformats.org/drawingml/2006/main" l="50000" t="0" r="25000" b="0"/>
          <a:stretch xmlns:a="http://schemas.openxmlformats.org/drawingml/2006/main"/>
        </p:blipFill>
        <p:spPr>
          <a:xfrm xmlns:a="http://schemas.openxmlformats.org/drawingml/2006/main">
            <a:off x="8334375" y="1571625"/>
            <a:ext cx="1762125" cy="3857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75084"/>
      </p:ext>
    </p:extLst>
  </p:cSld>
  <p:transition spd="fast" advClick="1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7B800-10AA-48FE-A90E-1A122565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B357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B357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B35722"/>
                </a:solidFill>
                <a:latin typeface="Helvetica Neue"/>
                <a:ea typeface="Helvetica Neue"/>
                <a:cs typeface="Helvetica Neue"/>
              </a:rPr>
              <a:t>T  Technological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F23A5-3024-48AC-9553-9FFCE6D2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3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71C47-C6EC-4332-9DA0-308AFFE8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6524625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Access to technology or the rate of technological change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What outside technology change could affect access, service, or competition?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Together: factor/example, + and − impacts.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Explain why. Switch explainer/recorder.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8D236-4694-4913-AEF8-3CABFD3B6D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529d5a9d84b19"/>
          <a:srcRect xmlns:a="http://schemas.openxmlformats.org/drawingml/2006/main" l="75000" t="0" r="0" b="0"/>
          <a:stretch xmlns:a="http://schemas.openxmlformats.org/drawingml/2006/main"/>
        </p:blipFill>
        <p:spPr>
          <a:xfrm xmlns:a="http://schemas.openxmlformats.org/drawingml/2006/main">
            <a:off x="8334375" y="1571625"/>
            <a:ext cx="1762125" cy="3857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50425"/>
      </p:ext>
    </p:extLst>
  </p:cSld>
  <p:transition spd="fast" advClick="1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E7F8E-31C3-4298-8F23-4F12DA5F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Business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BB1AE-AC3D-4A43-BEC3-9E796036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5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44AFA-1E39-4651-8AC3-193F1A25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10572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How could your PEST findings affect the business’s potential success?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How would the business use a positive impact?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How would it respond to a negative impact?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Explain the reason for each response.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Agree on your response together.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Write the summary on the back (page 2).</a:t>
            </a:r>
          </a:p>
        </p:txBody>
      </p:sp>
    </p:spTree>
    <p:extLst>
      <p:ext uri="{BB962C8B-B14F-4D97-AF65-F5344CB8AC3E}">
        <p14:creationId xmlns:p14="http://schemas.microsoft.com/office/powerpoint/2010/main" val="2076704438"/>
      </p:ext>
    </p:extLst>
  </p:cSld>
  <p:transition spd="fast" advClick="1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9AA4E-26F5-4F7F-9618-0EC7EF96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Completion check and Terms to Know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7E0A6-751E-4F25-9A06-FA41FD13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0"/>
                </a:solidFill>
                <a:latin typeface="Helvetica Neue"/>
                <a:ea typeface="Helvetica Neue"/>
                <a:cs typeface="Helvetica Neue"/>
              </a:rPr>
              <a:t>Remaining 6–8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AC9A6-29EE-41A6-98AA-DAD26DA1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10572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Business and target market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All four PEST sections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Connected examples and explained + / − impacts</a:t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Summary on the back with business responses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Then practise Terms to Know for Thursday’s quiz.</a:t>
            </a:r>
          </a:p>
        </p:txBody>
      </p:sp>
    </p:spTree>
    <p:extLst>
      <p:ext uri="{BB962C8B-B14F-4D97-AF65-F5344CB8AC3E}">
        <p14:creationId xmlns:p14="http://schemas.microsoft.com/office/powerpoint/2010/main" val="136835660"/>
      </p:ext>
    </p:extLst>
  </p:cSld>
  <p:transition spd="fast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2026-10-13T14:02:52.4960000Z</dcterms:created>
  <dcterms:modified xsi:type="dcterms:W3CDTF">2026-10-13T14:02:52.4970000Z</dcterms:modified>
</coreProperties>
</file>