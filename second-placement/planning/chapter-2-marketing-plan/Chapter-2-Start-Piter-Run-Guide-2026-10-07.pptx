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8d011306d34946" /><Relationship Type="http://schemas.openxmlformats.org/officeDocument/2006/relationships/extended-properties" Target="/docProps/app.xml" Id="Rd99b708439d14097" /><Relationship Type="http://schemas.openxmlformats.org/officeDocument/2006/relationships/officeDocument" Target="/ppt/presentation.xml" Id="R191ee001273843a4" /></Relationships>
</file>

<file path=ppt/presentation.xml><?xml version="1.0" encoding="utf-8"?>
<p:presentation xmlns:p="http://schemas.openxmlformats.org/presentationml/2006/main">
  <p:sldMasterIdLst>
    <p:sldMasterId xmlns:r="http://schemas.openxmlformats.org/officeDocument/2006/relationships" id="2147483648" r:id="R534b3bf73cc94938"/>
  </p:sldMasterIdLst>
  <p:notesMasterIdLst>
    <p:notesMasterId xmlns:r="http://schemas.openxmlformats.org/officeDocument/2006/relationships" r:id="R909363ba9a5d46b3"/>
  </p:notesMasterIdLst>
  <p:sldIdLst>
    <p:sldId xmlns:r="http://schemas.openxmlformats.org/officeDocument/2006/relationships" id="256" r:id="R28dedb41dce247d4"/>
    <p:sldId xmlns:r="http://schemas.openxmlformats.org/officeDocument/2006/relationships" id="257" r:id="R2abcdc1586c64b06"/>
    <p:sldId xmlns:r="http://schemas.openxmlformats.org/officeDocument/2006/relationships" id="258" r:id="R9a0683437c8d4dd1"/>
    <p:sldId xmlns:r="http://schemas.openxmlformats.org/officeDocument/2006/relationships" id="259" r:id="R41db2f09b16b4c67"/>
    <p:sldId xmlns:r="http://schemas.openxmlformats.org/officeDocument/2006/relationships" id="260" r:id="R4e707a67ef764ebb"/>
    <p:sldId xmlns:r="http://schemas.openxmlformats.org/officeDocument/2006/relationships" id="261" r:id="R1939572a54c142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1f88d98613416a" /><Relationship Type="http://schemas.openxmlformats.org/officeDocument/2006/relationships/slideMaster" Target="/ppt/slideMasters/slideMaster1.xml" Id="R534b3bf73cc94938" /><Relationship Type="http://schemas.openxmlformats.org/officeDocument/2006/relationships/notesMaster" Target="/ppt/notesMasters/notesMaster1.xml" Id="R909363ba9a5d46b3" /><Relationship Type="http://schemas.openxmlformats.org/officeDocument/2006/relationships/presProps" Target="/ppt/presProps.xml" Id="R3a3cf150ef8e4396" /><Relationship Type="http://schemas.openxmlformats.org/officeDocument/2006/relationships/tableStyles" Target="/ppt/tableStyles.xml" Id="R6768cdbb29ec40e6" /><Relationship Type="http://schemas.openxmlformats.org/officeDocument/2006/relationships/slide" Target="/ppt/slides/slide1.xml" Id="R28dedb41dce247d4" /><Relationship Type="http://schemas.openxmlformats.org/officeDocument/2006/relationships/slide" Target="/ppt/slides/slide2.xml" Id="R2abcdc1586c64b06" /><Relationship Type="http://schemas.openxmlformats.org/officeDocument/2006/relationships/slide" Target="/ppt/slides/slide3.xml" Id="R9a0683437c8d4dd1" /><Relationship Type="http://schemas.openxmlformats.org/officeDocument/2006/relationships/slide" Target="/ppt/slides/slide4.xml" Id="R41db2f09b16b4c67" /><Relationship Type="http://schemas.openxmlformats.org/officeDocument/2006/relationships/slide" Target="/ppt/slides/slide5.xml" Id="R4e707a67ef764ebb" /><Relationship Type="http://schemas.openxmlformats.org/officeDocument/2006/relationships/slide" Target="/ppt/slides/slide6.xml" Id="R1939572a54c142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5338b880dc4d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1c5375a6f34943" /><Relationship Type="http://schemas.openxmlformats.org/officeDocument/2006/relationships/notesMaster" Target="/ppt/notesMasters/notesMaster1.xml" Id="Rcd52ab20c72b4a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235e9bf4434a97" /><Relationship Type="http://schemas.openxmlformats.org/officeDocument/2006/relationships/notesMaster" Target="/ppt/notesMasters/notesMaster1.xml" Id="Rf3455950b43c4d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8c3d9f50774e93" /><Relationship Type="http://schemas.openxmlformats.org/officeDocument/2006/relationships/notesMaster" Target="/ppt/notesMasters/notesMaster1.xml" Id="Rf3ae6994d14a4d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a337ceada844d8" /><Relationship Type="http://schemas.openxmlformats.org/officeDocument/2006/relationships/notesMaster" Target="/ppt/notesMasters/notesMaster1.xml" Id="Ra4ac3fb0b2a549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e6fecbb70440da" /><Relationship Type="http://schemas.openxmlformats.org/officeDocument/2006/relationships/notesMaster" Target="/ppt/notesMasters/notesMaster1.xml" Id="R4cd48e8c9bc94d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0f36590af1459d" /><Relationship Type="http://schemas.openxmlformats.org/officeDocument/2006/relationships/notesMaster" Target="/ppt/notesMasters/notesMaster1.xml" Id="R66a87dbc058044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is a planning rail, not a completion promise. Block 1 may need the bounded arrival bridge; do not generalize it to Block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Distribute one page to its student, preferably face down. Set a short quiet reading time. Invite correction, not a public referendum. If a case needs adjudication or a grade change, defer and document rather than deciding aloud. Do not have students exchange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equating 4 with extra slides or confident speaking. A concise answer can be proficient. Mention that individual evidence will be discussed privately. Clear Explanation is feedback-only unless the SBTE has since decided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 in one spot for the prompt. Scan both sides of the room after think time. Take two different answers, not only the first hand. Stop after about three minutes and reveal the term.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2 terms, in book order: marketing plan, PEST analysis, SMART goal, customer profile, metrics, bibliography. Introduce only terms reached in the reading. The planned vocabulary quiz has no verified date/scope. Today’s card practice is safe even if the official file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infer a fixed ability difference between blocks. Use the same academic target, with the Block 1 arrival bridge only if today’s arrival conditions require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1a1a92630443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e66e955fe34942" /><Relationship Type="http://schemas.openxmlformats.org/officeDocument/2006/relationships/slideLayout" Target="/ppt/slideLayouts/slideLayout1.xml" Id="R3a692a9a63b24f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692a9a63b24f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94b7f8c71a43cc" /><Relationship Type="http://schemas.openxmlformats.org/officeDocument/2006/relationships/notesSlide" Target="/ppt/notesSlides/notesSlide1.xml" Id="R96d97cb03cbb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b5dd3b33144c55" /><Relationship Type="http://schemas.openxmlformats.org/officeDocument/2006/relationships/notesSlide" Target="/ppt/notesSlides/notesSlide2.xml" Id="Rc59df53ac44449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4e84e28b3c4afe" /><Relationship Type="http://schemas.openxmlformats.org/officeDocument/2006/relationships/notesSlide" Target="/ppt/notesSlides/notesSlide3.xml" Id="R90719719f2234d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c6613f774a497c" /><Relationship Type="http://schemas.openxmlformats.org/officeDocument/2006/relationships/image" Target="/ppt/media/image.png" Id="R3f0726dce2b44572" /><Relationship Type="http://schemas.openxmlformats.org/officeDocument/2006/relationships/notesSlide" Target="/ppt/notesSlides/notesSlide4.xml" Id="R560e23db6b0842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f7ad7f845645a9" /><Relationship Type="http://schemas.openxmlformats.org/officeDocument/2006/relationships/notesSlide" Target="/ppt/notesSlides/notesSlide5.xml" Id="R6ec4cf5f3c244d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f9cfbb2b4146d6" /><Relationship Type="http://schemas.openxmlformats.org/officeDocument/2006/relationships/notesSlide" Target="/ppt/notesSlides/notesSlide6.xml" Id="R2a25c5d5e3a84c9a" /></Relationships>
</file>

<file path=ppt/slides/slide1.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F2B419-ABA9-49DD-B35F-66F3AB6FD664}"/>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PITER | KEEP THIS OPEN</a:t>
            </a:r>
          </a:p>
        </p:txBody>
      </p:sp>
      <p:sp>
        <p:nvSpPr>
          <p:cNvPr id="2" name="">
            <a:extLst xmlns:a="http://schemas.openxmlformats.org/drawingml/2006/main">
              <a:ext uri="{FF2B5EF4-FFF2-40B4-BE49-F238E27FC236}">
                <a16:creationId xmlns:a16="http://schemas.microsoft.com/office/drawing/2014/main" id="{9DEFA587-156B-415D-87B4-07CD547DCDC3}"/>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Run of show | Chapters 1 to 2</a:t>
            </a:r>
          </a:p>
        </p:txBody>
      </p:sp>
      <p:sp>
        <p:nvSpPr>
          <p:cNvPr id="3" name="">
            <a:extLst xmlns:a="http://schemas.openxmlformats.org/drawingml/2006/main">
              <a:ext uri="{FF2B5EF4-FFF2-40B4-BE49-F238E27FC236}">
                <a16:creationId xmlns:a16="http://schemas.microsoft.com/office/drawing/2014/main" id="{51A16841-5643-404F-A0AA-505C2A63CD4F}"/>
              </a:ext>
            </a:extLst>
          </p:cNvPr>
          <p:cNvSpPr>
            <a:spLocks xmlns:a="http://schemas.openxmlformats.org/drawingml/2006/main" noGrp="1"/>
          </p:cNvSpPr>
          <p:nvPr/>
        </p:nvSpPr>
        <p:spPr>
          <a:xfrm xmlns:a="http://schemas.openxmlformats.org/drawingml/2006/main">
            <a:off x="704850" y="1828800"/>
            <a:ext cx="10001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54A"/>
                </a:solidFill>
                <a:latin typeface="Aptos"/>
                <a:ea typeface="Aptos"/>
                <a:cs typeface="Aptos"/>
              </a:defRPr>
            </a:pPr>
            <a:r>
              <a:rPr sz="2400" b="1">
                <a:solidFill>
                  <a:srgbClr val="17354A"/>
                </a:solidFill>
                <a:latin typeface="Aptos"/>
                <a:ea typeface="Aptos"/>
                <a:cs typeface="Aptos"/>
              </a:rPr>
              <a:t>0–2 min  Agenda and attendance</a:t>
            </a:r>
          </a:p>
        </p:txBody>
      </p:sp>
      <p:sp>
        <p:nvSpPr>
          <p:cNvPr id="4" name="">
            <a:extLst xmlns:a="http://schemas.openxmlformats.org/drawingml/2006/main">
              <a:ext uri="{FF2B5EF4-FFF2-40B4-BE49-F238E27FC236}">
                <a16:creationId xmlns:a16="http://schemas.microsoft.com/office/drawing/2014/main" id="{BB80CB1D-DC2D-4110-8F73-904FDDA6BA87}"/>
              </a:ext>
            </a:extLst>
          </p:cNvPr>
          <p:cNvSpPr>
            <a:spLocks xmlns:a="http://schemas.openxmlformats.org/drawingml/2006/main" noGrp="1"/>
          </p:cNvSpPr>
          <p:nvPr/>
        </p:nvSpPr>
        <p:spPr>
          <a:xfrm xmlns:a="http://schemas.openxmlformats.org/drawingml/2006/main">
            <a:off x="704850" y="2638425"/>
            <a:ext cx="10001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54A"/>
                </a:solidFill>
                <a:latin typeface="Aptos"/>
                <a:ea typeface="Aptos"/>
                <a:cs typeface="Aptos"/>
              </a:defRPr>
            </a:pPr>
            <a:r>
              <a:rPr sz="2400" b="1">
                <a:solidFill>
                  <a:srgbClr val="17354A"/>
                </a:solidFill>
                <a:latin typeface="Aptos"/>
                <a:ea typeface="Aptos"/>
                <a:cs typeface="Aptos"/>
              </a:rPr>
              <a:t>2–10 min  Private feedback pages</a:t>
            </a:r>
          </a:p>
        </p:txBody>
      </p:sp>
      <p:sp>
        <p:nvSpPr>
          <p:cNvPr id="5" name="">
            <a:extLst xmlns:a="http://schemas.openxmlformats.org/drawingml/2006/main">
              <a:ext uri="{FF2B5EF4-FFF2-40B4-BE49-F238E27FC236}">
                <a16:creationId xmlns:a16="http://schemas.microsoft.com/office/drawing/2014/main" id="{B1148D20-D169-4452-A73E-C095B7E5C431}"/>
              </a:ext>
            </a:extLst>
          </p:cNvPr>
          <p:cNvSpPr>
            <a:spLocks xmlns:a="http://schemas.openxmlformats.org/drawingml/2006/main" noGrp="1"/>
          </p:cNvSpPr>
          <p:nvPr/>
        </p:nvSpPr>
        <p:spPr>
          <a:xfrm xmlns:a="http://schemas.openxmlformats.org/drawingml/2006/main">
            <a:off x="704850" y="3448050"/>
            <a:ext cx="10001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54A"/>
                </a:solidFill>
                <a:latin typeface="Aptos"/>
                <a:ea typeface="Aptos"/>
                <a:cs typeface="Aptos"/>
              </a:defRPr>
            </a:pPr>
            <a:r>
              <a:rPr sz="2400" b="1">
                <a:solidFill>
                  <a:srgbClr val="17354A"/>
                </a:solidFill>
                <a:latin typeface="Aptos"/>
                <a:ea typeface="Aptos"/>
                <a:cs typeface="Aptos"/>
              </a:rPr>
              <a:t>10–13 min  Bakery starter</a:t>
            </a:r>
          </a:p>
        </p:txBody>
      </p:sp>
      <p:sp>
        <p:nvSpPr>
          <p:cNvPr id="6" name="">
            <a:extLst xmlns:a="http://schemas.openxmlformats.org/drawingml/2006/main">
              <a:ext uri="{FF2B5EF4-FFF2-40B4-BE49-F238E27FC236}">
                <a16:creationId xmlns:a16="http://schemas.microsoft.com/office/drawing/2014/main" id="{2F413248-C13A-4875-A9AB-BFFCD2D2AC49}"/>
              </a:ext>
            </a:extLst>
          </p:cNvPr>
          <p:cNvSpPr>
            <a:spLocks xmlns:a="http://schemas.openxmlformats.org/drawingml/2006/main" noGrp="1"/>
          </p:cNvSpPr>
          <p:nvPr/>
        </p:nvSpPr>
        <p:spPr>
          <a:xfrm xmlns:a="http://schemas.openxmlformats.org/drawingml/2006/main">
            <a:off x="704850" y="4257675"/>
            <a:ext cx="10191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54A"/>
                </a:solidFill>
                <a:latin typeface="Aptos"/>
                <a:ea typeface="Aptos"/>
                <a:cs typeface="Aptos"/>
              </a:defRPr>
            </a:pPr>
            <a:r>
              <a:rPr sz="2400" b="1">
                <a:solidFill>
                  <a:srgbClr val="17354A"/>
                </a:solidFill>
                <a:latin typeface="Aptos"/>
                <a:ea typeface="Aptos"/>
                <a:cs typeface="Aptos"/>
              </a:rPr>
              <a:t>13+ min  Read p. 18; model one term card</a:t>
            </a:r>
          </a:p>
        </p:txBody>
      </p:sp>
      <p:sp>
        <p:nvSpPr>
          <p:cNvPr id="7" name="">
            <a:extLst xmlns:a="http://schemas.openxmlformats.org/drawingml/2006/main">
              <a:ext uri="{FF2B5EF4-FFF2-40B4-BE49-F238E27FC236}">
                <a16:creationId xmlns:a16="http://schemas.microsoft.com/office/drawing/2014/main" id="{77E7F59E-ADE9-4F5E-B771-E540B5CD4E02}"/>
              </a:ext>
            </a:extLst>
          </p:cNvPr>
          <p:cNvSpPr>
            <a:spLocks xmlns:a="http://schemas.openxmlformats.org/drawingml/2006/main" noGrp="1"/>
          </p:cNvSpPr>
          <p:nvPr/>
        </p:nvSpPr>
        <p:spPr>
          <a:xfrm xmlns:a="http://schemas.openxmlformats.org/drawingml/2006/main">
            <a:off x="704850" y="5629275"/>
            <a:ext cx="10572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E84"/>
                </a:solidFill>
                <a:latin typeface="Aptos"/>
                <a:ea typeface="Aptos"/>
                <a:cs typeface="Aptos"/>
              </a:defRPr>
            </a:pPr>
            <a:r>
              <a:rPr sz="1875" b="1">
                <a:solidFill>
                  <a:srgbClr val="167E84"/>
                </a:solidFill>
                <a:latin typeface="Aptos"/>
                <a:ea typeface="Aptos"/>
                <a:cs typeface="Aptos"/>
              </a:rPr>
              <a:t>If arrival takes longer, protect the reading. Record each block’s real stop.</a:t>
            </a:r>
          </a:p>
        </p:txBody>
      </p:sp>
    </p:spTree>
    <p:extLst>
      <p:ext uri="{BB962C8B-B14F-4D97-AF65-F5344CB8AC3E}">
        <p14:creationId xmlns:p14="http://schemas.microsoft.com/office/powerpoint/2010/main" val="1944753962"/>
      </p:ext>
    </p:extLst>
  </p:cSld>
</p:sld>
</file>

<file path=ppt/slides/slide2.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82EE60-54A6-4FBA-A1D1-79233F1CA1C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MARKETING | CHAPTER 2</a:t>
            </a:r>
          </a:p>
        </p:txBody>
      </p:sp>
      <p:sp>
        <p:nvSpPr>
          <p:cNvPr id="2" name="">
            <a:extLst xmlns:a="http://schemas.openxmlformats.org/drawingml/2006/main">
              <a:ext uri="{FF2B5EF4-FFF2-40B4-BE49-F238E27FC236}">
                <a16:creationId xmlns:a16="http://schemas.microsoft.com/office/drawing/2014/main" id="{1FDFFA2A-FBC8-4261-9BF7-CB03E6FF1B0A}"/>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Feedback: exact words</a:t>
            </a:r>
          </a:p>
        </p:txBody>
      </p:sp>
      <p:sp>
        <p:nvSpPr>
          <p:cNvPr id="3" name="">
            <a:extLst xmlns:a="http://schemas.openxmlformats.org/drawingml/2006/main">
              <a:ext uri="{FF2B5EF4-FFF2-40B4-BE49-F238E27FC236}">
                <a16:creationId xmlns:a16="http://schemas.microsoft.com/office/drawing/2014/main" id="{1A65B565-3CF9-4936-91A3-D6F2001C6611}"/>
              </a:ext>
            </a:extLst>
          </p:cNvPr>
          <p:cNvSpPr>
            <a:spLocks xmlns:a="http://schemas.openxmlformats.org/drawingml/2006/main" noGrp="1"/>
          </p:cNvSpPr>
          <p:nvPr/>
        </p:nvSpPr>
        <p:spPr>
          <a:xfrm xmlns:a="http://schemas.openxmlformats.org/drawingml/2006/main">
            <a:off x="704850" y="18192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54A"/>
                </a:solidFill>
                <a:latin typeface="Aptos"/>
                <a:ea typeface="Aptos"/>
                <a:cs typeface="Aptos"/>
              </a:defRPr>
            </a:pPr>
            <a:r>
              <a:rPr sz="2400" b="1">
                <a:solidFill>
                  <a:srgbClr val="17354A"/>
                </a:solidFill>
                <a:latin typeface="Aptos"/>
                <a:ea typeface="Aptos"/>
                <a:cs typeface="Aptos"/>
              </a:rPr>
              <a:t>“Please read your own page privately.”</a:t>
            </a:r>
          </a:p>
        </p:txBody>
      </p:sp>
      <p:sp>
        <p:nvSpPr>
          <p:cNvPr id="4" name="">
            <a:extLst xmlns:a="http://schemas.openxmlformats.org/drawingml/2006/main">
              <a:ext uri="{FF2B5EF4-FFF2-40B4-BE49-F238E27FC236}">
                <a16:creationId xmlns:a16="http://schemas.microsoft.com/office/drawing/2014/main" id="{9EC7AFC2-0707-412B-969D-3D0E5221B53A}"/>
              </a:ext>
            </a:extLst>
          </p:cNvPr>
          <p:cNvSpPr>
            <a:spLocks xmlns:a="http://schemas.openxmlformats.org/drawingml/2006/main" noGrp="1"/>
          </p:cNvSpPr>
          <p:nvPr/>
        </p:nvSpPr>
        <p:spPr>
          <a:xfrm xmlns:a="http://schemas.openxmlformats.org/drawingml/2006/main">
            <a:off x="704850" y="27813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54A"/>
                </a:solidFill>
                <a:latin typeface="Aptos"/>
                <a:ea typeface="Aptos"/>
                <a:cs typeface="Aptos"/>
              </a:defRPr>
            </a:pPr>
            <a:r>
              <a:rPr sz="2175" b="0">
                <a:solidFill>
                  <a:srgbClr val="17354A"/>
                </a:solidFill>
                <a:latin typeface="Aptos"/>
                <a:ea typeface="Aptos"/>
                <a:cs typeface="Aptos"/>
              </a:rPr>
              <a:t>“The three content areas are purpose, connection to the marketing concept, and example.”</a:t>
            </a:r>
          </a:p>
        </p:txBody>
      </p:sp>
      <p:sp>
        <p:nvSpPr>
          <p:cNvPr id="5" name="">
            <a:extLst xmlns:a="http://schemas.openxmlformats.org/drawingml/2006/main">
              <a:ext uri="{FF2B5EF4-FFF2-40B4-BE49-F238E27FC236}">
                <a16:creationId xmlns:a16="http://schemas.microsoft.com/office/drawing/2014/main" id="{3C4448F0-7A4D-4EB9-A18F-18AA2423DA34}"/>
              </a:ext>
            </a:extLst>
          </p:cNvPr>
          <p:cNvSpPr>
            <a:spLocks xmlns:a="http://schemas.openxmlformats.org/drawingml/2006/main" noGrp="1"/>
          </p:cNvSpPr>
          <p:nvPr/>
        </p:nvSpPr>
        <p:spPr>
          <a:xfrm xmlns:a="http://schemas.openxmlformats.org/drawingml/2006/main">
            <a:off x="704850" y="4238625"/>
            <a:ext cx="10477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E84"/>
                </a:solidFill>
                <a:latin typeface="Aptos"/>
                <a:ea typeface="Aptos"/>
                <a:cs typeface="Aptos"/>
              </a:defRPr>
            </a:pPr>
            <a:r>
              <a:rPr sz="2175" b="1">
                <a:solidFill>
                  <a:srgbClr val="167E84"/>
                </a:solidFill>
                <a:latin typeface="Aptos"/>
                <a:ea typeface="Aptos"/>
                <a:cs typeface="Aptos"/>
              </a:rPr>
              <a:t>“If I missed something or wrote it incorrectly, bring me the specific evidence privately. We can review it together.”</a:t>
            </a:r>
          </a:p>
        </p:txBody>
      </p:sp>
      <p:sp>
        <p:nvSpPr>
          <p:cNvPr id="6" name="">
            <a:extLst xmlns:a="http://schemas.openxmlformats.org/drawingml/2006/main">
              <a:ext uri="{FF2B5EF4-FFF2-40B4-BE49-F238E27FC236}">
                <a16:creationId xmlns:a16="http://schemas.microsoft.com/office/drawing/2014/main" id="{D1012E3B-9E51-4F0F-9D47-F45FA8A8A0FE}"/>
              </a:ext>
            </a:extLst>
          </p:cNvPr>
          <p:cNvSpPr>
            <a:spLocks xmlns:a="http://schemas.openxmlformats.org/drawingml/2006/main" noGrp="1"/>
          </p:cNvSpPr>
          <p:nvPr/>
        </p:nvSpPr>
        <p:spPr>
          <a:xfrm xmlns:a="http://schemas.openxmlformats.org/drawingml/2006/main">
            <a:off x="704850" y="58578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47739"/>
                </a:solidFill>
                <a:latin typeface="Aptos"/>
                <a:ea typeface="Aptos"/>
                <a:cs typeface="Aptos"/>
              </a:defRPr>
            </a:pPr>
            <a:r>
              <a:rPr sz="1800" b="1">
                <a:solidFill>
                  <a:srgbClr val="D47739"/>
                </a:solidFill>
                <a:latin typeface="Aptos"/>
                <a:ea typeface="Aptos"/>
                <a:cs typeface="Aptos"/>
              </a:rPr>
              <a:t>Do not ask the room to vote on fairness or ask students to disclose scores.</a:t>
            </a:r>
          </a:p>
        </p:txBody>
      </p:sp>
    </p:spTree>
    <p:extLst>
      <p:ext uri="{BB962C8B-B14F-4D97-AF65-F5344CB8AC3E}">
        <p14:creationId xmlns:p14="http://schemas.microsoft.com/office/powerpoint/2010/main" val="741163684"/>
      </p:ext>
    </p:extLst>
  </p:cSld>
</p:sld>
</file>

<file path=ppt/slides/slide3.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AD1C24-9011-46C0-A4EA-29B2522A8361}"/>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MARKETING | CHAPTER 2</a:t>
            </a:r>
          </a:p>
        </p:txBody>
      </p:sp>
      <p:sp>
        <p:nvSpPr>
          <p:cNvPr id="2" name="">
            <a:extLst xmlns:a="http://schemas.openxmlformats.org/drawingml/2006/main">
              <a:ext uri="{FF2B5EF4-FFF2-40B4-BE49-F238E27FC236}">
                <a16:creationId xmlns:a16="http://schemas.microsoft.com/office/drawing/2014/main" id="{0319C4CA-D4E6-4A69-86C7-50C5695B627E}"/>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Feedback: 3 and 4</a:t>
            </a:r>
          </a:p>
        </p:txBody>
      </p:sp>
      <p:sp>
        <p:nvSpPr>
          <p:cNvPr id="3" name="">
            <a:extLst xmlns:a="http://schemas.openxmlformats.org/drawingml/2006/main">
              <a:ext uri="{FF2B5EF4-FFF2-40B4-BE49-F238E27FC236}">
                <a16:creationId xmlns:a16="http://schemas.microsoft.com/office/drawing/2014/main" id="{F3B37FE6-2F87-48BA-BF14-41C66C2C0406}"/>
              </a:ext>
            </a:extLst>
          </p:cNvPr>
          <p:cNvSpPr>
            <a:spLocks xmlns:a="http://schemas.openxmlformats.org/drawingml/2006/main" noGrp="1"/>
          </p:cNvSpPr>
          <p:nvPr/>
        </p:nvSpPr>
        <p:spPr>
          <a:xfrm xmlns:a="http://schemas.openxmlformats.org/drawingml/2006/main">
            <a:off x="704850" y="19240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54A"/>
                </a:solidFill>
                <a:latin typeface="Aptos"/>
                <a:ea typeface="Aptos"/>
                <a:cs typeface="Aptos"/>
              </a:defRPr>
            </a:pPr>
            <a:r>
              <a:rPr sz="2550" b="1">
                <a:solidFill>
                  <a:srgbClr val="17354A"/>
                </a:solidFill>
                <a:latin typeface="Aptos"/>
                <a:ea typeface="Aptos"/>
                <a:cs typeface="Aptos"/>
              </a:rPr>
              <a:t>3 = expected understanding of purpose, concept link, and example.</a:t>
            </a:r>
          </a:p>
        </p:txBody>
      </p:sp>
      <p:sp>
        <p:nvSpPr>
          <p:cNvPr id="4" name="">
            <a:extLst xmlns:a="http://schemas.openxmlformats.org/drawingml/2006/main">
              <a:ext uri="{FF2B5EF4-FFF2-40B4-BE49-F238E27FC236}">
                <a16:creationId xmlns:a16="http://schemas.microsoft.com/office/drawing/2014/main" id="{B8F7B4ED-4070-4546-AEDC-0754F938C007}"/>
              </a:ext>
            </a:extLst>
          </p:cNvPr>
          <p:cNvSpPr>
            <a:spLocks xmlns:a="http://schemas.openxmlformats.org/drawingml/2006/main" noGrp="1"/>
          </p:cNvSpPr>
          <p:nvPr/>
        </p:nvSpPr>
        <p:spPr>
          <a:xfrm xmlns:a="http://schemas.openxmlformats.org/drawingml/2006/main">
            <a:off x="704850" y="3267075"/>
            <a:ext cx="1047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E84"/>
                </a:solidFill>
                <a:latin typeface="Aptos"/>
                <a:ea typeface="Aptos"/>
                <a:cs typeface="Aptos"/>
              </a:defRPr>
            </a:pPr>
            <a:r>
              <a:rPr sz="2475" b="1">
                <a:solidFill>
                  <a:srgbClr val="167E84"/>
                </a:solidFill>
                <a:latin typeface="Aptos"/>
                <a:ea typeface="Aptos"/>
                <a:cs typeface="Aptos"/>
              </a:rPr>
              <a:t>4 = core met, plus meaningful independent extension before prompting.</a:t>
            </a:r>
          </a:p>
        </p:txBody>
      </p:sp>
      <p:sp>
        <p:nvSpPr>
          <p:cNvPr id="5" name="">
            <a:extLst xmlns:a="http://schemas.openxmlformats.org/drawingml/2006/main">
              <a:ext uri="{FF2B5EF4-FFF2-40B4-BE49-F238E27FC236}">
                <a16:creationId xmlns:a16="http://schemas.microsoft.com/office/drawing/2014/main" id="{28434D88-B178-48C8-B176-BD5A0282A86A}"/>
              </a:ext>
            </a:extLst>
          </p:cNvPr>
          <p:cNvSpPr>
            <a:spLocks xmlns:a="http://schemas.openxmlformats.org/drawingml/2006/main" noGrp="1"/>
          </p:cNvSpPr>
          <p:nvPr/>
        </p:nvSpPr>
        <p:spPr>
          <a:xfrm xmlns:a="http://schemas.openxmlformats.org/drawingml/2006/main">
            <a:off x="704850" y="4781550"/>
            <a:ext cx="10477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54A"/>
                </a:solidFill>
                <a:latin typeface="Aptos"/>
                <a:ea typeface="Aptos"/>
                <a:cs typeface="Aptos"/>
              </a:defRPr>
            </a:pPr>
            <a:r>
              <a:rPr sz="2100" b="0">
                <a:solidFill>
                  <a:srgbClr val="17354A"/>
                </a:solidFill>
                <a:latin typeface="Aptos"/>
                <a:ea typeface="Aptos"/>
                <a:cs typeface="Aptos"/>
              </a:rPr>
              <a:t>Follow-up questions may establish or clarify 3. A check for specificity does not erase extension already given.</a:t>
            </a:r>
          </a:p>
        </p:txBody>
      </p:sp>
    </p:spTree>
    <p:extLst>
      <p:ext uri="{BB962C8B-B14F-4D97-AF65-F5344CB8AC3E}">
        <p14:creationId xmlns:p14="http://schemas.microsoft.com/office/powerpoint/2010/main" val="1961588821"/>
      </p:ext>
    </p:extLst>
  </p:cSld>
</p:sld>
</file>

<file path=ppt/slides/slide4.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713E82-06AB-4BB7-B3D9-42E2F5641AA5}"/>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MARKETING | CHAPTER 2</a:t>
            </a:r>
          </a:p>
        </p:txBody>
      </p:sp>
      <p:sp>
        <p:nvSpPr>
          <p:cNvPr id="2" name="">
            <a:extLst xmlns:a="http://schemas.openxmlformats.org/drawingml/2006/main">
              <a:ext uri="{FF2B5EF4-FFF2-40B4-BE49-F238E27FC236}">
                <a16:creationId xmlns:a16="http://schemas.microsoft.com/office/drawing/2014/main" id="{27776D22-77CC-4DB7-8366-8E92C4A81983}"/>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Starter: bakery decisions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f0726dce2b44572"/>
          <a:srcRect xmlns:a="http://schemas.openxmlformats.org/drawingml/2006/main" l="2725" t="0" r="2725" b="0"/>
          <a:stretch xmlns:a="http://schemas.openxmlformats.org/drawingml/2006/main">
            <a:fillRect l="0" t="0" r="0" b="0"/>
          </a:stretch>
        </p:blipFill>
        <p:spPr>
          <a:xfrm xmlns:a="http://schemas.openxmlformats.org/drawingml/2006/main">
            <a:off x="609600" y="1733550"/>
            <a:ext cx="6000750" cy="3571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C08812-D0EC-400E-B899-7392974B1163}"/>
              </a:ext>
            </a:extLst>
          </p:cNvPr>
          <p:cNvSpPr>
            <a:spLocks xmlns:a="http://schemas.openxmlformats.org/drawingml/2006/main" noGrp="1"/>
          </p:cNvSpPr>
          <p:nvPr/>
        </p:nvSpPr>
        <p:spPr>
          <a:xfrm xmlns:a="http://schemas.openxmlformats.org/drawingml/2006/main">
            <a:off x="6953250" y="1914525"/>
            <a:ext cx="45434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54A"/>
                </a:solidFill>
                <a:latin typeface="Aptos"/>
                <a:ea typeface="Aptos"/>
                <a:cs typeface="Aptos"/>
              </a:defRPr>
            </a:pPr>
            <a:r>
              <a:rPr sz="2250" b="1">
                <a:solidFill>
                  <a:srgbClr val="17354A"/>
                </a:solidFill>
                <a:latin typeface="Aptos"/>
                <a:ea typeface="Aptos"/>
                <a:cs typeface="Aptos"/>
              </a:rPr>
              <a:t>Say: “Before the first ad, what must this bakery decide?”</a:t>
            </a:r>
          </a:p>
        </p:txBody>
      </p:sp>
      <p:sp>
        <p:nvSpPr>
          <p:cNvPr id="5" name="">
            <a:extLst xmlns:a="http://schemas.openxmlformats.org/drawingml/2006/main">
              <a:ext uri="{FF2B5EF4-FFF2-40B4-BE49-F238E27FC236}">
                <a16:creationId xmlns:a16="http://schemas.microsoft.com/office/drawing/2014/main" id="{C6CBBBF7-EA71-4512-B1F4-CF77E40FBFCE}"/>
              </a:ext>
            </a:extLst>
          </p:cNvPr>
          <p:cNvSpPr>
            <a:spLocks xmlns:a="http://schemas.openxmlformats.org/drawingml/2006/main" noGrp="1"/>
          </p:cNvSpPr>
          <p:nvPr/>
        </p:nvSpPr>
        <p:spPr>
          <a:xfrm xmlns:a="http://schemas.openxmlformats.org/drawingml/2006/main">
            <a:off x="6953250" y="3638550"/>
            <a:ext cx="4476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7E84"/>
                </a:solidFill>
                <a:latin typeface="Aptos"/>
                <a:ea typeface="Aptos"/>
                <a:cs typeface="Aptos"/>
              </a:defRPr>
            </a:pPr>
            <a:r>
              <a:rPr sz="2100" b="0">
                <a:solidFill>
                  <a:srgbClr val="167E84"/>
                </a:solidFill>
                <a:latin typeface="Aptos"/>
                <a:ea typeface="Aptos"/>
                <a:cs typeface="Aptos"/>
              </a:rPr>
              <a:t>20 sec think.</a:t>
            </a:r>
          </a:p>
          <a:p xmlns:a="http://schemas.openxmlformats.org/drawingml/2006/main">
            <a:pPr>
              <a:defRPr sz="2100" b="0">
                <a:solidFill>
                  <a:srgbClr val="167E84"/>
                </a:solidFill>
                <a:latin typeface="Aptos"/>
                <a:ea typeface="Aptos"/>
                <a:cs typeface="Aptos"/>
              </a:defRPr>
            </a:pPr>
            <a:r>
              <a:rPr sz="2100" b="0">
                <a:solidFill>
                  <a:srgbClr val="167E84"/>
                </a:solidFill>
                <a:latin typeface="Aptos"/>
                <a:ea typeface="Aptos"/>
                <a:cs typeface="Aptos"/>
              </a:rPr>
              <a:t>One partner response.</a:t>
            </a:r>
          </a:p>
          <a:p xmlns:a="http://schemas.openxmlformats.org/drawingml/2006/main">
            <a:pPr>
              <a:defRPr sz="2100" b="0">
                <a:solidFill>
                  <a:srgbClr val="167E84"/>
                </a:solidFill>
                <a:latin typeface="Aptos"/>
                <a:ea typeface="Aptos"/>
                <a:cs typeface="Aptos"/>
              </a:defRPr>
            </a:pPr>
            <a:r>
              <a:rPr sz="2100" b="0">
                <a:solidFill>
                  <a:srgbClr val="167E84"/>
                </a:solidFill>
                <a:latin typeface="Aptos"/>
                <a:ea typeface="Aptos"/>
                <a:cs typeface="Aptos"/>
              </a:rPr>
              <a:t>Two voices from the room.</a:t>
            </a:r>
          </a:p>
        </p:txBody>
      </p:sp>
      <p:sp>
        <p:nvSpPr>
          <p:cNvPr id="6" name="">
            <a:extLst xmlns:a="http://schemas.openxmlformats.org/drawingml/2006/main">
              <a:ext uri="{FF2B5EF4-FFF2-40B4-BE49-F238E27FC236}">
                <a16:creationId xmlns:a16="http://schemas.microsoft.com/office/drawing/2014/main" id="{4125C611-4A81-4E00-BBA5-F8EA35228D5B}"/>
              </a:ext>
            </a:extLst>
          </p:cNvPr>
          <p:cNvSpPr>
            <a:spLocks xmlns:a="http://schemas.openxmlformats.org/drawingml/2006/main" noGrp="1"/>
          </p:cNvSpPr>
          <p:nvPr/>
        </p:nvSpPr>
        <p:spPr>
          <a:xfrm xmlns:a="http://schemas.openxmlformats.org/drawingml/2006/main">
            <a:off x="685800" y="572452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47739"/>
                </a:solidFill>
                <a:latin typeface="Aptos"/>
                <a:ea typeface="Aptos"/>
                <a:cs typeface="Aptos"/>
              </a:defRPr>
            </a:pPr>
            <a:r>
              <a:rPr sz="2025" b="1">
                <a:solidFill>
                  <a:srgbClr val="D47739"/>
                </a:solidFill>
                <a:latin typeface="Aptos"/>
                <a:ea typeface="Aptos"/>
                <a:cs typeface="Aptos"/>
              </a:rPr>
              <a:t>Then ask: “How would they know it worked?”</a:t>
            </a:r>
          </a:p>
        </p:txBody>
      </p:sp>
    </p:spTree>
    <p:extLst>
      <p:ext uri="{BB962C8B-B14F-4D97-AF65-F5344CB8AC3E}">
        <p14:creationId xmlns:p14="http://schemas.microsoft.com/office/powerpoint/2010/main" val="1625828975"/>
      </p:ext>
    </p:extLst>
  </p:cSld>
</p:sld>
</file>

<file path=ppt/slides/slide5.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795804-04F6-49F6-9504-16CC97D253B8}"/>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MARKETING | CHAPTER 2</a:t>
            </a:r>
          </a:p>
        </p:txBody>
      </p:sp>
      <p:sp>
        <p:nvSpPr>
          <p:cNvPr id="2" name="">
            <a:extLst xmlns:a="http://schemas.openxmlformats.org/drawingml/2006/main">
              <a:ext uri="{FF2B5EF4-FFF2-40B4-BE49-F238E27FC236}">
                <a16:creationId xmlns:a16="http://schemas.microsoft.com/office/drawing/2014/main" id="{89434DD7-E772-4AA8-93BA-9DDBD3F71166}"/>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Reading, reveal, card</a:t>
            </a:r>
          </a:p>
        </p:txBody>
      </p:sp>
      <p:sp>
        <p:nvSpPr>
          <p:cNvPr id="3" name="">
            <a:extLst xmlns:a="http://schemas.openxmlformats.org/drawingml/2006/main">
              <a:ext uri="{FF2B5EF4-FFF2-40B4-BE49-F238E27FC236}">
                <a16:creationId xmlns:a16="http://schemas.microsoft.com/office/drawing/2014/main" id="{8CDC2AD1-6EBD-455D-BBEA-544E7082C177}"/>
              </a:ext>
            </a:extLst>
          </p:cNvPr>
          <p:cNvSpPr>
            <a:spLocks xmlns:a="http://schemas.openxmlformats.org/drawingml/2006/main" noGrp="1"/>
          </p:cNvSpPr>
          <p:nvPr/>
        </p:nvSpPr>
        <p:spPr>
          <a:xfrm xmlns:a="http://schemas.openxmlformats.org/drawingml/2006/main">
            <a:off x="704850" y="18097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54A"/>
                </a:solidFill>
                <a:latin typeface="Aptos"/>
                <a:ea typeface="Aptos"/>
                <a:cs typeface="Aptos"/>
              </a:defRPr>
            </a:pPr>
            <a:r>
              <a:rPr sz="2325" b="1">
                <a:solidFill>
                  <a:srgbClr val="17354A"/>
                </a:solidFill>
                <a:latin typeface="Aptos"/>
                <a:ea typeface="Aptos"/>
                <a:cs typeface="Aptos"/>
              </a:rPr>
              <a:t>Read printed p. 18 before giving a finished definition.</a:t>
            </a:r>
          </a:p>
        </p:txBody>
      </p:sp>
      <p:sp>
        <p:nvSpPr>
          <p:cNvPr id="4" name="">
            <a:extLst xmlns:a="http://schemas.openxmlformats.org/drawingml/2006/main">
              <a:ext uri="{FF2B5EF4-FFF2-40B4-BE49-F238E27FC236}">
                <a16:creationId xmlns:a16="http://schemas.microsoft.com/office/drawing/2014/main" id="{97A5B551-775C-40C6-97AD-2983EB982FD3}"/>
              </a:ext>
            </a:extLst>
          </p:cNvPr>
          <p:cNvSpPr>
            <a:spLocks xmlns:a="http://schemas.openxmlformats.org/drawingml/2006/main" noGrp="1"/>
          </p:cNvSpPr>
          <p:nvPr/>
        </p:nvSpPr>
        <p:spPr>
          <a:xfrm xmlns:a="http://schemas.openxmlformats.org/drawingml/2006/main">
            <a:off x="704850" y="2771775"/>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54A"/>
                </a:solidFill>
                <a:latin typeface="Aptos"/>
                <a:ea typeface="Aptos"/>
                <a:cs typeface="Aptos"/>
              </a:defRPr>
            </a:pPr>
            <a:r>
              <a:rPr sz="2325" b="0">
                <a:solidFill>
                  <a:srgbClr val="17354A"/>
                </a:solidFill>
                <a:latin typeface="Aptos"/>
                <a:ea typeface="Aptos"/>
                <a:cs typeface="Aptos"/>
              </a:rPr>
              <a:t>Ask: “Which decision does the plan guide? Show me the line.”</a:t>
            </a:r>
          </a:p>
        </p:txBody>
      </p:sp>
      <p:sp>
        <p:nvSpPr>
          <p:cNvPr id="5" name="">
            <a:extLst xmlns:a="http://schemas.openxmlformats.org/drawingml/2006/main">
              <a:ext uri="{FF2B5EF4-FFF2-40B4-BE49-F238E27FC236}">
                <a16:creationId xmlns:a16="http://schemas.microsoft.com/office/drawing/2014/main" id="{BD2F80D0-8E79-416C-BEAF-91D33DD1A33C}"/>
              </a:ext>
            </a:extLst>
          </p:cNvPr>
          <p:cNvSpPr>
            <a:spLocks xmlns:a="http://schemas.openxmlformats.org/drawingml/2006/main" noGrp="1"/>
          </p:cNvSpPr>
          <p:nvPr/>
        </p:nvSpPr>
        <p:spPr>
          <a:xfrm xmlns:a="http://schemas.openxmlformats.org/drawingml/2006/main">
            <a:off x="704850" y="4095750"/>
            <a:ext cx="10477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E84"/>
                </a:solidFill>
                <a:latin typeface="Aptos"/>
                <a:ea typeface="Aptos"/>
                <a:cs typeface="Aptos"/>
              </a:defRPr>
            </a:pPr>
            <a:r>
              <a:rPr sz="2175" b="1">
                <a:solidFill>
                  <a:srgbClr val="167E84"/>
                </a:solidFill>
                <a:latin typeface="Aptos"/>
                <a:ea typeface="Aptos"/>
                <a:cs typeface="Aptos"/>
              </a:rPr>
              <a:t>Reveal marketing plan after students try. Model one card with term + source definition + meaningful image.</a:t>
            </a:r>
          </a:p>
        </p:txBody>
      </p:sp>
      <p:sp>
        <p:nvSpPr>
          <p:cNvPr id="6" name="">
            <a:extLst xmlns:a="http://schemas.openxmlformats.org/drawingml/2006/main">
              <a:ext uri="{FF2B5EF4-FFF2-40B4-BE49-F238E27FC236}">
                <a16:creationId xmlns:a16="http://schemas.microsoft.com/office/drawing/2014/main" id="{9EBDAD3C-112E-41EB-8675-EA14CC4557CD}"/>
              </a:ext>
            </a:extLst>
          </p:cNvPr>
          <p:cNvSpPr>
            <a:spLocks xmlns:a="http://schemas.openxmlformats.org/drawingml/2006/main" noGrp="1"/>
          </p:cNvSpPr>
          <p:nvPr/>
        </p:nvSpPr>
        <p:spPr>
          <a:xfrm xmlns:a="http://schemas.openxmlformats.org/drawingml/2006/main">
            <a:off x="704850" y="581977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47739"/>
                </a:solidFill>
                <a:latin typeface="Aptos"/>
                <a:ea typeface="Aptos"/>
                <a:cs typeface="Aptos"/>
              </a:defRPr>
            </a:pPr>
            <a:r>
              <a:rPr sz="1800" b="1">
                <a:solidFill>
                  <a:srgbClr val="D47739"/>
                </a:solidFill>
                <a:latin typeface="Aptos"/>
                <a:ea typeface="Aptos"/>
                <a:cs typeface="Aptos"/>
              </a:rPr>
              <a:t>Official Teams file, submission route, and deadline: verify before announcing.</a:t>
            </a:r>
          </a:p>
        </p:txBody>
      </p:sp>
    </p:spTree>
    <p:extLst>
      <p:ext uri="{BB962C8B-B14F-4D97-AF65-F5344CB8AC3E}">
        <p14:creationId xmlns:p14="http://schemas.microsoft.com/office/powerpoint/2010/main" val="2027302104"/>
      </p:ext>
    </p:extLst>
  </p:cSld>
</p:sld>
</file>

<file path=ppt/slides/slide6.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ABCB25-8742-4687-846D-0F9B6F3C848E}"/>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7E84"/>
                </a:solidFill>
                <a:latin typeface="Aptos"/>
                <a:ea typeface="Aptos"/>
                <a:cs typeface="Aptos"/>
              </a:defRPr>
            </a:pPr>
            <a:r>
              <a:rPr sz="1275" b="1">
                <a:solidFill>
                  <a:srgbClr val="167E84"/>
                </a:solidFill>
                <a:latin typeface="Aptos"/>
                <a:ea typeface="Aptos"/>
                <a:cs typeface="Aptos"/>
              </a:rPr>
              <a:t>MARKETING | CHAPTER 2</a:t>
            </a:r>
          </a:p>
        </p:txBody>
      </p:sp>
      <p:sp>
        <p:nvSpPr>
          <p:cNvPr id="2" name="">
            <a:extLst xmlns:a="http://schemas.openxmlformats.org/drawingml/2006/main">
              <a:ext uri="{FF2B5EF4-FFF2-40B4-BE49-F238E27FC236}">
                <a16:creationId xmlns:a16="http://schemas.microsoft.com/office/drawing/2014/main" id="{D165B016-65E2-4E28-A9D8-8475BCFE234C}"/>
              </a:ext>
            </a:extLst>
          </p:cNvPr>
          <p:cNvSpPr>
            <a:spLocks xmlns:a="http://schemas.openxmlformats.org/drawingml/2006/main" noGrp="1"/>
          </p:cNvSpPr>
          <p:nvPr/>
        </p:nvSpPr>
        <p:spPr>
          <a:xfrm xmlns:a="http://schemas.openxmlformats.org/drawingml/2006/main">
            <a:off x="609600" y="72390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54A"/>
                </a:solidFill>
                <a:latin typeface="Aptos"/>
                <a:ea typeface="Aptos"/>
                <a:cs typeface="Aptos"/>
              </a:defRPr>
            </a:pPr>
            <a:r>
              <a:rPr sz="3450" b="1">
                <a:solidFill>
                  <a:srgbClr val="17354A"/>
                </a:solidFill>
                <a:latin typeface="Aptos"/>
                <a:ea typeface="Aptos"/>
                <a:cs typeface="Aptos"/>
              </a:rPr>
              <a:t>If the class needs help</a:t>
            </a:r>
          </a:p>
        </p:txBody>
      </p:sp>
      <p:sp>
        <p:nvSpPr>
          <p:cNvPr id="3" name="">
            <a:extLst xmlns:a="http://schemas.openxmlformats.org/drawingml/2006/main">
              <a:ext uri="{FF2B5EF4-FFF2-40B4-BE49-F238E27FC236}">
                <a16:creationId xmlns:a16="http://schemas.microsoft.com/office/drawing/2014/main" id="{3571C00E-A8E1-4B10-B911-F0B45C070DAC}"/>
              </a:ext>
            </a:extLst>
          </p:cNvPr>
          <p:cNvSpPr>
            <a:spLocks xmlns:a="http://schemas.openxmlformats.org/drawingml/2006/main" noGrp="1"/>
          </p:cNvSpPr>
          <p:nvPr/>
        </p:nvSpPr>
        <p:spPr>
          <a:xfrm xmlns:a="http://schemas.openxmlformats.org/drawingml/2006/main">
            <a:off x="704850" y="18383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54A"/>
                </a:solidFill>
                <a:latin typeface="Aptos"/>
                <a:ea typeface="Aptos"/>
                <a:cs typeface="Aptos"/>
              </a:defRPr>
            </a:pPr>
            <a:r>
              <a:rPr sz="2250" b="0">
                <a:solidFill>
                  <a:srgbClr val="17354A"/>
                </a:solidFill>
                <a:latin typeface="Aptos"/>
                <a:ea typeface="Aptos"/>
                <a:cs typeface="Aptos"/>
              </a:rPr>
              <a:t>If access fails: project p. 18 or use the approved backup source. Keep reading central.</a:t>
            </a:r>
          </a:p>
        </p:txBody>
      </p:sp>
      <p:sp>
        <p:nvSpPr>
          <p:cNvPr id="4" name="">
            <a:extLst xmlns:a="http://schemas.openxmlformats.org/drawingml/2006/main">
              <a:ext uri="{FF2B5EF4-FFF2-40B4-BE49-F238E27FC236}">
                <a16:creationId xmlns:a16="http://schemas.microsoft.com/office/drawing/2014/main" id="{DF9D126B-20C3-46CB-BAFC-6E5CCD6ACF91}"/>
              </a:ext>
            </a:extLst>
          </p:cNvPr>
          <p:cNvSpPr>
            <a:spLocks xmlns:a="http://schemas.openxmlformats.org/drawingml/2006/main" noGrp="1"/>
          </p:cNvSpPr>
          <p:nvPr/>
        </p:nvSpPr>
        <p:spPr>
          <a:xfrm xmlns:a="http://schemas.openxmlformats.org/drawingml/2006/main">
            <a:off x="704850" y="3190875"/>
            <a:ext cx="103822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54A"/>
                </a:solidFill>
                <a:latin typeface="Aptos"/>
                <a:ea typeface="Aptos"/>
                <a:cs typeface="Aptos"/>
              </a:defRPr>
            </a:pPr>
            <a:r>
              <a:rPr sz="2250" b="0">
                <a:solidFill>
                  <a:srgbClr val="17354A"/>
                </a:solidFill>
                <a:latin typeface="Aptos"/>
                <a:ea typeface="Aptos"/>
                <a:cs typeface="Aptos"/>
              </a:rPr>
              <a:t>If answers are vague: point to the first two paragraphs, then ask for one decision and one reason.</a:t>
            </a:r>
          </a:p>
        </p:txBody>
      </p:sp>
      <p:sp>
        <p:nvSpPr>
          <p:cNvPr id="5" name="">
            <a:extLst xmlns:a="http://schemas.openxmlformats.org/drawingml/2006/main">
              <a:ext uri="{FF2B5EF4-FFF2-40B4-BE49-F238E27FC236}">
                <a16:creationId xmlns:a16="http://schemas.microsoft.com/office/drawing/2014/main" id="{B9245D97-7C2B-4023-B27B-5222AE67C506}"/>
              </a:ext>
            </a:extLst>
          </p:cNvPr>
          <p:cNvSpPr>
            <a:spLocks xmlns:a="http://schemas.openxmlformats.org/drawingml/2006/main" noGrp="1"/>
          </p:cNvSpPr>
          <p:nvPr/>
        </p:nvSpPr>
        <p:spPr>
          <a:xfrm xmlns:a="http://schemas.openxmlformats.org/drawingml/2006/main">
            <a:off x="704850" y="4772025"/>
            <a:ext cx="1038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E84"/>
                </a:solidFill>
                <a:latin typeface="Aptos"/>
                <a:ea typeface="Aptos"/>
                <a:cs typeface="Aptos"/>
              </a:defRPr>
            </a:pPr>
            <a:r>
              <a:rPr sz="2175" b="1">
                <a:solidFill>
                  <a:srgbClr val="167E84"/>
                </a:solidFill>
                <a:latin typeface="Aptos"/>
                <a:ea typeface="Aptos"/>
                <a:cs typeface="Aptos"/>
              </a:rPr>
              <a:t>If ready: change one assumption, such as price. What would the bakery revisit?</a:t>
            </a:r>
          </a:p>
        </p:txBody>
      </p:sp>
      <p:sp>
        <p:nvSpPr>
          <p:cNvPr id="6" name="">
            <a:extLst xmlns:a="http://schemas.openxmlformats.org/drawingml/2006/main">
              <a:ext uri="{FF2B5EF4-FFF2-40B4-BE49-F238E27FC236}">
                <a16:creationId xmlns:a16="http://schemas.microsoft.com/office/drawing/2014/main" id="{BFDFA2A1-A141-4315-9822-7A22D2BEBC4B}"/>
              </a:ext>
            </a:extLst>
          </p:cNvPr>
          <p:cNvSpPr>
            <a:spLocks xmlns:a="http://schemas.openxmlformats.org/drawingml/2006/main" noGrp="1"/>
          </p:cNvSpPr>
          <p:nvPr/>
        </p:nvSpPr>
        <p:spPr>
          <a:xfrm xmlns:a="http://schemas.openxmlformats.org/drawingml/2006/main">
            <a:off x="704850" y="60198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47739"/>
                </a:solidFill>
                <a:latin typeface="Aptos"/>
                <a:ea typeface="Aptos"/>
                <a:cs typeface="Aptos"/>
              </a:defRPr>
            </a:pPr>
            <a:r>
              <a:rPr sz="1800" b="1">
                <a:solidFill>
                  <a:srgbClr val="D47739"/>
                </a:solidFill>
                <a:latin typeface="Aptos"/>
                <a:ea typeface="Aptos"/>
                <a:cs typeface="Aptos"/>
              </a:rPr>
              <a:t>Write each block’s last page, heading, and card status before leaving.</a:t>
            </a:r>
          </a:p>
        </p:txBody>
      </p:sp>
    </p:spTree>
    <p:extLst>
      <p:ext uri="{BB962C8B-B14F-4D97-AF65-F5344CB8AC3E}">
        <p14:creationId xmlns:p14="http://schemas.microsoft.com/office/powerpoint/2010/main" val="3384711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2026-10-06T05:13:36.6620000Z</dcterms:created>
  <dcterms:modified xsi:type="dcterms:W3CDTF">2026-10-06T05:13:36.6620000Z</dcterms:modified>
</coreProperties>
</file>