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a11bdfd79604be1" /><Relationship Type="http://schemas.openxmlformats.org/officeDocument/2006/relationships/extended-properties" Target="/docProps/app.xml" Id="R61163fc8e7d546e5" /><Relationship Type="http://schemas.openxmlformats.org/officeDocument/2006/relationships/officeDocument" Target="/ppt/presentation.xml" Id="Re9fb7a1b6e85486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80fdb85a864049"/>
  </p:sldMasterIdLst>
  <p:notesMasterIdLst>
    <p:notesMasterId xmlns:r="http://schemas.openxmlformats.org/officeDocument/2006/relationships" r:id="R2f560bfc75044886"/>
  </p:notesMasterIdLst>
  <p:sldIdLst>
    <p:sldId xmlns:r="http://schemas.openxmlformats.org/officeDocument/2006/relationships" id="256" r:id="R1a23181851684e86"/>
    <p:sldId xmlns:r="http://schemas.openxmlformats.org/officeDocument/2006/relationships" id="257" r:id="R3affeb91a5af4b65"/>
    <p:sldId xmlns:r="http://schemas.openxmlformats.org/officeDocument/2006/relationships" id="258" r:id="R7069227cd8be495b"/>
    <p:sldId xmlns:r="http://schemas.openxmlformats.org/officeDocument/2006/relationships" id="259" r:id="R1cd1bcf604824b35"/>
    <p:sldId xmlns:r="http://schemas.openxmlformats.org/officeDocument/2006/relationships" id="260" r:id="R1a84cc94a6d34ce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7bb87545db43d6" /><Relationship Type="http://schemas.openxmlformats.org/officeDocument/2006/relationships/slideMaster" Target="/ppt/slideMasters/slideMaster1.xml" Id="Rd780fdb85a864049" /><Relationship Type="http://schemas.openxmlformats.org/officeDocument/2006/relationships/notesMaster" Target="/ppt/notesMasters/notesMaster1.xml" Id="R2f560bfc75044886" /><Relationship Type="http://schemas.openxmlformats.org/officeDocument/2006/relationships/presProps" Target="/ppt/presProps.xml" Id="R2dd720433dfe438c" /><Relationship Type="http://schemas.openxmlformats.org/officeDocument/2006/relationships/tableStyles" Target="/ppt/tableStyles.xml" Id="Rdfe9f4f64c4c4007" /><Relationship Type="http://schemas.openxmlformats.org/officeDocument/2006/relationships/slide" Target="/ppt/slides/slide1.xml" Id="R1a23181851684e86" /><Relationship Type="http://schemas.openxmlformats.org/officeDocument/2006/relationships/slide" Target="/ppt/slides/slide2.xml" Id="R3affeb91a5af4b65" /><Relationship Type="http://schemas.openxmlformats.org/officeDocument/2006/relationships/slide" Target="/ppt/slides/slide3.xml" Id="R7069227cd8be495b" /><Relationship Type="http://schemas.openxmlformats.org/officeDocument/2006/relationships/slide" Target="/ppt/slides/slide4.xml" Id="R1cd1bcf604824b35" /><Relationship Type="http://schemas.openxmlformats.org/officeDocument/2006/relationships/slide" Target="/ppt/slides/slide5.xml" Id="R1a84cc94a6d34c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0ac9addc0143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4cd122480d4a76" /><Relationship Type="http://schemas.openxmlformats.org/officeDocument/2006/relationships/notesMaster" Target="/ppt/notesMasters/notesMaster1.xml" Id="R120dd9936cc14a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ffd7af600b142d7" /><Relationship Type="http://schemas.openxmlformats.org/officeDocument/2006/relationships/notesMaster" Target="/ppt/notesMasters/notesMaster1.xml" Id="Ra5e0549aa4eb42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1b02e70c494f27" /><Relationship Type="http://schemas.openxmlformats.org/officeDocument/2006/relationships/notesMaster" Target="/ppt/notesMasters/notesMaster1.xml" Id="R643bf234f77343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851159ff3249cf" /><Relationship Type="http://schemas.openxmlformats.org/officeDocument/2006/relationships/notesMaster" Target="/ppt/notesMasters/notesMaster1.xml" Id="Ra5c48d8422874a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0aa375e9c94137" /><Relationship Type="http://schemas.openxmlformats.org/officeDocument/2006/relationships/notesMaster" Target="/ppt/notesMasters/notesMaster1.xml" Id="R4f19c506e59346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Practical Marketing, p. 7, Send Me SFMOMA example. Timing: 1–2 minutes. Ask students to read, then name one phone-enabled customer experience.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choice quick. Students may use one of the examples or another company/experience they know. No device or research is required.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Brief reference only. Do not reteach all seven definitions here. Emphasize that each pair chooses two functions that fit its example.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Circulate and check that each pair chose exactly two functions. Prompt students to connect each function to a concrete company response, not merely list terms.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 arrivals are designated speakers, but partners brief them first. Take concise shares. Ask listeners to identify the functions. Optional closing only if time remains; then return to notes slides 12–13 and Practical Marketing pp. 13–14.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86478d1f124b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6fa71dc9f84600" /><Relationship Type="http://schemas.openxmlformats.org/officeDocument/2006/relationships/slideLayout" Target="/ppt/slideLayouts/slideLayout1.xml" Id="R38a1e333ba4d48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a1e333ba4d48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e459ca36c84a8b" /><Relationship Type="http://schemas.openxmlformats.org/officeDocument/2006/relationships/notesSlide" Target="/ppt/notesSlides/notesSlide1.xml" Id="Rcdba5a50c8de43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4414d4ecc4c02" /><Relationship Type="http://schemas.openxmlformats.org/officeDocument/2006/relationships/notesSlide" Target="/ppt/notesSlides/notesSlide2.xml" Id="Rc6eab022763e47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a7b9070194101" /><Relationship Type="http://schemas.openxmlformats.org/officeDocument/2006/relationships/notesSlide" Target="/ppt/notesSlides/notesSlide3.xml" Id="Rf130bad493064f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de57060ab54b86" /><Relationship Type="http://schemas.openxmlformats.org/officeDocument/2006/relationships/notesSlide" Target="/ppt/notesSlides/notesSlide4.xml" Id="R139cb39acd1747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c8b47d5934599" /><Relationship Type="http://schemas.openxmlformats.org/officeDocument/2006/relationships/notesSlide" Target="/ppt/notesSlides/notesSlide5.xml" Id="Recf59dcbd0034c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934949-8CF4-4812-94B2-D57CAEF3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D3D"/>
          </a:solidFill>
          <a:ln xmlns:a="http://schemas.openxmlformats.org/drawingml/2006/main" w="0">
            <a:solidFill>
              <a:srgbClr val="FF9D3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41FA2A-CAC9-44CF-976D-758C84A3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1C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6D1CC"/>
                </a:solidFill>
                <a:latin typeface="Arial"/>
                <a:ea typeface="Arial"/>
                <a:cs typeface="Arial"/>
              </a:rPr>
              <a:t>PRACTICAL MARKETING • PAGE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8F774-FF1D-42E0-9B3D-290E4481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Phones, feedback, and access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D7FF0B-7456-46D1-9402-031F6EBF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E325B-D087-44B9-B7FF-025E2D73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1 / 5  /  2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AF7901-7C7C-46F6-A91F-D6E680678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04825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F16116-4BFE-4413-87C4-5F89C37A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D64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D64A"/>
                </a:solidFill>
                <a:latin typeface="Arial"/>
                <a:ea typeface="Arial"/>
                <a:cs typeface="Arial"/>
              </a:rPr>
              <a:t>SEND ME SFMOMA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9A30F-BF4F-4E30-992D-0C52C5EAC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14550"/>
            <a:ext cx="42100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Visitors text an emoji or phrase and receive a matching artwork.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608E84-C32B-42BB-B2B9-F9EFE1232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4191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The phone service helps the museum build awareness, invite interaction, and make its collection easier to explore.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2E13A6-DA16-4939-A2CE-2EAB0539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428750"/>
            <a:ext cx="561975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FFF7E5"/>
          </a:solidFill>
          <a:ln xmlns:a="http://schemas.openxmlformats.org/drawingml/2006/main" w="0">
            <a:solidFill>
              <a:srgbClr val="FFF7E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78172-074A-4DF1-B7D6-F4850135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BAA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BAAA7"/>
                </a:solidFill>
                <a:latin typeface="Arial"/>
                <a:ea typeface="Arial"/>
                <a:cs typeface="Arial"/>
              </a:rPr>
              <a:t>READ • THINK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1807C8-4F46-46EA-913D-23B03FB5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3360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Read the short example on page 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2CAB3A-2F18-49BB-9953-8763BB44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57500"/>
            <a:ext cx="4667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152F"/>
                </a:solidFill>
                <a:latin typeface="Arial"/>
                <a:ea typeface="Arial"/>
                <a:cs typeface="Arial"/>
              </a:rPr>
              <a:t>Where else do customers use phones to give or receive instant feedback—or to make a product, service, or experience easier to access?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45BD95-1CCB-4243-A43B-BF93D9B4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72000"/>
            <a:ext cx="4667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3AE1E0-F0CA-4E29-B895-462B53B1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72000"/>
            <a:ext cx="4400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Think: stadium • restaurant • store • event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C401A5-B92C-4F81-A26A-58F8E16C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29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Quiet read first. Then turn to one partner.</a:t>
            </a:r>
          </a:p>
        </p:txBody>
      </p:sp>
    </p:spTree>
    <p:extLst>
      <p:ext uri="{BB962C8B-B14F-4D97-AF65-F5344CB8AC3E}">
        <p14:creationId xmlns:p14="http://schemas.microsoft.com/office/powerpoint/2010/main" val="19212887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87BF62-B42D-4912-82B1-82528204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D3D"/>
          </a:solidFill>
          <a:ln xmlns:a="http://schemas.openxmlformats.org/drawingml/2006/main" w="0">
            <a:solidFill>
              <a:srgbClr val="FF9D3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91DB04-F025-4A49-9FB7-B0C55227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1C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6D1CC"/>
                </a:solidFill>
                <a:latin typeface="Arial"/>
                <a:ea typeface="Arial"/>
                <a:cs typeface="Arial"/>
              </a:rPr>
              <a:t>PARTNER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ACBB8-ADAD-40D3-A7DA-3CF4EAA34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Choose one company or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042C7-54EC-401C-B688-D7C16B22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8D35EE-FC22-4ECB-9F4D-E99AA1A5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2 / 5  /  1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FAEA1E-18FC-45F9-B239-A653702B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3333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4DA3A-F515-4D80-8B61-CEB70795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B5B24-1893-4806-9105-F0BAB19C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2838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6B6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6B6B"/>
                </a:solidFill>
                <a:latin typeface="Arial"/>
                <a:ea typeface="Arial"/>
                <a:cs typeface="Arial"/>
              </a:rPr>
              <a:t>STADIUM / CONCERT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0C597-25F0-4FAB-91D2-9677F9B7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2800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Order food, report a problem, find accessible seating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1067AD-32BD-462A-ACC3-F7D05DF4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00200"/>
            <a:ext cx="3333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0797D4-1879-41B5-A730-DC069799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002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007DE3-3B85-4DBB-B14C-64534213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924050"/>
            <a:ext cx="2838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D64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D64A"/>
                </a:solidFill>
                <a:latin typeface="Arial"/>
                <a:ea typeface="Arial"/>
                <a:cs typeface="Arial"/>
              </a:rPr>
              <a:t>RESTAURANT / CAFÉ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B406AD-3CA8-4F79-9695-F54A0A7A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57450"/>
            <a:ext cx="2800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Order ahead, rate service, request an accommodation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3C475D-AFA0-461F-93F4-B7A72B57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00200"/>
            <a:ext cx="3333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8CB9D-B502-4783-B487-ECF3B11A1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00200"/>
            <a:ext cx="3333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1CC"/>
          </a:solidFill>
          <a:ln xmlns:a="http://schemas.openxmlformats.org/drawingml/2006/main" w="0">
            <a:solidFill>
              <a:srgbClr val="36D1CC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12E2A8-8C1A-4ACD-A2B1-4F1BD952B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24050"/>
            <a:ext cx="2838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6D1C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6D1CC"/>
                </a:solidFill>
                <a:latin typeface="Arial"/>
                <a:ea typeface="Arial"/>
                <a:cs typeface="Arial"/>
              </a:rPr>
              <a:t>STORE / MUSEUM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99345E-311D-457A-A123-505758B4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457450"/>
            <a:ext cx="28003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Scan for information, ask for help, share feedback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676812-D5B5-41B9-B1BB-42F15D61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362450"/>
            <a:ext cx="8096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7E5"/>
          </a:solidFill>
          <a:ln xmlns:a="http://schemas.openxmlformats.org/drawingml/2006/main" w="0">
            <a:solidFill>
              <a:srgbClr val="FFF7E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679B3B-F244-42E0-B118-EF16C49E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533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BAAA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BAAA7"/>
                </a:solidFill>
                <a:latin typeface="Arial"/>
                <a:ea typeface="Arial"/>
                <a:cs typeface="Arial"/>
              </a:rPr>
              <a:t>Decide together: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E4D0F3-C4F3-4C30-9527-754C4F75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38650"/>
            <a:ext cx="561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What customer experience or barrier does the phone help the company understand or improve?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D32AE3-BC41-434A-875C-F53512C7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29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Choose a real or realistic example. You do not need to research it.</a:t>
            </a:r>
          </a:p>
        </p:txBody>
      </p:sp>
    </p:spTree>
    <p:extLst>
      <p:ext uri="{BB962C8B-B14F-4D97-AF65-F5344CB8AC3E}">
        <p14:creationId xmlns:p14="http://schemas.microsoft.com/office/powerpoint/2010/main" val="17122445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9368D4-AF6F-4B25-B4C0-301655D7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D3D"/>
          </a:solidFill>
          <a:ln xmlns:a="http://schemas.openxmlformats.org/drawingml/2006/main" w="0">
            <a:solidFill>
              <a:srgbClr val="FF9D3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4AB03-5561-4E21-880F-27898CC3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1C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6D1CC"/>
                </a:solidFill>
                <a:latin typeface="Arial"/>
                <a:ea typeface="Arial"/>
                <a:cs typeface="Arial"/>
              </a:rPr>
              <a:t>SEVEN FUNCTIONS OF MARKETING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478B55-7E6D-4557-9780-D3F06059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Choose TWO functions—not all seven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133B2E-D7E1-4434-B558-90CACB9D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B622AC-1912-4E60-9F65-1C5973C8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3 / 5  /  1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FB5661-AFDB-4E93-93A2-CE8F9472C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52863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4372B9-CA9A-4621-AF3D-5F868817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6D1CC"/>
          </a:solidFill>
          <a:ln xmlns:a="http://schemas.openxmlformats.org/drawingml/2006/main" w="0">
            <a:solidFill>
              <a:srgbClr val="36D1CC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25D384-3258-4B23-B99B-FE9AA9BD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63A927-58CD-4520-AAA0-0B053D35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52400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Marketing-information management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3AA94-BFFC-45B1-B39F-6C8A1C3A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47850"/>
            <a:ext cx="433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collect and use customer information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FA22A7-FFF9-4F1E-974E-3739DB20E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52863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941157-00E9-4C56-B343-EC4EF98C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032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6E1C46-5673-445F-9737-9FE61774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03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6D38ED-A358-4D36-93EB-7BFFD7A3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24125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Product/service management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8268A5-7071-4906-A57D-51AE9E6DF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47975"/>
            <a:ext cx="433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develop or improve the offer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C83566-A624-4D1F-8703-CA325ACB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09950"/>
            <a:ext cx="52863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EC2A74-3445-4A8B-9AA9-E1995123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6D1CC"/>
          </a:solidFill>
          <a:ln xmlns:a="http://schemas.openxmlformats.org/drawingml/2006/main" w="0">
            <a:solidFill>
              <a:srgbClr val="36D1CC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05457C-CC02-43C7-9A7F-A413C174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004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C1A234-DBB0-4B65-B710-D4083101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2425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Pricing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974040-F673-47BE-991D-48890A15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48100"/>
            <a:ext cx="433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set what customers pay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2243E7-0B9A-43B2-9F19-8EC414410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52863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FE5D24-6775-47F0-A230-83710152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0057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8D5280-7EEC-4F27-A1FB-B3BF907C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005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A9EAA-0223-408B-AAA1-9B457D05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24375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Channel management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2E107D-5578-469F-A96B-0942A4FF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48225"/>
            <a:ext cx="433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make the offer available to customers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20458F-40A9-4BE9-AD1E-E98F99D2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409700"/>
            <a:ext cx="52863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11AFE1-85A0-4B9C-8F90-0C38C302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600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A90E2"/>
          </a:solidFill>
          <a:ln xmlns:a="http://schemas.openxmlformats.org/drawingml/2006/main" w="0">
            <a:solidFill>
              <a:srgbClr val="4A90E2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530F92-B953-4985-B126-21E7CC695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6002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5DCD7D-4BBB-4CF8-9FD5-281D0346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52400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Promotion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0137FE-79CD-4021-AD66-414A8258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1847850"/>
            <a:ext cx="433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communicate and build awareness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6B4A54-7A04-43FD-8D74-2392F6B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09825"/>
            <a:ext cx="52863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6534FD-37BC-4FA8-B2C3-5876E21D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00325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F07E4C-3EA5-45C3-A4AE-5BD2B4572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26003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187AE1-C5F9-4E51-98D9-E3303043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524125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Selling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CBDAA4-4981-4AAD-B0F7-E6C113FC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2847975"/>
            <a:ext cx="433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help customers decide and purchase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8DF4AB-5362-4F8B-91EB-7B2B7269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09950"/>
            <a:ext cx="52863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48D2F4-C366-45A8-9176-06790588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6004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4A90E2"/>
          </a:solidFill>
          <a:ln xmlns:a="http://schemas.openxmlformats.org/drawingml/2006/main" w="0">
            <a:solidFill>
              <a:srgbClr val="4A90E2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97D72C-E7D1-45A0-8749-5E509558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6004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7F55A9-7A64-44A4-A0E2-54C3E67F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524250"/>
            <a:ext cx="433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Financing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1D7E5B4-859F-4A5B-B304-BA79DDCE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5175" y="3848100"/>
            <a:ext cx="433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fund the business or help customers pay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F09F8A-2AD8-45CB-BA35-A3AA14D3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33900"/>
            <a:ext cx="52863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7E5"/>
          </a:solidFill>
          <a:ln xmlns:a="http://schemas.openxmlformats.org/drawingml/2006/main" w="0">
            <a:solidFill>
              <a:srgbClr val="FFF7E5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1F639D-DD26-4F2D-8D85-70DA6B4A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29150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Your pair selects 2 functions that best explain how the company responds.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82589B-74C2-46A5-BD73-2157E46D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29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Use the course terms. Be ready to explain the connection.</a:t>
            </a:r>
          </a:p>
        </p:txBody>
      </p:sp>
    </p:spTree>
    <p:extLst>
      <p:ext uri="{BB962C8B-B14F-4D97-AF65-F5344CB8AC3E}">
        <p14:creationId xmlns:p14="http://schemas.microsoft.com/office/powerpoint/2010/main" val="803036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939AE8-E993-4483-A525-FDE7E974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D3D"/>
          </a:solidFill>
          <a:ln xmlns:a="http://schemas.openxmlformats.org/drawingml/2006/main" w="0">
            <a:solidFill>
              <a:srgbClr val="FF9D3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664A1-5292-4577-BE5D-9E5698C0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1C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6D1CC"/>
                </a:solidFill>
                <a:latin typeface="Arial"/>
                <a:ea typeface="Arial"/>
                <a:cs typeface="Arial"/>
              </a:rPr>
              <a:t>PARTNERS DISCUSS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C6257D-2BF3-488D-86F5-B58E17CF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Connect feedback to TWO marketing functions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5F0375-8B40-4412-8DC2-7CCAFF34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51348-A7CB-4F1B-BB76-12365A7E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4 / 5  /  4–5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6E8BF-6585-4B40-88BA-1B24481D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714375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7E5"/>
          </a:solidFill>
          <a:ln xmlns:a="http://schemas.openxmlformats.org/drawingml/2006/main" w="0">
            <a:solidFill>
              <a:srgbClr val="FFF7E5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E1AF5A-6760-4889-B002-8B585118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95450"/>
            <a:ext cx="590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BAAA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BAAA7"/>
                </a:solidFill>
                <a:latin typeface="Arial"/>
                <a:ea typeface="Arial"/>
                <a:cs typeface="Arial"/>
              </a:rPr>
              <a:t>Build your response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8CFEB5-E209-4E77-985F-12A23451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6D1CC"/>
          </a:solidFill>
          <a:ln xmlns:a="http://schemas.openxmlformats.org/drawingml/2006/main" w="0">
            <a:solidFill>
              <a:srgbClr val="36D1C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E763C2-214F-4A64-821E-3EB3E21F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13360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8152F"/>
                </a:solidFill>
                <a:latin typeface="Arial"/>
                <a:ea typeface="Arial"/>
                <a:cs typeface="Arial"/>
              </a:rPr>
              <a:t>1. What do customers do with their phones?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62189-6DF5-446A-9577-2914154D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6075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66AD3-462A-45DD-AC69-20D4A81AB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52725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8152F"/>
                </a:solidFill>
                <a:latin typeface="Arial"/>
                <a:ea typeface="Arial"/>
                <a:cs typeface="Arial"/>
              </a:rPr>
              <a:t>2. What experience, barrier, or need does the company learn about?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68A3F7-87B5-4B52-A74E-196E3E62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6D1CC"/>
          </a:solidFill>
          <a:ln xmlns:a="http://schemas.openxmlformats.org/drawingml/2006/main" w="0">
            <a:solidFill>
              <a:srgbClr val="36D1C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8014DB-2EFA-4B74-A174-1D6ABCD6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7185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3. Which TWO marketing functions help the company respond?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109697-28B2-4845-BF11-C5DA464E3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24325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14CC6A-8633-414B-A541-791EEC22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990975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8152F"/>
                </a:solidFill>
                <a:latin typeface="Arial"/>
                <a:ea typeface="Arial"/>
                <a:cs typeface="Arial"/>
              </a:rPr>
              <a:t>4. What specific improvement could the company make?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1CBF47-AB29-480F-BF1F-93551EDC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28750"/>
            <a:ext cx="3571875" cy="4000500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C32528-8BEF-4D12-AFB3-AC81D7B0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14500"/>
            <a:ext cx="2905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D64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D64A"/>
                </a:solidFill>
                <a:latin typeface="Arial"/>
                <a:ea typeface="Arial"/>
                <a:cs typeface="Arial"/>
              </a:rPr>
              <a:t>SENTENCE FRAME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13A9F9-1C87-4A09-8218-EEA64951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09800"/>
            <a:ext cx="295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17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Customers use their phones to tell ______ about ______.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92E1A3-692E-4925-A12E-A5927BE4A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00400"/>
            <a:ext cx="295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company uses ______ and ______ to ______.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5ADB55-0BC6-4948-8DB8-02563999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33875"/>
            <a:ext cx="2952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36D1CC"/>
          </a:solidFill>
          <a:ln xmlns:a="http://schemas.openxmlformats.org/drawingml/2006/main" w="0">
            <a:solidFill>
              <a:srgbClr val="36D1CC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EC5E2-38DE-4BEB-816E-2C04DDC8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38650"/>
            <a:ext cx="2533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148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Make the improvement specific.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30ED5B-C656-4B20-8EB7-164F9614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29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Both partners contribute. Prepare one clear 30-second explanation.</a:t>
            </a:r>
          </a:p>
        </p:txBody>
      </p:sp>
    </p:spTree>
    <p:extLst>
      <p:ext uri="{BB962C8B-B14F-4D97-AF65-F5344CB8AC3E}">
        <p14:creationId xmlns:p14="http://schemas.microsoft.com/office/powerpoint/2010/main" val="7338075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52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0C68D-A788-4E72-9A56-2D0FBC23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9D3D"/>
          </a:solidFill>
          <a:ln xmlns:a="http://schemas.openxmlformats.org/drawingml/2006/main" w="0">
            <a:solidFill>
              <a:srgbClr val="FF9D3D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80E47-CF78-4FC4-BB52-6919B30F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1C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6D1CC"/>
                </a:solidFill>
                <a:latin typeface="Arial"/>
                <a:ea typeface="Arial"/>
                <a:cs typeface="Arial"/>
              </a:rPr>
              <a:t>SHARE + IDENTIFY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02C735-BACA-4864-8329-5D6A737A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30 seconds per pair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0B16BD-3FAB-4AA9-8145-F72CB272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D64A"/>
          </a:solidFill>
          <a:ln xmlns:a="http://schemas.openxmlformats.org/drawingml/2006/main" w="0">
            <a:solidFill>
              <a:srgbClr val="FFD64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72A30-E7BC-454C-B943-10C39BD1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76225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5 / 5  /  3–4 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C78CA1-E2A8-438E-9C52-C8FDE238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4953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12295D"/>
          </a:solidFill>
          <a:ln xmlns:a="http://schemas.openxmlformats.org/drawingml/2006/main" w="0">
            <a:solidFill>
              <a:srgbClr val="12295D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2709B2-3633-4EBC-AEAB-9A3F5369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1450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D64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D64A"/>
                </a:solidFill>
                <a:latin typeface="Arial"/>
                <a:ea typeface="Arial"/>
                <a:cs typeface="Arial"/>
              </a:rPr>
              <a:t>DESIGNATED SPEAKER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7D3E4-27BE-43C8-9F59-3D5DC76B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4191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If you arrived late, you are the speaker.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CB0872-2484-462A-BAF4-92D10C61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00375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Your partner briefs you before your turn.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176B7-1975-4C95-9B77-291BDEAE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29050"/>
            <a:ext cx="4000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6B6B"/>
          </a:solidFill>
          <a:ln xmlns:a="http://schemas.openxmlformats.org/drawingml/2006/main" w="0">
            <a:solidFill>
              <a:srgbClr val="FF6B6B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F8A80-BA7A-45D8-91AD-1B736869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290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Company → phone use → 2 functions → improvement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E33D7-0FB2-4D98-9B15-AB10C9A0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28750"/>
            <a:ext cx="571500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7E5"/>
          </a:solidFill>
          <a:ln xmlns:a="http://schemas.openxmlformats.org/drawingml/2006/main" w="0">
            <a:solidFill>
              <a:srgbClr val="FFF7E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70BBB-52BD-43BC-AF8D-7105441A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145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BAAA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BAAA7"/>
                </a:solidFill>
                <a:latin typeface="Arial"/>
                <a:ea typeface="Arial"/>
                <a:cs typeface="Arial"/>
              </a:rPr>
              <a:t>WHILE YOU LISTEN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C69940-355E-4130-B9C8-E34CAE16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21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Which two marketing functions do you hear?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B8210-68C6-4B34-802C-68596872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86100"/>
            <a:ext cx="438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8152F"/>
                </a:solidFill>
                <a:latin typeface="Arial"/>
                <a:ea typeface="Arial"/>
                <a:cs typeface="Arial"/>
              </a:rPr>
              <a:t>Be ready to name one function and explain the evidence.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889849-AF89-4171-B8C7-A52B7E05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05375"/>
            <a:ext cx="8191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36D1CC"/>
          </a:solidFill>
          <a:ln xmlns:a="http://schemas.openxmlformats.org/drawingml/2006/main" w="0">
            <a:solidFill>
              <a:srgbClr val="36D1C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18C6F-1ABE-457A-A640-F17E66FD4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048250"/>
            <a:ext cx="7620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152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152F"/>
                </a:solidFill>
                <a:latin typeface="Arial"/>
                <a:ea typeface="Arial"/>
                <a:cs typeface="Arial"/>
              </a:rPr>
              <a:t>IF TIME: Which function starts the response—and which other function must support it?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59A669-A22D-407C-A22B-F7138A11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29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C8D4E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C8D4EA"/>
                </a:solidFill>
                <a:latin typeface="Arial"/>
                <a:ea typeface="Arial"/>
                <a:cs typeface="Arial"/>
              </a:rPr>
              <a:t>Stop at 10–15 minutes so the class can return to notes and reading.</a:t>
            </a:r>
          </a:p>
        </p:txBody>
      </p:sp>
    </p:spTree>
    <p:extLst>
      <p:ext uri="{BB962C8B-B14F-4D97-AF65-F5344CB8AC3E}">
        <p14:creationId xmlns:p14="http://schemas.microsoft.com/office/powerpoint/2010/main" val="1569874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2026-09-22T13:36:07.3630000Z</dcterms:created>
  <dcterms:modified xsi:type="dcterms:W3CDTF">2026-09-22T13:36:07.3630000Z</dcterms:modified>
</coreProperties>
</file>