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ce07c10e7c44d7" /><Relationship Type="http://schemas.openxmlformats.org/officeDocument/2006/relationships/extended-properties" Target="/docProps/app.xml" Id="Ra5235424980e44d1" /><Relationship Type="http://schemas.openxmlformats.org/officeDocument/2006/relationships/officeDocument" Target="/ppt/presentation.xml" Id="Re0b8a4d37d564421" /></Relationships>
</file>

<file path=ppt/presentation.xml><?xml version="1.0" encoding="utf-8"?>
<p:presentation xmlns:p="http://schemas.openxmlformats.org/presentationml/2006/main">
  <p:sldMasterIdLst>
    <p:sldMasterId xmlns:r="http://schemas.openxmlformats.org/officeDocument/2006/relationships" id="2147483648" r:id="Rc7ded9417fb44cff"/>
  </p:sldMasterIdLst>
  <p:notesMasterIdLst>
    <p:notesMasterId xmlns:r="http://schemas.openxmlformats.org/officeDocument/2006/relationships" r:id="Re4b6702d786d49c6"/>
  </p:notesMasterIdLst>
  <p:sldIdLst>
    <p:sldId xmlns:r="http://schemas.openxmlformats.org/officeDocument/2006/relationships" id="256" r:id="R06fd297b06d94693"/>
    <p:sldId xmlns:r="http://schemas.openxmlformats.org/officeDocument/2006/relationships" id="257" r:id="R830b746b505a46d5"/>
    <p:sldId xmlns:r="http://schemas.openxmlformats.org/officeDocument/2006/relationships" id="258" r:id="R20f8fa156d5c48ee"/>
    <p:sldId xmlns:r="http://schemas.openxmlformats.org/officeDocument/2006/relationships" id="259" r:id="R1136200c94a4467f"/>
    <p:sldId xmlns:r="http://schemas.openxmlformats.org/officeDocument/2006/relationships" id="260" r:id="Rfbd90018c35c4241"/>
    <p:sldId xmlns:r="http://schemas.openxmlformats.org/officeDocument/2006/relationships" id="261" r:id="R876eb0e50cf146eb"/>
    <p:sldId xmlns:r="http://schemas.openxmlformats.org/officeDocument/2006/relationships" id="262" r:id="Re208dd8a9d874ed9"/>
    <p:sldId xmlns:r="http://schemas.openxmlformats.org/officeDocument/2006/relationships" id="263" r:id="R137fd634fb5945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72f1c126f74e39" /><Relationship Type="http://schemas.openxmlformats.org/officeDocument/2006/relationships/slideMaster" Target="/ppt/slideMasters/slideMaster1.xml" Id="Rc7ded9417fb44cff" /><Relationship Type="http://schemas.openxmlformats.org/officeDocument/2006/relationships/notesMaster" Target="/ppt/notesMasters/notesMaster1.xml" Id="Re4b6702d786d49c6" /><Relationship Type="http://schemas.openxmlformats.org/officeDocument/2006/relationships/presProps" Target="/ppt/presProps.xml" Id="Rce169b7b8df64e2f" /><Relationship Type="http://schemas.openxmlformats.org/officeDocument/2006/relationships/tableStyles" Target="/ppt/tableStyles.xml" Id="R174d6d75923c4694" /><Relationship Type="http://schemas.openxmlformats.org/officeDocument/2006/relationships/slide" Target="/ppt/slides/slide1.xml" Id="R06fd297b06d94693" /><Relationship Type="http://schemas.openxmlformats.org/officeDocument/2006/relationships/slide" Target="/ppt/slides/slide2.xml" Id="R830b746b505a46d5" /><Relationship Type="http://schemas.openxmlformats.org/officeDocument/2006/relationships/slide" Target="/ppt/slides/slide3.xml" Id="R20f8fa156d5c48ee" /><Relationship Type="http://schemas.openxmlformats.org/officeDocument/2006/relationships/slide" Target="/ppt/slides/slide4.xml" Id="R1136200c94a4467f" /><Relationship Type="http://schemas.openxmlformats.org/officeDocument/2006/relationships/slide" Target="/ppt/slides/slide5.xml" Id="Rfbd90018c35c4241" /><Relationship Type="http://schemas.openxmlformats.org/officeDocument/2006/relationships/slide" Target="/ppt/slides/slide6.xml" Id="R876eb0e50cf146eb" /><Relationship Type="http://schemas.openxmlformats.org/officeDocument/2006/relationships/slide" Target="/ppt/slides/slide7.xml" Id="Re208dd8a9d874ed9" /><Relationship Type="http://schemas.openxmlformats.org/officeDocument/2006/relationships/slide" Target="/ppt/slides/slide8.xml" Id="R137fd634fb5945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8e0629e79d4f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d81492e5204fb5" /><Relationship Type="http://schemas.openxmlformats.org/officeDocument/2006/relationships/notesMaster" Target="/ppt/notesMasters/notesMaster1.xml" Id="Rabae78c5ee4441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382dbaeeaf4bfb" /><Relationship Type="http://schemas.openxmlformats.org/officeDocument/2006/relationships/notesMaster" Target="/ppt/notesMasters/notesMaster1.xml" Id="R31661c39360c4b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0e842ffb2f4efa" /><Relationship Type="http://schemas.openxmlformats.org/officeDocument/2006/relationships/notesMaster" Target="/ppt/notesMasters/notesMaster1.xml" Id="R514902b8565447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a9cb3973304d09" /><Relationship Type="http://schemas.openxmlformats.org/officeDocument/2006/relationships/notesMaster" Target="/ppt/notesMasters/notesMaster1.xml" Id="Re918005e625241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2db678be044e45" /><Relationship Type="http://schemas.openxmlformats.org/officeDocument/2006/relationships/notesMaster" Target="/ppt/notesMasters/notesMaster1.xml" Id="Re2b79df47b484c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591a4c1f674732" /><Relationship Type="http://schemas.openxmlformats.org/officeDocument/2006/relationships/notesMaster" Target="/ppt/notesMasters/notesMaster1.xml" Id="R07458b77299a41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5d382b6a454f5c" /><Relationship Type="http://schemas.openxmlformats.org/officeDocument/2006/relationships/notesMaster" Target="/ppt/notesMasters/notesMaster1.xml" Id="R62e19ad3dd4446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4c68e60f3c4302" /><Relationship Type="http://schemas.openxmlformats.org/officeDocument/2006/relationships/notesMaster" Target="/ppt/notesMasters/notesMaster1.xml" Id="Re2c4c2856b3546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UDL representation: students may read page 7, listen to the teacher summary, or use the visible summary. Give 15 seconds of quiet processing before partner talk. Ask: What does the visitor do with the phone? What becomes easier? Source: Practical Marketing, 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UDL representation and explicit instruction: model the finished response before independent work. Point to each part as you say it. Ask students to show one finger for phone use, two fingers for the two functions, and a thumb when they hear the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UDL engagement and action: students choose a familiar context and may contribute by speaking, pointing, or writing. Keep the decision controlled and fast. No device or research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UDL representation: keep definitions visible and read them aloud once. Students may use the screen, their notes, or the read-aloud. Do not reteach all seven. Emphasize exactly two and the best-fit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UDL action and expression: assign predictable jobs while allowing flexible contribution modes. Partners can swap jobs. Late arrivals receive a brief from the partner before becoming the designated speaker.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UDL action and expression: pairs may build the answer as a full sentence, keywords, or a labeled sketch. Circulate and check for exactly two functions and a concrete action for each. Prompt: What would the company actually 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UDL action and expression: students select a controlled sharing support. The academic target stays constant. Late arrivals become speakers only after partner briefing and may read the prepared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UDL engagement and expression: listeners can respond orally, with a number, or by pointing. Keep a visible 30-second limit. Optional closing only if time remains: Which function begins the response, and which function supports it? Then return to notes slides 12–13 and reading pp. 13–14.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cf5c85612246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aeb2dc29584345" /><Relationship Type="http://schemas.openxmlformats.org/officeDocument/2006/relationships/slideLayout" Target="/ppt/slideLayouts/slideLayout1.xml" Id="R73e03360b5574f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e03360b5574f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89327f4f784942" /><Relationship Type="http://schemas.openxmlformats.org/officeDocument/2006/relationships/image" Target="/ppt/media/image.png" Id="R50cce8334f4e463b" /><Relationship Type="http://schemas.openxmlformats.org/officeDocument/2006/relationships/notesSlide" Target="/ppt/notesSlides/notesSlide1.xml" Id="Re1c63de52fce44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c11b3038604473" /><Relationship Type="http://schemas.openxmlformats.org/officeDocument/2006/relationships/image" Target="/ppt/media/image2.png" Id="R061bd954b7824a2f" /><Relationship Type="http://schemas.openxmlformats.org/officeDocument/2006/relationships/notesSlide" Target="/ppt/notesSlides/notesSlide2.xml" Id="R6853c868205048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3be4677e8d24df3" /><Relationship Type="http://schemas.openxmlformats.org/officeDocument/2006/relationships/image" Target="/ppt/media/image3.png" Id="Rc1a763af5e1d4de0" /><Relationship Type="http://schemas.openxmlformats.org/officeDocument/2006/relationships/notesSlide" Target="/ppt/notesSlides/notesSlide3.xml" Id="R602553a5867e44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495138e23e4b52" /><Relationship Type="http://schemas.openxmlformats.org/officeDocument/2006/relationships/notesSlide" Target="/ppt/notesSlides/notesSlide4.xml" Id="R9003e3cd41b549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069c7c41a4240b8" /><Relationship Type="http://schemas.openxmlformats.org/officeDocument/2006/relationships/notesSlide" Target="/ppt/notesSlides/notesSlide5.xml" Id="R589a9110ea2c4a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42201b3a6024eb4" /><Relationship Type="http://schemas.openxmlformats.org/officeDocument/2006/relationships/notesSlide" Target="/ppt/notesSlides/notesSlide6.xml" Id="Rfe913e8b13274e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c3dde5756ff4542" /><Relationship Type="http://schemas.openxmlformats.org/officeDocument/2006/relationships/notesSlide" Target="/ppt/notesSlides/notesSlide7.xml" Id="R5acad9c3a32d44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359090b042947a7" /><Relationship Type="http://schemas.openxmlformats.org/officeDocument/2006/relationships/notesSlide" Target="/ppt/notesSlides/notesSlide8.xml" Id="Rc9db000aa04e4b5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F7B819A-494D-4803-986B-FFF0910E283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47D9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A9F3D2-5BA2-4C4B-B680-BCDA77A52FB6}"/>
              </a:ext>
            </a:extLst>
          </p:cNvPr>
          <p:cNvSpPr>
            <a:spLocks xmlns:a="http://schemas.openxmlformats.org/drawingml/2006/main" noGrp="1"/>
          </p:cNvSpPr>
          <p:nvPr/>
        </p:nvSpPr>
        <p:spPr>
          <a:xfrm xmlns:a="http://schemas.openxmlformats.org/drawingml/2006/main">
            <a:off x="571500" y="22860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47D92"/>
                </a:solidFill>
                <a:latin typeface="Avenir Next"/>
                <a:ea typeface="Avenir Next"/>
                <a:cs typeface="Avenir Next"/>
              </a:defRPr>
            </a:pPr>
            <a:r>
              <a:rPr sz="1350" b="1">
                <a:solidFill>
                  <a:srgbClr val="147D92"/>
                </a:solidFill>
                <a:latin typeface="Avenir Next"/>
                <a:ea typeface="Avenir Next"/>
                <a:cs typeface="Avenir Next"/>
              </a:rPr>
              <a:t>PRACTICAL MARKETING  |  PAGE 7</a:t>
            </a:r>
          </a:p>
        </p:txBody>
      </p:sp>
      <p:sp>
        <p:nvSpPr>
          <p:cNvPr id="3" name="">
            <a:extLst xmlns:a="http://schemas.openxmlformats.org/drawingml/2006/main">
              <a:ext uri="{FF2B5EF4-FFF2-40B4-BE49-F238E27FC236}">
                <a16:creationId xmlns:a16="http://schemas.microsoft.com/office/drawing/2014/main" id="{A742B179-B462-4130-A940-1D2F2F59169C}"/>
              </a:ext>
            </a:extLst>
          </p:cNvPr>
          <p:cNvSpPr>
            <a:spLocks xmlns:a="http://schemas.openxmlformats.org/drawingml/2006/main" noGrp="1"/>
          </p:cNvSpPr>
          <p:nvPr/>
        </p:nvSpPr>
        <p:spPr>
          <a:xfrm xmlns:a="http://schemas.openxmlformats.org/drawingml/2006/main">
            <a:off x="571500" y="533400"/>
            <a:ext cx="876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7324D"/>
                </a:solidFill>
                <a:latin typeface="Avenir Next"/>
                <a:ea typeface="Avenir Next"/>
                <a:cs typeface="Avenir Next"/>
              </a:defRPr>
            </a:pPr>
            <a:r>
              <a:rPr sz="2700" b="1">
                <a:solidFill>
                  <a:srgbClr val="17324D"/>
                </a:solidFill>
                <a:latin typeface="Avenir Next"/>
                <a:ea typeface="Avenir Next"/>
                <a:cs typeface="Avenir Next"/>
              </a:rPr>
              <a:t>Phones, feedback, and access</a:t>
            </a:r>
          </a:p>
        </p:txBody>
      </p:sp>
      <p:sp>
        <p:nvSpPr>
          <p:cNvPr id="4" name="">
            <a:extLst xmlns:a="http://schemas.openxmlformats.org/drawingml/2006/main">
              <a:ext uri="{FF2B5EF4-FFF2-40B4-BE49-F238E27FC236}">
                <a16:creationId xmlns:a16="http://schemas.microsoft.com/office/drawing/2014/main" id="{B56DD66A-175B-4D65-80E4-5617EE60DD9F}"/>
              </a:ext>
            </a:extLst>
          </p:cNvPr>
          <p:cNvSpPr>
            <a:spLocks xmlns:a="http://schemas.openxmlformats.org/drawingml/2006/main" noGrp="1"/>
          </p:cNvSpPr>
          <p:nvPr/>
        </p:nvSpPr>
        <p:spPr>
          <a:xfrm xmlns:a="http://schemas.openxmlformats.org/drawingml/2006/main">
            <a:off x="10334625" y="257175"/>
            <a:ext cx="1333500" cy="400050"/>
          </a:xfrm>
          <a:prstGeom xmlns:a="http://schemas.openxmlformats.org/drawingml/2006/main" prst="roundRect">
            <a:avLst>
              <a:gd name="adj" fmla="val 19048"/>
            </a:avLst>
          </a:prstGeom>
          <a:solidFill xmlns:a="http://schemas.openxmlformats.org/drawingml/2006/main">
            <a:srgbClr val="17324D"/>
          </a:solidFill>
          <a:ln xmlns:a="http://schemas.openxmlformats.org/drawingml/2006/main" w="9525">
            <a:solidFill>
              <a:srgbClr val="17324D"/>
            </a:solidFill>
          </a:ln>
        </p:spPr>
      </p:sp>
      <p:sp>
        <p:nvSpPr>
          <p:cNvPr id="5" name="">
            <a:extLst xmlns:a="http://schemas.openxmlformats.org/drawingml/2006/main">
              <a:ext uri="{FF2B5EF4-FFF2-40B4-BE49-F238E27FC236}">
                <a16:creationId xmlns:a16="http://schemas.microsoft.com/office/drawing/2014/main" id="{1D344956-AD67-4C31-AB15-3660F6F6A948}"/>
              </a:ext>
            </a:extLst>
          </p:cNvPr>
          <p:cNvSpPr>
            <a:spLocks xmlns:a="http://schemas.openxmlformats.org/drawingml/2006/main" noGrp="1"/>
          </p:cNvSpPr>
          <p:nvPr/>
        </p:nvSpPr>
        <p:spPr>
          <a:xfrm xmlns:a="http://schemas.openxmlformats.org/drawingml/2006/main">
            <a:off x="10382250" y="27622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1 / 8   1 min</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0cce8334f4e463b"/>
          <a:srcRect xmlns:a="http://schemas.openxmlformats.org/drawingml/2006/main" l="8772" t="0" r="8772" b="0"/>
          <a:stretch xmlns:a="http://schemas.openxmlformats.org/drawingml/2006/main">
            <a:fillRect l="0" t="0" r="0" b="0"/>
          </a:stretch>
        </p:blipFill>
        <p:spPr>
          <a:xfrm xmlns:a="http://schemas.openxmlformats.org/drawingml/2006/main">
            <a:off x="571500" y="1428750"/>
            <a:ext cx="6000750" cy="4095750"/>
          </a:xfrm>
          <a:prstGeom xmlns:a="http://schemas.openxmlformats.org/drawingml/2006/main" prst="roundRect">
            <a:avLst>
              <a:gd name="adj" fmla="val 2791"/>
            </a:avLst>
          </a:prstGeom>
        </p:spPr>
      </p:pic>
      <p:sp>
        <p:nvSpPr>
          <p:cNvPr id="7" name="">
            <a:extLst xmlns:a="http://schemas.openxmlformats.org/drawingml/2006/main">
              <a:ext uri="{FF2B5EF4-FFF2-40B4-BE49-F238E27FC236}">
                <a16:creationId xmlns:a16="http://schemas.microsoft.com/office/drawing/2014/main" id="{F6F2AD3D-06AD-4971-A06F-38D563448E34}"/>
              </a:ext>
            </a:extLst>
          </p:cNvPr>
          <p:cNvSpPr>
            <a:spLocks xmlns:a="http://schemas.openxmlformats.org/drawingml/2006/main" noGrp="1"/>
          </p:cNvSpPr>
          <p:nvPr/>
        </p:nvSpPr>
        <p:spPr>
          <a:xfrm xmlns:a="http://schemas.openxmlformats.org/drawingml/2006/main">
            <a:off x="6858000" y="1428750"/>
            <a:ext cx="4762500" cy="4095750"/>
          </a:xfrm>
          <a:prstGeom xmlns:a="http://schemas.openxmlformats.org/drawingml/2006/main" prst="roundRect">
            <a:avLst>
              <a:gd name="adj" fmla="val 1860"/>
            </a:avLst>
          </a:prstGeom>
          <a:solidFill xmlns:a="http://schemas.openxmlformats.org/drawingml/2006/main">
            <a:srgbClr val="17324D"/>
          </a:solidFill>
          <a:ln xmlns:a="http://schemas.openxmlformats.org/drawingml/2006/main" w="9525">
            <a:solidFill>
              <a:srgbClr val="17324D"/>
            </a:solidFill>
          </a:ln>
        </p:spPr>
      </p:sp>
      <p:sp>
        <p:nvSpPr>
          <p:cNvPr id="8" name="">
            <a:extLst xmlns:a="http://schemas.openxmlformats.org/drawingml/2006/main">
              <a:ext uri="{FF2B5EF4-FFF2-40B4-BE49-F238E27FC236}">
                <a16:creationId xmlns:a16="http://schemas.microsoft.com/office/drawing/2014/main" id="{9053AFEE-584B-47ED-A55F-996F6F461A06}"/>
              </a:ext>
            </a:extLst>
          </p:cNvPr>
          <p:cNvSpPr>
            <a:spLocks xmlns:a="http://schemas.openxmlformats.org/drawingml/2006/main" noGrp="1"/>
          </p:cNvSpPr>
          <p:nvPr/>
        </p:nvSpPr>
        <p:spPr>
          <a:xfrm xmlns:a="http://schemas.openxmlformats.org/drawingml/2006/main">
            <a:off x="7191375" y="16954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2C94C"/>
                </a:solidFill>
                <a:latin typeface="Avenir Next"/>
                <a:ea typeface="Avenir Next"/>
                <a:cs typeface="Avenir Next"/>
              </a:defRPr>
            </a:pPr>
            <a:r>
              <a:rPr sz="1650" b="1">
                <a:solidFill>
                  <a:srgbClr val="F2C94C"/>
                </a:solidFill>
                <a:latin typeface="Avenir Next"/>
                <a:ea typeface="Avenir Next"/>
                <a:cs typeface="Avenir Next"/>
              </a:rPr>
              <a:t>SEND ME SFMOMA</a:t>
            </a:r>
          </a:p>
        </p:txBody>
      </p:sp>
      <p:sp>
        <p:nvSpPr>
          <p:cNvPr id="9" name="">
            <a:extLst xmlns:a="http://schemas.openxmlformats.org/drawingml/2006/main">
              <a:ext uri="{FF2B5EF4-FFF2-40B4-BE49-F238E27FC236}">
                <a16:creationId xmlns:a16="http://schemas.microsoft.com/office/drawing/2014/main" id="{6D260337-F3D4-4680-B0D9-820D78468349}"/>
              </a:ext>
            </a:extLst>
          </p:cNvPr>
          <p:cNvSpPr>
            <a:spLocks xmlns:a="http://schemas.openxmlformats.org/drawingml/2006/main" noGrp="1"/>
          </p:cNvSpPr>
          <p:nvPr/>
        </p:nvSpPr>
        <p:spPr>
          <a:xfrm xmlns:a="http://schemas.openxmlformats.org/drawingml/2006/main">
            <a:off x="7191375" y="214312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25"/>
          </a:bodyPr>
          <a:lstStyle xmlns:a="http://schemas.openxmlformats.org/drawingml/2006/main"/>
          <a:p xmlns:a="http://schemas.openxmlformats.org/drawingml/2006/main">
            <a:pPr algn="l">
              <a:defRPr sz="1950" b="1">
                <a:solidFill>
                  <a:srgbClr val="FFFFFF"/>
                </a:solidFill>
                <a:latin typeface="Avenir Next"/>
                <a:ea typeface="Avenir Next"/>
                <a:cs typeface="Avenir Next"/>
              </a:defRPr>
            </a:pPr>
            <a:r>
              <a:rPr sz="1950" b="1">
                <a:solidFill>
                  <a:srgbClr val="FFFFFF"/>
                </a:solidFill>
                <a:latin typeface="Avenir Next"/>
                <a:ea typeface="Avenir Next"/>
                <a:cs typeface="Avenir Next"/>
              </a:rPr>
              <a:t>Visitors text an emoji or phrase and receive a matching artwork.</a:t>
            </a:r>
          </a:p>
        </p:txBody>
      </p:sp>
      <p:sp>
        <p:nvSpPr>
          <p:cNvPr id="10" name="">
            <a:extLst xmlns:a="http://schemas.openxmlformats.org/drawingml/2006/main">
              <a:ext uri="{FF2B5EF4-FFF2-40B4-BE49-F238E27FC236}">
                <a16:creationId xmlns:a16="http://schemas.microsoft.com/office/drawing/2014/main" id="{5D38693C-7B8C-4F83-860C-23F1B44E553F}"/>
              </a:ext>
            </a:extLst>
          </p:cNvPr>
          <p:cNvSpPr>
            <a:spLocks xmlns:a="http://schemas.openxmlformats.org/drawingml/2006/main" noGrp="1"/>
          </p:cNvSpPr>
          <p:nvPr/>
        </p:nvSpPr>
        <p:spPr>
          <a:xfrm xmlns:a="http://schemas.openxmlformats.org/drawingml/2006/main">
            <a:off x="7191375" y="3352800"/>
            <a:ext cx="114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47D92"/>
                </a:solidFill>
                <a:latin typeface="Avenir Next"/>
                <a:ea typeface="Avenir Next"/>
                <a:cs typeface="Avenir Next"/>
              </a:defRPr>
            </a:pPr>
            <a:r>
              <a:rPr sz="1350" b="1">
                <a:solidFill>
                  <a:srgbClr val="147D92"/>
                </a:solidFill>
                <a:latin typeface="Avenir Next"/>
                <a:ea typeface="Avenir Next"/>
                <a:cs typeface="Avenir Next"/>
              </a:rPr>
              <a:t>NOTICE</a:t>
            </a:r>
          </a:p>
        </p:txBody>
      </p:sp>
      <p:sp>
        <p:nvSpPr>
          <p:cNvPr id="11" name="">
            <a:extLst xmlns:a="http://schemas.openxmlformats.org/drawingml/2006/main">
              <a:ext uri="{FF2B5EF4-FFF2-40B4-BE49-F238E27FC236}">
                <a16:creationId xmlns:a16="http://schemas.microsoft.com/office/drawing/2014/main" id="{D9670FF7-8B08-46BD-87B4-3523369B3A51}"/>
              </a:ext>
            </a:extLst>
          </p:cNvPr>
          <p:cNvSpPr>
            <a:spLocks xmlns:a="http://schemas.openxmlformats.org/drawingml/2006/main" noGrp="1"/>
          </p:cNvSpPr>
          <p:nvPr/>
        </p:nvSpPr>
        <p:spPr>
          <a:xfrm xmlns:a="http://schemas.openxmlformats.org/drawingml/2006/main">
            <a:off x="7191375" y="3676650"/>
            <a:ext cx="400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FFFFF"/>
                </a:solidFill>
                <a:latin typeface="Avenir Next"/>
                <a:ea typeface="Avenir Next"/>
                <a:cs typeface="Avenir Next"/>
              </a:defRPr>
            </a:pPr>
            <a:r>
              <a:rPr sz="1650" b="0">
                <a:solidFill>
                  <a:srgbClr val="FFFFFF"/>
                </a:solidFill>
                <a:latin typeface="Avenir Next"/>
                <a:ea typeface="Avenir Next"/>
                <a:cs typeface="Avenir Next"/>
              </a:rPr>
              <a:t>What does the visitor do?</a:t>
            </a:r>
          </a:p>
          <a:p xmlns:a="http://schemas.openxmlformats.org/drawingml/2006/main">
            <a:pPr algn="l">
              <a:defRPr sz="1650" b="0">
                <a:solidFill>
                  <a:srgbClr val="FFFFFF"/>
                </a:solidFill>
                <a:latin typeface="Avenir Next"/>
                <a:ea typeface="Avenir Next"/>
                <a:cs typeface="Avenir Next"/>
              </a:defRPr>
            </a:pPr>
            <a:r>
              <a:rPr sz="1650" b="0">
                <a:solidFill>
                  <a:srgbClr val="FFFFFF"/>
                </a:solidFill>
                <a:latin typeface="Avenir Next"/>
                <a:ea typeface="Avenir Next"/>
                <a:cs typeface="Avenir Next"/>
              </a:rPr>
              <a:t>What becomes easier or more engaging?</a:t>
            </a:r>
          </a:p>
        </p:txBody>
      </p:sp>
      <p:sp>
        <p:nvSpPr>
          <p:cNvPr id="12" name="">
            <a:extLst xmlns:a="http://schemas.openxmlformats.org/drawingml/2006/main">
              <a:ext uri="{FF2B5EF4-FFF2-40B4-BE49-F238E27FC236}">
                <a16:creationId xmlns:a16="http://schemas.microsoft.com/office/drawing/2014/main" id="{F7DBA499-E13D-4AAB-84C0-9D6DAB59EF21}"/>
              </a:ext>
            </a:extLst>
          </p:cNvPr>
          <p:cNvSpPr>
            <a:spLocks xmlns:a="http://schemas.openxmlformats.org/drawingml/2006/main" noGrp="1"/>
          </p:cNvSpPr>
          <p:nvPr/>
        </p:nvSpPr>
        <p:spPr>
          <a:xfrm xmlns:a="http://schemas.openxmlformats.org/drawingml/2006/main">
            <a:off x="7191375" y="4857750"/>
            <a:ext cx="4000500" cy="457200"/>
          </a:xfrm>
          <a:prstGeom xmlns:a="http://schemas.openxmlformats.org/drawingml/2006/main" prst="roundRect">
            <a:avLst>
              <a:gd name="adj" fmla="val 16667"/>
            </a:avLst>
          </a:prstGeom>
          <a:solidFill xmlns:a="http://schemas.openxmlformats.org/drawingml/2006/main">
            <a:srgbClr val="F2C94C"/>
          </a:solidFill>
          <a:ln xmlns:a="http://schemas.openxmlformats.org/drawingml/2006/main" w="9525">
            <a:solidFill>
              <a:srgbClr val="F2C94C"/>
            </a:solidFill>
          </a:ln>
        </p:spPr>
      </p:sp>
      <p:sp>
        <p:nvSpPr>
          <p:cNvPr id="13" name="">
            <a:extLst xmlns:a="http://schemas.openxmlformats.org/drawingml/2006/main">
              <a:ext uri="{FF2B5EF4-FFF2-40B4-BE49-F238E27FC236}">
                <a16:creationId xmlns:a16="http://schemas.microsoft.com/office/drawing/2014/main" id="{0F3968F6-9FAE-42EE-8134-13CC1DD039E6}"/>
              </a:ext>
            </a:extLst>
          </p:cNvPr>
          <p:cNvSpPr>
            <a:spLocks xmlns:a="http://schemas.openxmlformats.org/drawingml/2006/main" noGrp="1"/>
          </p:cNvSpPr>
          <p:nvPr/>
        </p:nvSpPr>
        <p:spPr>
          <a:xfrm xmlns:a="http://schemas.openxmlformats.org/drawingml/2006/main">
            <a:off x="7286625" y="487680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7324D"/>
                </a:solidFill>
                <a:latin typeface="Avenir Next"/>
                <a:ea typeface="Avenir Next"/>
                <a:cs typeface="Avenir Next"/>
              </a:defRPr>
            </a:pPr>
            <a:r>
              <a:rPr sz="1350" b="1">
                <a:solidFill>
                  <a:srgbClr val="17324D"/>
                </a:solidFill>
                <a:latin typeface="Avenir Next"/>
                <a:ea typeface="Avenir Next"/>
                <a:cs typeface="Avenir Next"/>
              </a:rPr>
              <a:t>Read, listen, or use the screen summary.</a:t>
            </a:r>
          </a:p>
        </p:txBody>
      </p:sp>
      <p:sp>
        <p:nvSpPr>
          <p:cNvPr id="14" name="">
            <a:extLst xmlns:a="http://schemas.openxmlformats.org/drawingml/2006/main">
              <a:ext uri="{FF2B5EF4-FFF2-40B4-BE49-F238E27FC236}">
                <a16:creationId xmlns:a16="http://schemas.microsoft.com/office/drawing/2014/main" id="{8B46C976-19C7-4E0A-BE11-A3F5AD1560F3}"/>
              </a:ext>
            </a:extLst>
          </p:cNvPr>
          <p:cNvSpPr>
            <a:spLocks xmlns:a="http://schemas.openxmlformats.org/drawingml/2006/main" noGrp="1"/>
          </p:cNvSpPr>
          <p:nvPr/>
        </p:nvSpPr>
        <p:spPr>
          <a:xfrm xmlns:a="http://schemas.openxmlformats.org/drawingml/2006/main">
            <a:off x="571500" y="633412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526573"/>
                </a:solidFill>
                <a:latin typeface="Avenir Next"/>
                <a:ea typeface="Avenir Next"/>
                <a:cs typeface="Avenir Next"/>
              </a:defRPr>
            </a:pPr>
            <a:r>
              <a:rPr sz="1275" b="1">
                <a:solidFill>
                  <a:srgbClr val="526573"/>
                </a:solidFill>
                <a:latin typeface="Avenir Next"/>
                <a:ea typeface="Avenir Next"/>
                <a:cs typeface="Avenir Next"/>
              </a:rPr>
              <a:t>Quiet think time first. No personal disclosure is required.</a:t>
            </a:r>
          </a:p>
        </p:txBody>
      </p:sp>
    </p:spTree>
    <p:extLst>
      <p:ext uri="{BB962C8B-B14F-4D97-AF65-F5344CB8AC3E}">
        <p14:creationId xmlns:p14="http://schemas.microsoft.com/office/powerpoint/2010/main" val="1959189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C01C65F-1C72-48CD-B707-7D309D6E9EA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47D9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A46506-420C-40B1-9746-5C17C00E069C}"/>
              </a:ext>
            </a:extLst>
          </p:cNvPr>
          <p:cNvSpPr>
            <a:spLocks xmlns:a="http://schemas.openxmlformats.org/drawingml/2006/main" noGrp="1"/>
          </p:cNvSpPr>
          <p:nvPr/>
        </p:nvSpPr>
        <p:spPr>
          <a:xfrm xmlns:a="http://schemas.openxmlformats.org/drawingml/2006/main">
            <a:off x="571500" y="22860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47D92"/>
                </a:solidFill>
                <a:latin typeface="Avenir Next"/>
                <a:ea typeface="Avenir Next"/>
                <a:cs typeface="Avenir Next"/>
              </a:defRPr>
            </a:pPr>
            <a:r>
              <a:rPr sz="1350" b="1">
                <a:solidFill>
                  <a:srgbClr val="147D92"/>
                </a:solidFill>
                <a:latin typeface="Avenir Next"/>
                <a:ea typeface="Avenir Next"/>
                <a:cs typeface="Avenir Next"/>
              </a:rPr>
              <a:t>WORKED MODEL</a:t>
            </a:r>
          </a:p>
        </p:txBody>
      </p:sp>
      <p:sp>
        <p:nvSpPr>
          <p:cNvPr id="3" name="">
            <a:extLst xmlns:a="http://schemas.openxmlformats.org/drawingml/2006/main">
              <a:ext uri="{FF2B5EF4-FFF2-40B4-BE49-F238E27FC236}">
                <a16:creationId xmlns:a16="http://schemas.microsoft.com/office/drawing/2014/main" id="{50388559-C8DD-4113-8A4D-1868C480E773}"/>
              </a:ext>
            </a:extLst>
          </p:cNvPr>
          <p:cNvSpPr>
            <a:spLocks xmlns:a="http://schemas.openxmlformats.org/drawingml/2006/main" noGrp="1"/>
          </p:cNvSpPr>
          <p:nvPr/>
        </p:nvSpPr>
        <p:spPr>
          <a:xfrm xmlns:a="http://schemas.openxmlformats.org/drawingml/2006/main">
            <a:off x="571500" y="533400"/>
            <a:ext cx="876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7324D"/>
                </a:solidFill>
                <a:latin typeface="Avenir Next"/>
                <a:ea typeface="Avenir Next"/>
                <a:cs typeface="Avenir Next"/>
              </a:defRPr>
            </a:pPr>
            <a:r>
              <a:rPr sz="2700" b="1">
                <a:solidFill>
                  <a:srgbClr val="17324D"/>
                </a:solidFill>
                <a:latin typeface="Avenir Next"/>
                <a:ea typeface="Avenir Next"/>
                <a:cs typeface="Avenir Next"/>
              </a:rPr>
              <a:t>A complete connection</a:t>
            </a:r>
          </a:p>
        </p:txBody>
      </p:sp>
      <p:sp>
        <p:nvSpPr>
          <p:cNvPr id="4" name="">
            <a:extLst xmlns:a="http://schemas.openxmlformats.org/drawingml/2006/main">
              <a:ext uri="{FF2B5EF4-FFF2-40B4-BE49-F238E27FC236}">
                <a16:creationId xmlns:a16="http://schemas.microsoft.com/office/drawing/2014/main" id="{A9610E69-508F-4692-8668-560DDDE3E040}"/>
              </a:ext>
            </a:extLst>
          </p:cNvPr>
          <p:cNvSpPr>
            <a:spLocks xmlns:a="http://schemas.openxmlformats.org/drawingml/2006/main" noGrp="1"/>
          </p:cNvSpPr>
          <p:nvPr/>
        </p:nvSpPr>
        <p:spPr>
          <a:xfrm xmlns:a="http://schemas.openxmlformats.org/drawingml/2006/main">
            <a:off x="571500" y="1428750"/>
            <a:ext cx="5334000" cy="4095750"/>
          </a:xfrm>
          <a:prstGeom xmlns:a="http://schemas.openxmlformats.org/drawingml/2006/main" prst="roundRect">
            <a:avLst>
              <a:gd name="adj" fmla="val 1860"/>
            </a:avLst>
          </a:prstGeom>
          <a:solidFill xmlns:a="http://schemas.openxmlformats.org/drawingml/2006/main">
            <a:srgbClr val="17324D"/>
          </a:solidFill>
          <a:ln xmlns:a="http://schemas.openxmlformats.org/drawingml/2006/main" w="9525">
            <a:solidFill>
              <a:srgbClr val="17324D"/>
            </a:solidFill>
          </a:ln>
        </p:spPr>
      </p:sp>
      <p:sp>
        <p:nvSpPr>
          <p:cNvPr id="5" name="">
            <a:extLst xmlns:a="http://schemas.openxmlformats.org/drawingml/2006/main">
              <a:ext uri="{FF2B5EF4-FFF2-40B4-BE49-F238E27FC236}">
                <a16:creationId xmlns:a16="http://schemas.microsoft.com/office/drawing/2014/main" id="{0D23802B-65A8-4CEB-B8AC-7DF12416B006}"/>
              </a:ext>
            </a:extLst>
          </p:cNvPr>
          <p:cNvSpPr>
            <a:spLocks xmlns:a="http://schemas.openxmlformats.org/drawingml/2006/main" noGrp="1"/>
          </p:cNvSpPr>
          <p:nvPr/>
        </p:nvSpPr>
        <p:spPr>
          <a:xfrm xmlns:a="http://schemas.openxmlformats.org/drawingml/2006/main">
            <a:off x="876300" y="16954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F2C94C"/>
                </a:solidFill>
                <a:latin typeface="Avenir Next"/>
                <a:ea typeface="Avenir Next"/>
                <a:cs typeface="Avenir Next"/>
              </a:defRPr>
            </a:pPr>
            <a:r>
              <a:rPr sz="1350" b="1">
                <a:solidFill>
                  <a:srgbClr val="F2C94C"/>
                </a:solidFill>
                <a:latin typeface="Avenir Next"/>
                <a:ea typeface="Avenir Next"/>
                <a:cs typeface="Avenir Next"/>
              </a:rPr>
              <a:t>PHONE USE</a:t>
            </a:r>
          </a:p>
        </p:txBody>
      </p:sp>
      <p:sp>
        <p:nvSpPr>
          <p:cNvPr id="6" name="">
            <a:extLst xmlns:a="http://schemas.openxmlformats.org/drawingml/2006/main">
              <a:ext uri="{FF2B5EF4-FFF2-40B4-BE49-F238E27FC236}">
                <a16:creationId xmlns:a16="http://schemas.microsoft.com/office/drawing/2014/main" id="{C2A2EFAA-9FE6-4EAB-86F0-3566BE8B81C3}"/>
              </a:ext>
            </a:extLst>
          </p:cNvPr>
          <p:cNvSpPr>
            <a:spLocks xmlns:a="http://schemas.openxmlformats.org/drawingml/2006/main" noGrp="1"/>
          </p:cNvSpPr>
          <p:nvPr/>
        </p:nvSpPr>
        <p:spPr>
          <a:xfrm xmlns:a="http://schemas.openxmlformats.org/drawingml/2006/main">
            <a:off x="876300" y="2047875"/>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FFFFFF"/>
                </a:solidFill>
                <a:latin typeface="Avenir Next"/>
                <a:ea typeface="Avenir Next"/>
                <a:cs typeface="Avenir Next"/>
              </a:defRPr>
            </a:pPr>
            <a:r>
              <a:rPr sz="1725" b="1">
                <a:solidFill>
                  <a:srgbClr val="FFFFFF"/>
                </a:solidFill>
                <a:latin typeface="Avenir Next"/>
                <a:ea typeface="Avenir Next"/>
                <a:cs typeface="Avenir Next"/>
              </a:rPr>
              <a:t>Visitors text an emoji and receive artwork that matches their interest.</a:t>
            </a:r>
          </a:p>
        </p:txBody>
      </p:sp>
      <p:sp>
        <p:nvSpPr>
          <p:cNvPr id="7" name="">
            <a:extLst xmlns:a="http://schemas.openxmlformats.org/drawingml/2006/main">
              <a:ext uri="{FF2B5EF4-FFF2-40B4-BE49-F238E27FC236}">
                <a16:creationId xmlns:a16="http://schemas.microsoft.com/office/drawing/2014/main" id="{5E535661-78B3-4091-A13E-E5C10ECDE21A}"/>
              </a:ext>
            </a:extLst>
          </p:cNvPr>
          <p:cNvSpPr>
            <a:spLocks xmlns:a="http://schemas.openxmlformats.org/drawingml/2006/main" noGrp="1"/>
          </p:cNvSpPr>
          <p:nvPr/>
        </p:nvSpPr>
        <p:spPr>
          <a:xfrm xmlns:a="http://schemas.openxmlformats.org/drawingml/2006/main">
            <a:off x="876300" y="3086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3ECAD3"/>
                </a:solidFill>
                <a:latin typeface="Avenir Next"/>
                <a:ea typeface="Avenir Next"/>
                <a:cs typeface="Avenir Next"/>
              </a:defRPr>
            </a:pPr>
            <a:r>
              <a:rPr sz="1650" b="1">
                <a:solidFill>
                  <a:srgbClr val="3ECAD3"/>
                </a:solidFill>
                <a:latin typeface="Avenir Next"/>
                <a:ea typeface="Avenir Next"/>
                <a:cs typeface="Avenir Next"/>
              </a:rPr>
              <a:t>1  Information management</a:t>
            </a:r>
          </a:p>
        </p:txBody>
      </p:sp>
      <p:sp>
        <p:nvSpPr>
          <p:cNvPr id="8" name="">
            <a:extLst xmlns:a="http://schemas.openxmlformats.org/drawingml/2006/main">
              <a:ext uri="{FF2B5EF4-FFF2-40B4-BE49-F238E27FC236}">
                <a16:creationId xmlns:a16="http://schemas.microsoft.com/office/drawing/2014/main" id="{94F37499-504B-4F29-BDC3-D53CF33E0DB6}"/>
              </a:ext>
            </a:extLst>
          </p:cNvPr>
          <p:cNvSpPr>
            <a:spLocks xmlns:a="http://schemas.openxmlformats.org/drawingml/2006/main" noGrp="1"/>
          </p:cNvSpPr>
          <p:nvPr/>
        </p:nvSpPr>
        <p:spPr>
          <a:xfrm xmlns:a="http://schemas.openxmlformats.org/drawingml/2006/main">
            <a:off x="876300" y="34766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FFFFF"/>
                </a:solidFill>
                <a:latin typeface="Avenir Next"/>
                <a:ea typeface="Avenir Next"/>
                <a:cs typeface="Avenir Next"/>
              </a:defRPr>
            </a:pPr>
            <a:r>
              <a:rPr sz="1425" b="0">
                <a:solidFill>
                  <a:srgbClr val="FFFFFF"/>
                </a:solidFill>
                <a:latin typeface="Avenir Next"/>
                <a:ea typeface="Avenir Next"/>
                <a:cs typeface="Avenir Next"/>
              </a:rPr>
              <a:t>The museum learns what visitors request.</a:t>
            </a:r>
          </a:p>
        </p:txBody>
      </p:sp>
      <p:sp>
        <p:nvSpPr>
          <p:cNvPr id="9" name="">
            <a:extLst xmlns:a="http://schemas.openxmlformats.org/drawingml/2006/main">
              <a:ext uri="{FF2B5EF4-FFF2-40B4-BE49-F238E27FC236}">
                <a16:creationId xmlns:a16="http://schemas.microsoft.com/office/drawing/2014/main" id="{75A01FC8-E7AC-402A-8C76-150EDD4C91A5}"/>
              </a:ext>
            </a:extLst>
          </p:cNvPr>
          <p:cNvSpPr>
            <a:spLocks xmlns:a="http://schemas.openxmlformats.org/drawingml/2006/main" noGrp="1"/>
          </p:cNvSpPr>
          <p:nvPr/>
        </p:nvSpPr>
        <p:spPr>
          <a:xfrm xmlns:a="http://schemas.openxmlformats.org/drawingml/2006/main">
            <a:off x="876300" y="41148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AA63"/>
                </a:solidFill>
                <a:latin typeface="Avenir Next"/>
                <a:ea typeface="Avenir Next"/>
                <a:cs typeface="Avenir Next"/>
              </a:defRPr>
            </a:pPr>
            <a:r>
              <a:rPr sz="1650" b="1">
                <a:solidFill>
                  <a:srgbClr val="FFAA63"/>
                </a:solidFill>
                <a:latin typeface="Avenir Next"/>
                <a:ea typeface="Avenir Next"/>
                <a:cs typeface="Avenir Next"/>
              </a:rPr>
              <a:t>2  Product/service management</a:t>
            </a:r>
          </a:p>
        </p:txBody>
      </p:sp>
      <p:sp>
        <p:nvSpPr>
          <p:cNvPr id="10" name="">
            <a:extLst xmlns:a="http://schemas.openxmlformats.org/drawingml/2006/main">
              <a:ext uri="{FF2B5EF4-FFF2-40B4-BE49-F238E27FC236}">
                <a16:creationId xmlns:a16="http://schemas.microsoft.com/office/drawing/2014/main" id="{2E359D59-FCAC-4C35-8A71-D447637BA677}"/>
              </a:ext>
            </a:extLst>
          </p:cNvPr>
          <p:cNvSpPr>
            <a:spLocks xmlns:a="http://schemas.openxmlformats.org/drawingml/2006/main" noGrp="1"/>
          </p:cNvSpPr>
          <p:nvPr/>
        </p:nvSpPr>
        <p:spPr>
          <a:xfrm xmlns:a="http://schemas.openxmlformats.org/drawingml/2006/main">
            <a:off x="876300" y="45053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FFFFF"/>
                </a:solidFill>
                <a:latin typeface="Avenir Next"/>
                <a:ea typeface="Avenir Next"/>
                <a:cs typeface="Avenir Next"/>
              </a:defRPr>
            </a:pPr>
            <a:r>
              <a:rPr sz="1425" b="0">
                <a:solidFill>
                  <a:srgbClr val="FFFFFF"/>
                </a:solidFill>
                <a:latin typeface="Avenir Next"/>
                <a:ea typeface="Avenir Next"/>
                <a:cs typeface="Avenir Next"/>
              </a:rPr>
              <a:t>The museum improves the digital experience.</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61bd954b7824a2f"/>
          <a:srcRect xmlns:a="http://schemas.openxmlformats.org/drawingml/2006/main" l="1395" t="0" r="1395" b="0"/>
          <a:stretch xmlns:a="http://schemas.openxmlformats.org/drawingml/2006/main">
            <a:fillRect l="0" t="0" r="0" b="0"/>
          </a:stretch>
        </p:blipFill>
        <p:spPr>
          <a:xfrm xmlns:a="http://schemas.openxmlformats.org/drawingml/2006/main">
            <a:off x="6191250" y="1428750"/>
            <a:ext cx="5429250" cy="3143250"/>
          </a:xfrm>
          <a:prstGeom xmlns:a="http://schemas.openxmlformats.org/drawingml/2006/main" prst="roundRect">
            <a:avLst>
              <a:gd name="adj" fmla="val 3636"/>
            </a:avLst>
          </a:prstGeom>
        </p:spPr>
      </p:pic>
      <p:sp>
        <p:nvSpPr>
          <p:cNvPr id="12" name="">
            <a:extLst xmlns:a="http://schemas.openxmlformats.org/drawingml/2006/main">
              <a:ext uri="{FF2B5EF4-FFF2-40B4-BE49-F238E27FC236}">
                <a16:creationId xmlns:a16="http://schemas.microsoft.com/office/drawing/2014/main" id="{C73C712A-59AE-45A8-9447-A1A8285D0B9F}"/>
              </a:ext>
            </a:extLst>
          </p:cNvPr>
          <p:cNvSpPr>
            <a:spLocks xmlns:a="http://schemas.openxmlformats.org/drawingml/2006/main" noGrp="1"/>
          </p:cNvSpPr>
          <p:nvPr/>
        </p:nvSpPr>
        <p:spPr>
          <a:xfrm xmlns:a="http://schemas.openxmlformats.org/drawingml/2006/main">
            <a:off x="6191250" y="4762500"/>
            <a:ext cx="5429250" cy="762000"/>
          </a:xfrm>
          <a:prstGeom xmlns:a="http://schemas.openxmlformats.org/drawingml/2006/main" prst="roundRect">
            <a:avLst>
              <a:gd name="adj" fmla="val 10000"/>
            </a:avLst>
          </a:prstGeom>
          <a:solidFill xmlns:a="http://schemas.openxmlformats.org/drawingml/2006/main">
            <a:srgbClr val="F2C94C"/>
          </a:solidFill>
          <a:ln xmlns:a="http://schemas.openxmlformats.org/drawingml/2006/main" w="9525">
            <a:solidFill>
              <a:srgbClr val="F2C94C"/>
            </a:solidFill>
          </a:ln>
        </p:spPr>
      </p:sp>
      <p:sp>
        <p:nvSpPr>
          <p:cNvPr id="13" name="">
            <a:extLst xmlns:a="http://schemas.openxmlformats.org/drawingml/2006/main">
              <a:ext uri="{FF2B5EF4-FFF2-40B4-BE49-F238E27FC236}">
                <a16:creationId xmlns:a16="http://schemas.microsoft.com/office/drawing/2014/main" id="{CEBBB96D-0DF1-473C-9664-A779A6BB9EEF}"/>
              </a:ext>
            </a:extLst>
          </p:cNvPr>
          <p:cNvSpPr>
            <a:spLocks xmlns:a="http://schemas.openxmlformats.org/drawingml/2006/main" noGrp="1"/>
          </p:cNvSpPr>
          <p:nvPr/>
        </p:nvSpPr>
        <p:spPr>
          <a:xfrm xmlns:a="http://schemas.openxmlformats.org/drawingml/2006/main">
            <a:off x="6457950" y="4829175"/>
            <a:ext cx="4895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7324D"/>
                </a:solidFill>
                <a:latin typeface="Avenir Next"/>
                <a:ea typeface="Avenir Next"/>
                <a:cs typeface="Avenir Next"/>
              </a:defRPr>
            </a:pPr>
            <a:r>
              <a:rPr sz="1575" b="1">
                <a:solidFill>
                  <a:srgbClr val="17324D"/>
                </a:solidFill>
                <a:latin typeface="Avenir Next"/>
                <a:ea typeface="Avenir Next"/>
                <a:cs typeface="Avenir Next"/>
              </a:rPr>
              <a:t>Improvement: let visitors save favorites and revisit them later.</a:t>
            </a:r>
          </a:p>
        </p:txBody>
      </p:sp>
      <p:sp>
        <p:nvSpPr>
          <p:cNvPr id="14" name="">
            <a:extLst xmlns:a="http://schemas.openxmlformats.org/drawingml/2006/main">
              <a:ext uri="{FF2B5EF4-FFF2-40B4-BE49-F238E27FC236}">
                <a16:creationId xmlns:a16="http://schemas.microsoft.com/office/drawing/2014/main" id="{F5A7A477-C455-4770-A2BE-15D4109CB2F6}"/>
              </a:ext>
            </a:extLst>
          </p:cNvPr>
          <p:cNvSpPr>
            <a:spLocks xmlns:a="http://schemas.openxmlformats.org/drawingml/2006/main" noGrp="1"/>
          </p:cNvSpPr>
          <p:nvPr/>
        </p:nvSpPr>
        <p:spPr>
          <a:xfrm xmlns:a="http://schemas.openxmlformats.org/drawingml/2006/main">
            <a:off x="571500" y="633412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526573"/>
                </a:solidFill>
                <a:latin typeface="Avenir Next"/>
                <a:ea typeface="Avenir Next"/>
                <a:cs typeface="Avenir Next"/>
              </a:defRPr>
            </a:pPr>
            <a:r>
              <a:rPr sz="1275" b="1">
                <a:solidFill>
                  <a:srgbClr val="526573"/>
                </a:solidFill>
                <a:latin typeface="Avenir Next"/>
                <a:ea typeface="Avenir Next"/>
                <a:cs typeface="Avenir Next"/>
              </a:rPr>
              <a:t>Listen for the pattern: phone use, customer need, two functions, one improvement.</a:t>
            </a:r>
          </a:p>
        </p:txBody>
      </p:sp>
    </p:spTree>
    <p:extLst>
      <p:ext uri="{BB962C8B-B14F-4D97-AF65-F5344CB8AC3E}">
        <p14:creationId xmlns:p14="http://schemas.microsoft.com/office/powerpoint/2010/main" val="8394094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40074EB-3397-4B65-ABE8-DE20DB52759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47D9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8434D0-526D-4B6E-85AB-1486C63CFF43}"/>
              </a:ext>
            </a:extLst>
          </p:cNvPr>
          <p:cNvSpPr>
            <a:spLocks xmlns:a="http://schemas.openxmlformats.org/drawingml/2006/main" noGrp="1"/>
          </p:cNvSpPr>
          <p:nvPr/>
        </p:nvSpPr>
        <p:spPr>
          <a:xfrm xmlns:a="http://schemas.openxmlformats.org/drawingml/2006/main">
            <a:off x="571500" y="22860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47D92"/>
                </a:solidFill>
                <a:latin typeface="Avenir Next"/>
                <a:ea typeface="Avenir Next"/>
                <a:cs typeface="Avenir Next"/>
              </a:defRPr>
            </a:pPr>
            <a:r>
              <a:rPr sz="1350" b="1">
                <a:solidFill>
                  <a:srgbClr val="147D92"/>
                </a:solidFill>
                <a:latin typeface="Avenir Next"/>
                <a:ea typeface="Avenir Next"/>
                <a:cs typeface="Avenir Next"/>
              </a:rPr>
              <a:t>PARTNER CHOICE</a:t>
            </a:r>
          </a:p>
        </p:txBody>
      </p:sp>
      <p:sp>
        <p:nvSpPr>
          <p:cNvPr id="3" name="">
            <a:extLst xmlns:a="http://schemas.openxmlformats.org/drawingml/2006/main">
              <a:ext uri="{FF2B5EF4-FFF2-40B4-BE49-F238E27FC236}">
                <a16:creationId xmlns:a16="http://schemas.microsoft.com/office/drawing/2014/main" id="{3ED11B08-2DB3-43DE-89A4-9B49C21545A7}"/>
              </a:ext>
            </a:extLst>
          </p:cNvPr>
          <p:cNvSpPr>
            <a:spLocks xmlns:a="http://schemas.openxmlformats.org/drawingml/2006/main" noGrp="1"/>
          </p:cNvSpPr>
          <p:nvPr/>
        </p:nvSpPr>
        <p:spPr>
          <a:xfrm xmlns:a="http://schemas.openxmlformats.org/drawingml/2006/main">
            <a:off x="571500" y="533400"/>
            <a:ext cx="876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7324D"/>
                </a:solidFill>
                <a:latin typeface="Avenir Next"/>
                <a:ea typeface="Avenir Next"/>
                <a:cs typeface="Avenir Next"/>
              </a:defRPr>
            </a:pPr>
            <a:r>
              <a:rPr sz="2700" b="1">
                <a:solidFill>
                  <a:srgbClr val="17324D"/>
                </a:solidFill>
                <a:latin typeface="Avenir Next"/>
                <a:ea typeface="Avenir Next"/>
                <a:cs typeface="Avenir Next"/>
              </a:rPr>
              <a:t>Choose one company or customer experience</a:t>
            </a:r>
          </a:p>
        </p:txBody>
      </p:sp>
      <p:sp>
        <p:nvSpPr>
          <p:cNvPr id="4" name="">
            <a:extLst xmlns:a="http://schemas.openxmlformats.org/drawingml/2006/main">
              <a:ext uri="{FF2B5EF4-FFF2-40B4-BE49-F238E27FC236}">
                <a16:creationId xmlns:a16="http://schemas.microsoft.com/office/drawing/2014/main" id="{D308ED25-3DEC-4693-B1B4-ED3C8FED198B}"/>
              </a:ext>
            </a:extLst>
          </p:cNvPr>
          <p:cNvSpPr>
            <a:spLocks xmlns:a="http://schemas.openxmlformats.org/drawingml/2006/main" noGrp="1"/>
          </p:cNvSpPr>
          <p:nvPr/>
        </p:nvSpPr>
        <p:spPr>
          <a:xfrm xmlns:a="http://schemas.openxmlformats.org/drawingml/2006/main">
            <a:off x="10334625" y="257175"/>
            <a:ext cx="1333500" cy="400050"/>
          </a:xfrm>
          <a:prstGeom xmlns:a="http://schemas.openxmlformats.org/drawingml/2006/main" prst="roundRect">
            <a:avLst>
              <a:gd name="adj" fmla="val 19048"/>
            </a:avLst>
          </a:prstGeom>
          <a:solidFill xmlns:a="http://schemas.openxmlformats.org/drawingml/2006/main">
            <a:srgbClr val="17324D"/>
          </a:solidFill>
          <a:ln xmlns:a="http://schemas.openxmlformats.org/drawingml/2006/main" w="9525">
            <a:solidFill>
              <a:srgbClr val="17324D"/>
            </a:solidFill>
          </a:ln>
        </p:spPr>
      </p:sp>
      <p:sp>
        <p:nvSpPr>
          <p:cNvPr id="5" name="">
            <a:extLst xmlns:a="http://schemas.openxmlformats.org/drawingml/2006/main">
              <a:ext uri="{FF2B5EF4-FFF2-40B4-BE49-F238E27FC236}">
                <a16:creationId xmlns:a16="http://schemas.microsoft.com/office/drawing/2014/main" id="{BA349626-7296-4495-AFBC-3BCDC38FDE82}"/>
              </a:ext>
            </a:extLst>
          </p:cNvPr>
          <p:cNvSpPr>
            <a:spLocks xmlns:a="http://schemas.openxmlformats.org/drawingml/2006/main" noGrp="1"/>
          </p:cNvSpPr>
          <p:nvPr/>
        </p:nvSpPr>
        <p:spPr>
          <a:xfrm xmlns:a="http://schemas.openxmlformats.org/drawingml/2006/main">
            <a:off x="10382250" y="27622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3 / 8   1 min</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1a763af5e1d4de0"/>
          <a:srcRect xmlns:a="http://schemas.openxmlformats.org/drawingml/2006/main" l="0" t="24343" r="0" b="24343"/>
          <a:stretch xmlns:a="http://schemas.openxmlformats.org/drawingml/2006/main">
            <a:fillRect l="0" t="0" r="0" b="0"/>
          </a:stretch>
        </p:blipFill>
        <p:spPr>
          <a:xfrm xmlns:a="http://schemas.openxmlformats.org/drawingml/2006/main">
            <a:off x="571500" y="1381125"/>
            <a:ext cx="11049000" cy="3190875"/>
          </a:xfrm>
          <a:prstGeom xmlns:a="http://schemas.openxmlformats.org/drawingml/2006/main" prst="roundRect">
            <a:avLst>
              <a:gd name="adj" fmla="val 3582"/>
            </a:avLst>
          </a:prstGeom>
        </p:spPr>
      </p:pic>
      <p:sp>
        <p:nvSpPr>
          <p:cNvPr id="7" name="">
            <a:extLst xmlns:a="http://schemas.openxmlformats.org/drawingml/2006/main">
              <a:ext uri="{FF2B5EF4-FFF2-40B4-BE49-F238E27FC236}">
                <a16:creationId xmlns:a16="http://schemas.microsoft.com/office/drawing/2014/main" id="{737AB36F-6906-4788-996B-2F278436095F}"/>
              </a:ext>
            </a:extLst>
          </p:cNvPr>
          <p:cNvSpPr>
            <a:spLocks xmlns:a="http://schemas.openxmlformats.org/drawingml/2006/main" noGrp="1"/>
          </p:cNvSpPr>
          <p:nvPr/>
        </p:nvSpPr>
        <p:spPr>
          <a:xfrm xmlns:a="http://schemas.openxmlformats.org/drawingml/2006/main">
            <a:off x="571500" y="4714875"/>
            <a:ext cx="3333750" cy="666750"/>
          </a:xfrm>
          <a:prstGeom xmlns:a="http://schemas.openxmlformats.org/drawingml/2006/main" prst="roundRect">
            <a:avLst>
              <a:gd name="adj" fmla="val 11429"/>
            </a:avLst>
          </a:prstGeom>
          <a:solidFill xmlns:a="http://schemas.openxmlformats.org/drawingml/2006/main">
            <a:srgbClr val="147D92"/>
          </a:solidFill>
          <a:ln xmlns:a="http://schemas.openxmlformats.org/drawingml/2006/main" w="9525">
            <a:solidFill>
              <a:srgbClr val="147D92"/>
            </a:solidFill>
          </a:ln>
        </p:spPr>
      </p:sp>
      <p:sp>
        <p:nvSpPr>
          <p:cNvPr id="8" name="">
            <a:extLst xmlns:a="http://schemas.openxmlformats.org/drawingml/2006/main">
              <a:ext uri="{FF2B5EF4-FFF2-40B4-BE49-F238E27FC236}">
                <a16:creationId xmlns:a16="http://schemas.microsoft.com/office/drawing/2014/main" id="{4816848D-E5EE-49DA-AC8D-C212F0AF36BD}"/>
              </a:ext>
            </a:extLst>
          </p:cNvPr>
          <p:cNvSpPr>
            <a:spLocks xmlns:a="http://schemas.openxmlformats.org/drawingml/2006/main" noGrp="1"/>
          </p:cNvSpPr>
          <p:nvPr/>
        </p:nvSpPr>
        <p:spPr>
          <a:xfrm xmlns:a="http://schemas.openxmlformats.org/drawingml/2006/main">
            <a:off x="685800" y="4762500"/>
            <a:ext cx="310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STADIUM</a:t>
            </a:r>
          </a:p>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order or report</a:t>
            </a:r>
          </a:p>
        </p:txBody>
      </p:sp>
      <p:sp>
        <p:nvSpPr>
          <p:cNvPr id="9" name="">
            <a:extLst xmlns:a="http://schemas.openxmlformats.org/drawingml/2006/main">
              <a:ext uri="{FF2B5EF4-FFF2-40B4-BE49-F238E27FC236}">
                <a16:creationId xmlns:a16="http://schemas.microsoft.com/office/drawing/2014/main" id="{75840093-96D9-41EB-B26B-0A889BEE8A95}"/>
              </a:ext>
            </a:extLst>
          </p:cNvPr>
          <p:cNvSpPr>
            <a:spLocks xmlns:a="http://schemas.openxmlformats.org/drawingml/2006/main" noGrp="1"/>
          </p:cNvSpPr>
          <p:nvPr/>
        </p:nvSpPr>
        <p:spPr>
          <a:xfrm xmlns:a="http://schemas.openxmlformats.org/drawingml/2006/main">
            <a:off x="4286250" y="4714875"/>
            <a:ext cx="3333750" cy="666750"/>
          </a:xfrm>
          <a:prstGeom xmlns:a="http://schemas.openxmlformats.org/drawingml/2006/main" prst="roundRect">
            <a:avLst>
              <a:gd name="adj" fmla="val 11429"/>
            </a:avLst>
          </a:prstGeom>
          <a:solidFill xmlns:a="http://schemas.openxmlformats.org/drawingml/2006/main">
            <a:srgbClr val="E77825"/>
          </a:solidFill>
          <a:ln xmlns:a="http://schemas.openxmlformats.org/drawingml/2006/main" w="9525">
            <a:solidFill>
              <a:srgbClr val="E77825"/>
            </a:solidFill>
          </a:ln>
        </p:spPr>
      </p:sp>
      <p:sp>
        <p:nvSpPr>
          <p:cNvPr id="10" name="">
            <a:extLst xmlns:a="http://schemas.openxmlformats.org/drawingml/2006/main">
              <a:ext uri="{FF2B5EF4-FFF2-40B4-BE49-F238E27FC236}">
                <a16:creationId xmlns:a16="http://schemas.microsoft.com/office/drawing/2014/main" id="{23F670DA-C472-4A4E-86EC-1E5B68E7AFD1}"/>
              </a:ext>
            </a:extLst>
          </p:cNvPr>
          <p:cNvSpPr>
            <a:spLocks xmlns:a="http://schemas.openxmlformats.org/drawingml/2006/main" noGrp="1"/>
          </p:cNvSpPr>
          <p:nvPr/>
        </p:nvSpPr>
        <p:spPr>
          <a:xfrm xmlns:a="http://schemas.openxmlformats.org/drawingml/2006/main">
            <a:off x="4400550" y="4762500"/>
            <a:ext cx="310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CAFÉ</a:t>
            </a:r>
          </a:p>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rate or request</a:t>
            </a:r>
          </a:p>
        </p:txBody>
      </p:sp>
      <p:sp>
        <p:nvSpPr>
          <p:cNvPr id="11" name="">
            <a:extLst xmlns:a="http://schemas.openxmlformats.org/drawingml/2006/main">
              <a:ext uri="{FF2B5EF4-FFF2-40B4-BE49-F238E27FC236}">
                <a16:creationId xmlns:a16="http://schemas.microsoft.com/office/drawing/2014/main" id="{1AD6BEE8-2FCA-49B3-863D-6D95D73DBBE7}"/>
              </a:ext>
            </a:extLst>
          </p:cNvPr>
          <p:cNvSpPr>
            <a:spLocks xmlns:a="http://schemas.openxmlformats.org/drawingml/2006/main" noGrp="1"/>
          </p:cNvSpPr>
          <p:nvPr/>
        </p:nvSpPr>
        <p:spPr>
          <a:xfrm xmlns:a="http://schemas.openxmlformats.org/drawingml/2006/main">
            <a:off x="8001000" y="4714875"/>
            <a:ext cx="3333750" cy="666750"/>
          </a:xfrm>
          <a:prstGeom xmlns:a="http://schemas.openxmlformats.org/drawingml/2006/main" prst="roundRect">
            <a:avLst>
              <a:gd name="adj" fmla="val 11429"/>
            </a:avLst>
          </a:prstGeom>
          <a:solidFill xmlns:a="http://schemas.openxmlformats.org/drawingml/2006/main">
            <a:srgbClr val="147D92"/>
          </a:solidFill>
          <a:ln xmlns:a="http://schemas.openxmlformats.org/drawingml/2006/main" w="9525">
            <a:solidFill>
              <a:srgbClr val="147D92"/>
            </a:solidFill>
          </a:ln>
        </p:spPr>
      </p:sp>
      <p:sp>
        <p:nvSpPr>
          <p:cNvPr id="12" name="">
            <a:extLst xmlns:a="http://schemas.openxmlformats.org/drawingml/2006/main">
              <a:ext uri="{FF2B5EF4-FFF2-40B4-BE49-F238E27FC236}">
                <a16:creationId xmlns:a16="http://schemas.microsoft.com/office/drawing/2014/main" id="{99D1318E-AC32-43B2-B2B5-127225C028ED}"/>
              </a:ext>
            </a:extLst>
          </p:cNvPr>
          <p:cNvSpPr>
            <a:spLocks xmlns:a="http://schemas.openxmlformats.org/drawingml/2006/main" noGrp="1"/>
          </p:cNvSpPr>
          <p:nvPr/>
        </p:nvSpPr>
        <p:spPr>
          <a:xfrm xmlns:a="http://schemas.openxmlformats.org/drawingml/2006/main">
            <a:off x="8115300" y="4762500"/>
            <a:ext cx="310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MUSEUM</a:t>
            </a:r>
          </a:p>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scan or explore</a:t>
            </a:r>
          </a:p>
        </p:txBody>
      </p:sp>
      <p:sp>
        <p:nvSpPr>
          <p:cNvPr id="13" name="">
            <a:extLst xmlns:a="http://schemas.openxmlformats.org/drawingml/2006/main">
              <a:ext uri="{FF2B5EF4-FFF2-40B4-BE49-F238E27FC236}">
                <a16:creationId xmlns:a16="http://schemas.microsoft.com/office/drawing/2014/main" id="{E78A0C9C-78C2-45F5-A5DB-3D74F9FD638A}"/>
              </a:ext>
            </a:extLst>
          </p:cNvPr>
          <p:cNvSpPr>
            <a:spLocks xmlns:a="http://schemas.openxmlformats.org/drawingml/2006/main" noGrp="1"/>
          </p:cNvSpPr>
          <p:nvPr/>
        </p:nvSpPr>
        <p:spPr>
          <a:xfrm xmlns:a="http://schemas.openxmlformats.org/drawingml/2006/main">
            <a:off x="1143000" y="5572125"/>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7324D"/>
                </a:solidFill>
                <a:latin typeface="Avenir Next"/>
                <a:ea typeface="Avenir Next"/>
                <a:cs typeface="Avenir Next"/>
              </a:defRPr>
            </a:pPr>
            <a:r>
              <a:rPr sz="1575" b="1">
                <a:solidFill>
                  <a:srgbClr val="17324D"/>
                </a:solidFill>
                <a:latin typeface="Avenir Next"/>
                <a:ea typeface="Avenir Next"/>
                <a:cs typeface="Avenir Next"/>
              </a:rPr>
              <a:t>Choose one of these or another school-appropriate example. Speak, point, or write your choice.</a:t>
            </a:r>
          </a:p>
        </p:txBody>
      </p:sp>
      <p:sp>
        <p:nvSpPr>
          <p:cNvPr id="14" name="">
            <a:extLst xmlns:a="http://schemas.openxmlformats.org/drawingml/2006/main">
              <a:ext uri="{FF2B5EF4-FFF2-40B4-BE49-F238E27FC236}">
                <a16:creationId xmlns:a16="http://schemas.microsoft.com/office/drawing/2014/main" id="{44A700E6-CAC8-4F17-BE55-3FEB64FE901B}"/>
              </a:ext>
            </a:extLst>
          </p:cNvPr>
          <p:cNvSpPr>
            <a:spLocks xmlns:a="http://schemas.openxmlformats.org/drawingml/2006/main" noGrp="1"/>
          </p:cNvSpPr>
          <p:nvPr/>
        </p:nvSpPr>
        <p:spPr>
          <a:xfrm xmlns:a="http://schemas.openxmlformats.org/drawingml/2006/main">
            <a:off x="571500" y="633412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526573"/>
                </a:solidFill>
                <a:latin typeface="Avenir Next"/>
                <a:ea typeface="Avenir Next"/>
                <a:cs typeface="Avenir Next"/>
              </a:defRPr>
            </a:pPr>
            <a:r>
              <a:rPr sz="1275" b="1">
                <a:solidFill>
                  <a:srgbClr val="526573"/>
                </a:solidFill>
                <a:latin typeface="Avenir Next"/>
                <a:ea typeface="Avenir Next"/>
                <a:cs typeface="Avenir Next"/>
              </a:rPr>
              <a:t>Decide in 30 seconds. If you disagree, use the first option that gets two votes.</a:t>
            </a:r>
          </a:p>
        </p:txBody>
      </p:sp>
    </p:spTree>
    <p:extLst>
      <p:ext uri="{BB962C8B-B14F-4D97-AF65-F5344CB8AC3E}">
        <p14:creationId xmlns:p14="http://schemas.microsoft.com/office/powerpoint/2010/main" val="20372788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6F93B36-A0CF-4203-B459-8AAAFCB322E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47D9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CD3198-B2CB-49FF-A81A-D9FE50620C75}"/>
              </a:ext>
            </a:extLst>
          </p:cNvPr>
          <p:cNvSpPr>
            <a:spLocks xmlns:a="http://schemas.openxmlformats.org/drawingml/2006/main" noGrp="1"/>
          </p:cNvSpPr>
          <p:nvPr/>
        </p:nvSpPr>
        <p:spPr>
          <a:xfrm xmlns:a="http://schemas.openxmlformats.org/drawingml/2006/main">
            <a:off x="571500" y="22860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47D92"/>
                </a:solidFill>
                <a:latin typeface="Avenir Next"/>
                <a:ea typeface="Avenir Next"/>
                <a:cs typeface="Avenir Next"/>
              </a:defRPr>
            </a:pPr>
            <a:r>
              <a:rPr sz="1350" b="1">
                <a:solidFill>
                  <a:srgbClr val="147D92"/>
                </a:solidFill>
                <a:latin typeface="Avenir Next"/>
                <a:ea typeface="Avenir Next"/>
                <a:cs typeface="Avenir Next"/>
              </a:rPr>
              <a:t>SEVEN FUNCTIONS OF MARKETING</a:t>
            </a:r>
          </a:p>
        </p:txBody>
      </p:sp>
      <p:sp>
        <p:nvSpPr>
          <p:cNvPr id="3" name="">
            <a:extLst xmlns:a="http://schemas.openxmlformats.org/drawingml/2006/main">
              <a:ext uri="{FF2B5EF4-FFF2-40B4-BE49-F238E27FC236}">
                <a16:creationId xmlns:a16="http://schemas.microsoft.com/office/drawing/2014/main" id="{CC6CA95C-370C-4E66-A2DC-A7CEFBD22F8B}"/>
              </a:ext>
            </a:extLst>
          </p:cNvPr>
          <p:cNvSpPr>
            <a:spLocks xmlns:a="http://schemas.openxmlformats.org/drawingml/2006/main" noGrp="1"/>
          </p:cNvSpPr>
          <p:nvPr/>
        </p:nvSpPr>
        <p:spPr>
          <a:xfrm xmlns:a="http://schemas.openxmlformats.org/drawingml/2006/main">
            <a:off x="571500" y="533400"/>
            <a:ext cx="876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7324D"/>
                </a:solidFill>
                <a:latin typeface="Avenir Next"/>
                <a:ea typeface="Avenir Next"/>
                <a:cs typeface="Avenir Next"/>
              </a:defRPr>
            </a:pPr>
            <a:r>
              <a:rPr sz="2700" b="1">
                <a:solidFill>
                  <a:srgbClr val="17324D"/>
                </a:solidFill>
                <a:latin typeface="Avenir Next"/>
                <a:ea typeface="Avenir Next"/>
                <a:cs typeface="Avenir Next"/>
              </a:rPr>
              <a:t>Pick exactly TWO functions</a:t>
            </a:r>
          </a:p>
        </p:txBody>
      </p:sp>
      <p:sp>
        <p:nvSpPr>
          <p:cNvPr id="4" name="">
            <a:extLst xmlns:a="http://schemas.openxmlformats.org/drawingml/2006/main">
              <a:ext uri="{FF2B5EF4-FFF2-40B4-BE49-F238E27FC236}">
                <a16:creationId xmlns:a16="http://schemas.microsoft.com/office/drawing/2014/main" id="{E71132FB-C57C-4F47-8C39-6DE84EA85891}"/>
              </a:ext>
            </a:extLst>
          </p:cNvPr>
          <p:cNvSpPr>
            <a:spLocks xmlns:a="http://schemas.openxmlformats.org/drawingml/2006/main" noGrp="1"/>
          </p:cNvSpPr>
          <p:nvPr/>
        </p:nvSpPr>
        <p:spPr>
          <a:xfrm xmlns:a="http://schemas.openxmlformats.org/drawingml/2006/main">
            <a:off x="571500" y="1457325"/>
            <a:ext cx="438150" cy="438150"/>
          </a:xfrm>
          <a:prstGeom xmlns:a="http://schemas.openxmlformats.org/drawingml/2006/main" prst="roundRect">
            <a:avLst>
              <a:gd name="adj" fmla="val 17391"/>
            </a:avLst>
          </a:prstGeom>
          <a:solidFill xmlns:a="http://schemas.openxmlformats.org/drawingml/2006/main">
            <a:srgbClr val="147D92"/>
          </a:solidFill>
          <a:ln xmlns:a="http://schemas.openxmlformats.org/drawingml/2006/main" w="9525">
            <a:solidFill>
              <a:srgbClr val="147D92"/>
            </a:solidFill>
          </a:ln>
        </p:spPr>
      </p:sp>
      <p:sp>
        <p:nvSpPr>
          <p:cNvPr id="5" name="">
            <a:extLst xmlns:a="http://schemas.openxmlformats.org/drawingml/2006/main">
              <a:ext uri="{FF2B5EF4-FFF2-40B4-BE49-F238E27FC236}">
                <a16:creationId xmlns:a16="http://schemas.microsoft.com/office/drawing/2014/main" id="{2524EC69-120E-4A9D-8C81-0133E100DB83}"/>
              </a:ext>
            </a:extLst>
          </p:cNvPr>
          <p:cNvSpPr>
            <a:spLocks xmlns:a="http://schemas.openxmlformats.org/drawingml/2006/main" noGrp="1"/>
          </p:cNvSpPr>
          <p:nvPr/>
        </p:nvSpPr>
        <p:spPr>
          <a:xfrm xmlns:a="http://schemas.openxmlformats.org/drawingml/2006/main">
            <a:off x="571500" y="145732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1</a:t>
            </a:r>
          </a:p>
        </p:txBody>
      </p:sp>
      <p:sp>
        <p:nvSpPr>
          <p:cNvPr id="6" name="">
            <a:extLst xmlns:a="http://schemas.openxmlformats.org/drawingml/2006/main">
              <a:ext uri="{FF2B5EF4-FFF2-40B4-BE49-F238E27FC236}">
                <a16:creationId xmlns:a16="http://schemas.microsoft.com/office/drawing/2014/main" id="{F0AAC7ED-BF3A-41D3-901E-31730752C35E}"/>
              </a:ext>
            </a:extLst>
          </p:cNvPr>
          <p:cNvSpPr>
            <a:spLocks xmlns:a="http://schemas.openxmlformats.org/drawingml/2006/main" noGrp="1"/>
          </p:cNvSpPr>
          <p:nvPr/>
        </p:nvSpPr>
        <p:spPr>
          <a:xfrm xmlns:a="http://schemas.openxmlformats.org/drawingml/2006/main">
            <a:off x="1190625" y="13811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17324D"/>
                </a:solidFill>
                <a:latin typeface="Avenir Next"/>
                <a:ea typeface="Avenir Next"/>
                <a:cs typeface="Avenir Next"/>
              </a:defRPr>
            </a:pPr>
            <a:r>
              <a:rPr sz="1575" b="1">
                <a:solidFill>
                  <a:srgbClr val="17324D"/>
                </a:solidFill>
                <a:latin typeface="Avenir Next"/>
                <a:ea typeface="Avenir Next"/>
                <a:cs typeface="Avenir Next"/>
              </a:rPr>
              <a:t>Information management</a:t>
            </a:r>
          </a:p>
        </p:txBody>
      </p:sp>
      <p:sp>
        <p:nvSpPr>
          <p:cNvPr id="7" name="">
            <a:extLst xmlns:a="http://schemas.openxmlformats.org/drawingml/2006/main">
              <a:ext uri="{FF2B5EF4-FFF2-40B4-BE49-F238E27FC236}">
                <a16:creationId xmlns:a16="http://schemas.microsoft.com/office/drawing/2014/main" id="{2E523F40-DF30-4339-B95A-0316B5D1F7E0}"/>
              </a:ext>
            </a:extLst>
          </p:cNvPr>
          <p:cNvSpPr>
            <a:spLocks xmlns:a="http://schemas.openxmlformats.org/drawingml/2006/main" noGrp="1"/>
          </p:cNvSpPr>
          <p:nvPr/>
        </p:nvSpPr>
        <p:spPr>
          <a:xfrm xmlns:a="http://schemas.openxmlformats.org/drawingml/2006/main">
            <a:off x="1190625" y="170497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26573"/>
                </a:solidFill>
                <a:latin typeface="Avenir Next"/>
                <a:ea typeface="Avenir Next"/>
                <a:cs typeface="Avenir Next"/>
              </a:defRPr>
            </a:pPr>
            <a:r>
              <a:rPr sz="1350" b="0">
                <a:solidFill>
                  <a:srgbClr val="526573"/>
                </a:solidFill>
                <a:latin typeface="Avenir Next"/>
                <a:ea typeface="Avenir Next"/>
                <a:cs typeface="Avenir Next"/>
              </a:rPr>
              <a:t>collect and use customer information</a:t>
            </a:r>
          </a:p>
        </p:txBody>
      </p:sp>
      <p:sp>
        <p:nvSpPr>
          <p:cNvPr id="8" name="">
            <a:extLst xmlns:a="http://schemas.openxmlformats.org/drawingml/2006/main">
              <a:ext uri="{FF2B5EF4-FFF2-40B4-BE49-F238E27FC236}">
                <a16:creationId xmlns:a16="http://schemas.microsoft.com/office/drawing/2014/main" id="{E83923EF-467F-4679-A3DA-E8190A471054}"/>
              </a:ext>
            </a:extLst>
          </p:cNvPr>
          <p:cNvSpPr>
            <a:spLocks xmlns:a="http://schemas.openxmlformats.org/drawingml/2006/main" noGrp="1"/>
          </p:cNvSpPr>
          <p:nvPr/>
        </p:nvSpPr>
        <p:spPr>
          <a:xfrm xmlns:a="http://schemas.openxmlformats.org/drawingml/2006/main">
            <a:off x="571500" y="2457450"/>
            <a:ext cx="438150" cy="438150"/>
          </a:xfrm>
          <a:prstGeom xmlns:a="http://schemas.openxmlformats.org/drawingml/2006/main" prst="roundRect">
            <a:avLst>
              <a:gd name="adj" fmla="val 17391"/>
            </a:avLst>
          </a:prstGeom>
          <a:solidFill xmlns:a="http://schemas.openxmlformats.org/drawingml/2006/main">
            <a:srgbClr val="147D92"/>
          </a:solidFill>
          <a:ln xmlns:a="http://schemas.openxmlformats.org/drawingml/2006/main" w="9525">
            <a:solidFill>
              <a:srgbClr val="147D92"/>
            </a:solidFill>
          </a:ln>
        </p:spPr>
      </p:sp>
      <p:sp>
        <p:nvSpPr>
          <p:cNvPr id="9" name="">
            <a:extLst xmlns:a="http://schemas.openxmlformats.org/drawingml/2006/main">
              <a:ext uri="{FF2B5EF4-FFF2-40B4-BE49-F238E27FC236}">
                <a16:creationId xmlns:a16="http://schemas.microsoft.com/office/drawing/2014/main" id="{D7BF2311-1926-4619-9285-00A8D923AE03}"/>
              </a:ext>
            </a:extLst>
          </p:cNvPr>
          <p:cNvSpPr>
            <a:spLocks xmlns:a="http://schemas.openxmlformats.org/drawingml/2006/main" noGrp="1"/>
          </p:cNvSpPr>
          <p:nvPr/>
        </p:nvSpPr>
        <p:spPr>
          <a:xfrm xmlns:a="http://schemas.openxmlformats.org/drawingml/2006/main">
            <a:off x="571500" y="245745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2</a:t>
            </a:r>
          </a:p>
        </p:txBody>
      </p:sp>
      <p:sp>
        <p:nvSpPr>
          <p:cNvPr id="10" name="">
            <a:extLst xmlns:a="http://schemas.openxmlformats.org/drawingml/2006/main">
              <a:ext uri="{FF2B5EF4-FFF2-40B4-BE49-F238E27FC236}">
                <a16:creationId xmlns:a16="http://schemas.microsoft.com/office/drawing/2014/main" id="{DA3B60F8-0323-4509-B141-39D51EE77933}"/>
              </a:ext>
            </a:extLst>
          </p:cNvPr>
          <p:cNvSpPr>
            <a:spLocks xmlns:a="http://schemas.openxmlformats.org/drawingml/2006/main" noGrp="1"/>
          </p:cNvSpPr>
          <p:nvPr/>
        </p:nvSpPr>
        <p:spPr>
          <a:xfrm xmlns:a="http://schemas.openxmlformats.org/drawingml/2006/main">
            <a:off x="1190625" y="23812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17324D"/>
                </a:solidFill>
                <a:latin typeface="Avenir Next"/>
                <a:ea typeface="Avenir Next"/>
                <a:cs typeface="Avenir Next"/>
              </a:defRPr>
            </a:pPr>
            <a:r>
              <a:rPr sz="1575" b="1">
                <a:solidFill>
                  <a:srgbClr val="17324D"/>
                </a:solidFill>
                <a:latin typeface="Avenir Next"/>
                <a:ea typeface="Avenir Next"/>
                <a:cs typeface="Avenir Next"/>
              </a:rPr>
              <a:t>Product/service management</a:t>
            </a:r>
          </a:p>
        </p:txBody>
      </p:sp>
      <p:sp>
        <p:nvSpPr>
          <p:cNvPr id="11" name="">
            <a:extLst xmlns:a="http://schemas.openxmlformats.org/drawingml/2006/main">
              <a:ext uri="{FF2B5EF4-FFF2-40B4-BE49-F238E27FC236}">
                <a16:creationId xmlns:a16="http://schemas.microsoft.com/office/drawing/2014/main" id="{E1188ADD-39B8-489F-BE48-0DEF9F70E0A9}"/>
              </a:ext>
            </a:extLst>
          </p:cNvPr>
          <p:cNvSpPr>
            <a:spLocks xmlns:a="http://schemas.openxmlformats.org/drawingml/2006/main" noGrp="1"/>
          </p:cNvSpPr>
          <p:nvPr/>
        </p:nvSpPr>
        <p:spPr>
          <a:xfrm xmlns:a="http://schemas.openxmlformats.org/drawingml/2006/main">
            <a:off x="1190625" y="27051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26573"/>
                </a:solidFill>
                <a:latin typeface="Avenir Next"/>
                <a:ea typeface="Avenir Next"/>
                <a:cs typeface="Avenir Next"/>
              </a:defRPr>
            </a:pPr>
            <a:r>
              <a:rPr sz="1350" b="0">
                <a:solidFill>
                  <a:srgbClr val="526573"/>
                </a:solidFill>
                <a:latin typeface="Avenir Next"/>
                <a:ea typeface="Avenir Next"/>
                <a:cs typeface="Avenir Next"/>
              </a:rPr>
              <a:t>develop or improve the offer</a:t>
            </a:r>
          </a:p>
        </p:txBody>
      </p:sp>
      <p:sp>
        <p:nvSpPr>
          <p:cNvPr id="12" name="">
            <a:extLst xmlns:a="http://schemas.openxmlformats.org/drawingml/2006/main">
              <a:ext uri="{FF2B5EF4-FFF2-40B4-BE49-F238E27FC236}">
                <a16:creationId xmlns:a16="http://schemas.microsoft.com/office/drawing/2014/main" id="{FE4B1316-77D0-4D0F-8857-9730BE06F9C6}"/>
              </a:ext>
            </a:extLst>
          </p:cNvPr>
          <p:cNvSpPr>
            <a:spLocks xmlns:a="http://schemas.openxmlformats.org/drawingml/2006/main" noGrp="1"/>
          </p:cNvSpPr>
          <p:nvPr/>
        </p:nvSpPr>
        <p:spPr>
          <a:xfrm xmlns:a="http://schemas.openxmlformats.org/drawingml/2006/main">
            <a:off x="571500" y="3457575"/>
            <a:ext cx="438150" cy="438150"/>
          </a:xfrm>
          <a:prstGeom xmlns:a="http://schemas.openxmlformats.org/drawingml/2006/main" prst="roundRect">
            <a:avLst>
              <a:gd name="adj" fmla="val 17391"/>
            </a:avLst>
          </a:prstGeom>
          <a:solidFill xmlns:a="http://schemas.openxmlformats.org/drawingml/2006/main">
            <a:srgbClr val="147D92"/>
          </a:solidFill>
          <a:ln xmlns:a="http://schemas.openxmlformats.org/drawingml/2006/main" w="9525">
            <a:solidFill>
              <a:srgbClr val="147D92"/>
            </a:solidFill>
          </a:ln>
        </p:spPr>
      </p:sp>
      <p:sp>
        <p:nvSpPr>
          <p:cNvPr id="13" name="">
            <a:extLst xmlns:a="http://schemas.openxmlformats.org/drawingml/2006/main">
              <a:ext uri="{FF2B5EF4-FFF2-40B4-BE49-F238E27FC236}">
                <a16:creationId xmlns:a16="http://schemas.microsoft.com/office/drawing/2014/main" id="{A403EE20-7EBD-4CB9-8A67-90D7EC43FD0C}"/>
              </a:ext>
            </a:extLst>
          </p:cNvPr>
          <p:cNvSpPr>
            <a:spLocks xmlns:a="http://schemas.openxmlformats.org/drawingml/2006/main" noGrp="1"/>
          </p:cNvSpPr>
          <p:nvPr/>
        </p:nvSpPr>
        <p:spPr>
          <a:xfrm xmlns:a="http://schemas.openxmlformats.org/drawingml/2006/main">
            <a:off x="571500" y="34575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3</a:t>
            </a:r>
          </a:p>
        </p:txBody>
      </p:sp>
      <p:sp>
        <p:nvSpPr>
          <p:cNvPr id="14" name="">
            <a:extLst xmlns:a="http://schemas.openxmlformats.org/drawingml/2006/main">
              <a:ext uri="{FF2B5EF4-FFF2-40B4-BE49-F238E27FC236}">
                <a16:creationId xmlns:a16="http://schemas.microsoft.com/office/drawing/2014/main" id="{8C76E254-6F51-4D56-A442-0C9A2C10AFD7}"/>
              </a:ext>
            </a:extLst>
          </p:cNvPr>
          <p:cNvSpPr>
            <a:spLocks xmlns:a="http://schemas.openxmlformats.org/drawingml/2006/main" noGrp="1"/>
          </p:cNvSpPr>
          <p:nvPr/>
        </p:nvSpPr>
        <p:spPr>
          <a:xfrm xmlns:a="http://schemas.openxmlformats.org/drawingml/2006/main">
            <a:off x="1190625" y="3381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17324D"/>
                </a:solidFill>
                <a:latin typeface="Avenir Next"/>
                <a:ea typeface="Avenir Next"/>
                <a:cs typeface="Avenir Next"/>
              </a:defRPr>
            </a:pPr>
            <a:r>
              <a:rPr sz="1575" b="1">
                <a:solidFill>
                  <a:srgbClr val="17324D"/>
                </a:solidFill>
                <a:latin typeface="Avenir Next"/>
                <a:ea typeface="Avenir Next"/>
                <a:cs typeface="Avenir Next"/>
              </a:rPr>
              <a:t>Pricing</a:t>
            </a:r>
          </a:p>
        </p:txBody>
      </p:sp>
      <p:sp>
        <p:nvSpPr>
          <p:cNvPr id="15" name="">
            <a:extLst xmlns:a="http://schemas.openxmlformats.org/drawingml/2006/main">
              <a:ext uri="{FF2B5EF4-FFF2-40B4-BE49-F238E27FC236}">
                <a16:creationId xmlns:a16="http://schemas.microsoft.com/office/drawing/2014/main" id="{29BA848C-D9AB-4194-88C6-353C03731EC5}"/>
              </a:ext>
            </a:extLst>
          </p:cNvPr>
          <p:cNvSpPr>
            <a:spLocks xmlns:a="http://schemas.openxmlformats.org/drawingml/2006/main" noGrp="1"/>
          </p:cNvSpPr>
          <p:nvPr/>
        </p:nvSpPr>
        <p:spPr>
          <a:xfrm xmlns:a="http://schemas.openxmlformats.org/drawingml/2006/main">
            <a:off x="1190625" y="370522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26573"/>
                </a:solidFill>
                <a:latin typeface="Avenir Next"/>
                <a:ea typeface="Avenir Next"/>
                <a:cs typeface="Avenir Next"/>
              </a:defRPr>
            </a:pPr>
            <a:r>
              <a:rPr sz="1350" b="0">
                <a:solidFill>
                  <a:srgbClr val="526573"/>
                </a:solidFill>
                <a:latin typeface="Avenir Next"/>
                <a:ea typeface="Avenir Next"/>
                <a:cs typeface="Avenir Next"/>
              </a:rPr>
              <a:t>set what customers pay</a:t>
            </a:r>
          </a:p>
        </p:txBody>
      </p:sp>
      <p:sp>
        <p:nvSpPr>
          <p:cNvPr id="16" name="">
            <a:extLst xmlns:a="http://schemas.openxmlformats.org/drawingml/2006/main">
              <a:ext uri="{FF2B5EF4-FFF2-40B4-BE49-F238E27FC236}">
                <a16:creationId xmlns:a16="http://schemas.microsoft.com/office/drawing/2014/main" id="{A8F15587-82C0-4D2A-9876-51E176641078}"/>
              </a:ext>
            </a:extLst>
          </p:cNvPr>
          <p:cNvSpPr>
            <a:spLocks xmlns:a="http://schemas.openxmlformats.org/drawingml/2006/main" noGrp="1"/>
          </p:cNvSpPr>
          <p:nvPr/>
        </p:nvSpPr>
        <p:spPr>
          <a:xfrm xmlns:a="http://schemas.openxmlformats.org/drawingml/2006/main">
            <a:off x="571500" y="4457700"/>
            <a:ext cx="438150" cy="438150"/>
          </a:xfrm>
          <a:prstGeom xmlns:a="http://schemas.openxmlformats.org/drawingml/2006/main" prst="roundRect">
            <a:avLst>
              <a:gd name="adj" fmla="val 17391"/>
            </a:avLst>
          </a:prstGeom>
          <a:solidFill xmlns:a="http://schemas.openxmlformats.org/drawingml/2006/main">
            <a:srgbClr val="147D92"/>
          </a:solidFill>
          <a:ln xmlns:a="http://schemas.openxmlformats.org/drawingml/2006/main" w="9525">
            <a:solidFill>
              <a:srgbClr val="147D92"/>
            </a:solidFill>
          </a:ln>
        </p:spPr>
      </p:sp>
      <p:sp>
        <p:nvSpPr>
          <p:cNvPr id="17" name="">
            <a:extLst xmlns:a="http://schemas.openxmlformats.org/drawingml/2006/main">
              <a:ext uri="{FF2B5EF4-FFF2-40B4-BE49-F238E27FC236}">
                <a16:creationId xmlns:a16="http://schemas.microsoft.com/office/drawing/2014/main" id="{6A1DB8C7-700A-4729-A3BA-CE22CCF04FE1}"/>
              </a:ext>
            </a:extLst>
          </p:cNvPr>
          <p:cNvSpPr>
            <a:spLocks xmlns:a="http://schemas.openxmlformats.org/drawingml/2006/main" noGrp="1"/>
          </p:cNvSpPr>
          <p:nvPr/>
        </p:nvSpPr>
        <p:spPr>
          <a:xfrm xmlns:a="http://schemas.openxmlformats.org/drawingml/2006/main">
            <a:off x="571500" y="44577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4</a:t>
            </a:r>
          </a:p>
        </p:txBody>
      </p:sp>
      <p:sp>
        <p:nvSpPr>
          <p:cNvPr id="18" name="">
            <a:extLst xmlns:a="http://schemas.openxmlformats.org/drawingml/2006/main">
              <a:ext uri="{FF2B5EF4-FFF2-40B4-BE49-F238E27FC236}">
                <a16:creationId xmlns:a16="http://schemas.microsoft.com/office/drawing/2014/main" id="{53D2242A-5657-4B4C-B3C2-7696377E1FF2}"/>
              </a:ext>
            </a:extLst>
          </p:cNvPr>
          <p:cNvSpPr>
            <a:spLocks xmlns:a="http://schemas.openxmlformats.org/drawingml/2006/main" noGrp="1"/>
          </p:cNvSpPr>
          <p:nvPr/>
        </p:nvSpPr>
        <p:spPr>
          <a:xfrm xmlns:a="http://schemas.openxmlformats.org/drawingml/2006/main">
            <a:off x="1190625" y="43815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17324D"/>
                </a:solidFill>
                <a:latin typeface="Avenir Next"/>
                <a:ea typeface="Avenir Next"/>
                <a:cs typeface="Avenir Next"/>
              </a:defRPr>
            </a:pPr>
            <a:r>
              <a:rPr sz="1575" b="1">
                <a:solidFill>
                  <a:srgbClr val="17324D"/>
                </a:solidFill>
                <a:latin typeface="Avenir Next"/>
                <a:ea typeface="Avenir Next"/>
                <a:cs typeface="Avenir Next"/>
              </a:rPr>
              <a:t>Channel management</a:t>
            </a:r>
          </a:p>
        </p:txBody>
      </p:sp>
      <p:sp>
        <p:nvSpPr>
          <p:cNvPr id="19" name="">
            <a:extLst xmlns:a="http://schemas.openxmlformats.org/drawingml/2006/main">
              <a:ext uri="{FF2B5EF4-FFF2-40B4-BE49-F238E27FC236}">
                <a16:creationId xmlns:a16="http://schemas.microsoft.com/office/drawing/2014/main" id="{B366D1B8-B18C-41D2-9AA8-5DF9EB636FED}"/>
              </a:ext>
            </a:extLst>
          </p:cNvPr>
          <p:cNvSpPr>
            <a:spLocks xmlns:a="http://schemas.openxmlformats.org/drawingml/2006/main" noGrp="1"/>
          </p:cNvSpPr>
          <p:nvPr/>
        </p:nvSpPr>
        <p:spPr>
          <a:xfrm xmlns:a="http://schemas.openxmlformats.org/drawingml/2006/main">
            <a:off x="1190625" y="47053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26573"/>
                </a:solidFill>
                <a:latin typeface="Avenir Next"/>
                <a:ea typeface="Avenir Next"/>
                <a:cs typeface="Avenir Next"/>
              </a:defRPr>
            </a:pPr>
            <a:r>
              <a:rPr sz="1350" b="0">
                <a:solidFill>
                  <a:srgbClr val="526573"/>
                </a:solidFill>
                <a:latin typeface="Avenir Next"/>
                <a:ea typeface="Avenir Next"/>
                <a:cs typeface="Avenir Next"/>
              </a:rPr>
              <a:t>make the offer available</a:t>
            </a:r>
          </a:p>
        </p:txBody>
      </p:sp>
      <p:sp>
        <p:nvSpPr>
          <p:cNvPr id="20" name="">
            <a:extLst xmlns:a="http://schemas.openxmlformats.org/drawingml/2006/main">
              <a:ext uri="{FF2B5EF4-FFF2-40B4-BE49-F238E27FC236}">
                <a16:creationId xmlns:a16="http://schemas.microsoft.com/office/drawing/2014/main" id="{C83E8B8D-22B2-4096-BD0B-88B18D29BF76}"/>
              </a:ext>
            </a:extLst>
          </p:cNvPr>
          <p:cNvSpPr>
            <a:spLocks xmlns:a="http://schemas.openxmlformats.org/drawingml/2006/main" noGrp="1"/>
          </p:cNvSpPr>
          <p:nvPr/>
        </p:nvSpPr>
        <p:spPr>
          <a:xfrm xmlns:a="http://schemas.openxmlformats.org/drawingml/2006/main">
            <a:off x="6238875" y="1457325"/>
            <a:ext cx="438150" cy="438150"/>
          </a:xfrm>
          <a:prstGeom xmlns:a="http://schemas.openxmlformats.org/drawingml/2006/main" prst="roundRect">
            <a:avLst>
              <a:gd name="adj" fmla="val 17391"/>
            </a:avLst>
          </a:prstGeom>
          <a:solidFill xmlns:a="http://schemas.openxmlformats.org/drawingml/2006/main">
            <a:srgbClr val="E77825"/>
          </a:solidFill>
          <a:ln xmlns:a="http://schemas.openxmlformats.org/drawingml/2006/main" w="9525">
            <a:solidFill>
              <a:srgbClr val="E77825"/>
            </a:solidFill>
          </a:ln>
        </p:spPr>
      </p:sp>
      <p:sp>
        <p:nvSpPr>
          <p:cNvPr id="21" name="">
            <a:extLst xmlns:a="http://schemas.openxmlformats.org/drawingml/2006/main">
              <a:ext uri="{FF2B5EF4-FFF2-40B4-BE49-F238E27FC236}">
                <a16:creationId xmlns:a16="http://schemas.microsoft.com/office/drawing/2014/main" id="{74722394-E107-42B8-8F2D-28FADA118888}"/>
              </a:ext>
            </a:extLst>
          </p:cNvPr>
          <p:cNvSpPr>
            <a:spLocks xmlns:a="http://schemas.openxmlformats.org/drawingml/2006/main" noGrp="1"/>
          </p:cNvSpPr>
          <p:nvPr/>
        </p:nvSpPr>
        <p:spPr>
          <a:xfrm xmlns:a="http://schemas.openxmlformats.org/drawingml/2006/main">
            <a:off x="6238875" y="145732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5</a:t>
            </a:r>
          </a:p>
        </p:txBody>
      </p:sp>
      <p:sp>
        <p:nvSpPr>
          <p:cNvPr id="22" name="">
            <a:extLst xmlns:a="http://schemas.openxmlformats.org/drawingml/2006/main">
              <a:ext uri="{FF2B5EF4-FFF2-40B4-BE49-F238E27FC236}">
                <a16:creationId xmlns:a16="http://schemas.microsoft.com/office/drawing/2014/main" id="{3726E873-9F55-43BE-8EED-270EE9FD5DBF}"/>
              </a:ext>
            </a:extLst>
          </p:cNvPr>
          <p:cNvSpPr>
            <a:spLocks xmlns:a="http://schemas.openxmlformats.org/drawingml/2006/main" noGrp="1"/>
          </p:cNvSpPr>
          <p:nvPr/>
        </p:nvSpPr>
        <p:spPr>
          <a:xfrm xmlns:a="http://schemas.openxmlformats.org/drawingml/2006/main">
            <a:off x="6858000" y="13811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17324D"/>
                </a:solidFill>
                <a:latin typeface="Avenir Next"/>
                <a:ea typeface="Avenir Next"/>
                <a:cs typeface="Avenir Next"/>
              </a:defRPr>
            </a:pPr>
            <a:r>
              <a:rPr sz="1575" b="1">
                <a:solidFill>
                  <a:srgbClr val="17324D"/>
                </a:solidFill>
                <a:latin typeface="Avenir Next"/>
                <a:ea typeface="Avenir Next"/>
                <a:cs typeface="Avenir Next"/>
              </a:rPr>
              <a:t>Promotion</a:t>
            </a:r>
          </a:p>
        </p:txBody>
      </p:sp>
      <p:sp>
        <p:nvSpPr>
          <p:cNvPr id="23" name="">
            <a:extLst xmlns:a="http://schemas.openxmlformats.org/drawingml/2006/main">
              <a:ext uri="{FF2B5EF4-FFF2-40B4-BE49-F238E27FC236}">
                <a16:creationId xmlns:a16="http://schemas.microsoft.com/office/drawing/2014/main" id="{07BCA16C-86A6-4DCB-BC49-C714EF12D821}"/>
              </a:ext>
            </a:extLst>
          </p:cNvPr>
          <p:cNvSpPr>
            <a:spLocks xmlns:a="http://schemas.openxmlformats.org/drawingml/2006/main" noGrp="1"/>
          </p:cNvSpPr>
          <p:nvPr/>
        </p:nvSpPr>
        <p:spPr>
          <a:xfrm xmlns:a="http://schemas.openxmlformats.org/drawingml/2006/main">
            <a:off x="6858000" y="170497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26573"/>
                </a:solidFill>
                <a:latin typeface="Avenir Next"/>
                <a:ea typeface="Avenir Next"/>
                <a:cs typeface="Avenir Next"/>
              </a:defRPr>
            </a:pPr>
            <a:r>
              <a:rPr sz="1350" b="0">
                <a:solidFill>
                  <a:srgbClr val="526573"/>
                </a:solidFill>
                <a:latin typeface="Avenir Next"/>
                <a:ea typeface="Avenir Next"/>
                <a:cs typeface="Avenir Next"/>
              </a:rPr>
              <a:t>communicate and build awareness</a:t>
            </a:r>
          </a:p>
        </p:txBody>
      </p:sp>
      <p:sp>
        <p:nvSpPr>
          <p:cNvPr id="24" name="">
            <a:extLst xmlns:a="http://schemas.openxmlformats.org/drawingml/2006/main">
              <a:ext uri="{FF2B5EF4-FFF2-40B4-BE49-F238E27FC236}">
                <a16:creationId xmlns:a16="http://schemas.microsoft.com/office/drawing/2014/main" id="{69E35D56-CBA5-43B9-A7A5-0F76EB00B056}"/>
              </a:ext>
            </a:extLst>
          </p:cNvPr>
          <p:cNvSpPr>
            <a:spLocks xmlns:a="http://schemas.openxmlformats.org/drawingml/2006/main" noGrp="1"/>
          </p:cNvSpPr>
          <p:nvPr/>
        </p:nvSpPr>
        <p:spPr>
          <a:xfrm xmlns:a="http://schemas.openxmlformats.org/drawingml/2006/main">
            <a:off x="6238875" y="2457450"/>
            <a:ext cx="438150" cy="438150"/>
          </a:xfrm>
          <a:prstGeom xmlns:a="http://schemas.openxmlformats.org/drawingml/2006/main" prst="roundRect">
            <a:avLst>
              <a:gd name="adj" fmla="val 17391"/>
            </a:avLst>
          </a:prstGeom>
          <a:solidFill xmlns:a="http://schemas.openxmlformats.org/drawingml/2006/main">
            <a:srgbClr val="E77825"/>
          </a:solidFill>
          <a:ln xmlns:a="http://schemas.openxmlformats.org/drawingml/2006/main" w="9525">
            <a:solidFill>
              <a:srgbClr val="E77825"/>
            </a:solidFill>
          </a:ln>
        </p:spPr>
      </p:sp>
      <p:sp>
        <p:nvSpPr>
          <p:cNvPr id="25" name="">
            <a:extLst xmlns:a="http://schemas.openxmlformats.org/drawingml/2006/main">
              <a:ext uri="{FF2B5EF4-FFF2-40B4-BE49-F238E27FC236}">
                <a16:creationId xmlns:a16="http://schemas.microsoft.com/office/drawing/2014/main" id="{48BE02C1-73DA-42A8-9FBF-E3E818D23020}"/>
              </a:ext>
            </a:extLst>
          </p:cNvPr>
          <p:cNvSpPr>
            <a:spLocks xmlns:a="http://schemas.openxmlformats.org/drawingml/2006/main" noGrp="1"/>
          </p:cNvSpPr>
          <p:nvPr/>
        </p:nvSpPr>
        <p:spPr>
          <a:xfrm xmlns:a="http://schemas.openxmlformats.org/drawingml/2006/main">
            <a:off x="6238875" y="245745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6</a:t>
            </a:r>
          </a:p>
        </p:txBody>
      </p:sp>
      <p:sp>
        <p:nvSpPr>
          <p:cNvPr id="26" name="">
            <a:extLst xmlns:a="http://schemas.openxmlformats.org/drawingml/2006/main">
              <a:ext uri="{FF2B5EF4-FFF2-40B4-BE49-F238E27FC236}">
                <a16:creationId xmlns:a16="http://schemas.microsoft.com/office/drawing/2014/main" id="{AC03EDF1-F668-4F37-A958-3F296D988FF9}"/>
              </a:ext>
            </a:extLst>
          </p:cNvPr>
          <p:cNvSpPr>
            <a:spLocks xmlns:a="http://schemas.openxmlformats.org/drawingml/2006/main" noGrp="1"/>
          </p:cNvSpPr>
          <p:nvPr/>
        </p:nvSpPr>
        <p:spPr>
          <a:xfrm xmlns:a="http://schemas.openxmlformats.org/drawingml/2006/main">
            <a:off x="6858000" y="23812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17324D"/>
                </a:solidFill>
                <a:latin typeface="Avenir Next"/>
                <a:ea typeface="Avenir Next"/>
                <a:cs typeface="Avenir Next"/>
              </a:defRPr>
            </a:pPr>
            <a:r>
              <a:rPr sz="1575" b="1">
                <a:solidFill>
                  <a:srgbClr val="17324D"/>
                </a:solidFill>
                <a:latin typeface="Avenir Next"/>
                <a:ea typeface="Avenir Next"/>
                <a:cs typeface="Avenir Next"/>
              </a:rPr>
              <a:t>Selling</a:t>
            </a:r>
          </a:p>
        </p:txBody>
      </p:sp>
      <p:sp>
        <p:nvSpPr>
          <p:cNvPr id="27" name="">
            <a:extLst xmlns:a="http://schemas.openxmlformats.org/drawingml/2006/main">
              <a:ext uri="{FF2B5EF4-FFF2-40B4-BE49-F238E27FC236}">
                <a16:creationId xmlns:a16="http://schemas.microsoft.com/office/drawing/2014/main" id="{1760C063-5795-4185-8BBA-01BD5E65DECC}"/>
              </a:ext>
            </a:extLst>
          </p:cNvPr>
          <p:cNvSpPr>
            <a:spLocks xmlns:a="http://schemas.openxmlformats.org/drawingml/2006/main" noGrp="1"/>
          </p:cNvSpPr>
          <p:nvPr/>
        </p:nvSpPr>
        <p:spPr>
          <a:xfrm xmlns:a="http://schemas.openxmlformats.org/drawingml/2006/main">
            <a:off x="6858000" y="27051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26573"/>
                </a:solidFill>
                <a:latin typeface="Avenir Next"/>
                <a:ea typeface="Avenir Next"/>
                <a:cs typeface="Avenir Next"/>
              </a:defRPr>
            </a:pPr>
            <a:r>
              <a:rPr sz="1350" b="0">
                <a:solidFill>
                  <a:srgbClr val="526573"/>
                </a:solidFill>
                <a:latin typeface="Avenir Next"/>
                <a:ea typeface="Avenir Next"/>
                <a:cs typeface="Avenir Next"/>
              </a:rPr>
              <a:t>help customers decide and purchase</a:t>
            </a:r>
          </a:p>
        </p:txBody>
      </p:sp>
      <p:sp>
        <p:nvSpPr>
          <p:cNvPr id="28" name="">
            <a:extLst xmlns:a="http://schemas.openxmlformats.org/drawingml/2006/main">
              <a:ext uri="{FF2B5EF4-FFF2-40B4-BE49-F238E27FC236}">
                <a16:creationId xmlns:a16="http://schemas.microsoft.com/office/drawing/2014/main" id="{0FD1A395-E4B3-416C-83D8-37AD0837BA8E}"/>
              </a:ext>
            </a:extLst>
          </p:cNvPr>
          <p:cNvSpPr>
            <a:spLocks xmlns:a="http://schemas.openxmlformats.org/drawingml/2006/main" noGrp="1"/>
          </p:cNvSpPr>
          <p:nvPr/>
        </p:nvSpPr>
        <p:spPr>
          <a:xfrm xmlns:a="http://schemas.openxmlformats.org/drawingml/2006/main">
            <a:off x="6238875" y="3457575"/>
            <a:ext cx="438150" cy="438150"/>
          </a:xfrm>
          <a:prstGeom xmlns:a="http://schemas.openxmlformats.org/drawingml/2006/main" prst="roundRect">
            <a:avLst>
              <a:gd name="adj" fmla="val 17391"/>
            </a:avLst>
          </a:prstGeom>
          <a:solidFill xmlns:a="http://schemas.openxmlformats.org/drawingml/2006/main">
            <a:srgbClr val="E77825"/>
          </a:solidFill>
          <a:ln xmlns:a="http://schemas.openxmlformats.org/drawingml/2006/main" w="9525">
            <a:solidFill>
              <a:srgbClr val="E77825"/>
            </a:solidFill>
          </a:ln>
        </p:spPr>
      </p:sp>
      <p:sp>
        <p:nvSpPr>
          <p:cNvPr id="29" name="">
            <a:extLst xmlns:a="http://schemas.openxmlformats.org/drawingml/2006/main">
              <a:ext uri="{FF2B5EF4-FFF2-40B4-BE49-F238E27FC236}">
                <a16:creationId xmlns:a16="http://schemas.microsoft.com/office/drawing/2014/main" id="{3E482EEA-AC2B-4169-9671-64589341B2B6}"/>
              </a:ext>
            </a:extLst>
          </p:cNvPr>
          <p:cNvSpPr>
            <a:spLocks xmlns:a="http://schemas.openxmlformats.org/drawingml/2006/main" noGrp="1"/>
          </p:cNvSpPr>
          <p:nvPr/>
        </p:nvSpPr>
        <p:spPr>
          <a:xfrm xmlns:a="http://schemas.openxmlformats.org/drawingml/2006/main">
            <a:off x="6238875" y="34575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7</a:t>
            </a:r>
          </a:p>
        </p:txBody>
      </p:sp>
      <p:sp>
        <p:nvSpPr>
          <p:cNvPr id="30" name="">
            <a:extLst xmlns:a="http://schemas.openxmlformats.org/drawingml/2006/main">
              <a:ext uri="{FF2B5EF4-FFF2-40B4-BE49-F238E27FC236}">
                <a16:creationId xmlns:a16="http://schemas.microsoft.com/office/drawing/2014/main" id="{D24A27EE-BC6A-4E49-A68B-4C9573855FFF}"/>
              </a:ext>
            </a:extLst>
          </p:cNvPr>
          <p:cNvSpPr>
            <a:spLocks xmlns:a="http://schemas.openxmlformats.org/drawingml/2006/main" noGrp="1"/>
          </p:cNvSpPr>
          <p:nvPr/>
        </p:nvSpPr>
        <p:spPr>
          <a:xfrm xmlns:a="http://schemas.openxmlformats.org/drawingml/2006/main">
            <a:off x="6858000" y="3381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17324D"/>
                </a:solidFill>
                <a:latin typeface="Avenir Next"/>
                <a:ea typeface="Avenir Next"/>
                <a:cs typeface="Avenir Next"/>
              </a:defRPr>
            </a:pPr>
            <a:r>
              <a:rPr sz="1575" b="1">
                <a:solidFill>
                  <a:srgbClr val="17324D"/>
                </a:solidFill>
                <a:latin typeface="Avenir Next"/>
                <a:ea typeface="Avenir Next"/>
                <a:cs typeface="Avenir Next"/>
              </a:rPr>
              <a:t>Financing</a:t>
            </a:r>
          </a:p>
        </p:txBody>
      </p:sp>
      <p:sp>
        <p:nvSpPr>
          <p:cNvPr id="31" name="">
            <a:extLst xmlns:a="http://schemas.openxmlformats.org/drawingml/2006/main">
              <a:ext uri="{FF2B5EF4-FFF2-40B4-BE49-F238E27FC236}">
                <a16:creationId xmlns:a16="http://schemas.microsoft.com/office/drawing/2014/main" id="{490DCE15-2708-4087-9187-C0232CC76A0E}"/>
              </a:ext>
            </a:extLst>
          </p:cNvPr>
          <p:cNvSpPr>
            <a:spLocks xmlns:a="http://schemas.openxmlformats.org/drawingml/2006/main" noGrp="1"/>
          </p:cNvSpPr>
          <p:nvPr/>
        </p:nvSpPr>
        <p:spPr>
          <a:xfrm xmlns:a="http://schemas.openxmlformats.org/drawingml/2006/main">
            <a:off x="6858000" y="370522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26573"/>
                </a:solidFill>
                <a:latin typeface="Avenir Next"/>
                <a:ea typeface="Avenir Next"/>
                <a:cs typeface="Avenir Next"/>
              </a:defRPr>
            </a:pPr>
            <a:r>
              <a:rPr sz="1350" b="0">
                <a:solidFill>
                  <a:srgbClr val="526573"/>
                </a:solidFill>
                <a:latin typeface="Avenir Next"/>
                <a:ea typeface="Avenir Next"/>
                <a:cs typeface="Avenir Next"/>
              </a:rPr>
              <a:t>fund the business or help customers pay</a:t>
            </a:r>
          </a:p>
        </p:txBody>
      </p:sp>
      <p:sp>
        <p:nvSpPr>
          <p:cNvPr id="32" name="">
            <a:extLst xmlns:a="http://schemas.openxmlformats.org/drawingml/2006/main">
              <a:ext uri="{FF2B5EF4-FFF2-40B4-BE49-F238E27FC236}">
                <a16:creationId xmlns:a16="http://schemas.microsoft.com/office/drawing/2014/main" id="{067D67CE-7ACA-4E85-A754-ACC509E979CB}"/>
              </a:ext>
            </a:extLst>
          </p:cNvPr>
          <p:cNvSpPr>
            <a:spLocks xmlns:a="http://schemas.openxmlformats.org/drawingml/2006/main" noGrp="1"/>
          </p:cNvSpPr>
          <p:nvPr/>
        </p:nvSpPr>
        <p:spPr>
          <a:xfrm xmlns:a="http://schemas.openxmlformats.org/drawingml/2006/main">
            <a:off x="6334125" y="4572000"/>
            <a:ext cx="5095875" cy="1000125"/>
          </a:xfrm>
          <a:prstGeom xmlns:a="http://schemas.openxmlformats.org/drawingml/2006/main" prst="roundRect">
            <a:avLst>
              <a:gd name="adj" fmla="val 7619"/>
            </a:avLst>
          </a:prstGeom>
          <a:solidFill xmlns:a="http://schemas.openxmlformats.org/drawingml/2006/main">
            <a:srgbClr val="F2C94C"/>
          </a:solidFill>
          <a:ln xmlns:a="http://schemas.openxmlformats.org/drawingml/2006/main" w="9525">
            <a:solidFill>
              <a:srgbClr val="F2C94C"/>
            </a:solidFill>
          </a:ln>
        </p:spPr>
      </p:sp>
      <p:sp>
        <p:nvSpPr>
          <p:cNvPr id="33" name="">
            <a:extLst xmlns:a="http://schemas.openxmlformats.org/drawingml/2006/main">
              <a:ext uri="{FF2B5EF4-FFF2-40B4-BE49-F238E27FC236}">
                <a16:creationId xmlns:a16="http://schemas.microsoft.com/office/drawing/2014/main" id="{A930BE80-6D99-409C-9F8A-D6A7FAC931CE}"/>
              </a:ext>
            </a:extLst>
          </p:cNvPr>
          <p:cNvSpPr>
            <a:spLocks xmlns:a="http://schemas.openxmlformats.org/drawingml/2006/main" noGrp="1"/>
          </p:cNvSpPr>
          <p:nvPr/>
        </p:nvSpPr>
        <p:spPr>
          <a:xfrm xmlns:a="http://schemas.openxmlformats.org/drawingml/2006/main">
            <a:off x="6572250" y="46863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17324D"/>
                </a:solidFill>
                <a:latin typeface="Avenir Next"/>
                <a:ea typeface="Avenir Next"/>
                <a:cs typeface="Avenir Next"/>
              </a:defRPr>
            </a:pPr>
            <a:r>
              <a:rPr sz="1500" b="1">
                <a:solidFill>
                  <a:srgbClr val="17324D"/>
                </a:solidFill>
                <a:latin typeface="Avenir Next"/>
                <a:ea typeface="Avenir Next"/>
                <a:cs typeface="Avenir Next"/>
              </a:rPr>
              <a:t>Best fit test</a:t>
            </a:r>
          </a:p>
        </p:txBody>
      </p:sp>
      <p:sp>
        <p:nvSpPr>
          <p:cNvPr id="34" name="">
            <a:extLst xmlns:a="http://schemas.openxmlformats.org/drawingml/2006/main">
              <a:ext uri="{FF2B5EF4-FFF2-40B4-BE49-F238E27FC236}">
                <a16:creationId xmlns:a16="http://schemas.microsoft.com/office/drawing/2014/main" id="{8400376F-20CC-4080-9959-CE4D5217FA2F}"/>
              </a:ext>
            </a:extLst>
          </p:cNvPr>
          <p:cNvSpPr>
            <a:spLocks xmlns:a="http://schemas.openxmlformats.org/drawingml/2006/main" noGrp="1"/>
          </p:cNvSpPr>
          <p:nvPr/>
        </p:nvSpPr>
        <p:spPr>
          <a:xfrm xmlns:a="http://schemas.openxmlformats.org/drawingml/2006/main">
            <a:off x="6572250" y="4972050"/>
            <a:ext cx="4524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03"/>
          </a:bodyPr>
          <a:lstStyle xmlns:a="http://schemas.openxmlformats.org/drawingml/2006/main"/>
          <a:p xmlns:a="http://schemas.openxmlformats.org/drawingml/2006/main">
            <a:pPr algn="l">
              <a:defRPr sz="1650" b="1">
                <a:solidFill>
                  <a:srgbClr val="17324D"/>
                </a:solidFill>
                <a:latin typeface="Avenir Next"/>
                <a:ea typeface="Avenir Next"/>
                <a:cs typeface="Avenir Next"/>
              </a:defRPr>
            </a:pPr>
            <a:r>
              <a:rPr sz="1650" b="1">
                <a:solidFill>
                  <a:srgbClr val="17324D"/>
                </a:solidFill>
                <a:latin typeface="Avenir Next"/>
                <a:ea typeface="Avenir Next"/>
                <a:cs typeface="Avenir Next"/>
              </a:rPr>
              <a:t>Can you explain what the company would DO for each function?</a:t>
            </a:r>
          </a:p>
        </p:txBody>
      </p:sp>
      <p:sp>
        <p:nvSpPr>
          <p:cNvPr id="35" name="">
            <a:extLst xmlns:a="http://schemas.openxmlformats.org/drawingml/2006/main">
              <a:ext uri="{FF2B5EF4-FFF2-40B4-BE49-F238E27FC236}">
                <a16:creationId xmlns:a16="http://schemas.microsoft.com/office/drawing/2014/main" id="{E8064B9D-C59D-4DD7-BE7C-571C10D2A164}"/>
              </a:ext>
            </a:extLst>
          </p:cNvPr>
          <p:cNvSpPr>
            <a:spLocks xmlns:a="http://schemas.openxmlformats.org/drawingml/2006/main" noGrp="1"/>
          </p:cNvSpPr>
          <p:nvPr/>
        </p:nvSpPr>
        <p:spPr>
          <a:xfrm xmlns:a="http://schemas.openxmlformats.org/drawingml/2006/main">
            <a:off x="571500" y="633412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526573"/>
                </a:solidFill>
                <a:latin typeface="Avenir Next"/>
                <a:ea typeface="Avenir Next"/>
                <a:cs typeface="Avenir Next"/>
              </a:defRPr>
            </a:pPr>
            <a:r>
              <a:rPr sz="1275" b="1">
                <a:solidFill>
                  <a:srgbClr val="526573"/>
                </a:solidFill>
                <a:latin typeface="Avenir Next"/>
                <a:ea typeface="Avenir Next"/>
                <a:cs typeface="Avenir Next"/>
              </a:rPr>
              <a:t>Use the words on screen, your notes, or the teacher’s read-aloud.</a:t>
            </a:r>
          </a:p>
        </p:txBody>
      </p:sp>
    </p:spTree>
    <p:extLst>
      <p:ext uri="{BB962C8B-B14F-4D97-AF65-F5344CB8AC3E}">
        <p14:creationId xmlns:p14="http://schemas.microsoft.com/office/powerpoint/2010/main" val="6548041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0E86A07-1BB9-472A-AA41-389F3D7F4A5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47D9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02D584-BE1B-4AE5-B6F4-4B3C896DB40F}"/>
              </a:ext>
            </a:extLst>
          </p:cNvPr>
          <p:cNvSpPr>
            <a:spLocks xmlns:a="http://schemas.openxmlformats.org/drawingml/2006/main" noGrp="1"/>
          </p:cNvSpPr>
          <p:nvPr/>
        </p:nvSpPr>
        <p:spPr>
          <a:xfrm xmlns:a="http://schemas.openxmlformats.org/drawingml/2006/main">
            <a:off x="571500" y="22860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47D92"/>
                </a:solidFill>
                <a:latin typeface="Avenir Next"/>
                <a:ea typeface="Avenir Next"/>
                <a:cs typeface="Avenir Next"/>
              </a:defRPr>
            </a:pPr>
            <a:r>
              <a:rPr sz="1350" b="1">
                <a:solidFill>
                  <a:srgbClr val="147D92"/>
                </a:solidFill>
                <a:latin typeface="Avenir Next"/>
                <a:ea typeface="Avenir Next"/>
                <a:cs typeface="Avenir Next"/>
              </a:rPr>
              <a:t>PARTNER PLAN</a:t>
            </a:r>
          </a:p>
        </p:txBody>
      </p:sp>
      <p:sp>
        <p:nvSpPr>
          <p:cNvPr id="3" name="">
            <a:extLst xmlns:a="http://schemas.openxmlformats.org/drawingml/2006/main">
              <a:ext uri="{FF2B5EF4-FFF2-40B4-BE49-F238E27FC236}">
                <a16:creationId xmlns:a16="http://schemas.microsoft.com/office/drawing/2014/main" id="{24B831DA-EB0E-4C9A-A29C-2A1A039F8C56}"/>
              </a:ext>
            </a:extLst>
          </p:cNvPr>
          <p:cNvSpPr>
            <a:spLocks xmlns:a="http://schemas.openxmlformats.org/drawingml/2006/main" noGrp="1"/>
          </p:cNvSpPr>
          <p:nvPr/>
        </p:nvSpPr>
        <p:spPr>
          <a:xfrm xmlns:a="http://schemas.openxmlformats.org/drawingml/2006/main">
            <a:off x="571500" y="533400"/>
            <a:ext cx="876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7324D"/>
                </a:solidFill>
                <a:latin typeface="Avenir Next"/>
                <a:ea typeface="Avenir Next"/>
                <a:cs typeface="Avenir Next"/>
              </a:defRPr>
            </a:pPr>
            <a:r>
              <a:rPr sz="2700" b="1">
                <a:solidFill>
                  <a:srgbClr val="17324D"/>
                </a:solidFill>
                <a:latin typeface="Avenir Next"/>
                <a:ea typeface="Avenir Next"/>
                <a:cs typeface="Avenir Next"/>
              </a:rPr>
              <a:t>Two functions, two jobs, one response</a:t>
            </a:r>
          </a:p>
        </p:txBody>
      </p:sp>
      <p:sp>
        <p:nvSpPr>
          <p:cNvPr id="4" name="">
            <a:extLst xmlns:a="http://schemas.openxmlformats.org/drawingml/2006/main">
              <a:ext uri="{FF2B5EF4-FFF2-40B4-BE49-F238E27FC236}">
                <a16:creationId xmlns:a16="http://schemas.microsoft.com/office/drawing/2014/main" id="{4E5EE436-FD3F-4199-AD10-FED5855A3268}"/>
              </a:ext>
            </a:extLst>
          </p:cNvPr>
          <p:cNvSpPr>
            <a:spLocks xmlns:a="http://schemas.openxmlformats.org/drawingml/2006/main" noGrp="1"/>
          </p:cNvSpPr>
          <p:nvPr/>
        </p:nvSpPr>
        <p:spPr>
          <a:xfrm xmlns:a="http://schemas.openxmlformats.org/drawingml/2006/main">
            <a:off x="10334625" y="257175"/>
            <a:ext cx="1333500" cy="400050"/>
          </a:xfrm>
          <a:prstGeom xmlns:a="http://schemas.openxmlformats.org/drawingml/2006/main" prst="roundRect">
            <a:avLst>
              <a:gd name="adj" fmla="val 19048"/>
            </a:avLst>
          </a:prstGeom>
          <a:solidFill xmlns:a="http://schemas.openxmlformats.org/drawingml/2006/main">
            <a:srgbClr val="17324D"/>
          </a:solidFill>
          <a:ln xmlns:a="http://schemas.openxmlformats.org/drawingml/2006/main" w="9525">
            <a:solidFill>
              <a:srgbClr val="17324D"/>
            </a:solidFill>
          </a:ln>
        </p:spPr>
      </p:sp>
      <p:sp>
        <p:nvSpPr>
          <p:cNvPr id="5" name="">
            <a:extLst xmlns:a="http://schemas.openxmlformats.org/drawingml/2006/main">
              <a:ext uri="{FF2B5EF4-FFF2-40B4-BE49-F238E27FC236}">
                <a16:creationId xmlns:a16="http://schemas.microsoft.com/office/drawing/2014/main" id="{CA733A22-B1F8-42A0-AA9A-4C49D045D6A1}"/>
              </a:ext>
            </a:extLst>
          </p:cNvPr>
          <p:cNvSpPr>
            <a:spLocks xmlns:a="http://schemas.openxmlformats.org/drawingml/2006/main" noGrp="1"/>
          </p:cNvSpPr>
          <p:nvPr/>
        </p:nvSpPr>
        <p:spPr>
          <a:xfrm xmlns:a="http://schemas.openxmlformats.org/drawingml/2006/main">
            <a:off x="10382250" y="27622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5 / 8   1 min</a:t>
            </a:r>
          </a:p>
        </p:txBody>
      </p:sp>
      <p:sp>
        <p:nvSpPr>
          <p:cNvPr id="6" name="">
            <a:extLst xmlns:a="http://schemas.openxmlformats.org/drawingml/2006/main">
              <a:ext uri="{FF2B5EF4-FFF2-40B4-BE49-F238E27FC236}">
                <a16:creationId xmlns:a16="http://schemas.microsoft.com/office/drawing/2014/main" id="{8F5B2E6A-0F76-45C2-B038-3793EB0EBB19}"/>
              </a:ext>
            </a:extLst>
          </p:cNvPr>
          <p:cNvSpPr>
            <a:spLocks xmlns:a="http://schemas.openxmlformats.org/drawingml/2006/main" noGrp="1"/>
          </p:cNvSpPr>
          <p:nvPr/>
        </p:nvSpPr>
        <p:spPr>
          <a:xfrm xmlns:a="http://schemas.openxmlformats.org/drawingml/2006/main">
            <a:off x="571500" y="1428750"/>
            <a:ext cx="5143500" cy="4000500"/>
          </a:xfrm>
          <a:prstGeom xmlns:a="http://schemas.openxmlformats.org/drawingml/2006/main" prst="roundRect">
            <a:avLst>
              <a:gd name="adj" fmla="val 1905"/>
            </a:avLst>
          </a:prstGeom>
          <a:solidFill xmlns:a="http://schemas.openxmlformats.org/drawingml/2006/main">
            <a:srgbClr val="F3F7FA"/>
          </a:solidFill>
          <a:ln xmlns:a="http://schemas.openxmlformats.org/drawingml/2006/main" w="9525">
            <a:solidFill>
              <a:srgbClr val="D5E1E8"/>
            </a:solidFill>
          </a:ln>
        </p:spPr>
      </p:sp>
      <p:sp>
        <p:nvSpPr>
          <p:cNvPr id="7" name="">
            <a:extLst xmlns:a="http://schemas.openxmlformats.org/drawingml/2006/main">
              <a:ext uri="{FF2B5EF4-FFF2-40B4-BE49-F238E27FC236}">
                <a16:creationId xmlns:a16="http://schemas.microsoft.com/office/drawing/2014/main" id="{89794553-5C3A-4F40-BDFD-CF8AC43E070F}"/>
              </a:ext>
            </a:extLst>
          </p:cNvPr>
          <p:cNvSpPr>
            <a:spLocks xmlns:a="http://schemas.openxmlformats.org/drawingml/2006/main" noGrp="1"/>
          </p:cNvSpPr>
          <p:nvPr/>
        </p:nvSpPr>
        <p:spPr>
          <a:xfrm xmlns:a="http://schemas.openxmlformats.org/drawingml/2006/main">
            <a:off x="904875" y="16954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7324D"/>
                </a:solidFill>
                <a:latin typeface="Avenir Next"/>
                <a:ea typeface="Avenir Next"/>
                <a:cs typeface="Avenir Next"/>
              </a:defRPr>
            </a:pPr>
            <a:r>
              <a:rPr sz="1950" b="1">
                <a:solidFill>
                  <a:srgbClr val="17324D"/>
                </a:solidFill>
                <a:latin typeface="Avenir Next"/>
                <a:ea typeface="Avenir Next"/>
                <a:cs typeface="Avenir Next"/>
              </a:rPr>
              <a:t>Choose TWO functions</a:t>
            </a:r>
          </a:p>
        </p:txBody>
      </p:sp>
      <p:sp>
        <p:nvSpPr>
          <p:cNvPr id="8" name="">
            <a:extLst xmlns:a="http://schemas.openxmlformats.org/drawingml/2006/main">
              <a:ext uri="{FF2B5EF4-FFF2-40B4-BE49-F238E27FC236}">
                <a16:creationId xmlns:a16="http://schemas.microsoft.com/office/drawing/2014/main" id="{2E06972B-067F-492B-8979-6B5DD2AFCE55}"/>
              </a:ext>
            </a:extLst>
          </p:cNvPr>
          <p:cNvSpPr>
            <a:spLocks xmlns:a="http://schemas.openxmlformats.org/drawingml/2006/main" noGrp="1"/>
          </p:cNvSpPr>
          <p:nvPr/>
        </p:nvSpPr>
        <p:spPr>
          <a:xfrm xmlns:a="http://schemas.openxmlformats.org/drawingml/2006/main">
            <a:off x="952500" y="2400300"/>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47D92"/>
                </a:solidFill>
                <a:latin typeface="Avenir Next"/>
                <a:ea typeface="Avenir Next"/>
                <a:cs typeface="Avenir Next"/>
              </a:defRPr>
            </a:pPr>
            <a:r>
              <a:rPr sz="1725" b="1">
                <a:solidFill>
                  <a:srgbClr val="147D92"/>
                </a:solidFill>
                <a:latin typeface="Avenir Next"/>
                <a:ea typeface="Avenir Next"/>
                <a:cs typeface="Avenir Next"/>
              </a:rPr>
              <a:t>Function 1: ____________________</a:t>
            </a:r>
          </a:p>
        </p:txBody>
      </p:sp>
      <p:sp>
        <p:nvSpPr>
          <p:cNvPr id="9" name="">
            <a:extLst xmlns:a="http://schemas.openxmlformats.org/drawingml/2006/main">
              <a:ext uri="{FF2B5EF4-FFF2-40B4-BE49-F238E27FC236}">
                <a16:creationId xmlns:a16="http://schemas.microsoft.com/office/drawing/2014/main" id="{EF67D0EF-1FEE-4259-A956-B0F245FFD6EF}"/>
              </a:ext>
            </a:extLst>
          </p:cNvPr>
          <p:cNvSpPr>
            <a:spLocks xmlns:a="http://schemas.openxmlformats.org/drawingml/2006/main" noGrp="1"/>
          </p:cNvSpPr>
          <p:nvPr/>
        </p:nvSpPr>
        <p:spPr>
          <a:xfrm xmlns:a="http://schemas.openxmlformats.org/drawingml/2006/main">
            <a:off x="952500" y="29718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3042"/>
                </a:solidFill>
                <a:latin typeface="Avenir Next"/>
                <a:ea typeface="Avenir Next"/>
                <a:cs typeface="Avenir Next"/>
              </a:defRPr>
            </a:pPr>
            <a:r>
              <a:rPr sz="1575" b="0">
                <a:solidFill>
                  <a:srgbClr val="183042"/>
                </a:solidFill>
                <a:latin typeface="Avenir Next"/>
                <a:ea typeface="Avenir Next"/>
                <a:cs typeface="Avenir Next"/>
              </a:rPr>
              <a:t>The company would ____________________</a:t>
            </a:r>
          </a:p>
        </p:txBody>
      </p:sp>
      <p:sp>
        <p:nvSpPr>
          <p:cNvPr id="10" name="">
            <a:extLst xmlns:a="http://schemas.openxmlformats.org/drawingml/2006/main">
              <a:ext uri="{FF2B5EF4-FFF2-40B4-BE49-F238E27FC236}">
                <a16:creationId xmlns:a16="http://schemas.microsoft.com/office/drawing/2014/main" id="{A806D3FF-E91C-4D8F-99AE-1F42ADBE8108}"/>
              </a:ext>
            </a:extLst>
          </p:cNvPr>
          <p:cNvSpPr>
            <a:spLocks xmlns:a="http://schemas.openxmlformats.org/drawingml/2006/main" noGrp="1"/>
          </p:cNvSpPr>
          <p:nvPr/>
        </p:nvSpPr>
        <p:spPr>
          <a:xfrm xmlns:a="http://schemas.openxmlformats.org/drawingml/2006/main">
            <a:off x="952500" y="3829050"/>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E77825"/>
                </a:solidFill>
                <a:latin typeface="Avenir Next"/>
                <a:ea typeface="Avenir Next"/>
                <a:cs typeface="Avenir Next"/>
              </a:defRPr>
            </a:pPr>
            <a:r>
              <a:rPr sz="1725" b="1">
                <a:solidFill>
                  <a:srgbClr val="E77825"/>
                </a:solidFill>
                <a:latin typeface="Avenir Next"/>
                <a:ea typeface="Avenir Next"/>
                <a:cs typeface="Avenir Next"/>
              </a:rPr>
              <a:t>Function 2: ____________________</a:t>
            </a:r>
          </a:p>
        </p:txBody>
      </p:sp>
      <p:sp>
        <p:nvSpPr>
          <p:cNvPr id="11" name="">
            <a:extLst xmlns:a="http://schemas.openxmlformats.org/drawingml/2006/main">
              <a:ext uri="{FF2B5EF4-FFF2-40B4-BE49-F238E27FC236}">
                <a16:creationId xmlns:a16="http://schemas.microsoft.com/office/drawing/2014/main" id="{E7436E0A-27CC-4F1B-BB58-6AAF6C2BF056}"/>
              </a:ext>
            </a:extLst>
          </p:cNvPr>
          <p:cNvSpPr>
            <a:spLocks xmlns:a="http://schemas.openxmlformats.org/drawingml/2006/main" noGrp="1"/>
          </p:cNvSpPr>
          <p:nvPr/>
        </p:nvSpPr>
        <p:spPr>
          <a:xfrm xmlns:a="http://schemas.openxmlformats.org/drawingml/2006/main">
            <a:off x="952500" y="440055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3042"/>
                </a:solidFill>
                <a:latin typeface="Avenir Next"/>
                <a:ea typeface="Avenir Next"/>
                <a:cs typeface="Avenir Next"/>
              </a:defRPr>
            </a:pPr>
            <a:r>
              <a:rPr sz="1575" b="0">
                <a:solidFill>
                  <a:srgbClr val="183042"/>
                </a:solidFill>
                <a:latin typeface="Avenir Next"/>
                <a:ea typeface="Avenir Next"/>
                <a:cs typeface="Avenir Next"/>
              </a:rPr>
              <a:t>The company would ____________________</a:t>
            </a:r>
          </a:p>
        </p:txBody>
      </p:sp>
      <p:sp>
        <p:nvSpPr>
          <p:cNvPr id="12" name="">
            <a:extLst xmlns:a="http://schemas.openxmlformats.org/drawingml/2006/main">
              <a:ext uri="{FF2B5EF4-FFF2-40B4-BE49-F238E27FC236}">
                <a16:creationId xmlns:a16="http://schemas.microsoft.com/office/drawing/2014/main" id="{105E5BF1-46BD-4C39-A581-417A622ADB09}"/>
              </a:ext>
            </a:extLst>
          </p:cNvPr>
          <p:cNvSpPr>
            <a:spLocks xmlns:a="http://schemas.openxmlformats.org/drawingml/2006/main" noGrp="1"/>
          </p:cNvSpPr>
          <p:nvPr/>
        </p:nvSpPr>
        <p:spPr>
          <a:xfrm xmlns:a="http://schemas.openxmlformats.org/drawingml/2006/main">
            <a:off x="6096000" y="1428750"/>
            <a:ext cx="5524500" cy="4000500"/>
          </a:xfrm>
          <a:prstGeom xmlns:a="http://schemas.openxmlformats.org/drawingml/2006/main" prst="roundRect">
            <a:avLst>
              <a:gd name="adj" fmla="val 1905"/>
            </a:avLst>
          </a:prstGeom>
          <a:solidFill xmlns:a="http://schemas.openxmlformats.org/drawingml/2006/main">
            <a:srgbClr val="17324D"/>
          </a:solidFill>
          <a:ln xmlns:a="http://schemas.openxmlformats.org/drawingml/2006/main" w="9525">
            <a:solidFill>
              <a:srgbClr val="17324D"/>
            </a:solidFill>
          </a:ln>
        </p:spPr>
      </p:sp>
      <p:sp>
        <p:nvSpPr>
          <p:cNvPr id="13" name="">
            <a:extLst xmlns:a="http://schemas.openxmlformats.org/drawingml/2006/main">
              <a:ext uri="{FF2B5EF4-FFF2-40B4-BE49-F238E27FC236}">
                <a16:creationId xmlns:a16="http://schemas.microsoft.com/office/drawing/2014/main" id="{A2675BFD-4600-4A7C-A77B-C8E87CFA4271}"/>
              </a:ext>
            </a:extLst>
          </p:cNvPr>
          <p:cNvSpPr>
            <a:spLocks xmlns:a="http://schemas.openxmlformats.org/drawingml/2006/main" noGrp="1"/>
          </p:cNvSpPr>
          <p:nvPr/>
        </p:nvSpPr>
        <p:spPr>
          <a:xfrm xmlns:a="http://schemas.openxmlformats.org/drawingml/2006/main">
            <a:off x="6477000" y="16954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2C94C"/>
                </a:solidFill>
                <a:latin typeface="Avenir Next"/>
                <a:ea typeface="Avenir Next"/>
                <a:cs typeface="Avenir Next"/>
              </a:defRPr>
            </a:pPr>
            <a:r>
              <a:rPr sz="1950" b="1">
                <a:solidFill>
                  <a:srgbClr val="F2C94C"/>
                </a:solidFill>
                <a:latin typeface="Avenir Next"/>
                <a:ea typeface="Avenir Next"/>
                <a:cs typeface="Avenir Next"/>
              </a:rPr>
              <a:t>Partner jobs</a:t>
            </a:r>
          </a:p>
        </p:txBody>
      </p:sp>
      <p:sp>
        <p:nvSpPr>
          <p:cNvPr id="14" name="">
            <a:extLst xmlns:a="http://schemas.openxmlformats.org/drawingml/2006/main">
              <a:ext uri="{FF2B5EF4-FFF2-40B4-BE49-F238E27FC236}">
                <a16:creationId xmlns:a16="http://schemas.microsoft.com/office/drawing/2014/main" id="{C6153E6F-3807-4426-B42F-5379FCE27405}"/>
              </a:ext>
            </a:extLst>
          </p:cNvPr>
          <p:cNvSpPr>
            <a:spLocks xmlns:a="http://schemas.openxmlformats.org/drawingml/2006/main" noGrp="1"/>
          </p:cNvSpPr>
          <p:nvPr/>
        </p:nvSpPr>
        <p:spPr>
          <a:xfrm xmlns:a="http://schemas.openxmlformats.org/drawingml/2006/main">
            <a:off x="6572250" y="2428875"/>
            <a:ext cx="176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F2C94C"/>
                </a:solidFill>
                <a:latin typeface="Avenir Next"/>
                <a:ea typeface="Avenir Next"/>
                <a:cs typeface="Avenir Next"/>
              </a:defRPr>
            </a:pPr>
            <a:r>
              <a:rPr sz="1425" b="1">
                <a:solidFill>
                  <a:srgbClr val="F2C94C"/>
                </a:solidFill>
                <a:latin typeface="Avenir Next"/>
                <a:ea typeface="Avenir Next"/>
                <a:cs typeface="Avenir Next"/>
              </a:rPr>
              <a:t>PARTNER A</a:t>
            </a:r>
          </a:p>
        </p:txBody>
      </p:sp>
      <p:sp>
        <p:nvSpPr>
          <p:cNvPr id="15" name="">
            <a:extLst xmlns:a="http://schemas.openxmlformats.org/drawingml/2006/main">
              <a:ext uri="{FF2B5EF4-FFF2-40B4-BE49-F238E27FC236}">
                <a16:creationId xmlns:a16="http://schemas.microsoft.com/office/drawing/2014/main" id="{A0988D83-156B-43EE-A2B8-E4605E9A300F}"/>
              </a:ext>
            </a:extLst>
          </p:cNvPr>
          <p:cNvSpPr>
            <a:spLocks xmlns:a="http://schemas.openxmlformats.org/drawingml/2006/main" noGrp="1"/>
          </p:cNvSpPr>
          <p:nvPr/>
        </p:nvSpPr>
        <p:spPr>
          <a:xfrm xmlns:a="http://schemas.openxmlformats.org/drawingml/2006/main">
            <a:off x="6572250" y="2800350"/>
            <a:ext cx="419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551"/>
          </a:bodyPr>
          <a:lstStyle xmlns:a="http://schemas.openxmlformats.org/drawingml/2006/main"/>
          <a:p xmlns:a="http://schemas.openxmlformats.org/drawingml/2006/main">
            <a:pPr algn="l">
              <a:defRPr sz="1725" b="0">
                <a:solidFill>
                  <a:srgbClr val="FFFFFF"/>
                </a:solidFill>
                <a:latin typeface="Avenir Next"/>
                <a:ea typeface="Avenir Next"/>
                <a:cs typeface="Avenir Next"/>
              </a:defRPr>
            </a:pPr>
            <a:r>
              <a:rPr sz="1725" b="0">
                <a:solidFill>
                  <a:srgbClr val="FFFFFF"/>
                </a:solidFill>
                <a:latin typeface="Avenir Next"/>
                <a:ea typeface="Avenir Next"/>
                <a:cs typeface="Avenir Next"/>
              </a:rPr>
              <a:t>Name the phone use and customer need.</a:t>
            </a:r>
          </a:p>
        </p:txBody>
      </p:sp>
      <p:sp>
        <p:nvSpPr>
          <p:cNvPr id="16" name="">
            <a:extLst xmlns:a="http://schemas.openxmlformats.org/drawingml/2006/main">
              <a:ext uri="{FF2B5EF4-FFF2-40B4-BE49-F238E27FC236}">
                <a16:creationId xmlns:a16="http://schemas.microsoft.com/office/drawing/2014/main" id="{2093EA42-A043-4552-9098-480CC42E3296}"/>
              </a:ext>
            </a:extLst>
          </p:cNvPr>
          <p:cNvSpPr>
            <a:spLocks xmlns:a="http://schemas.openxmlformats.org/drawingml/2006/main" noGrp="1"/>
          </p:cNvSpPr>
          <p:nvPr/>
        </p:nvSpPr>
        <p:spPr>
          <a:xfrm xmlns:a="http://schemas.openxmlformats.org/drawingml/2006/main">
            <a:off x="6572250" y="3714750"/>
            <a:ext cx="176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F2C94C"/>
                </a:solidFill>
                <a:latin typeface="Avenir Next"/>
                <a:ea typeface="Avenir Next"/>
                <a:cs typeface="Avenir Next"/>
              </a:defRPr>
            </a:pPr>
            <a:r>
              <a:rPr sz="1425" b="1">
                <a:solidFill>
                  <a:srgbClr val="F2C94C"/>
                </a:solidFill>
                <a:latin typeface="Avenir Next"/>
                <a:ea typeface="Avenir Next"/>
                <a:cs typeface="Avenir Next"/>
              </a:rPr>
              <a:t>PARTNER B</a:t>
            </a:r>
          </a:p>
        </p:txBody>
      </p:sp>
      <p:sp>
        <p:nvSpPr>
          <p:cNvPr id="17" name="">
            <a:extLst xmlns:a="http://schemas.openxmlformats.org/drawingml/2006/main">
              <a:ext uri="{FF2B5EF4-FFF2-40B4-BE49-F238E27FC236}">
                <a16:creationId xmlns:a16="http://schemas.microsoft.com/office/drawing/2014/main" id="{719AEEAC-914C-433D-B76C-C78C4DAF05FD}"/>
              </a:ext>
            </a:extLst>
          </p:cNvPr>
          <p:cNvSpPr>
            <a:spLocks xmlns:a="http://schemas.openxmlformats.org/drawingml/2006/main" noGrp="1"/>
          </p:cNvSpPr>
          <p:nvPr/>
        </p:nvSpPr>
        <p:spPr>
          <a:xfrm xmlns:a="http://schemas.openxmlformats.org/drawingml/2006/main">
            <a:off x="6572250" y="4086225"/>
            <a:ext cx="419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551"/>
          </a:bodyPr>
          <a:lstStyle xmlns:a="http://schemas.openxmlformats.org/drawingml/2006/main"/>
          <a:p xmlns:a="http://schemas.openxmlformats.org/drawingml/2006/main">
            <a:pPr algn="l">
              <a:defRPr sz="1725" b="0">
                <a:solidFill>
                  <a:srgbClr val="FFFFFF"/>
                </a:solidFill>
                <a:latin typeface="Avenir Next"/>
                <a:ea typeface="Avenir Next"/>
                <a:cs typeface="Avenir Next"/>
              </a:defRPr>
            </a:pPr>
            <a:r>
              <a:rPr sz="1725" b="0">
                <a:solidFill>
                  <a:srgbClr val="FFFFFF"/>
                </a:solidFill>
                <a:latin typeface="Avenir Next"/>
                <a:ea typeface="Avenir Next"/>
                <a:cs typeface="Avenir Next"/>
              </a:rPr>
              <a:t>Name the two functions and improvement.</a:t>
            </a:r>
          </a:p>
        </p:txBody>
      </p:sp>
      <p:sp>
        <p:nvSpPr>
          <p:cNvPr id="18" name="">
            <a:extLst xmlns:a="http://schemas.openxmlformats.org/drawingml/2006/main">
              <a:ext uri="{FF2B5EF4-FFF2-40B4-BE49-F238E27FC236}">
                <a16:creationId xmlns:a16="http://schemas.microsoft.com/office/drawing/2014/main" id="{59CDBD8B-3740-4A73-B5A6-C53D2410BE5D}"/>
              </a:ext>
            </a:extLst>
          </p:cNvPr>
          <p:cNvSpPr>
            <a:spLocks xmlns:a="http://schemas.openxmlformats.org/drawingml/2006/main" noGrp="1"/>
          </p:cNvSpPr>
          <p:nvPr/>
        </p:nvSpPr>
        <p:spPr>
          <a:xfrm xmlns:a="http://schemas.openxmlformats.org/drawingml/2006/main">
            <a:off x="571500" y="633412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526573"/>
                </a:solidFill>
                <a:latin typeface="Avenir Next"/>
                <a:ea typeface="Avenir Next"/>
                <a:cs typeface="Avenir Next"/>
              </a:defRPr>
            </a:pPr>
            <a:r>
              <a:rPr sz="1275" b="1">
                <a:solidFill>
                  <a:srgbClr val="526573"/>
                </a:solidFill>
                <a:latin typeface="Avenir Next"/>
                <a:ea typeface="Avenir Next"/>
                <a:cs typeface="Avenir Next"/>
              </a:rPr>
              <a:t>Both partners may speak, point, write, or read from prepared notes.</a:t>
            </a:r>
          </a:p>
        </p:txBody>
      </p:sp>
    </p:spTree>
    <p:extLst>
      <p:ext uri="{BB962C8B-B14F-4D97-AF65-F5344CB8AC3E}">
        <p14:creationId xmlns:p14="http://schemas.microsoft.com/office/powerpoint/2010/main" val="13096742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F61287F-7885-4A1E-95A3-4B2BDEB6AF9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47D9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E79949-AD6E-4C24-87C1-D4B99C2F24DB}"/>
              </a:ext>
            </a:extLst>
          </p:cNvPr>
          <p:cNvSpPr>
            <a:spLocks xmlns:a="http://schemas.openxmlformats.org/drawingml/2006/main" noGrp="1"/>
          </p:cNvSpPr>
          <p:nvPr/>
        </p:nvSpPr>
        <p:spPr>
          <a:xfrm xmlns:a="http://schemas.openxmlformats.org/drawingml/2006/main">
            <a:off x="571500" y="22860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47D92"/>
                </a:solidFill>
                <a:latin typeface="Avenir Next"/>
                <a:ea typeface="Avenir Next"/>
                <a:cs typeface="Avenir Next"/>
              </a:defRPr>
            </a:pPr>
            <a:r>
              <a:rPr sz="1350" b="1">
                <a:solidFill>
                  <a:srgbClr val="147D92"/>
                </a:solidFill>
                <a:latin typeface="Avenir Next"/>
                <a:ea typeface="Avenir Next"/>
                <a:cs typeface="Avenir Next"/>
              </a:rPr>
              <a:t>BUILD THE RESPONSE</a:t>
            </a:r>
          </a:p>
        </p:txBody>
      </p:sp>
      <p:sp>
        <p:nvSpPr>
          <p:cNvPr id="3" name="">
            <a:extLst xmlns:a="http://schemas.openxmlformats.org/drawingml/2006/main">
              <a:ext uri="{FF2B5EF4-FFF2-40B4-BE49-F238E27FC236}">
                <a16:creationId xmlns:a16="http://schemas.microsoft.com/office/drawing/2014/main" id="{A3DF4712-8627-4721-A584-0F36BD0C8586}"/>
              </a:ext>
            </a:extLst>
          </p:cNvPr>
          <p:cNvSpPr>
            <a:spLocks xmlns:a="http://schemas.openxmlformats.org/drawingml/2006/main" noGrp="1"/>
          </p:cNvSpPr>
          <p:nvPr/>
        </p:nvSpPr>
        <p:spPr>
          <a:xfrm xmlns:a="http://schemas.openxmlformats.org/drawingml/2006/main">
            <a:off x="571500" y="533400"/>
            <a:ext cx="876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7324D"/>
                </a:solidFill>
                <a:latin typeface="Avenir Next"/>
                <a:ea typeface="Avenir Next"/>
                <a:cs typeface="Avenir Next"/>
              </a:defRPr>
            </a:pPr>
            <a:r>
              <a:rPr sz="2700" b="1">
                <a:solidFill>
                  <a:srgbClr val="17324D"/>
                </a:solidFill>
                <a:latin typeface="Avenir Next"/>
                <a:ea typeface="Avenir Next"/>
                <a:cs typeface="Avenir Next"/>
              </a:rPr>
              <a:t>Connect the customer experience to two functions</a:t>
            </a:r>
          </a:p>
        </p:txBody>
      </p:sp>
      <p:sp>
        <p:nvSpPr>
          <p:cNvPr id="4" name="">
            <a:extLst xmlns:a="http://schemas.openxmlformats.org/drawingml/2006/main">
              <a:ext uri="{FF2B5EF4-FFF2-40B4-BE49-F238E27FC236}">
                <a16:creationId xmlns:a16="http://schemas.microsoft.com/office/drawing/2014/main" id="{533B49D0-ECE7-4611-B9D5-8F5F5BB8E339}"/>
              </a:ext>
            </a:extLst>
          </p:cNvPr>
          <p:cNvSpPr>
            <a:spLocks xmlns:a="http://schemas.openxmlformats.org/drawingml/2006/main" noGrp="1"/>
          </p:cNvSpPr>
          <p:nvPr/>
        </p:nvSpPr>
        <p:spPr>
          <a:xfrm xmlns:a="http://schemas.openxmlformats.org/drawingml/2006/main">
            <a:off x="10334625" y="257175"/>
            <a:ext cx="1333500" cy="400050"/>
          </a:xfrm>
          <a:prstGeom xmlns:a="http://schemas.openxmlformats.org/drawingml/2006/main" prst="roundRect">
            <a:avLst>
              <a:gd name="adj" fmla="val 19048"/>
            </a:avLst>
          </a:prstGeom>
          <a:solidFill xmlns:a="http://schemas.openxmlformats.org/drawingml/2006/main">
            <a:srgbClr val="17324D"/>
          </a:solidFill>
          <a:ln xmlns:a="http://schemas.openxmlformats.org/drawingml/2006/main" w="9525">
            <a:solidFill>
              <a:srgbClr val="17324D"/>
            </a:solidFill>
          </a:ln>
        </p:spPr>
      </p:sp>
      <p:sp>
        <p:nvSpPr>
          <p:cNvPr id="5" name="">
            <a:extLst xmlns:a="http://schemas.openxmlformats.org/drawingml/2006/main">
              <a:ext uri="{FF2B5EF4-FFF2-40B4-BE49-F238E27FC236}">
                <a16:creationId xmlns:a16="http://schemas.microsoft.com/office/drawing/2014/main" id="{1089BE31-2C10-4027-9508-A243D0AC0E2E}"/>
              </a:ext>
            </a:extLst>
          </p:cNvPr>
          <p:cNvSpPr>
            <a:spLocks xmlns:a="http://schemas.openxmlformats.org/drawingml/2006/main" noGrp="1"/>
          </p:cNvSpPr>
          <p:nvPr/>
        </p:nvSpPr>
        <p:spPr>
          <a:xfrm xmlns:a="http://schemas.openxmlformats.org/drawingml/2006/main">
            <a:off x="10382250" y="27622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6 / 8   3 min</a:t>
            </a:r>
          </a:p>
        </p:txBody>
      </p:sp>
      <p:sp>
        <p:nvSpPr>
          <p:cNvPr id="6" name="">
            <a:extLst xmlns:a="http://schemas.openxmlformats.org/drawingml/2006/main">
              <a:ext uri="{FF2B5EF4-FFF2-40B4-BE49-F238E27FC236}">
                <a16:creationId xmlns:a16="http://schemas.microsoft.com/office/drawing/2014/main" id="{46EA2E68-678C-429F-A7B1-205E8906712C}"/>
              </a:ext>
            </a:extLst>
          </p:cNvPr>
          <p:cNvSpPr>
            <a:spLocks xmlns:a="http://schemas.openxmlformats.org/drawingml/2006/main" noGrp="1"/>
          </p:cNvSpPr>
          <p:nvPr/>
        </p:nvSpPr>
        <p:spPr>
          <a:xfrm xmlns:a="http://schemas.openxmlformats.org/drawingml/2006/main">
            <a:off x="628650" y="1476375"/>
            <a:ext cx="457200" cy="457200"/>
          </a:xfrm>
          <a:prstGeom xmlns:a="http://schemas.openxmlformats.org/drawingml/2006/main" prst="roundRect">
            <a:avLst>
              <a:gd name="adj" fmla="val 16667"/>
            </a:avLst>
          </a:prstGeom>
          <a:solidFill xmlns:a="http://schemas.openxmlformats.org/drawingml/2006/main">
            <a:srgbClr val="147D92"/>
          </a:solidFill>
          <a:ln xmlns:a="http://schemas.openxmlformats.org/drawingml/2006/main" w="9525">
            <a:solidFill>
              <a:srgbClr val="147D92"/>
            </a:solidFill>
          </a:ln>
        </p:spPr>
      </p:sp>
      <p:sp>
        <p:nvSpPr>
          <p:cNvPr id="7" name="">
            <a:extLst xmlns:a="http://schemas.openxmlformats.org/drawingml/2006/main">
              <a:ext uri="{FF2B5EF4-FFF2-40B4-BE49-F238E27FC236}">
                <a16:creationId xmlns:a16="http://schemas.microsoft.com/office/drawing/2014/main" id="{DBB28A23-AAF6-41EB-A172-4C116624FC8C}"/>
              </a:ext>
            </a:extLst>
          </p:cNvPr>
          <p:cNvSpPr>
            <a:spLocks xmlns:a="http://schemas.openxmlformats.org/drawingml/2006/main" noGrp="1"/>
          </p:cNvSpPr>
          <p:nvPr/>
        </p:nvSpPr>
        <p:spPr>
          <a:xfrm xmlns:a="http://schemas.openxmlformats.org/drawingml/2006/main">
            <a:off x="628650" y="14763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Avenir Next"/>
                <a:ea typeface="Avenir Next"/>
                <a:cs typeface="Avenir Next"/>
              </a:defRPr>
            </a:pPr>
            <a:r>
              <a:rPr sz="1725" b="1">
                <a:solidFill>
                  <a:srgbClr val="FFFFFF"/>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10929E8E-CF17-49D4-A1A6-8CF093BC55AC}"/>
              </a:ext>
            </a:extLst>
          </p:cNvPr>
          <p:cNvSpPr>
            <a:spLocks xmlns:a="http://schemas.openxmlformats.org/drawingml/2006/main" noGrp="1"/>
          </p:cNvSpPr>
          <p:nvPr/>
        </p:nvSpPr>
        <p:spPr>
          <a:xfrm xmlns:a="http://schemas.openxmlformats.org/drawingml/2006/main">
            <a:off x="1333500" y="1381125"/>
            <a:ext cx="933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7324D"/>
                </a:solidFill>
                <a:latin typeface="Avenir Next"/>
                <a:ea typeface="Avenir Next"/>
                <a:cs typeface="Avenir Next"/>
              </a:defRPr>
            </a:pPr>
            <a:r>
              <a:rPr sz="1725" b="1">
                <a:solidFill>
                  <a:srgbClr val="17324D"/>
                </a:solidFill>
                <a:latin typeface="Avenir Next"/>
                <a:ea typeface="Avenir Next"/>
                <a:cs typeface="Avenir Next"/>
              </a:rPr>
              <a:t>Phone use</a:t>
            </a:r>
          </a:p>
        </p:txBody>
      </p:sp>
      <p:sp>
        <p:nvSpPr>
          <p:cNvPr id="9" name="">
            <a:extLst xmlns:a="http://schemas.openxmlformats.org/drawingml/2006/main">
              <a:ext uri="{FF2B5EF4-FFF2-40B4-BE49-F238E27FC236}">
                <a16:creationId xmlns:a16="http://schemas.microsoft.com/office/drawing/2014/main" id="{12D3AA31-5213-476B-8FA9-807687768504}"/>
              </a:ext>
            </a:extLst>
          </p:cNvPr>
          <p:cNvSpPr>
            <a:spLocks xmlns:a="http://schemas.openxmlformats.org/drawingml/2006/main" noGrp="1"/>
          </p:cNvSpPr>
          <p:nvPr/>
        </p:nvSpPr>
        <p:spPr>
          <a:xfrm xmlns:a="http://schemas.openxmlformats.org/drawingml/2006/main">
            <a:off x="1333500" y="174307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83042"/>
                </a:solidFill>
                <a:latin typeface="Avenir Next"/>
                <a:ea typeface="Avenir Next"/>
                <a:cs typeface="Avenir Next"/>
              </a:defRPr>
            </a:pPr>
            <a:r>
              <a:rPr sz="1425" b="0">
                <a:solidFill>
                  <a:srgbClr val="183042"/>
                </a:solidFill>
                <a:latin typeface="Avenir Next"/>
                <a:ea typeface="Avenir Next"/>
                <a:cs typeface="Avenir Next"/>
              </a:rPr>
              <a:t>Customers use a phone to ________________________________.</a:t>
            </a:r>
          </a:p>
        </p:txBody>
      </p:sp>
      <p:sp>
        <p:nvSpPr>
          <p:cNvPr id="10" name="">
            <a:extLst xmlns:a="http://schemas.openxmlformats.org/drawingml/2006/main">
              <a:ext uri="{FF2B5EF4-FFF2-40B4-BE49-F238E27FC236}">
                <a16:creationId xmlns:a16="http://schemas.microsoft.com/office/drawing/2014/main" id="{48D98E24-C27A-4F1C-A6F6-D5DD09624D61}"/>
              </a:ext>
            </a:extLst>
          </p:cNvPr>
          <p:cNvSpPr>
            <a:spLocks xmlns:a="http://schemas.openxmlformats.org/drawingml/2006/main" noGrp="1"/>
          </p:cNvSpPr>
          <p:nvPr/>
        </p:nvSpPr>
        <p:spPr>
          <a:xfrm xmlns:a="http://schemas.openxmlformats.org/drawingml/2006/main">
            <a:off x="628650" y="2428875"/>
            <a:ext cx="457200" cy="457200"/>
          </a:xfrm>
          <a:prstGeom xmlns:a="http://schemas.openxmlformats.org/drawingml/2006/main" prst="roundRect">
            <a:avLst>
              <a:gd name="adj" fmla="val 16667"/>
            </a:avLst>
          </a:prstGeom>
          <a:solidFill xmlns:a="http://schemas.openxmlformats.org/drawingml/2006/main">
            <a:srgbClr val="E77825"/>
          </a:solidFill>
          <a:ln xmlns:a="http://schemas.openxmlformats.org/drawingml/2006/main" w="9525">
            <a:solidFill>
              <a:srgbClr val="E77825"/>
            </a:solidFill>
          </a:ln>
        </p:spPr>
      </p:sp>
      <p:sp>
        <p:nvSpPr>
          <p:cNvPr id="11" name="">
            <a:extLst xmlns:a="http://schemas.openxmlformats.org/drawingml/2006/main">
              <a:ext uri="{FF2B5EF4-FFF2-40B4-BE49-F238E27FC236}">
                <a16:creationId xmlns:a16="http://schemas.microsoft.com/office/drawing/2014/main" id="{A158D377-3D0C-4C49-B48A-8AC8B33D4AEC}"/>
              </a:ext>
            </a:extLst>
          </p:cNvPr>
          <p:cNvSpPr>
            <a:spLocks xmlns:a="http://schemas.openxmlformats.org/drawingml/2006/main" noGrp="1"/>
          </p:cNvSpPr>
          <p:nvPr/>
        </p:nvSpPr>
        <p:spPr>
          <a:xfrm xmlns:a="http://schemas.openxmlformats.org/drawingml/2006/main">
            <a:off x="628650" y="24288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Avenir Next"/>
                <a:ea typeface="Avenir Next"/>
                <a:cs typeface="Avenir Next"/>
              </a:defRPr>
            </a:pPr>
            <a:r>
              <a:rPr sz="1725" b="1">
                <a:solidFill>
                  <a:srgbClr val="FFFFFF"/>
                </a:solidFill>
                <a:latin typeface="Avenir Next"/>
                <a:ea typeface="Avenir Next"/>
                <a:cs typeface="Avenir Next"/>
              </a:rPr>
              <a:t>2</a:t>
            </a:r>
          </a:p>
        </p:txBody>
      </p:sp>
      <p:sp>
        <p:nvSpPr>
          <p:cNvPr id="12" name="">
            <a:extLst xmlns:a="http://schemas.openxmlformats.org/drawingml/2006/main">
              <a:ext uri="{FF2B5EF4-FFF2-40B4-BE49-F238E27FC236}">
                <a16:creationId xmlns:a16="http://schemas.microsoft.com/office/drawing/2014/main" id="{B0A0286C-5438-4F2D-ACBD-8E3C5206B1BA}"/>
              </a:ext>
            </a:extLst>
          </p:cNvPr>
          <p:cNvSpPr>
            <a:spLocks xmlns:a="http://schemas.openxmlformats.org/drawingml/2006/main" noGrp="1"/>
          </p:cNvSpPr>
          <p:nvPr/>
        </p:nvSpPr>
        <p:spPr>
          <a:xfrm xmlns:a="http://schemas.openxmlformats.org/drawingml/2006/main">
            <a:off x="1333500" y="2333625"/>
            <a:ext cx="933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7324D"/>
                </a:solidFill>
                <a:latin typeface="Avenir Next"/>
                <a:ea typeface="Avenir Next"/>
                <a:cs typeface="Avenir Next"/>
              </a:defRPr>
            </a:pPr>
            <a:r>
              <a:rPr sz="1725" b="1">
                <a:solidFill>
                  <a:srgbClr val="17324D"/>
                </a:solidFill>
                <a:latin typeface="Avenir Next"/>
                <a:ea typeface="Avenir Next"/>
                <a:cs typeface="Avenir Next"/>
              </a:rPr>
              <a:t>Experience, barrier, or need</a:t>
            </a:r>
          </a:p>
        </p:txBody>
      </p:sp>
      <p:sp>
        <p:nvSpPr>
          <p:cNvPr id="13" name="">
            <a:extLst xmlns:a="http://schemas.openxmlformats.org/drawingml/2006/main">
              <a:ext uri="{FF2B5EF4-FFF2-40B4-BE49-F238E27FC236}">
                <a16:creationId xmlns:a16="http://schemas.microsoft.com/office/drawing/2014/main" id="{C9E5751E-B81A-4C72-B229-E336CA8B1131}"/>
              </a:ext>
            </a:extLst>
          </p:cNvPr>
          <p:cNvSpPr>
            <a:spLocks xmlns:a="http://schemas.openxmlformats.org/drawingml/2006/main" noGrp="1"/>
          </p:cNvSpPr>
          <p:nvPr/>
        </p:nvSpPr>
        <p:spPr>
          <a:xfrm xmlns:a="http://schemas.openxmlformats.org/drawingml/2006/main">
            <a:off x="1333500" y="269557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83042"/>
                </a:solidFill>
                <a:latin typeface="Avenir Next"/>
                <a:ea typeface="Avenir Next"/>
                <a:cs typeface="Avenir Next"/>
              </a:defRPr>
            </a:pPr>
            <a:r>
              <a:rPr sz="1425" b="0">
                <a:solidFill>
                  <a:srgbClr val="183042"/>
                </a:solidFill>
                <a:latin typeface="Avenir Next"/>
                <a:ea typeface="Avenir Next"/>
                <a:cs typeface="Avenir Next"/>
              </a:rPr>
              <a:t>This helps the company understand ________________________.</a:t>
            </a:r>
          </a:p>
        </p:txBody>
      </p:sp>
      <p:sp>
        <p:nvSpPr>
          <p:cNvPr id="14" name="">
            <a:extLst xmlns:a="http://schemas.openxmlformats.org/drawingml/2006/main">
              <a:ext uri="{FF2B5EF4-FFF2-40B4-BE49-F238E27FC236}">
                <a16:creationId xmlns:a16="http://schemas.microsoft.com/office/drawing/2014/main" id="{EC9DEBC8-2BEE-4B12-91F1-63AD87A915B4}"/>
              </a:ext>
            </a:extLst>
          </p:cNvPr>
          <p:cNvSpPr>
            <a:spLocks xmlns:a="http://schemas.openxmlformats.org/drawingml/2006/main" noGrp="1"/>
          </p:cNvSpPr>
          <p:nvPr/>
        </p:nvSpPr>
        <p:spPr>
          <a:xfrm xmlns:a="http://schemas.openxmlformats.org/drawingml/2006/main">
            <a:off x="628650" y="3381375"/>
            <a:ext cx="457200" cy="457200"/>
          </a:xfrm>
          <a:prstGeom xmlns:a="http://schemas.openxmlformats.org/drawingml/2006/main" prst="roundRect">
            <a:avLst>
              <a:gd name="adj" fmla="val 16667"/>
            </a:avLst>
          </a:prstGeom>
          <a:solidFill xmlns:a="http://schemas.openxmlformats.org/drawingml/2006/main">
            <a:srgbClr val="147D92"/>
          </a:solidFill>
          <a:ln xmlns:a="http://schemas.openxmlformats.org/drawingml/2006/main" w="9525">
            <a:solidFill>
              <a:srgbClr val="147D92"/>
            </a:solidFill>
          </a:ln>
        </p:spPr>
      </p:sp>
      <p:sp>
        <p:nvSpPr>
          <p:cNvPr id="15" name="">
            <a:extLst xmlns:a="http://schemas.openxmlformats.org/drawingml/2006/main">
              <a:ext uri="{FF2B5EF4-FFF2-40B4-BE49-F238E27FC236}">
                <a16:creationId xmlns:a16="http://schemas.microsoft.com/office/drawing/2014/main" id="{A08B012F-5980-4E05-8D3C-C516DDCB24C1}"/>
              </a:ext>
            </a:extLst>
          </p:cNvPr>
          <p:cNvSpPr>
            <a:spLocks xmlns:a="http://schemas.openxmlformats.org/drawingml/2006/main" noGrp="1"/>
          </p:cNvSpPr>
          <p:nvPr/>
        </p:nvSpPr>
        <p:spPr>
          <a:xfrm xmlns:a="http://schemas.openxmlformats.org/drawingml/2006/main">
            <a:off x="628650" y="33813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Avenir Next"/>
                <a:ea typeface="Avenir Next"/>
                <a:cs typeface="Avenir Next"/>
              </a:defRPr>
            </a:pPr>
            <a:r>
              <a:rPr sz="1725" b="1">
                <a:solidFill>
                  <a:srgbClr val="FFFFF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539AC4AC-3BB5-4E2E-B8DA-74DD00E4A948}"/>
              </a:ext>
            </a:extLst>
          </p:cNvPr>
          <p:cNvSpPr>
            <a:spLocks xmlns:a="http://schemas.openxmlformats.org/drawingml/2006/main" noGrp="1"/>
          </p:cNvSpPr>
          <p:nvPr/>
        </p:nvSpPr>
        <p:spPr>
          <a:xfrm xmlns:a="http://schemas.openxmlformats.org/drawingml/2006/main">
            <a:off x="1333500" y="3286125"/>
            <a:ext cx="933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7324D"/>
                </a:solidFill>
                <a:latin typeface="Avenir Next"/>
                <a:ea typeface="Avenir Next"/>
                <a:cs typeface="Avenir Next"/>
              </a:defRPr>
            </a:pPr>
            <a:r>
              <a:rPr sz="1725" b="1">
                <a:solidFill>
                  <a:srgbClr val="17324D"/>
                </a:solidFill>
                <a:latin typeface="Avenir Next"/>
                <a:ea typeface="Avenir Next"/>
                <a:cs typeface="Avenir Next"/>
              </a:rPr>
              <a:t>Two marketing functions</a:t>
            </a:r>
          </a:p>
        </p:txBody>
      </p:sp>
      <p:sp>
        <p:nvSpPr>
          <p:cNvPr id="17" name="">
            <a:extLst xmlns:a="http://schemas.openxmlformats.org/drawingml/2006/main">
              <a:ext uri="{FF2B5EF4-FFF2-40B4-BE49-F238E27FC236}">
                <a16:creationId xmlns:a16="http://schemas.microsoft.com/office/drawing/2014/main" id="{878D7D56-77CB-4BCD-A1A9-0E930D88C323}"/>
              </a:ext>
            </a:extLst>
          </p:cNvPr>
          <p:cNvSpPr>
            <a:spLocks xmlns:a="http://schemas.openxmlformats.org/drawingml/2006/main" noGrp="1"/>
          </p:cNvSpPr>
          <p:nvPr/>
        </p:nvSpPr>
        <p:spPr>
          <a:xfrm xmlns:a="http://schemas.openxmlformats.org/drawingml/2006/main">
            <a:off x="1333500" y="364807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83042"/>
                </a:solidFill>
                <a:latin typeface="Avenir Next"/>
                <a:ea typeface="Avenir Next"/>
                <a:cs typeface="Avenir Next"/>
              </a:defRPr>
            </a:pPr>
            <a:r>
              <a:rPr sz="1425" b="0">
                <a:solidFill>
                  <a:srgbClr val="183042"/>
                </a:solidFill>
                <a:latin typeface="Avenir Next"/>
                <a:ea typeface="Avenir Next"/>
                <a:cs typeface="Avenir Next"/>
              </a:rPr>
              <a:t>The company uses ____________ and ____________.</a:t>
            </a:r>
          </a:p>
        </p:txBody>
      </p:sp>
      <p:sp>
        <p:nvSpPr>
          <p:cNvPr id="18" name="">
            <a:extLst xmlns:a="http://schemas.openxmlformats.org/drawingml/2006/main">
              <a:ext uri="{FF2B5EF4-FFF2-40B4-BE49-F238E27FC236}">
                <a16:creationId xmlns:a16="http://schemas.microsoft.com/office/drawing/2014/main" id="{DD9305DD-3D9A-4D73-AE4A-0A1551A22903}"/>
              </a:ext>
            </a:extLst>
          </p:cNvPr>
          <p:cNvSpPr>
            <a:spLocks xmlns:a="http://schemas.openxmlformats.org/drawingml/2006/main" noGrp="1"/>
          </p:cNvSpPr>
          <p:nvPr/>
        </p:nvSpPr>
        <p:spPr>
          <a:xfrm xmlns:a="http://schemas.openxmlformats.org/drawingml/2006/main">
            <a:off x="628650" y="4333875"/>
            <a:ext cx="457200" cy="457200"/>
          </a:xfrm>
          <a:prstGeom xmlns:a="http://schemas.openxmlformats.org/drawingml/2006/main" prst="roundRect">
            <a:avLst>
              <a:gd name="adj" fmla="val 16667"/>
            </a:avLst>
          </a:prstGeom>
          <a:solidFill xmlns:a="http://schemas.openxmlformats.org/drawingml/2006/main">
            <a:srgbClr val="E77825"/>
          </a:solidFill>
          <a:ln xmlns:a="http://schemas.openxmlformats.org/drawingml/2006/main" w="9525">
            <a:solidFill>
              <a:srgbClr val="E77825"/>
            </a:solidFill>
          </a:ln>
        </p:spPr>
      </p:sp>
      <p:sp>
        <p:nvSpPr>
          <p:cNvPr id="19" name="">
            <a:extLst xmlns:a="http://schemas.openxmlformats.org/drawingml/2006/main">
              <a:ext uri="{FF2B5EF4-FFF2-40B4-BE49-F238E27FC236}">
                <a16:creationId xmlns:a16="http://schemas.microsoft.com/office/drawing/2014/main" id="{70D7E6A4-6D44-4918-B195-2CBC3DED0EA2}"/>
              </a:ext>
            </a:extLst>
          </p:cNvPr>
          <p:cNvSpPr>
            <a:spLocks xmlns:a="http://schemas.openxmlformats.org/drawingml/2006/main" noGrp="1"/>
          </p:cNvSpPr>
          <p:nvPr/>
        </p:nvSpPr>
        <p:spPr>
          <a:xfrm xmlns:a="http://schemas.openxmlformats.org/drawingml/2006/main">
            <a:off x="628650" y="43338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Avenir Next"/>
                <a:ea typeface="Avenir Next"/>
                <a:cs typeface="Avenir Next"/>
              </a:defRPr>
            </a:pPr>
            <a:r>
              <a:rPr sz="1725" b="1">
                <a:solidFill>
                  <a:srgbClr val="FFFFFF"/>
                </a:solidFill>
                <a:latin typeface="Avenir Next"/>
                <a:ea typeface="Avenir Next"/>
                <a:cs typeface="Avenir Next"/>
              </a:rPr>
              <a:t>4</a:t>
            </a:r>
          </a:p>
        </p:txBody>
      </p:sp>
      <p:sp>
        <p:nvSpPr>
          <p:cNvPr id="20" name="">
            <a:extLst xmlns:a="http://schemas.openxmlformats.org/drawingml/2006/main">
              <a:ext uri="{FF2B5EF4-FFF2-40B4-BE49-F238E27FC236}">
                <a16:creationId xmlns:a16="http://schemas.microsoft.com/office/drawing/2014/main" id="{27147EF5-7739-43FF-8362-BA9EB399BBE4}"/>
              </a:ext>
            </a:extLst>
          </p:cNvPr>
          <p:cNvSpPr>
            <a:spLocks xmlns:a="http://schemas.openxmlformats.org/drawingml/2006/main" noGrp="1"/>
          </p:cNvSpPr>
          <p:nvPr/>
        </p:nvSpPr>
        <p:spPr>
          <a:xfrm xmlns:a="http://schemas.openxmlformats.org/drawingml/2006/main">
            <a:off x="1333500" y="4238625"/>
            <a:ext cx="933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7324D"/>
                </a:solidFill>
                <a:latin typeface="Avenir Next"/>
                <a:ea typeface="Avenir Next"/>
                <a:cs typeface="Avenir Next"/>
              </a:defRPr>
            </a:pPr>
            <a:r>
              <a:rPr sz="1725" b="1">
                <a:solidFill>
                  <a:srgbClr val="17324D"/>
                </a:solidFill>
                <a:latin typeface="Avenir Next"/>
                <a:ea typeface="Avenir Next"/>
                <a:cs typeface="Avenir Next"/>
              </a:rPr>
              <a:t>Specific improvement</a:t>
            </a:r>
          </a:p>
        </p:txBody>
      </p:sp>
      <p:sp>
        <p:nvSpPr>
          <p:cNvPr id="21" name="">
            <a:extLst xmlns:a="http://schemas.openxmlformats.org/drawingml/2006/main">
              <a:ext uri="{FF2B5EF4-FFF2-40B4-BE49-F238E27FC236}">
                <a16:creationId xmlns:a16="http://schemas.microsoft.com/office/drawing/2014/main" id="{B3BEDEC9-2994-4E08-9315-8733B7646EFD}"/>
              </a:ext>
            </a:extLst>
          </p:cNvPr>
          <p:cNvSpPr>
            <a:spLocks xmlns:a="http://schemas.openxmlformats.org/drawingml/2006/main" noGrp="1"/>
          </p:cNvSpPr>
          <p:nvPr/>
        </p:nvSpPr>
        <p:spPr>
          <a:xfrm xmlns:a="http://schemas.openxmlformats.org/drawingml/2006/main">
            <a:off x="1333500" y="460057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83042"/>
                </a:solidFill>
                <a:latin typeface="Avenir Next"/>
                <a:ea typeface="Avenir Next"/>
                <a:cs typeface="Avenir Next"/>
              </a:defRPr>
            </a:pPr>
            <a:r>
              <a:rPr sz="1425" b="0">
                <a:solidFill>
                  <a:srgbClr val="183042"/>
                </a:solidFill>
                <a:latin typeface="Avenir Next"/>
                <a:ea typeface="Avenir Next"/>
                <a:cs typeface="Avenir Next"/>
              </a:rPr>
              <a:t>The company could _______________________________________.</a:t>
            </a:r>
          </a:p>
        </p:txBody>
      </p:sp>
      <p:sp>
        <p:nvSpPr>
          <p:cNvPr id="22" name="">
            <a:extLst xmlns:a="http://schemas.openxmlformats.org/drawingml/2006/main">
              <a:ext uri="{FF2B5EF4-FFF2-40B4-BE49-F238E27FC236}">
                <a16:creationId xmlns:a16="http://schemas.microsoft.com/office/drawing/2014/main" id="{05824070-204A-47D3-AE23-0C084FF32E5F}"/>
              </a:ext>
            </a:extLst>
          </p:cNvPr>
          <p:cNvSpPr>
            <a:spLocks xmlns:a="http://schemas.openxmlformats.org/drawingml/2006/main" noGrp="1"/>
          </p:cNvSpPr>
          <p:nvPr/>
        </p:nvSpPr>
        <p:spPr>
          <a:xfrm xmlns:a="http://schemas.openxmlformats.org/drawingml/2006/main">
            <a:off x="952500" y="5334000"/>
            <a:ext cx="10287000" cy="666750"/>
          </a:xfrm>
          <a:prstGeom xmlns:a="http://schemas.openxmlformats.org/drawingml/2006/main" prst="roundRect">
            <a:avLst>
              <a:gd name="adj" fmla="val 11429"/>
            </a:avLst>
          </a:prstGeom>
          <a:solidFill xmlns:a="http://schemas.openxmlformats.org/drawingml/2006/main">
            <a:srgbClr val="F2C94C"/>
          </a:solidFill>
          <a:ln xmlns:a="http://schemas.openxmlformats.org/drawingml/2006/main" w="9525">
            <a:solidFill>
              <a:srgbClr val="F2C94C"/>
            </a:solidFill>
          </a:ln>
        </p:spPr>
      </p:sp>
      <p:sp>
        <p:nvSpPr>
          <p:cNvPr id="23" name="">
            <a:extLst xmlns:a="http://schemas.openxmlformats.org/drawingml/2006/main">
              <a:ext uri="{FF2B5EF4-FFF2-40B4-BE49-F238E27FC236}">
                <a16:creationId xmlns:a16="http://schemas.microsoft.com/office/drawing/2014/main" id="{6D02D08D-269E-4FF9-A4CD-DFB1FA78CF97}"/>
              </a:ext>
            </a:extLst>
          </p:cNvPr>
          <p:cNvSpPr>
            <a:spLocks xmlns:a="http://schemas.openxmlformats.org/drawingml/2006/main" noGrp="1"/>
          </p:cNvSpPr>
          <p:nvPr/>
        </p:nvSpPr>
        <p:spPr>
          <a:xfrm xmlns:a="http://schemas.openxmlformats.org/drawingml/2006/main">
            <a:off x="1190625" y="5391150"/>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793"/>
          </a:bodyPr>
          <a:lstStyle xmlns:a="http://schemas.openxmlformats.org/drawingml/2006/main"/>
          <a:p xmlns:a="http://schemas.openxmlformats.org/drawingml/2006/main">
            <a:pPr algn="ctr">
              <a:defRPr sz="1575" b="1">
                <a:solidFill>
                  <a:srgbClr val="17324D"/>
                </a:solidFill>
                <a:latin typeface="Avenir Next"/>
                <a:ea typeface="Avenir Next"/>
                <a:cs typeface="Avenir Next"/>
              </a:defRPr>
            </a:pPr>
            <a:r>
              <a:rPr sz="1575" b="1">
                <a:solidFill>
                  <a:srgbClr val="17324D"/>
                </a:solidFill>
                <a:latin typeface="Avenir Next"/>
                <a:ea typeface="Avenir Next"/>
                <a:cs typeface="Avenir Next"/>
              </a:rPr>
              <a:t>Success check: two functions named, each function connected to an action, improvement is specific.</a:t>
            </a:r>
          </a:p>
        </p:txBody>
      </p:sp>
      <p:sp>
        <p:nvSpPr>
          <p:cNvPr id="24" name="">
            <a:extLst xmlns:a="http://schemas.openxmlformats.org/drawingml/2006/main">
              <a:ext uri="{FF2B5EF4-FFF2-40B4-BE49-F238E27FC236}">
                <a16:creationId xmlns:a16="http://schemas.microsoft.com/office/drawing/2014/main" id="{674DF5BD-1466-4E81-8C46-C8C0F3D4EEB3}"/>
              </a:ext>
            </a:extLst>
          </p:cNvPr>
          <p:cNvSpPr>
            <a:spLocks xmlns:a="http://schemas.openxmlformats.org/drawingml/2006/main" noGrp="1"/>
          </p:cNvSpPr>
          <p:nvPr/>
        </p:nvSpPr>
        <p:spPr>
          <a:xfrm xmlns:a="http://schemas.openxmlformats.org/drawingml/2006/main">
            <a:off x="571500" y="633412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526573"/>
                </a:solidFill>
                <a:latin typeface="Avenir Next"/>
                <a:ea typeface="Avenir Next"/>
                <a:cs typeface="Avenir Next"/>
              </a:defRPr>
            </a:pPr>
            <a:r>
              <a:rPr sz="1275" b="1">
                <a:solidFill>
                  <a:srgbClr val="526573"/>
                </a:solidFill>
                <a:latin typeface="Avenir Next"/>
                <a:ea typeface="Avenir Next"/>
                <a:cs typeface="Avenir Next"/>
              </a:rPr>
              <a:t>Use the full frame, keywords, or a quick sketch with labels.</a:t>
            </a:r>
          </a:p>
        </p:txBody>
      </p:sp>
    </p:spTree>
    <p:extLst>
      <p:ext uri="{BB962C8B-B14F-4D97-AF65-F5344CB8AC3E}">
        <p14:creationId xmlns:p14="http://schemas.microsoft.com/office/powerpoint/2010/main" val="3327828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1BA44C8-17B3-461C-871D-4B94EE6FE04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47D9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E6417E-7045-48DB-BD75-51C40577EA85}"/>
              </a:ext>
            </a:extLst>
          </p:cNvPr>
          <p:cNvSpPr>
            <a:spLocks xmlns:a="http://schemas.openxmlformats.org/drawingml/2006/main" noGrp="1"/>
          </p:cNvSpPr>
          <p:nvPr/>
        </p:nvSpPr>
        <p:spPr>
          <a:xfrm xmlns:a="http://schemas.openxmlformats.org/drawingml/2006/main">
            <a:off x="571500" y="22860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47D92"/>
                </a:solidFill>
                <a:latin typeface="Avenir Next"/>
                <a:ea typeface="Avenir Next"/>
                <a:cs typeface="Avenir Next"/>
              </a:defRPr>
            </a:pPr>
            <a:r>
              <a:rPr sz="1350" b="1">
                <a:solidFill>
                  <a:srgbClr val="147D92"/>
                </a:solidFill>
                <a:latin typeface="Avenir Next"/>
                <a:ea typeface="Avenir Next"/>
                <a:cs typeface="Avenir Next"/>
              </a:rPr>
              <a:t>REHEARSE</a:t>
            </a:r>
          </a:p>
        </p:txBody>
      </p:sp>
      <p:sp>
        <p:nvSpPr>
          <p:cNvPr id="3" name="">
            <a:extLst xmlns:a="http://schemas.openxmlformats.org/drawingml/2006/main">
              <a:ext uri="{FF2B5EF4-FFF2-40B4-BE49-F238E27FC236}">
                <a16:creationId xmlns:a16="http://schemas.microsoft.com/office/drawing/2014/main" id="{CE7AAA57-94D3-47C1-AB98-406E6FACA387}"/>
              </a:ext>
            </a:extLst>
          </p:cNvPr>
          <p:cNvSpPr>
            <a:spLocks xmlns:a="http://schemas.openxmlformats.org/drawingml/2006/main" noGrp="1"/>
          </p:cNvSpPr>
          <p:nvPr/>
        </p:nvSpPr>
        <p:spPr>
          <a:xfrm xmlns:a="http://schemas.openxmlformats.org/drawingml/2006/main">
            <a:off x="571500" y="533400"/>
            <a:ext cx="876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7324D"/>
                </a:solidFill>
                <a:latin typeface="Avenir Next"/>
                <a:ea typeface="Avenir Next"/>
                <a:cs typeface="Avenir Next"/>
              </a:defRPr>
            </a:pPr>
            <a:r>
              <a:rPr sz="2700" b="1">
                <a:solidFill>
                  <a:srgbClr val="17324D"/>
                </a:solidFill>
                <a:latin typeface="Avenir Next"/>
                <a:ea typeface="Avenir Next"/>
                <a:cs typeface="Avenir Next"/>
              </a:rPr>
              <a:t>Prepare a clear 30-second explanation</a:t>
            </a:r>
          </a:p>
        </p:txBody>
      </p:sp>
      <p:sp>
        <p:nvSpPr>
          <p:cNvPr id="4" name="">
            <a:extLst xmlns:a="http://schemas.openxmlformats.org/drawingml/2006/main">
              <a:ext uri="{FF2B5EF4-FFF2-40B4-BE49-F238E27FC236}">
                <a16:creationId xmlns:a16="http://schemas.microsoft.com/office/drawing/2014/main" id="{CE35DD67-EDAB-4152-98E7-0AB189BBD3C1}"/>
              </a:ext>
            </a:extLst>
          </p:cNvPr>
          <p:cNvSpPr>
            <a:spLocks xmlns:a="http://schemas.openxmlformats.org/drawingml/2006/main" noGrp="1"/>
          </p:cNvSpPr>
          <p:nvPr/>
        </p:nvSpPr>
        <p:spPr>
          <a:xfrm xmlns:a="http://schemas.openxmlformats.org/drawingml/2006/main">
            <a:off x="10334625" y="257175"/>
            <a:ext cx="1333500" cy="400050"/>
          </a:xfrm>
          <a:prstGeom xmlns:a="http://schemas.openxmlformats.org/drawingml/2006/main" prst="roundRect">
            <a:avLst>
              <a:gd name="adj" fmla="val 19048"/>
            </a:avLst>
          </a:prstGeom>
          <a:solidFill xmlns:a="http://schemas.openxmlformats.org/drawingml/2006/main">
            <a:srgbClr val="17324D"/>
          </a:solidFill>
          <a:ln xmlns:a="http://schemas.openxmlformats.org/drawingml/2006/main" w="9525">
            <a:solidFill>
              <a:srgbClr val="17324D"/>
            </a:solidFill>
          </a:ln>
        </p:spPr>
      </p:sp>
      <p:sp>
        <p:nvSpPr>
          <p:cNvPr id="5" name="">
            <a:extLst xmlns:a="http://schemas.openxmlformats.org/drawingml/2006/main">
              <a:ext uri="{FF2B5EF4-FFF2-40B4-BE49-F238E27FC236}">
                <a16:creationId xmlns:a16="http://schemas.microsoft.com/office/drawing/2014/main" id="{FEAACAE4-EB46-44E5-9522-1F9F95D3E6F0}"/>
              </a:ext>
            </a:extLst>
          </p:cNvPr>
          <p:cNvSpPr>
            <a:spLocks xmlns:a="http://schemas.openxmlformats.org/drawingml/2006/main" noGrp="1"/>
          </p:cNvSpPr>
          <p:nvPr/>
        </p:nvSpPr>
        <p:spPr>
          <a:xfrm xmlns:a="http://schemas.openxmlformats.org/drawingml/2006/main">
            <a:off x="10382250" y="27622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7 / 8   1 min</a:t>
            </a:r>
          </a:p>
        </p:txBody>
      </p:sp>
      <p:sp>
        <p:nvSpPr>
          <p:cNvPr id="6" name="">
            <a:extLst xmlns:a="http://schemas.openxmlformats.org/drawingml/2006/main">
              <a:ext uri="{FF2B5EF4-FFF2-40B4-BE49-F238E27FC236}">
                <a16:creationId xmlns:a16="http://schemas.microsoft.com/office/drawing/2014/main" id="{D5374175-5FF1-4988-94F5-B26631693263}"/>
              </a:ext>
            </a:extLst>
          </p:cNvPr>
          <p:cNvSpPr>
            <a:spLocks xmlns:a="http://schemas.openxmlformats.org/drawingml/2006/main" noGrp="1"/>
          </p:cNvSpPr>
          <p:nvPr/>
        </p:nvSpPr>
        <p:spPr>
          <a:xfrm xmlns:a="http://schemas.openxmlformats.org/drawingml/2006/main">
            <a:off x="571500" y="1428750"/>
            <a:ext cx="11049000" cy="1285875"/>
          </a:xfrm>
          <a:prstGeom xmlns:a="http://schemas.openxmlformats.org/drawingml/2006/main" prst="roundRect">
            <a:avLst>
              <a:gd name="adj" fmla="val 5926"/>
            </a:avLst>
          </a:prstGeom>
          <a:solidFill xmlns:a="http://schemas.openxmlformats.org/drawingml/2006/main">
            <a:srgbClr val="17324D"/>
          </a:solidFill>
          <a:ln xmlns:a="http://schemas.openxmlformats.org/drawingml/2006/main" w="9525">
            <a:solidFill>
              <a:srgbClr val="17324D"/>
            </a:solidFill>
          </a:ln>
        </p:spPr>
      </p:sp>
      <p:sp>
        <p:nvSpPr>
          <p:cNvPr id="7" name="">
            <a:extLst xmlns:a="http://schemas.openxmlformats.org/drawingml/2006/main">
              <a:ext uri="{FF2B5EF4-FFF2-40B4-BE49-F238E27FC236}">
                <a16:creationId xmlns:a16="http://schemas.microsoft.com/office/drawing/2014/main" id="{EFDB1089-399D-4B59-BAA5-6821938722E0}"/>
              </a:ext>
            </a:extLst>
          </p:cNvPr>
          <p:cNvSpPr>
            <a:spLocks xmlns:a="http://schemas.openxmlformats.org/drawingml/2006/main" noGrp="1"/>
          </p:cNvSpPr>
          <p:nvPr/>
        </p:nvSpPr>
        <p:spPr>
          <a:xfrm xmlns:a="http://schemas.openxmlformats.org/drawingml/2006/main">
            <a:off x="904875" y="1619250"/>
            <a:ext cx="1038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FFFFF"/>
                </a:solidFill>
                <a:latin typeface="Avenir Next"/>
                <a:ea typeface="Avenir Next"/>
                <a:cs typeface="Avenir Next"/>
              </a:defRPr>
            </a:pPr>
            <a:r>
              <a:rPr sz="2100" b="1">
                <a:solidFill>
                  <a:srgbClr val="FFFFFF"/>
                </a:solidFill>
                <a:latin typeface="Avenir Next"/>
                <a:ea typeface="Avenir Next"/>
                <a:cs typeface="Avenir Next"/>
              </a:rPr>
              <a:t>“Customers use their phones to ________. The company uses ________ and ________ to ________.”</a:t>
            </a:r>
          </a:p>
        </p:txBody>
      </p:sp>
      <p:sp>
        <p:nvSpPr>
          <p:cNvPr id="8" name="">
            <a:extLst xmlns:a="http://schemas.openxmlformats.org/drawingml/2006/main">
              <a:ext uri="{FF2B5EF4-FFF2-40B4-BE49-F238E27FC236}">
                <a16:creationId xmlns:a16="http://schemas.microsoft.com/office/drawing/2014/main" id="{20782105-74B9-4FF0-95AE-32EC19D18D9F}"/>
              </a:ext>
            </a:extLst>
          </p:cNvPr>
          <p:cNvSpPr>
            <a:spLocks xmlns:a="http://schemas.openxmlformats.org/drawingml/2006/main" noGrp="1"/>
          </p:cNvSpPr>
          <p:nvPr/>
        </p:nvSpPr>
        <p:spPr>
          <a:xfrm xmlns:a="http://schemas.openxmlformats.org/drawingml/2006/main">
            <a:off x="571500" y="3000375"/>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7324D"/>
                </a:solidFill>
                <a:latin typeface="Avenir Next"/>
                <a:ea typeface="Avenir Next"/>
                <a:cs typeface="Avenir Next"/>
              </a:defRPr>
            </a:pPr>
            <a:r>
              <a:rPr sz="1950" b="1">
                <a:solidFill>
                  <a:srgbClr val="17324D"/>
                </a:solidFill>
                <a:latin typeface="Avenir Next"/>
                <a:ea typeface="Avenir Next"/>
                <a:cs typeface="Avenir Next"/>
              </a:rPr>
              <a:t>Choose your sharing support</a:t>
            </a:r>
          </a:p>
        </p:txBody>
      </p:sp>
      <p:sp>
        <p:nvSpPr>
          <p:cNvPr id="9" name="">
            <a:extLst xmlns:a="http://schemas.openxmlformats.org/drawingml/2006/main">
              <a:ext uri="{FF2B5EF4-FFF2-40B4-BE49-F238E27FC236}">
                <a16:creationId xmlns:a16="http://schemas.microsoft.com/office/drawing/2014/main" id="{E1CE7A4C-1C73-4A3A-93EE-758AEBDA894A}"/>
              </a:ext>
            </a:extLst>
          </p:cNvPr>
          <p:cNvSpPr>
            <a:spLocks xmlns:a="http://schemas.openxmlformats.org/drawingml/2006/main" noGrp="1"/>
          </p:cNvSpPr>
          <p:nvPr/>
        </p:nvSpPr>
        <p:spPr>
          <a:xfrm xmlns:a="http://schemas.openxmlformats.org/drawingml/2006/main">
            <a:off x="571500" y="3667125"/>
            <a:ext cx="3333750" cy="1571625"/>
          </a:xfrm>
          <a:prstGeom xmlns:a="http://schemas.openxmlformats.org/drawingml/2006/main" prst="roundRect">
            <a:avLst>
              <a:gd name="adj" fmla="val 4848"/>
            </a:avLst>
          </a:prstGeom>
          <a:solidFill xmlns:a="http://schemas.openxmlformats.org/drawingml/2006/main">
            <a:srgbClr val="F3F7FA"/>
          </a:solidFill>
          <a:ln xmlns:a="http://schemas.openxmlformats.org/drawingml/2006/main" w="9525">
            <a:solidFill>
              <a:srgbClr val="D5E1E8"/>
            </a:solidFill>
          </a:ln>
        </p:spPr>
      </p:sp>
      <p:sp>
        <p:nvSpPr>
          <p:cNvPr id="10" name="">
            <a:extLst xmlns:a="http://schemas.openxmlformats.org/drawingml/2006/main">
              <a:ext uri="{FF2B5EF4-FFF2-40B4-BE49-F238E27FC236}">
                <a16:creationId xmlns:a16="http://schemas.microsoft.com/office/drawing/2014/main" id="{E0177516-EF5C-4CE3-8E01-5852A18A0169}"/>
              </a:ext>
            </a:extLst>
          </p:cNvPr>
          <p:cNvSpPr>
            <a:spLocks xmlns:a="http://schemas.openxmlformats.org/drawingml/2006/main" noGrp="1"/>
          </p:cNvSpPr>
          <p:nvPr/>
        </p:nvSpPr>
        <p:spPr>
          <a:xfrm xmlns:a="http://schemas.openxmlformats.org/drawingml/2006/main">
            <a:off x="762000" y="385762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47D92"/>
                </a:solidFill>
                <a:latin typeface="Avenir Next"/>
                <a:ea typeface="Avenir Next"/>
                <a:cs typeface="Avenir Next"/>
              </a:defRPr>
            </a:pPr>
            <a:r>
              <a:rPr sz="1650" b="1">
                <a:solidFill>
                  <a:srgbClr val="147D92"/>
                </a:solidFill>
                <a:latin typeface="Avenir Next"/>
                <a:ea typeface="Avenir Next"/>
                <a:cs typeface="Avenir Next"/>
              </a:rPr>
              <a:t>SAY IT</a:t>
            </a:r>
          </a:p>
        </p:txBody>
      </p:sp>
      <p:sp>
        <p:nvSpPr>
          <p:cNvPr id="11" name="">
            <a:extLst xmlns:a="http://schemas.openxmlformats.org/drawingml/2006/main">
              <a:ext uri="{FF2B5EF4-FFF2-40B4-BE49-F238E27FC236}">
                <a16:creationId xmlns:a16="http://schemas.microsoft.com/office/drawing/2014/main" id="{14FCC474-9E44-4C7F-81D9-C201B7D57EE5}"/>
              </a:ext>
            </a:extLst>
          </p:cNvPr>
          <p:cNvSpPr>
            <a:spLocks xmlns:a="http://schemas.openxmlformats.org/drawingml/2006/main" noGrp="1"/>
          </p:cNvSpPr>
          <p:nvPr/>
        </p:nvSpPr>
        <p:spPr>
          <a:xfrm xmlns:a="http://schemas.openxmlformats.org/drawingml/2006/main">
            <a:off x="857250" y="4333875"/>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83042"/>
                </a:solidFill>
                <a:latin typeface="Avenir Next"/>
                <a:ea typeface="Avenir Next"/>
                <a:cs typeface="Avenir Next"/>
              </a:defRPr>
            </a:pPr>
            <a:r>
              <a:rPr sz="1500" b="0">
                <a:solidFill>
                  <a:srgbClr val="183042"/>
                </a:solidFill>
                <a:latin typeface="Avenir Next"/>
                <a:ea typeface="Avenir Next"/>
                <a:cs typeface="Avenir Next"/>
              </a:rPr>
              <a:t>Speak from memory or use keywords.</a:t>
            </a:r>
          </a:p>
        </p:txBody>
      </p:sp>
      <p:sp>
        <p:nvSpPr>
          <p:cNvPr id="12" name="">
            <a:extLst xmlns:a="http://schemas.openxmlformats.org/drawingml/2006/main">
              <a:ext uri="{FF2B5EF4-FFF2-40B4-BE49-F238E27FC236}">
                <a16:creationId xmlns:a16="http://schemas.microsoft.com/office/drawing/2014/main" id="{61BB7593-C417-49D7-B851-C599A1B993ED}"/>
              </a:ext>
            </a:extLst>
          </p:cNvPr>
          <p:cNvSpPr>
            <a:spLocks xmlns:a="http://schemas.openxmlformats.org/drawingml/2006/main" noGrp="1"/>
          </p:cNvSpPr>
          <p:nvPr/>
        </p:nvSpPr>
        <p:spPr>
          <a:xfrm xmlns:a="http://schemas.openxmlformats.org/drawingml/2006/main">
            <a:off x="4286250" y="3667125"/>
            <a:ext cx="3333750" cy="1571625"/>
          </a:xfrm>
          <a:prstGeom xmlns:a="http://schemas.openxmlformats.org/drawingml/2006/main" prst="roundRect">
            <a:avLst>
              <a:gd name="adj" fmla="val 4848"/>
            </a:avLst>
          </a:prstGeom>
          <a:solidFill xmlns:a="http://schemas.openxmlformats.org/drawingml/2006/main">
            <a:srgbClr val="FFF7ED"/>
          </a:solidFill>
          <a:ln xmlns:a="http://schemas.openxmlformats.org/drawingml/2006/main" w="9525">
            <a:solidFill>
              <a:srgbClr val="F3B27D"/>
            </a:solidFill>
          </a:ln>
        </p:spPr>
      </p:sp>
      <p:sp>
        <p:nvSpPr>
          <p:cNvPr id="13" name="">
            <a:extLst xmlns:a="http://schemas.openxmlformats.org/drawingml/2006/main">
              <a:ext uri="{FF2B5EF4-FFF2-40B4-BE49-F238E27FC236}">
                <a16:creationId xmlns:a16="http://schemas.microsoft.com/office/drawing/2014/main" id="{3ED5D04D-176C-460D-90E5-889AB31B4492}"/>
              </a:ext>
            </a:extLst>
          </p:cNvPr>
          <p:cNvSpPr>
            <a:spLocks xmlns:a="http://schemas.openxmlformats.org/drawingml/2006/main" noGrp="1"/>
          </p:cNvSpPr>
          <p:nvPr/>
        </p:nvSpPr>
        <p:spPr>
          <a:xfrm xmlns:a="http://schemas.openxmlformats.org/drawingml/2006/main">
            <a:off x="4476750" y="385762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E77825"/>
                </a:solidFill>
                <a:latin typeface="Avenir Next"/>
                <a:ea typeface="Avenir Next"/>
                <a:cs typeface="Avenir Next"/>
              </a:defRPr>
            </a:pPr>
            <a:r>
              <a:rPr sz="1650" b="1">
                <a:solidFill>
                  <a:srgbClr val="E77825"/>
                </a:solidFill>
                <a:latin typeface="Avenir Next"/>
                <a:ea typeface="Avenir Next"/>
                <a:cs typeface="Avenir Next"/>
              </a:rPr>
              <a:t>READ IT</a:t>
            </a:r>
          </a:p>
        </p:txBody>
      </p:sp>
      <p:sp>
        <p:nvSpPr>
          <p:cNvPr id="14" name="">
            <a:extLst xmlns:a="http://schemas.openxmlformats.org/drawingml/2006/main">
              <a:ext uri="{FF2B5EF4-FFF2-40B4-BE49-F238E27FC236}">
                <a16:creationId xmlns:a16="http://schemas.microsoft.com/office/drawing/2014/main" id="{42197EA1-55BE-4614-B8A8-DE70E5701B1C}"/>
              </a:ext>
            </a:extLst>
          </p:cNvPr>
          <p:cNvSpPr>
            <a:spLocks xmlns:a="http://schemas.openxmlformats.org/drawingml/2006/main" noGrp="1"/>
          </p:cNvSpPr>
          <p:nvPr/>
        </p:nvSpPr>
        <p:spPr>
          <a:xfrm xmlns:a="http://schemas.openxmlformats.org/drawingml/2006/main">
            <a:off x="4572000" y="4333875"/>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83042"/>
                </a:solidFill>
                <a:latin typeface="Avenir Next"/>
                <a:ea typeface="Avenir Next"/>
                <a:cs typeface="Avenir Next"/>
              </a:defRPr>
            </a:pPr>
            <a:r>
              <a:rPr sz="1500" b="0">
                <a:solidFill>
                  <a:srgbClr val="183042"/>
                </a:solidFill>
                <a:latin typeface="Avenir Next"/>
                <a:ea typeface="Avenir Next"/>
                <a:cs typeface="Avenir Next"/>
              </a:rPr>
              <a:t>Read the prepared sentence frame.</a:t>
            </a:r>
          </a:p>
        </p:txBody>
      </p:sp>
      <p:sp>
        <p:nvSpPr>
          <p:cNvPr id="15" name="">
            <a:extLst xmlns:a="http://schemas.openxmlformats.org/drawingml/2006/main">
              <a:ext uri="{FF2B5EF4-FFF2-40B4-BE49-F238E27FC236}">
                <a16:creationId xmlns:a16="http://schemas.microsoft.com/office/drawing/2014/main" id="{20FBF092-7E5D-4A2C-9FC4-57D03BBDCC1C}"/>
              </a:ext>
            </a:extLst>
          </p:cNvPr>
          <p:cNvSpPr>
            <a:spLocks xmlns:a="http://schemas.openxmlformats.org/drawingml/2006/main" noGrp="1"/>
          </p:cNvSpPr>
          <p:nvPr/>
        </p:nvSpPr>
        <p:spPr>
          <a:xfrm xmlns:a="http://schemas.openxmlformats.org/drawingml/2006/main">
            <a:off x="8001000" y="3667125"/>
            <a:ext cx="3333750" cy="1571625"/>
          </a:xfrm>
          <a:prstGeom xmlns:a="http://schemas.openxmlformats.org/drawingml/2006/main" prst="roundRect">
            <a:avLst>
              <a:gd name="adj" fmla="val 4848"/>
            </a:avLst>
          </a:prstGeom>
          <a:solidFill xmlns:a="http://schemas.openxmlformats.org/drawingml/2006/main">
            <a:srgbClr val="F3F7FA"/>
          </a:solidFill>
          <a:ln xmlns:a="http://schemas.openxmlformats.org/drawingml/2006/main" w="9525">
            <a:solidFill>
              <a:srgbClr val="D5E1E8"/>
            </a:solidFill>
          </a:ln>
        </p:spPr>
      </p:sp>
      <p:sp>
        <p:nvSpPr>
          <p:cNvPr id="16" name="">
            <a:extLst xmlns:a="http://schemas.openxmlformats.org/drawingml/2006/main">
              <a:ext uri="{FF2B5EF4-FFF2-40B4-BE49-F238E27FC236}">
                <a16:creationId xmlns:a16="http://schemas.microsoft.com/office/drawing/2014/main" id="{CAC54CCA-C46F-40E4-9144-7B208D6F136B}"/>
              </a:ext>
            </a:extLst>
          </p:cNvPr>
          <p:cNvSpPr>
            <a:spLocks xmlns:a="http://schemas.openxmlformats.org/drawingml/2006/main" noGrp="1"/>
          </p:cNvSpPr>
          <p:nvPr/>
        </p:nvSpPr>
        <p:spPr>
          <a:xfrm xmlns:a="http://schemas.openxmlformats.org/drawingml/2006/main">
            <a:off x="8191500" y="385762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47D92"/>
                </a:solidFill>
                <a:latin typeface="Avenir Next"/>
                <a:ea typeface="Avenir Next"/>
                <a:cs typeface="Avenir Next"/>
              </a:defRPr>
            </a:pPr>
            <a:r>
              <a:rPr sz="1650" b="1">
                <a:solidFill>
                  <a:srgbClr val="147D92"/>
                </a:solidFill>
                <a:latin typeface="Avenir Next"/>
                <a:ea typeface="Avenir Next"/>
                <a:cs typeface="Avenir Next"/>
              </a:rPr>
              <a:t>SHARE IT</a:t>
            </a:r>
          </a:p>
        </p:txBody>
      </p:sp>
      <p:sp>
        <p:nvSpPr>
          <p:cNvPr id="17" name="">
            <a:extLst xmlns:a="http://schemas.openxmlformats.org/drawingml/2006/main">
              <a:ext uri="{FF2B5EF4-FFF2-40B4-BE49-F238E27FC236}">
                <a16:creationId xmlns:a16="http://schemas.microsoft.com/office/drawing/2014/main" id="{67B768FE-DE41-439D-A86B-16265319DBFE}"/>
              </a:ext>
            </a:extLst>
          </p:cNvPr>
          <p:cNvSpPr>
            <a:spLocks xmlns:a="http://schemas.openxmlformats.org/drawingml/2006/main" noGrp="1"/>
          </p:cNvSpPr>
          <p:nvPr/>
        </p:nvSpPr>
        <p:spPr>
          <a:xfrm xmlns:a="http://schemas.openxmlformats.org/drawingml/2006/main">
            <a:off x="8286750" y="4333875"/>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83042"/>
                </a:solidFill>
                <a:latin typeface="Avenir Next"/>
                <a:ea typeface="Avenir Next"/>
                <a:cs typeface="Avenir Next"/>
              </a:defRPr>
            </a:pPr>
            <a:r>
              <a:rPr sz="1500" b="0">
                <a:solidFill>
                  <a:srgbClr val="183042"/>
                </a:solidFill>
                <a:latin typeface="Avenir Next"/>
                <a:ea typeface="Avenir Next"/>
                <a:cs typeface="Avenir Next"/>
              </a:rPr>
              <a:t>One partner points while the other speaks.</a:t>
            </a:r>
          </a:p>
        </p:txBody>
      </p:sp>
      <p:sp>
        <p:nvSpPr>
          <p:cNvPr id="18" name="">
            <a:extLst xmlns:a="http://schemas.openxmlformats.org/drawingml/2006/main">
              <a:ext uri="{FF2B5EF4-FFF2-40B4-BE49-F238E27FC236}">
                <a16:creationId xmlns:a16="http://schemas.microsoft.com/office/drawing/2014/main" id="{D9911B84-818A-436B-AA99-1395321D3DB9}"/>
              </a:ext>
            </a:extLst>
          </p:cNvPr>
          <p:cNvSpPr>
            <a:spLocks xmlns:a="http://schemas.openxmlformats.org/drawingml/2006/main" noGrp="1"/>
          </p:cNvSpPr>
          <p:nvPr/>
        </p:nvSpPr>
        <p:spPr>
          <a:xfrm xmlns:a="http://schemas.openxmlformats.org/drawingml/2006/main">
            <a:off x="571500" y="633412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526573"/>
                </a:solidFill>
                <a:latin typeface="Avenir Next"/>
                <a:ea typeface="Avenir Next"/>
                <a:cs typeface="Avenir Next"/>
              </a:defRPr>
            </a:pPr>
            <a:r>
              <a:rPr sz="1275" b="1">
                <a:solidFill>
                  <a:srgbClr val="526573"/>
                </a:solidFill>
                <a:latin typeface="Avenir Next"/>
                <a:ea typeface="Avenir Next"/>
                <a:cs typeface="Avenir Next"/>
              </a:rPr>
              <a:t>Partner check: Can a listener identify both functions?</a:t>
            </a:r>
          </a:p>
        </p:txBody>
      </p:sp>
    </p:spTree>
    <p:extLst>
      <p:ext uri="{BB962C8B-B14F-4D97-AF65-F5344CB8AC3E}">
        <p14:creationId xmlns:p14="http://schemas.microsoft.com/office/powerpoint/2010/main" val="2055868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21A30EE-7BAE-4891-BB6B-6CF3547ECAB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47D9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971E19-4238-4214-9E10-C6A13676AA5C}"/>
              </a:ext>
            </a:extLst>
          </p:cNvPr>
          <p:cNvSpPr>
            <a:spLocks xmlns:a="http://schemas.openxmlformats.org/drawingml/2006/main" noGrp="1"/>
          </p:cNvSpPr>
          <p:nvPr/>
        </p:nvSpPr>
        <p:spPr>
          <a:xfrm xmlns:a="http://schemas.openxmlformats.org/drawingml/2006/main">
            <a:off x="571500" y="22860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47D92"/>
                </a:solidFill>
                <a:latin typeface="Avenir Next"/>
                <a:ea typeface="Avenir Next"/>
                <a:cs typeface="Avenir Next"/>
              </a:defRPr>
            </a:pPr>
            <a:r>
              <a:rPr sz="1350" b="1">
                <a:solidFill>
                  <a:srgbClr val="147D92"/>
                </a:solidFill>
                <a:latin typeface="Avenir Next"/>
                <a:ea typeface="Avenir Next"/>
                <a:cs typeface="Avenir Next"/>
              </a:rPr>
              <a:t>SHARE AND IDENTIFY</a:t>
            </a:r>
          </a:p>
        </p:txBody>
      </p:sp>
      <p:sp>
        <p:nvSpPr>
          <p:cNvPr id="3" name="">
            <a:extLst xmlns:a="http://schemas.openxmlformats.org/drawingml/2006/main">
              <a:ext uri="{FF2B5EF4-FFF2-40B4-BE49-F238E27FC236}">
                <a16:creationId xmlns:a16="http://schemas.microsoft.com/office/drawing/2014/main" id="{7D35253F-F0E1-4578-8AD6-613B24C8834D}"/>
              </a:ext>
            </a:extLst>
          </p:cNvPr>
          <p:cNvSpPr>
            <a:spLocks xmlns:a="http://schemas.openxmlformats.org/drawingml/2006/main" noGrp="1"/>
          </p:cNvSpPr>
          <p:nvPr/>
        </p:nvSpPr>
        <p:spPr>
          <a:xfrm xmlns:a="http://schemas.openxmlformats.org/drawingml/2006/main">
            <a:off x="571500" y="533400"/>
            <a:ext cx="876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17324D"/>
                </a:solidFill>
                <a:latin typeface="Avenir Next"/>
                <a:ea typeface="Avenir Next"/>
                <a:cs typeface="Avenir Next"/>
              </a:defRPr>
            </a:pPr>
            <a:r>
              <a:rPr sz="2700" b="1">
                <a:solidFill>
                  <a:srgbClr val="17324D"/>
                </a:solidFill>
                <a:latin typeface="Avenir Next"/>
                <a:ea typeface="Avenir Next"/>
                <a:cs typeface="Avenir Next"/>
              </a:rPr>
              <a:t>30 seconds per pair</a:t>
            </a:r>
          </a:p>
        </p:txBody>
      </p:sp>
      <p:sp>
        <p:nvSpPr>
          <p:cNvPr id="4" name="">
            <a:extLst xmlns:a="http://schemas.openxmlformats.org/drawingml/2006/main">
              <a:ext uri="{FF2B5EF4-FFF2-40B4-BE49-F238E27FC236}">
                <a16:creationId xmlns:a16="http://schemas.microsoft.com/office/drawing/2014/main" id="{0CAE49F6-62BA-4EA6-BC93-647FB319A996}"/>
              </a:ext>
            </a:extLst>
          </p:cNvPr>
          <p:cNvSpPr>
            <a:spLocks xmlns:a="http://schemas.openxmlformats.org/drawingml/2006/main" noGrp="1"/>
          </p:cNvSpPr>
          <p:nvPr/>
        </p:nvSpPr>
        <p:spPr>
          <a:xfrm xmlns:a="http://schemas.openxmlformats.org/drawingml/2006/main">
            <a:off x="10334625" y="257175"/>
            <a:ext cx="1333500" cy="400050"/>
          </a:xfrm>
          <a:prstGeom xmlns:a="http://schemas.openxmlformats.org/drawingml/2006/main" prst="roundRect">
            <a:avLst>
              <a:gd name="adj" fmla="val 19048"/>
            </a:avLst>
          </a:prstGeom>
          <a:solidFill xmlns:a="http://schemas.openxmlformats.org/drawingml/2006/main">
            <a:srgbClr val="17324D"/>
          </a:solidFill>
          <a:ln xmlns:a="http://schemas.openxmlformats.org/drawingml/2006/main" w="9525">
            <a:solidFill>
              <a:srgbClr val="17324D"/>
            </a:solidFill>
          </a:ln>
        </p:spPr>
      </p:sp>
      <p:sp>
        <p:nvSpPr>
          <p:cNvPr id="5" name="">
            <a:extLst xmlns:a="http://schemas.openxmlformats.org/drawingml/2006/main">
              <a:ext uri="{FF2B5EF4-FFF2-40B4-BE49-F238E27FC236}">
                <a16:creationId xmlns:a16="http://schemas.microsoft.com/office/drawing/2014/main" id="{AA972EDE-A2AC-4F34-99F0-16E9A3367C67}"/>
              </a:ext>
            </a:extLst>
          </p:cNvPr>
          <p:cNvSpPr>
            <a:spLocks xmlns:a="http://schemas.openxmlformats.org/drawingml/2006/main" noGrp="1"/>
          </p:cNvSpPr>
          <p:nvPr/>
        </p:nvSpPr>
        <p:spPr>
          <a:xfrm xmlns:a="http://schemas.openxmlformats.org/drawingml/2006/main">
            <a:off x="10382250" y="27622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385"/>
          </a:bodyPr>
          <a:lstStyle xmlns:a="http://schemas.openxmlformats.org/drawingml/2006/main"/>
          <a:p xmlns:a="http://schemas.openxmlformats.org/drawingml/2006/main">
            <a:pPr algn="ctr">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8 / 8   3–4 min</a:t>
            </a:r>
          </a:p>
        </p:txBody>
      </p:sp>
      <p:sp>
        <p:nvSpPr>
          <p:cNvPr id="6" name="">
            <a:extLst xmlns:a="http://schemas.openxmlformats.org/drawingml/2006/main">
              <a:ext uri="{FF2B5EF4-FFF2-40B4-BE49-F238E27FC236}">
                <a16:creationId xmlns:a16="http://schemas.microsoft.com/office/drawing/2014/main" id="{7575BC4E-403B-4DB2-86D4-0406E8E62317}"/>
              </a:ext>
            </a:extLst>
          </p:cNvPr>
          <p:cNvSpPr>
            <a:spLocks xmlns:a="http://schemas.openxmlformats.org/drawingml/2006/main" noGrp="1"/>
          </p:cNvSpPr>
          <p:nvPr/>
        </p:nvSpPr>
        <p:spPr>
          <a:xfrm xmlns:a="http://schemas.openxmlformats.org/drawingml/2006/main">
            <a:off x="571500" y="1428750"/>
            <a:ext cx="5143500" cy="3619500"/>
          </a:xfrm>
          <a:prstGeom xmlns:a="http://schemas.openxmlformats.org/drawingml/2006/main" prst="roundRect">
            <a:avLst>
              <a:gd name="adj" fmla="val 2105"/>
            </a:avLst>
          </a:prstGeom>
          <a:solidFill xmlns:a="http://schemas.openxmlformats.org/drawingml/2006/main">
            <a:srgbClr val="17324D"/>
          </a:solidFill>
          <a:ln xmlns:a="http://schemas.openxmlformats.org/drawingml/2006/main" w="9525">
            <a:solidFill>
              <a:srgbClr val="17324D"/>
            </a:solidFill>
          </a:ln>
        </p:spPr>
      </p:sp>
      <p:sp>
        <p:nvSpPr>
          <p:cNvPr id="7" name="">
            <a:extLst xmlns:a="http://schemas.openxmlformats.org/drawingml/2006/main">
              <a:ext uri="{FF2B5EF4-FFF2-40B4-BE49-F238E27FC236}">
                <a16:creationId xmlns:a16="http://schemas.microsoft.com/office/drawing/2014/main" id="{B011D85F-7DA5-4CF2-A4C0-4873579467CD}"/>
              </a:ext>
            </a:extLst>
          </p:cNvPr>
          <p:cNvSpPr>
            <a:spLocks xmlns:a="http://schemas.openxmlformats.org/drawingml/2006/main" noGrp="1"/>
          </p:cNvSpPr>
          <p:nvPr/>
        </p:nvSpPr>
        <p:spPr>
          <a:xfrm xmlns:a="http://schemas.openxmlformats.org/drawingml/2006/main">
            <a:off x="904875" y="171450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2C94C"/>
                </a:solidFill>
                <a:latin typeface="Avenir Next"/>
                <a:ea typeface="Avenir Next"/>
                <a:cs typeface="Avenir Next"/>
              </a:defRPr>
            </a:pPr>
            <a:r>
              <a:rPr sz="1800" b="1">
                <a:solidFill>
                  <a:srgbClr val="F2C94C"/>
                </a:solidFill>
                <a:latin typeface="Avenir Next"/>
                <a:ea typeface="Avenir Next"/>
                <a:cs typeface="Avenir Next"/>
              </a:rPr>
              <a:t>SPEAKER</a:t>
            </a:r>
          </a:p>
        </p:txBody>
      </p:sp>
      <p:sp>
        <p:nvSpPr>
          <p:cNvPr id="8" name="">
            <a:extLst xmlns:a="http://schemas.openxmlformats.org/drawingml/2006/main">
              <a:ext uri="{FF2B5EF4-FFF2-40B4-BE49-F238E27FC236}">
                <a16:creationId xmlns:a16="http://schemas.microsoft.com/office/drawing/2014/main" id="{D1B9CA62-9768-4BDB-8FF6-436DF0C4304C}"/>
              </a:ext>
            </a:extLst>
          </p:cNvPr>
          <p:cNvSpPr>
            <a:spLocks xmlns:a="http://schemas.openxmlformats.org/drawingml/2006/main" noGrp="1"/>
          </p:cNvSpPr>
          <p:nvPr/>
        </p:nvSpPr>
        <p:spPr>
          <a:xfrm xmlns:a="http://schemas.openxmlformats.org/drawingml/2006/main">
            <a:off x="1047750" y="2238375"/>
            <a:ext cx="4095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FFFFFF"/>
                </a:solidFill>
                <a:latin typeface="Avenir Next"/>
                <a:ea typeface="Avenir Next"/>
                <a:cs typeface="Avenir Next"/>
              </a:defRPr>
            </a:pPr>
            <a:r>
              <a:rPr sz="1950" b="1">
                <a:solidFill>
                  <a:srgbClr val="FFFFFF"/>
                </a:solidFill>
                <a:latin typeface="Avenir Next"/>
                <a:ea typeface="Avenir Next"/>
                <a:cs typeface="Avenir Next"/>
              </a:rPr>
              <a:t>1. Company or experience</a:t>
            </a:r>
          </a:p>
          <a:p xmlns:a="http://schemas.openxmlformats.org/drawingml/2006/main">
            <a:pPr algn="l">
              <a:defRPr sz="1950" b="1">
                <a:solidFill>
                  <a:srgbClr val="FFFFFF"/>
                </a:solidFill>
                <a:latin typeface="Avenir Next"/>
                <a:ea typeface="Avenir Next"/>
                <a:cs typeface="Avenir Next"/>
              </a:defRPr>
            </a:pPr>
            <a:r>
              <a:rPr sz="1950" b="1">
                <a:solidFill>
                  <a:srgbClr val="FFFFFF"/>
                </a:solidFill>
                <a:latin typeface="Avenir Next"/>
                <a:ea typeface="Avenir Next"/>
                <a:cs typeface="Avenir Next"/>
              </a:rPr>
              <a:t>2. Phone use or feedback</a:t>
            </a:r>
          </a:p>
          <a:p xmlns:a="http://schemas.openxmlformats.org/drawingml/2006/main">
            <a:pPr algn="l">
              <a:defRPr sz="1950" b="1">
                <a:solidFill>
                  <a:srgbClr val="FFFFFF"/>
                </a:solidFill>
                <a:latin typeface="Avenir Next"/>
                <a:ea typeface="Avenir Next"/>
                <a:cs typeface="Avenir Next"/>
              </a:defRPr>
            </a:pPr>
            <a:r>
              <a:rPr sz="1950" b="1">
                <a:solidFill>
                  <a:srgbClr val="FFFFFF"/>
                </a:solidFill>
                <a:latin typeface="Avenir Next"/>
                <a:ea typeface="Avenir Next"/>
                <a:cs typeface="Avenir Next"/>
              </a:rPr>
              <a:t>3. Exactly two functions</a:t>
            </a:r>
          </a:p>
          <a:p xmlns:a="http://schemas.openxmlformats.org/drawingml/2006/main">
            <a:pPr algn="l">
              <a:defRPr sz="1950" b="1">
                <a:solidFill>
                  <a:srgbClr val="FFFFFF"/>
                </a:solidFill>
                <a:latin typeface="Avenir Next"/>
                <a:ea typeface="Avenir Next"/>
                <a:cs typeface="Avenir Next"/>
              </a:defRPr>
            </a:pPr>
            <a:r>
              <a:rPr sz="1950" b="1">
                <a:solidFill>
                  <a:srgbClr val="FFFFFF"/>
                </a:solidFill>
                <a:latin typeface="Avenir Next"/>
                <a:ea typeface="Avenir Next"/>
                <a:cs typeface="Avenir Next"/>
              </a:rPr>
              <a:t>4. One specific improvement</a:t>
            </a:r>
          </a:p>
        </p:txBody>
      </p:sp>
      <p:sp>
        <p:nvSpPr>
          <p:cNvPr id="9" name="">
            <a:extLst xmlns:a="http://schemas.openxmlformats.org/drawingml/2006/main">
              <a:ext uri="{FF2B5EF4-FFF2-40B4-BE49-F238E27FC236}">
                <a16:creationId xmlns:a16="http://schemas.microsoft.com/office/drawing/2014/main" id="{F7097E43-225A-46D8-A3CF-971934AC5A3F}"/>
              </a:ext>
            </a:extLst>
          </p:cNvPr>
          <p:cNvSpPr>
            <a:spLocks xmlns:a="http://schemas.openxmlformats.org/drawingml/2006/main" noGrp="1"/>
          </p:cNvSpPr>
          <p:nvPr/>
        </p:nvSpPr>
        <p:spPr>
          <a:xfrm xmlns:a="http://schemas.openxmlformats.org/drawingml/2006/main">
            <a:off x="6096000" y="1428750"/>
            <a:ext cx="5524500" cy="3619500"/>
          </a:xfrm>
          <a:prstGeom xmlns:a="http://schemas.openxmlformats.org/drawingml/2006/main" prst="roundRect">
            <a:avLst>
              <a:gd name="adj" fmla="val 2105"/>
            </a:avLst>
          </a:prstGeom>
          <a:solidFill xmlns:a="http://schemas.openxmlformats.org/drawingml/2006/main">
            <a:srgbClr val="F3F7FA"/>
          </a:solidFill>
          <a:ln xmlns:a="http://schemas.openxmlformats.org/drawingml/2006/main" w="9525">
            <a:solidFill>
              <a:srgbClr val="D5E1E8"/>
            </a:solidFill>
          </a:ln>
        </p:spPr>
      </p:sp>
      <p:sp>
        <p:nvSpPr>
          <p:cNvPr id="10" name="">
            <a:extLst xmlns:a="http://schemas.openxmlformats.org/drawingml/2006/main">
              <a:ext uri="{FF2B5EF4-FFF2-40B4-BE49-F238E27FC236}">
                <a16:creationId xmlns:a16="http://schemas.microsoft.com/office/drawing/2014/main" id="{281D645C-B1C9-46BE-87D0-C725A78C72EC}"/>
              </a:ext>
            </a:extLst>
          </p:cNvPr>
          <p:cNvSpPr>
            <a:spLocks xmlns:a="http://schemas.openxmlformats.org/drawingml/2006/main" noGrp="1"/>
          </p:cNvSpPr>
          <p:nvPr/>
        </p:nvSpPr>
        <p:spPr>
          <a:xfrm xmlns:a="http://schemas.openxmlformats.org/drawingml/2006/main">
            <a:off x="6477000" y="17145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147D92"/>
                </a:solidFill>
                <a:latin typeface="Avenir Next"/>
                <a:ea typeface="Avenir Next"/>
                <a:cs typeface="Avenir Next"/>
              </a:defRPr>
            </a:pPr>
            <a:r>
              <a:rPr sz="1800" b="1">
                <a:solidFill>
                  <a:srgbClr val="147D92"/>
                </a:solidFill>
                <a:latin typeface="Avenir Next"/>
                <a:ea typeface="Avenir Next"/>
                <a:cs typeface="Avenir Next"/>
              </a:rPr>
              <a:t>LISTENERS</a:t>
            </a:r>
          </a:p>
        </p:txBody>
      </p:sp>
      <p:sp>
        <p:nvSpPr>
          <p:cNvPr id="11" name="">
            <a:extLst xmlns:a="http://schemas.openxmlformats.org/drawingml/2006/main">
              <a:ext uri="{FF2B5EF4-FFF2-40B4-BE49-F238E27FC236}">
                <a16:creationId xmlns:a16="http://schemas.microsoft.com/office/drawing/2014/main" id="{916ECD17-5E32-4710-9464-E746D2B7CE45}"/>
              </a:ext>
            </a:extLst>
          </p:cNvPr>
          <p:cNvSpPr>
            <a:spLocks xmlns:a="http://schemas.openxmlformats.org/drawingml/2006/main" noGrp="1"/>
          </p:cNvSpPr>
          <p:nvPr/>
        </p:nvSpPr>
        <p:spPr>
          <a:xfrm xmlns:a="http://schemas.openxmlformats.org/drawingml/2006/main">
            <a:off x="6524625" y="2266950"/>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17324D"/>
                </a:solidFill>
                <a:latin typeface="Avenir Next"/>
                <a:ea typeface="Avenir Next"/>
                <a:cs typeface="Avenir Next"/>
              </a:defRPr>
            </a:pPr>
            <a:r>
              <a:rPr sz="1800" b="1">
                <a:solidFill>
                  <a:srgbClr val="17324D"/>
                </a:solidFill>
                <a:latin typeface="Avenir Next"/>
                <a:ea typeface="Avenir Next"/>
                <a:cs typeface="Avenir Next"/>
              </a:rPr>
              <a:t>Show what you heard</a:t>
            </a:r>
          </a:p>
        </p:txBody>
      </p:sp>
      <p:sp>
        <p:nvSpPr>
          <p:cNvPr id="12" name="">
            <a:extLst xmlns:a="http://schemas.openxmlformats.org/drawingml/2006/main">
              <a:ext uri="{FF2B5EF4-FFF2-40B4-BE49-F238E27FC236}">
                <a16:creationId xmlns:a16="http://schemas.microsoft.com/office/drawing/2014/main" id="{BC87E510-66B2-4191-B204-D9A804FEA29B}"/>
              </a:ext>
            </a:extLst>
          </p:cNvPr>
          <p:cNvSpPr>
            <a:spLocks xmlns:a="http://schemas.openxmlformats.org/drawingml/2006/main" noGrp="1"/>
          </p:cNvSpPr>
          <p:nvPr/>
        </p:nvSpPr>
        <p:spPr>
          <a:xfrm xmlns:a="http://schemas.openxmlformats.org/drawingml/2006/main">
            <a:off x="6858000" y="2857500"/>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0">
                <a:solidFill>
                  <a:srgbClr val="183042"/>
                </a:solidFill>
                <a:latin typeface="Avenir Next"/>
                <a:ea typeface="Avenir Next"/>
                <a:cs typeface="Avenir Next"/>
              </a:defRPr>
            </a:pPr>
            <a:r>
              <a:rPr sz="1875" b="0">
                <a:solidFill>
                  <a:srgbClr val="183042"/>
                </a:solidFill>
                <a:latin typeface="Avenir Next"/>
                <a:ea typeface="Avenir Next"/>
                <a:cs typeface="Avenir Next"/>
              </a:rPr>
              <a:t>Say one function</a:t>
            </a:r>
          </a:p>
          <a:p xmlns:a="http://schemas.openxmlformats.org/drawingml/2006/main">
            <a:pPr algn="ctr">
              <a:defRPr sz="1875" b="0">
                <a:solidFill>
                  <a:srgbClr val="183042"/>
                </a:solidFill>
                <a:latin typeface="Avenir Next"/>
                <a:ea typeface="Avenir Next"/>
                <a:cs typeface="Avenir Next"/>
              </a:defRPr>
            </a:pPr>
            <a:r>
              <a:rPr sz="1875" b="0">
                <a:solidFill>
                  <a:srgbClr val="183042"/>
                </a:solidFill>
                <a:latin typeface="Avenir Next"/>
                <a:ea typeface="Avenir Next"/>
                <a:cs typeface="Avenir Next"/>
              </a:rPr>
              <a:t>Hold up its number</a:t>
            </a:r>
          </a:p>
          <a:p xmlns:a="http://schemas.openxmlformats.org/drawingml/2006/main">
            <a:pPr algn="ctr">
              <a:defRPr sz="1875" b="0">
                <a:solidFill>
                  <a:srgbClr val="183042"/>
                </a:solidFill>
                <a:latin typeface="Avenir Next"/>
                <a:ea typeface="Avenir Next"/>
                <a:cs typeface="Avenir Next"/>
              </a:defRPr>
            </a:pPr>
            <a:r>
              <a:rPr sz="1875" b="0">
                <a:solidFill>
                  <a:srgbClr val="183042"/>
                </a:solidFill>
                <a:latin typeface="Avenir Next"/>
                <a:ea typeface="Avenir Next"/>
                <a:cs typeface="Avenir Next"/>
              </a:rPr>
              <a:t>Point to it on the function list</a:t>
            </a:r>
          </a:p>
        </p:txBody>
      </p:sp>
      <p:sp>
        <p:nvSpPr>
          <p:cNvPr id="13" name="">
            <a:extLst xmlns:a="http://schemas.openxmlformats.org/drawingml/2006/main">
              <a:ext uri="{FF2B5EF4-FFF2-40B4-BE49-F238E27FC236}">
                <a16:creationId xmlns:a16="http://schemas.microsoft.com/office/drawing/2014/main" id="{D8C79335-20E2-440F-89FB-AB239C7C0227}"/>
              </a:ext>
            </a:extLst>
          </p:cNvPr>
          <p:cNvSpPr>
            <a:spLocks xmlns:a="http://schemas.openxmlformats.org/drawingml/2006/main" noGrp="1"/>
          </p:cNvSpPr>
          <p:nvPr/>
        </p:nvSpPr>
        <p:spPr>
          <a:xfrm xmlns:a="http://schemas.openxmlformats.org/drawingml/2006/main">
            <a:off x="1905000" y="5381625"/>
            <a:ext cx="8382000" cy="619125"/>
          </a:xfrm>
          <a:prstGeom xmlns:a="http://schemas.openxmlformats.org/drawingml/2006/main" prst="roundRect">
            <a:avLst>
              <a:gd name="adj" fmla="val 12308"/>
            </a:avLst>
          </a:prstGeom>
          <a:solidFill xmlns:a="http://schemas.openxmlformats.org/drawingml/2006/main">
            <a:srgbClr val="F2C94C"/>
          </a:solidFill>
          <a:ln xmlns:a="http://schemas.openxmlformats.org/drawingml/2006/main" w="9525">
            <a:solidFill>
              <a:srgbClr val="F2C94C"/>
            </a:solidFill>
          </a:ln>
        </p:spPr>
      </p:sp>
      <p:sp>
        <p:nvSpPr>
          <p:cNvPr id="14" name="">
            <a:extLst xmlns:a="http://schemas.openxmlformats.org/drawingml/2006/main">
              <a:ext uri="{FF2B5EF4-FFF2-40B4-BE49-F238E27FC236}">
                <a16:creationId xmlns:a16="http://schemas.microsoft.com/office/drawing/2014/main" id="{9C3CE002-B14D-45C9-959D-1A723669850E}"/>
              </a:ext>
            </a:extLst>
          </p:cNvPr>
          <p:cNvSpPr>
            <a:spLocks xmlns:a="http://schemas.openxmlformats.org/drawingml/2006/main" noGrp="1"/>
          </p:cNvSpPr>
          <p:nvPr/>
        </p:nvSpPr>
        <p:spPr>
          <a:xfrm xmlns:a="http://schemas.openxmlformats.org/drawingml/2006/main">
            <a:off x="2143125" y="5429250"/>
            <a:ext cx="790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24D"/>
                </a:solidFill>
                <a:latin typeface="Avenir Next"/>
                <a:ea typeface="Avenir Next"/>
                <a:cs typeface="Avenir Next"/>
              </a:defRPr>
            </a:pPr>
            <a:r>
              <a:rPr sz="1650" b="1">
                <a:solidFill>
                  <a:srgbClr val="17324D"/>
                </a:solidFill>
                <a:latin typeface="Avenir Next"/>
                <a:ea typeface="Avenir Next"/>
                <a:cs typeface="Avenir Next"/>
              </a:rPr>
              <a:t>If time ends, share with a neighboring pair so every pair participates.</a:t>
            </a:r>
          </a:p>
        </p:txBody>
      </p:sp>
      <p:sp>
        <p:nvSpPr>
          <p:cNvPr id="15" name="">
            <a:extLst xmlns:a="http://schemas.openxmlformats.org/drawingml/2006/main">
              <a:ext uri="{FF2B5EF4-FFF2-40B4-BE49-F238E27FC236}">
                <a16:creationId xmlns:a16="http://schemas.microsoft.com/office/drawing/2014/main" id="{5D541A43-0EF5-43BC-8D0C-8CF729BD789F}"/>
              </a:ext>
            </a:extLst>
          </p:cNvPr>
          <p:cNvSpPr>
            <a:spLocks xmlns:a="http://schemas.openxmlformats.org/drawingml/2006/main" noGrp="1"/>
          </p:cNvSpPr>
          <p:nvPr/>
        </p:nvSpPr>
        <p:spPr>
          <a:xfrm xmlns:a="http://schemas.openxmlformats.org/drawingml/2006/main">
            <a:off x="571500" y="633412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526573"/>
                </a:solidFill>
                <a:latin typeface="Avenir Next"/>
                <a:ea typeface="Avenir Next"/>
                <a:cs typeface="Avenir Next"/>
              </a:defRPr>
            </a:pPr>
            <a:r>
              <a:rPr sz="1275" b="1">
                <a:solidFill>
                  <a:srgbClr val="526573"/>
                </a:solidFill>
                <a:latin typeface="Avenir Next"/>
                <a:ea typeface="Avenir Next"/>
                <a:cs typeface="Avenir Next"/>
              </a:rPr>
              <a:t>Return to notes slides 12–13 and reading pages 13–14.</a:t>
            </a:r>
          </a:p>
        </p:txBody>
      </p:sp>
    </p:spTree>
    <p:extLst>
      <p:ext uri="{BB962C8B-B14F-4D97-AF65-F5344CB8AC3E}">
        <p14:creationId xmlns:p14="http://schemas.microsoft.com/office/powerpoint/2010/main" val="9073567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2026-09-22T15:14:42.4300000Z</dcterms:created>
  <dcterms:modified xsi:type="dcterms:W3CDTF">2026-09-22T15:14:42.4300000Z</dcterms:modified>
</coreProperties>
</file>