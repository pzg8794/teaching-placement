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09849509314807" /><Relationship Type="http://schemas.openxmlformats.org/officeDocument/2006/relationships/extended-properties" Target="/docProps/app.xml" Id="R1d09a737817045fe" /><Relationship Type="http://schemas.openxmlformats.org/officeDocument/2006/relationships/officeDocument" Target="/ppt/presentation.xml" Id="Rbc2e197bfe6c4929" /></Relationships>
</file>

<file path=ppt/presentation.xml><?xml version="1.0" encoding="utf-8"?>
<p:presentation xmlns:p="http://schemas.openxmlformats.org/presentationml/2006/main">
  <p:sldMasterIdLst>
    <p:sldMasterId xmlns:r="http://schemas.openxmlformats.org/officeDocument/2006/relationships" id="2147483648" r:id="Rb0c0f4c497b34c2b"/>
  </p:sldMasterIdLst>
  <p:notesMasterIdLst>
    <p:notesMasterId xmlns:r="http://schemas.openxmlformats.org/officeDocument/2006/relationships" r:id="R900249a2eb474085"/>
  </p:notesMasterIdLst>
  <p:sldIdLst>
    <p:sldId xmlns:r="http://schemas.openxmlformats.org/officeDocument/2006/relationships" id="256" r:id="Rf7ab4e8880854066"/>
    <p:sldId xmlns:r="http://schemas.openxmlformats.org/officeDocument/2006/relationships" id="257" r:id="R0115ab8a0dc446d7"/>
    <p:sldId xmlns:r="http://schemas.openxmlformats.org/officeDocument/2006/relationships" id="258" r:id="Rfdb1eb414c2e49c3"/>
    <p:sldId xmlns:r="http://schemas.openxmlformats.org/officeDocument/2006/relationships" id="259" r:id="R974e71a4214743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7ae8a8ad1247ad" /><Relationship Type="http://schemas.openxmlformats.org/officeDocument/2006/relationships/slideMaster" Target="/ppt/slideMasters/slideMaster1.xml" Id="Rb0c0f4c497b34c2b" /><Relationship Type="http://schemas.openxmlformats.org/officeDocument/2006/relationships/notesMaster" Target="/ppt/notesMasters/notesMaster1.xml" Id="R900249a2eb474085" /><Relationship Type="http://schemas.openxmlformats.org/officeDocument/2006/relationships/presProps" Target="/ppt/presProps.xml" Id="R138a9927a1634d1c" /><Relationship Type="http://schemas.openxmlformats.org/officeDocument/2006/relationships/tableStyles" Target="/ppt/tableStyles.xml" Id="Rd54bfc4ab7fe4033" /><Relationship Type="http://schemas.openxmlformats.org/officeDocument/2006/relationships/slide" Target="/ppt/slides/slide1.xml" Id="Rf7ab4e8880854066" /><Relationship Type="http://schemas.openxmlformats.org/officeDocument/2006/relationships/slide" Target="/ppt/slides/slide2.xml" Id="R0115ab8a0dc446d7" /><Relationship Type="http://schemas.openxmlformats.org/officeDocument/2006/relationships/slide" Target="/ppt/slides/slide3.xml" Id="Rfdb1eb414c2e49c3" /><Relationship Type="http://schemas.openxmlformats.org/officeDocument/2006/relationships/slide" Target="/ppt/slides/slide4.xml" Id="R974e71a4214743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a713a8ad2c44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aefe7a937447c6" /><Relationship Type="http://schemas.openxmlformats.org/officeDocument/2006/relationships/notesMaster" Target="/ppt/notesMasters/notesMaster1.xml" Id="R24b814761b194d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42c21b03ef403b" /><Relationship Type="http://schemas.openxmlformats.org/officeDocument/2006/relationships/notesMaster" Target="/ppt/notesMasters/notesMaster1.xml" Id="Rcbf86d0cd6e147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65942bbaf8463a" /><Relationship Type="http://schemas.openxmlformats.org/officeDocument/2006/relationships/notesMaster" Target="/ppt/notesMasters/notesMaster1.xml" Id="Rec73a6e83544436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69f726a4df4893" /><Relationship Type="http://schemas.openxmlformats.org/officeDocument/2006/relationships/notesMaster" Target="/ppt/notesMasters/notesMaster1.xml" Id="Rc52713daf3944f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Imagine this bakery opened near our school. Besides selling bread, how could it help people in the neighborhood? Think of one idea. You may say it, write it, or point to an example on the next slide.</a:t>
            </a:r>
          </a:p>
          <a:p xmlns:a="http://schemas.openxmlformats.org/drawingml/2006/main">
            <a:r>
              <a:t/>
            </a:r>
          </a:p>
          <a:p xmlns:a="http://schemas.openxmlformats.org/drawingml/2006/main">
            <a:r>
              <a:t>Sources: 09-15 Teaching placement — Eastridge · road 6_30 AM · target leave 2_15 PM-transcript.txt, September 15 classroom stopping point and pacing feedback; Chapter 1, pp. 8–9, Ways Businesses Contribute to Society.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Choose the strongest answer. There can be more than one correct answer. Example: B, because the bakery hires workers and pays them wages.</a:t>
            </a:r>
          </a:p>
          <a:p xmlns:a="http://schemas.openxmlformats.org/drawingml/2006/main">
            <a:r>
              <a:t/>
            </a:r>
          </a:p>
          <a:p xmlns:a="http://schemas.openxmlformats.org/drawingml/2006/main">
            <a:r>
              <a:t>Sources: 09-15 Teaching placement — Eastridge · road 6_30 AM · target leave 2_15 PM-transcript.txt, September 15 classroom stopping point and pacing feedback; Chapter 1, pp. 8–9, Ways Businesses Contribute to Society.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Partner A speaks first, then Partner B. Example: The bakery helps by creating jobs. This matters because workers earn wages they can spend at other businesses. After ninety seconds, I will take three answers. If no one volunteers, I will call on someone.</a:t>
            </a:r>
          </a:p>
          <a:p xmlns:a="http://schemas.openxmlformats.org/drawingml/2006/main">
            <a:r>
              <a:t/>
            </a:r>
          </a:p>
          <a:p xmlns:a="http://schemas.openxmlformats.org/drawingml/2006/main">
            <a:r>
              <a:t>Sources: 09-15 Teaching placement — Eastridge · road 6_30 AM · target leave 2_15 PM-transcript.txt, September 15 classroom stopping point and pacing feedback; Chapter 1, pp. 8–9, Ways Businesses Contribute to Society.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three answers, then say: Chapter 1 names three roles. Businesses provide products, create markets, and increase economic benefits. We will finish yesterday's business activity table first, then read pages eight and nine. Keep the transition short so the class does not lose reading time.</a:t>
            </a:r>
          </a:p>
          <a:p xmlns:a="http://schemas.openxmlformats.org/drawingml/2006/main">
            <a:r>
              <a:t/>
            </a:r>
          </a:p>
          <a:p xmlns:a="http://schemas.openxmlformats.org/drawingml/2006/main">
            <a:r>
              <a:t>Sources: 09-15 Teaching placement — Eastridge · road 6_30 AM · target leave 2_15 PM-transcript.txt, September 15 classroom stopping point and pacing feedback; Chapter 1, pp. 8–9, Ways Businesses Contribute to Society.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286f18330d47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9583ab7fca463f" /><Relationship Type="http://schemas.openxmlformats.org/officeDocument/2006/relationships/slideLayout" Target="/ppt/slideLayouts/slideLayout1.xml" Id="Rc98d5458abc649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8d5458abc649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04877acca44da3" /><Relationship Type="http://schemas.openxmlformats.org/officeDocument/2006/relationships/image" Target="/ppt/media/image.png" Id="R7ebe58501d634277" /><Relationship Type="http://schemas.openxmlformats.org/officeDocument/2006/relationships/notesSlide" Target="/ppt/notesSlides/notesSlide1.xml" Id="R9950f077b49b4c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7ef577d74e4b68" /><Relationship Type="http://schemas.openxmlformats.org/officeDocument/2006/relationships/image" Target="/ppt/media/image2.png" Id="R276fb1e4bcdf499d" /><Relationship Type="http://schemas.openxmlformats.org/officeDocument/2006/relationships/notesSlide" Target="/ppt/notesSlides/notesSlide2.xml" Id="R2524bc0d88bd41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2a129e15904db1" /><Relationship Type="http://schemas.openxmlformats.org/officeDocument/2006/relationships/image" Target="/ppt/media/image3.png" Id="Rd6b2be5b925b4d1d" /><Relationship Type="http://schemas.openxmlformats.org/officeDocument/2006/relationships/notesSlide" Target="/ppt/notesSlides/notesSlide3.xml" Id="Ree1859e460944a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8dd31b38d764d72" /><Relationship Type="http://schemas.openxmlformats.org/officeDocument/2006/relationships/image" Target="/ppt/media/image4.png" Id="R8a496016a2624f17" /><Relationship Type="http://schemas.openxmlformats.org/officeDocument/2006/relationships/notesSlide" Target="/ppt/notesSlides/notesSlide4.xml" Id="R570dc8f539454651" /></Relationships>
</file>

<file path=ppt/slides/slide1.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3A40AC-8AEF-4A21-89DC-DA9C2C167FD3}"/>
              </a:ext>
            </a:extLst>
          </p:cNvPr>
          <p:cNvSpPr>
            <a:spLocks xmlns:a="http://schemas.openxmlformats.org/drawingml/2006/main" noGrp="1"/>
          </p:cNvSpPr>
          <p:nvPr/>
        </p:nvSpPr>
        <p:spPr>
          <a:xfrm xmlns:a="http://schemas.openxmlformats.org/drawingml/2006/main">
            <a:off x="0" y="0"/>
            <a:ext cx="12192000" cy="142875"/>
          </a:xfrm>
          <a:prstGeom xmlns:a="http://schemas.openxmlformats.org/drawingml/2006/main" prst="rect">
            <a:avLst/>
          </a:prstGeom>
          <a:solidFill xmlns:a="http://schemas.openxmlformats.org/drawingml/2006/main">
            <a:srgbClr val="E57A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695779-1E80-4EB5-B206-2C444EC0B07A}"/>
              </a:ext>
            </a:extLst>
          </p:cNvPr>
          <p:cNvSpPr>
            <a:spLocks xmlns:a="http://schemas.openxmlformats.org/drawingml/2006/main" noGrp="1"/>
          </p:cNvSpPr>
          <p:nvPr/>
        </p:nvSpPr>
        <p:spPr>
          <a:xfrm xmlns:a="http://schemas.openxmlformats.org/drawingml/2006/main">
            <a:off x="609600" y="3238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buNone/>
              <a:defRPr sz="1350" b="1">
                <a:solidFill>
                  <a:srgbClr val="1677A6"/>
                </a:solidFill>
                <a:latin typeface="Helvetica Neue"/>
                <a:ea typeface="Helvetica Neue"/>
                <a:cs typeface="Helvetica Neue"/>
              </a:defRPr>
            </a:pPr>
            <a:r>
              <a:rPr sz="1350" b="1">
                <a:solidFill>
                  <a:srgbClr val="1677A6"/>
                </a:solidFill>
                <a:latin typeface="Helvetica Neue"/>
                <a:ea typeface="Helvetica Neue"/>
                <a:cs typeface="Helvetica Neue"/>
              </a:rPr>
              <a:t>ICEBREAKER  1/4</a:t>
            </a:r>
          </a:p>
        </p:txBody>
      </p:sp>
      <p:sp>
        <p:nvSpPr>
          <p:cNvPr id="3" name="">
            <a:extLst xmlns:a="http://schemas.openxmlformats.org/drawingml/2006/main">
              <a:ext uri="{FF2B5EF4-FFF2-40B4-BE49-F238E27FC236}">
                <a16:creationId xmlns:a16="http://schemas.microsoft.com/office/drawing/2014/main" id="{463A7729-4B93-48A0-B3DC-42E15B432DF2}"/>
              </a:ext>
            </a:extLst>
          </p:cNvPr>
          <p:cNvSpPr>
            <a:spLocks xmlns:a="http://schemas.openxmlformats.org/drawingml/2006/main" noGrp="1"/>
          </p:cNvSpPr>
          <p:nvPr/>
        </p:nvSpPr>
        <p:spPr>
          <a:xfrm xmlns:a="http://schemas.openxmlformats.org/drawingml/2006/main">
            <a:off x="609600" y="7143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3150" b="1">
                <a:solidFill>
                  <a:srgbClr val="16324F"/>
                </a:solidFill>
                <a:latin typeface="Helvetica Neue"/>
                <a:ea typeface="Helvetica Neue"/>
                <a:cs typeface="Helvetica Neue"/>
              </a:defRPr>
            </a:pPr>
            <a:r>
              <a:rPr sz="3150" b="1">
                <a:solidFill>
                  <a:srgbClr val="16324F"/>
                </a:solidFill>
                <a:latin typeface="Helvetica Neue"/>
                <a:ea typeface="Helvetica Neue"/>
                <a:cs typeface="Helvetica Neue"/>
              </a:rPr>
              <a:t>A bakery opens near school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ebe58501d634277"/>
          <a:srcRect xmlns:a="http://schemas.openxmlformats.org/drawingml/2006/main" l="4191" t="0" r="4191" b="0"/>
          <a:stretch xmlns:a="http://schemas.openxmlformats.org/drawingml/2006/main">
            <a:fillRect l="0" t="0" r="0" b="0"/>
          </a:stretch>
        </p:blipFill>
        <p:spPr>
          <a:xfrm xmlns:a="http://schemas.openxmlformats.org/drawingml/2006/main">
            <a:off x="609600" y="1571625"/>
            <a:ext cx="6667500" cy="4095750"/>
          </a:xfrm>
          <a:prstGeom xmlns:a="http://schemas.openxmlformats.org/drawingml/2006/main" prst="roundRect">
            <a:avLst>
              <a:gd name="adj" fmla="val 2791"/>
            </a:avLst>
          </a:prstGeom>
        </p:spPr>
      </p:pic>
      <p:sp>
        <p:nvSpPr>
          <p:cNvPr id="5" name="">
            <a:extLst xmlns:a="http://schemas.openxmlformats.org/drawingml/2006/main">
              <a:ext uri="{FF2B5EF4-FFF2-40B4-BE49-F238E27FC236}">
                <a16:creationId xmlns:a16="http://schemas.microsoft.com/office/drawing/2014/main" id="{7C3F65F0-6A86-428B-A499-F7EE6E320675}"/>
              </a:ext>
            </a:extLst>
          </p:cNvPr>
          <p:cNvSpPr>
            <a:spLocks xmlns:a="http://schemas.openxmlformats.org/drawingml/2006/main" noGrp="1"/>
          </p:cNvSpPr>
          <p:nvPr/>
        </p:nvSpPr>
        <p:spPr>
          <a:xfrm xmlns:a="http://schemas.openxmlformats.org/drawingml/2006/main">
            <a:off x="7810500" y="1857375"/>
            <a:ext cx="3476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325" b="1">
                <a:solidFill>
                  <a:srgbClr val="16324F"/>
                </a:solidFill>
                <a:latin typeface="Helvetica Neue"/>
                <a:ea typeface="Helvetica Neue"/>
                <a:cs typeface="Helvetica Neue"/>
              </a:defRPr>
            </a:pPr>
            <a:r>
              <a:rPr sz="2325" b="1">
                <a:solidFill>
                  <a:srgbClr val="16324F"/>
                </a:solidFill>
                <a:latin typeface="Helvetica Neue"/>
                <a:ea typeface="Helvetica Neue"/>
                <a:cs typeface="Helvetica Neue"/>
              </a:rPr>
              <a:t>Besides selling bread,</a:t>
            </a:r>
          </a:p>
          <a:p xmlns:a="http://schemas.openxmlformats.org/drawingml/2006/main">
            <a:pPr algn="l">
              <a:buNone/>
              <a:defRPr sz="2325" b="1">
                <a:solidFill>
                  <a:srgbClr val="16324F"/>
                </a:solidFill>
                <a:latin typeface="Helvetica Neue"/>
                <a:ea typeface="Helvetica Neue"/>
                <a:cs typeface="Helvetica Neue"/>
              </a:defRPr>
            </a:pPr>
            <a:r>
              <a:rPr sz="2325" b="1">
                <a:solidFill>
                  <a:srgbClr val="16324F"/>
                </a:solidFill>
                <a:latin typeface="Helvetica Neue"/>
                <a:ea typeface="Helvetica Neue"/>
                <a:cs typeface="Helvetica Neue"/>
              </a:rPr>
              <a:t>how could it help people?</a:t>
            </a:r>
          </a:p>
        </p:txBody>
      </p:sp>
      <p:sp>
        <p:nvSpPr>
          <p:cNvPr id="6" name="">
            <a:extLst xmlns:a="http://schemas.openxmlformats.org/drawingml/2006/main">
              <a:ext uri="{FF2B5EF4-FFF2-40B4-BE49-F238E27FC236}">
                <a16:creationId xmlns:a16="http://schemas.microsoft.com/office/drawing/2014/main" id="{55811ABC-6046-409A-96F1-CBF8BE98A70C}"/>
              </a:ext>
            </a:extLst>
          </p:cNvPr>
          <p:cNvSpPr>
            <a:spLocks xmlns:a="http://schemas.openxmlformats.org/drawingml/2006/main" noGrp="1"/>
          </p:cNvSpPr>
          <p:nvPr/>
        </p:nvSpPr>
        <p:spPr>
          <a:xfrm xmlns:a="http://schemas.openxmlformats.org/drawingml/2006/main">
            <a:off x="7715250" y="3619500"/>
            <a:ext cx="3524250" cy="800100"/>
          </a:xfrm>
          <a:prstGeom xmlns:a="http://schemas.openxmlformats.org/drawingml/2006/main" prst="roundRect">
            <a:avLst>
              <a:gd name="adj" fmla="val 9524"/>
            </a:avLst>
          </a:prstGeom>
          <a:solidFill xmlns:a="http://schemas.openxmlformats.org/drawingml/2006/main">
            <a:srgbClr val="EAF5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6414BA9-7413-4C67-97B4-102990824FE8}"/>
              </a:ext>
            </a:extLst>
          </p:cNvPr>
          <p:cNvSpPr>
            <a:spLocks xmlns:a="http://schemas.openxmlformats.org/drawingml/2006/main" noGrp="1"/>
          </p:cNvSpPr>
          <p:nvPr/>
        </p:nvSpPr>
        <p:spPr>
          <a:xfrm xmlns:a="http://schemas.openxmlformats.org/drawingml/2006/main">
            <a:off x="7953375" y="379095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16324F"/>
                </a:solidFill>
                <a:latin typeface="Helvetica Neue"/>
                <a:ea typeface="Helvetica Neue"/>
                <a:cs typeface="Helvetica Neue"/>
              </a:defRPr>
            </a:pPr>
            <a:r>
              <a:rPr sz="1800" b="1">
                <a:solidFill>
                  <a:srgbClr val="16324F"/>
                </a:solidFill>
                <a:latin typeface="Helvetica Neue"/>
                <a:ea typeface="Helvetica Neue"/>
                <a:cs typeface="Helvetica Neue"/>
              </a:rPr>
              <a:t>Think of one idea</a:t>
            </a:r>
          </a:p>
        </p:txBody>
      </p:sp>
      <p:sp>
        <p:nvSpPr>
          <p:cNvPr id="8" name="">
            <a:extLst xmlns:a="http://schemas.openxmlformats.org/drawingml/2006/main">
              <a:ext uri="{FF2B5EF4-FFF2-40B4-BE49-F238E27FC236}">
                <a16:creationId xmlns:a16="http://schemas.microsoft.com/office/drawing/2014/main" id="{C2B4FFE7-B00B-4388-B56A-AA07732A1A1D}"/>
              </a:ext>
            </a:extLst>
          </p:cNvPr>
          <p:cNvSpPr>
            <a:spLocks xmlns:a="http://schemas.openxmlformats.org/drawingml/2006/main" noGrp="1"/>
          </p:cNvSpPr>
          <p:nvPr/>
        </p:nvSpPr>
        <p:spPr>
          <a:xfrm xmlns:a="http://schemas.openxmlformats.org/drawingml/2006/main">
            <a:off x="7715250" y="4762500"/>
            <a:ext cx="3524250" cy="800100"/>
          </a:xfrm>
          <a:prstGeom xmlns:a="http://schemas.openxmlformats.org/drawingml/2006/main" prst="roundRect">
            <a:avLst>
              <a:gd name="adj" fmla="val 9524"/>
            </a:avLst>
          </a:prstGeom>
          <a:solidFill xmlns:a="http://schemas.openxmlformats.org/drawingml/2006/main">
            <a:srgbClr val="16324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D8CAAA-6A43-4951-B114-9620A6A89F07}"/>
              </a:ext>
            </a:extLst>
          </p:cNvPr>
          <p:cNvSpPr>
            <a:spLocks xmlns:a="http://schemas.openxmlformats.org/drawingml/2006/main" noGrp="1"/>
          </p:cNvSpPr>
          <p:nvPr/>
        </p:nvSpPr>
        <p:spPr>
          <a:xfrm xmlns:a="http://schemas.openxmlformats.org/drawingml/2006/main">
            <a:off x="7953375" y="493395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Think quietly  30 seconds</a:t>
            </a:r>
          </a:p>
        </p:txBody>
      </p:sp>
    </p:spTree>
    <p:extLst>
      <p:ext uri="{BB962C8B-B14F-4D97-AF65-F5344CB8AC3E}">
        <p14:creationId xmlns:p14="http://schemas.microsoft.com/office/powerpoint/2010/main" val="1440991844"/>
      </p:ext>
    </p:extLst>
  </p:cSld>
</p:sld>
</file>

<file path=ppt/slides/slide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12F959-0AF9-4483-8915-0BD265C8EEA5}"/>
              </a:ext>
            </a:extLst>
          </p:cNvPr>
          <p:cNvSpPr>
            <a:spLocks xmlns:a="http://schemas.openxmlformats.org/drawingml/2006/main" noGrp="1"/>
          </p:cNvSpPr>
          <p:nvPr/>
        </p:nvSpPr>
        <p:spPr>
          <a:xfrm xmlns:a="http://schemas.openxmlformats.org/drawingml/2006/main">
            <a:off x="0" y="0"/>
            <a:ext cx="12192000" cy="142875"/>
          </a:xfrm>
          <a:prstGeom xmlns:a="http://schemas.openxmlformats.org/drawingml/2006/main" prst="rect">
            <a:avLst/>
          </a:prstGeom>
          <a:solidFill xmlns:a="http://schemas.openxmlformats.org/drawingml/2006/main">
            <a:srgbClr val="E57A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109DAA-276B-47D4-911A-BA1D0E1F1A1F}"/>
              </a:ext>
            </a:extLst>
          </p:cNvPr>
          <p:cNvSpPr>
            <a:spLocks xmlns:a="http://schemas.openxmlformats.org/drawingml/2006/main" noGrp="1"/>
          </p:cNvSpPr>
          <p:nvPr/>
        </p:nvSpPr>
        <p:spPr>
          <a:xfrm xmlns:a="http://schemas.openxmlformats.org/drawingml/2006/main">
            <a:off x="609600" y="3238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buNone/>
              <a:defRPr sz="1350" b="1">
                <a:solidFill>
                  <a:srgbClr val="1677A6"/>
                </a:solidFill>
                <a:latin typeface="Helvetica Neue"/>
                <a:ea typeface="Helvetica Neue"/>
                <a:cs typeface="Helvetica Neue"/>
              </a:defRPr>
            </a:pPr>
            <a:r>
              <a:rPr sz="1350" b="1">
                <a:solidFill>
                  <a:srgbClr val="1677A6"/>
                </a:solidFill>
                <a:latin typeface="Helvetica Neue"/>
                <a:ea typeface="Helvetica Neue"/>
                <a:cs typeface="Helvetica Neue"/>
              </a:rPr>
              <a:t>ICEBREAKER  2/4</a:t>
            </a:r>
          </a:p>
        </p:txBody>
      </p:sp>
      <p:sp>
        <p:nvSpPr>
          <p:cNvPr id="3" name="">
            <a:extLst xmlns:a="http://schemas.openxmlformats.org/drawingml/2006/main">
              <a:ext uri="{FF2B5EF4-FFF2-40B4-BE49-F238E27FC236}">
                <a16:creationId xmlns:a16="http://schemas.microsoft.com/office/drawing/2014/main" id="{4F4503A5-ABCA-4AC7-99BD-6CC45043E300}"/>
              </a:ext>
            </a:extLst>
          </p:cNvPr>
          <p:cNvSpPr>
            <a:spLocks xmlns:a="http://schemas.openxmlformats.org/drawingml/2006/main" noGrp="1"/>
          </p:cNvSpPr>
          <p:nvPr/>
        </p:nvSpPr>
        <p:spPr>
          <a:xfrm xmlns:a="http://schemas.openxmlformats.org/drawingml/2006/main">
            <a:off x="609600" y="7143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3150" b="1">
                <a:solidFill>
                  <a:srgbClr val="16324F"/>
                </a:solidFill>
                <a:latin typeface="Helvetica Neue"/>
                <a:ea typeface="Helvetica Neue"/>
                <a:cs typeface="Helvetica Neue"/>
              </a:defRPr>
            </a:pPr>
            <a:r>
              <a:rPr sz="3150" b="1">
                <a:solidFill>
                  <a:srgbClr val="16324F"/>
                </a:solidFill>
                <a:latin typeface="Helvetica Neue"/>
                <a:ea typeface="Helvetica Neue"/>
                <a:cs typeface="Helvetica Neue"/>
              </a:rPr>
              <a:t>Choose one way the bakery helps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76fb1e4bcdf499d"/>
          <a:srcRect xmlns:a="http://schemas.openxmlformats.org/drawingml/2006/main" l="6011" t="0" r="6011" b="0"/>
          <a:stretch xmlns:a="http://schemas.openxmlformats.org/drawingml/2006/main">
            <a:fillRect l="0" t="0" r="0" b="0"/>
          </a:stretch>
        </p:blipFill>
        <p:spPr>
          <a:xfrm xmlns:a="http://schemas.openxmlformats.org/drawingml/2006/main">
            <a:off x="5048250" y="1571625"/>
            <a:ext cx="6477000" cy="4143375"/>
          </a:xfrm>
          <a:prstGeom xmlns:a="http://schemas.openxmlformats.org/drawingml/2006/main" prst="roundRect">
            <a:avLst>
              <a:gd name="adj" fmla="val 2759"/>
            </a:avLst>
          </a:prstGeom>
        </p:spPr>
      </p:pic>
      <p:sp>
        <p:nvSpPr>
          <p:cNvPr id="5" name="">
            <a:extLst xmlns:a="http://schemas.openxmlformats.org/drawingml/2006/main">
              <a:ext uri="{FF2B5EF4-FFF2-40B4-BE49-F238E27FC236}">
                <a16:creationId xmlns:a16="http://schemas.microsoft.com/office/drawing/2014/main" id="{50CA1A45-5037-49AC-9786-3BAFE6981017}"/>
              </a:ext>
            </a:extLst>
          </p:cNvPr>
          <p:cNvSpPr>
            <a:spLocks xmlns:a="http://schemas.openxmlformats.org/drawingml/2006/main" noGrp="1"/>
          </p:cNvSpPr>
          <p:nvPr/>
        </p:nvSpPr>
        <p:spPr>
          <a:xfrm xmlns:a="http://schemas.openxmlformats.org/drawingml/2006/main">
            <a:off x="666750" y="1666875"/>
            <a:ext cx="404812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a:solidFill>
                  <a:srgbClr val="16324F"/>
                </a:solidFill>
                <a:latin typeface="Helvetica Neue"/>
                <a:ea typeface="Helvetica Neue"/>
                <a:cs typeface="Helvetica Neue"/>
              </a:defRPr>
            </a:pPr>
            <a:r>
              <a:rPr sz="1875" b="1">
                <a:solidFill>
                  <a:srgbClr val="16324F"/>
                </a:solidFill>
                <a:latin typeface="Helvetica Neue"/>
                <a:ea typeface="Helvetica Neue"/>
                <a:cs typeface="Helvetica Neue"/>
              </a:rPr>
              <a:t>A  Gives people useful products</a:t>
            </a:r>
          </a:p>
          <a:p xmlns:a="http://schemas.openxmlformats.org/drawingml/2006/main">
            <a:r>
              <a:t/>
            </a:r>
          </a:p>
          <a:p xmlns:a="http://schemas.openxmlformats.org/drawingml/2006/main">
            <a:pPr algn="l">
              <a:buNone/>
              <a:defRPr sz="1875" b="1">
                <a:solidFill>
                  <a:srgbClr val="16324F"/>
                </a:solidFill>
                <a:latin typeface="Helvetica Neue"/>
                <a:ea typeface="Helvetica Neue"/>
                <a:cs typeface="Helvetica Neue"/>
              </a:defRPr>
            </a:pPr>
            <a:r>
              <a:rPr sz="1875" b="1">
                <a:solidFill>
                  <a:srgbClr val="16324F"/>
                </a:solidFill>
                <a:latin typeface="Helvetica Neue"/>
                <a:ea typeface="Helvetica Neue"/>
                <a:cs typeface="Helvetica Neue"/>
              </a:rPr>
              <a:t>B  Creates jobs and wages</a:t>
            </a:r>
          </a:p>
          <a:p xmlns:a="http://schemas.openxmlformats.org/drawingml/2006/main">
            <a:r>
              <a:t/>
            </a:r>
          </a:p>
          <a:p xmlns:a="http://schemas.openxmlformats.org/drawingml/2006/main">
            <a:pPr algn="l">
              <a:buNone/>
              <a:defRPr sz="1875" b="1">
                <a:solidFill>
                  <a:srgbClr val="16324F"/>
                </a:solidFill>
                <a:latin typeface="Helvetica Neue"/>
                <a:ea typeface="Helvetica Neue"/>
                <a:cs typeface="Helvetica Neue"/>
              </a:defRPr>
            </a:pPr>
            <a:r>
              <a:rPr sz="1875" b="1">
                <a:solidFill>
                  <a:srgbClr val="16324F"/>
                </a:solidFill>
                <a:latin typeface="Helvetica Neue"/>
                <a:ea typeface="Helvetica Neue"/>
                <a:cs typeface="Helvetica Neue"/>
              </a:rPr>
              <a:t>C  Buys from local suppliers</a:t>
            </a:r>
          </a:p>
          <a:p xmlns:a="http://schemas.openxmlformats.org/drawingml/2006/main">
            <a:r>
              <a:t/>
            </a:r>
          </a:p>
          <a:p xmlns:a="http://schemas.openxmlformats.org/drawingml/2006/main">
            <a:pPr algn="l">
              <a:buNone/>
              <a:defRPr sz="1875" b="1">
                <a:solidFill>
                  <a:srgbClr val="16324F"/>
                </a:solidFill>
                <a:latin typeface="Helvetica Neue"/>
                <a:ea typeface="Helvetica Neue"/>
                <a:cs typeface="Helvetica Neue"/>
              </a:defRPr>
            </a:pPr>
            <a:r>
              <a:rPr sz="1875" b="1">
                <a:solidFill>
                  <a:srgbClr val="16324F"/>
                </a:solidFill>
                <a:latin typeface="Helvetica Neue"/>
                <a:ea typeface="Helvetica Neue"/>
                <a:cs typeface="Helvetica Neue"/>
              </a:rPr>
              <a:t>D  Pays taxes for public services</a:t>
            </a:r>
          </a:p>
        </p:txBody>
      </p:sp>
      <p:sp>
        <p:nvSpPr>
          <p:cNvPr id="6" name="">
            <a:extLst xmlns:a="http://schemas.openxmlformats.org/drawingml/2006/main">
              <a:ext uri="{FF2B5EF4-FFF2-40B4-BE49-F238E27FC236}">
                <a16:creationId xmlns:a16="http://schemas.microsoft.com/office/drawing/2014/main" id="{26A43526-DFF7-4168-8BF7-65F08D28040C}"/>
              </a:ext>
            </a:extLst>
          </p:cNvPr>
          <p:cNvSpPr>
            <a:spLocks xmlns:a="http://schemas.openxmlformats.org/drawingml/2006/main" noGrp="1"/>
          </p:cNvSpPr>
          <p:nvPr/>
        </p:nvSpPr>
        <p:spPr>
          <a:xfrm xmlns:a="http://schemas.openxmlformats.org/drawingml/2006/main">
            <a:off x="666750" y="5000625"/>
            <a:ext cx="3905250" cy="714375"/>
          </a:xfrm>
          <a:prstGeom xmlns:a="http://schemas.openxmlformats.org/drawingml/2006/main" prst="roundRect">
            <a:avLst>
              <a:gd name="adj" fmla="val 10667"/>
            </a:avLst>
          </a:prstGeom>
          <a:solidFill xmlns:a="http://schemas.openxmlformats.org/drawingml/2006/main">
            <a:srgbClr val="EAF5F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E21B310-36E7-4757-A702-F10A07C72E71}"/>
              </a:ext>
            </a:extLst>
          </p:cNvPr>
          <p:cNvSpPr>
            <a:spLocks xmlns:a="http://schemas.openxmlformats.org/drawingml/2006/main" noGrp="1"/>
          </p:cNvSpPr>
          <p:nvPr/>
        </p:nvSpPr>
        <p:spPr>
          <a:xfrm xmlns:a="http://schemas.openxmlformats.org/drawingml/2006/main">
            <a:off x="857250" y="5153025"/>
            <a:ext cx="352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575" b="1">
                <a:solidFill>
                  <a:srgbClr val="16324F"/>
                </a:solidFill>
                <a:latin typeface="Helvetica Neue"/>
                <a:ea typeface="Helvetica Neue"/>
                <a:cs typeface="Helvetica Neue"/>
              </a:defRPr>
            </a:pPr>
            <a:r>
              <a:rPr sz="1575" b="1">
                <a:solidFill>
                  <a:srgbClr val="16324F"/>
                </a:solidFill>
                <a:latin typeface="Helvetica Neue"/>
                <a:ea typeface="Helvetica Neue"/>
                <a:cs typeface="Helvetica Neue"/>
              </a:rPr>
              <a:t>Say it, point to it, or write it</a:t>
            </a:r>
          </a:p>
        </p:txBody>
      </p:sp>
    </p:spTree>
    <p:extLst>
      <p:ext uri="{BB962C8B-B14F-4D97-AF65-F5344CB8AC3E}">
        <p14:creationId xmlns:p14="http://schemas.microsoft.com/office/powerpoint/2010/main" val="283669996"/>
      </p:ext>
    </p:extLst>
  </p:cSld>
</p:sld>
</file>

<file path=ppt/slides/slide3.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2F90AC-54E0-4567-BD45-B43EBBF57E97}"/>
              </a:ext>
            </a:extLst>
          </p:cNvPr>
          <p:cNvSpPr>
            <a:spLocks xmlns:a="http://schemas.openxmlformats.org/drawingml/2006/main" noGrp="1"/>
          </p:cNvSpPr>
          <p:nvPr/>
        </p:nvSpPr>
        <p:spPr>
          <a:xfrm xmlns:a="http://schemas.openxmlformats.org/drawingml/2006/main">
            <a:off x="0" y="0"/>
            <a:ext cx="12192000" cy="142875"/>
          </a:xfrm>
          <a:prstGeom xmlns:a="http://schemas.openxmlformats.org/drawingml/2006/main" prst="rect">
            <a:avLst/>
          </a:prstGeom>
          <a:solidFill xmlns:a="http://schemas.openxmlformats.org/drawingml/2006/main">
            <a:srgbClr val="E57A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3D4F2A-6726-48B5-A4F4-DC396030B813}"/>
              </a:ext>
            </a:extLst>
          </p:cNvPr>
          <p:cNvSpPr>
            <a:spLocks xmlns:a="http://schemas.openxmlformats.org/drawingml/2006/main" noGrp="1"/>
          </p:cNvSpPr>
          <p:nvPr/>
        </p:nvSpPr>
        <p:spPr>
          <a:xfrm xmlns:a="http://schemas.openxmlformats.org/drawingml/2006/main">
            <a:off x="609600" y="3238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buNone/>
              <a:defRPr sz="1350" b="1">
                <a:solidFill>
                  <a:srgbClr val="1677A6"/>
                </a:solidFill>
                <a:latin typeface="Helvetica Neue"/>
                <a:ea typeface="Helvetica Neue"/>
                <a:cs typeface="Helvetica Neue"/>
              </a:defRPr>
            </a:pPr>
            <a:r>
              <a:rPr sz="1350" b="1">
                <a:solidFill>
                  <a:srgbClr val="1677A6"/>
                </a:solidFill>
                <a:latin typeface="Helvetica Neue"/>
                <a:ea typeface="Helvetica Neue"/>
                <a:cs typeface="Helvetica Neue"/>
              </a:rPr>
              <a:t>ICEBREAKER  3/4</a:t>
            </a:r>
          </a:p>
        </p:txBody>
      </p:sp>
      <p:sp>
        <p:nvSpPr>
          <p:cNvPr id="3" name="">
            <a:extLst xmlns:a="http://schemas.openxmlformats.org/drawingml/2006/main">
              <a:ext uri="{FF2B5EF4-FFF2-40B4-BE49-F238E27FC236}">
                <a16:creationId xmlns:a16="http://schemas.microsoft.com/office/drawing/2014/main" id="{4885C066-AE80-480D-9D05-5EE679DFFD06}"/>
              </a:ext>
            </a:extLst>
          </p:cNvPr>
          <p:cNvSpPr>
            <a:spLocks xmlns:a="http://schemas.openxmlformats.org/drawingml/2006/main" noGrp="1"/>
          </p:cNvSpPr>
          <p:nvPr/>
        </p:nvSpPr>
        <p:spPr>
          <a:xfrm xmlns:a="http://schemas.openxmlformats.org/drawingml/2006/main">
            <a:off x="609600" y="7143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3150" b="1">
                <a:solidFill>
                  <a:srgbClr val="16324F"/>
                </a:solidFill>
                <a:latin typeface="Helvetica Neue"/>
                <a:ea typeface="Helvetica Neue"/>
                <a:cs typeface="Helvetica Neue"/>
              </a:defRPr>
            </a:pPr>
            <a:r>
              <a:rPr sz="3150" b="1">
                <a:solidFill>
                  <a:srgbClr val="16324F"/>
                </a:solidFill>
                <a:latin typeface="Helvetica Neue"/>
                <a:ea typeface="Helvetica Neue"/>
                <a:cs typeface="Helvetica Neue"/>
              </a:rPr>
              <a:t>Explain your idea to a partner</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6b2be5b925b4d1d"/>
          <a:srcRect xmlns:a="http://schemas.openxmlformats.org/drawingml/2006/main" l="4845" t="0" r="4845" b="0"/>
          <a:stretch xmlns:a="http://schemas.openxmlformats.org/drawingml/2006/main">
            <a:fillRect l="0" t="0" r="0" b="0"/>
          </a:stretch>
        </p:blipFill>
        <p:spPr>
          <a:xfrm xmlns:a="http://schemas.openxmlformats.org/drawingml/2006/main">
            <a:off x="609600" y="1571625"/>
            <a:ext cx="6572250" cy="4095750"/>
          </a:xfrm>
          <a:prstGeom xmlns:a="http://schemas.openxmlformats.org/drawingml/2006/main" prst="roundRect">
            <a:avLst>
              <a:gd name="adj" fmla="val 2791"/>
            </a:avLst>
          </a:prstGeom>
        </p:spPr>
      </p:pic>
      <p:sp>
        <p:nvSpPr>
          <p:cNvPr id="5" name="">
            <a:extLst xmlns:a="http://schemas.openxmlformats.org/drawingml/2006/main">
              <a:ext uri="{FF2B5EF4-FFF2-40B4-BE49-F238E27FC236}">
                <a16:creationId xmlns:a16="http://schemas.microsoft.com/office/drawing/2014/main" id="{C726370C-FD8F-4D49-B4DB-F700B54B88FB}"/>
              </a:ext>
            </a:extLst>
          </p:cNvPr>
          <p:cNvSpPr>
            <a:spLocks xmlns:a="http://schemas.openxmlformats.org/drawingml/2006/main" noGrp="1"/>
          </p:cNvSpPr>
          <p:nvPr/>
        </p:nvSpPr>
        <p:spPr>
          <a:xfrm xmlns:a="http://schemas.openxmlformats.org/drawingml/2006/main">
            <a:off x="7715250" y="17335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b="1">
                <a:solidFill>
                  <a:srgbClr val="1677A6"/>
                </a:solidFill>
                <a:latin typeface="Helvetica Neue"/>
                <a:ea typeface="Helvetica Neue"/>
                <a:cs typeface="Helvetica Neue"/>
              </a:defRPr>
            </a:pPr>
            <a:r>
              <a:rPr sz="1800" b="1">
                <a:solidFill>
                  <a:srgbClr val="1677A6"/>
                </a:solidFill>
                <a:latin typeface="Helvetica Neue"/>
                <a:ea typeface="Helvetica Neue"/>
                <a:cs typeface="Helvetica Neue"/>
              </a:rPr>
              <a:t>Use this sentence</a:t>
            </a:r>
          </a:p>
        </p:txBody>
      </p:sp>
      <p:sp>
        <p:nvSpPr>
          <p:cNvPr id="6" name="">
            <a:extLst xmlns:a="http://schemas.openxmlformats.org/drawingml/2006/main">
              <a:ext uri="{FF2B5EF4-FFF2-40B4-BE49-F238E27FC236}">
                <a16:creationId xmlns:a16="http://schemas.microsoft.com/office/drawing/2014/main" id="{2C13FD64-E6DE-400D-B729-36B93DEFC0EC}"/>
              </a:ext>
            </a:extLst>
          </p:cNvPr>
          <p:cNvSpPr>
            <a:spLocks xmlns:a="http://schemas.openxmlformats.org/drawingml/2006/main" noGrp="1"/>
          </p:cNvSpPr>
          <p:nvPr/>
        </p:nvSpPr>
        <p:spPr>
          <a:xfrm xmlns:a="http://schemas.openxmlformats.org/drawingml/2006/main">
            <a:off x="7715250" y="2190750"/>
            <a:ext cx="36671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1">
                <a:solidFill>
                  <a:srgbClr val="16324F"/>
                </a:solidFill>
                <a:latin typeface="Helvetica Neue"/>
                <a:ea typeface="Helvetica Neue"/>
                <a:cs typeface="Helvetica Neue"/>
              </a:defRPr>
            </a:pPr>
            <a:r>
              <a:rPr sz="2100" b="1">
                <a:solidFill>
                  <a:srgbClr val="16324F"/>
                </a:solidFill>
                <a:latin typeface="Helvetica Neue"/>
                <a:ea typeface="Helvetica Neue"/>
                <a:cs typeface="Helvetica Neue"/>
              </a:rPr>
              <a:t>The bakery helps by</a:t>
            </a:r>
          </a:p>
          <a:p xmlns:a="http://schemas.openxmlformats.org/drawingml/2006/main">
            <a:pPr algn="l">
              <a:buNone/>
              <a:defRPr sz="2100" b="1">
                <a:solidFill>
                  <a:srgbClr val="16324F"/>
                </a:solidFill>
                <a:latin typeface="Helvetica Neue"/>
                <a:ea typeface="Helvetica Neue"/>
                <a:cs typeface="Helvetica Neue"/>
              </a:defRPr>
            </a:pPr>
            <a:r>
              <a:rPr sz="2100" b="1">
                <a:solidFill>
                  <a:srgbClr val="16324F"/>
                </a:solidFill>
                <a:latin typeface="Helvetica Neue"/>
                <a:ea typeface="Helvetica Neue"/>
                <a:cs typeface="Helvetica Neue"/>
              </a:rPr>
              <a:t>__________________.</a:t>
            </a:r>
          </a:p>
          <a:p xmlns:a="http://schemas.openxmlformats.org/drawingml/2006/main">
            <a:r>
              <a:t/>
            </a:r>
          </a:p>
          <a:p xmlns:a="http://schemas.openxmlformats.org/drawingml/2006/main">
            <a:pPr algn="l">
              <a:buNone/>
              <a:defRPr sz="2100" b="1">
                <a:solidFill>
                  <a:srgbClr val="16324F"/>
                </a:solidFill>
                <a:latin typeface="Helvetica Neue"/>
                <a:ea typeface="Helvetica Neue"/>
                <a:cs typeface="Helvetica Neue"/>
              </a:defRPr>
            </a:pPr>
            <a:r>
              <a:rPr sz="2100" b="1">
                <a:solidFill>
                  <a:srgbClr val="16324F"/>
                </a:solidFill>
                <a:latin typeface="Helvetica Neue"/>
                <a:ea typeface="Helvetica Neue"/>
                <a:cs typeface="Helvetica Neue"/>
              </a:rPr>
              <a:t>This matters because</a:t>
            </a:r>
          </a:p>
          <a:p xmlns:a="http://schemas.openxmlformats.org/drawingml/2006/main">
            <a:pPr algn="l">
              <a:buNone/>
              <a:defRPr sz="2100" b="1">
                <a:solidFill>
                  <a:srgbClr val="16324F"/>
                </a:solidFill>
                <a:latin typeface="Helvetica Neue"/>
                <a:ea typeface="Helvetica Neue"/>
                <a:cs typeface="Helvetica Neue"/>
              </a:defRPr>
            </a:pPr>
            <a:r>
              <a:rPr sz="2100" b="1">
                <a:solidFill>
                  <a:srgbClr val="16324F"/>
                </a:solidFill>
                <a:latin typeface="Helvetica Neue"/>
                <a:ea typeface="Helvetica Neue"/>
                <a:cs typeface="Helvetica Neue"/>
              </a:rPr>
              <a:t>__________________.</a:t>
            </a:r>
          </a:p>
        </p:txBody>
      </p:sp>
      <p:sp>
        <p:nvSpPr>
          <p:cNvPr id="7" name="">
            <a:extLst xmlns:a="http://schemas.openxmlformats.org/drawingml/2006/main">
              <a:ext uri="{FF2B5EF4-FFF2-40B4-BE49-F238E27FC236}">
                <a16:creationId xmlns:a16="http://schemas.microsoft.com/office/drawing/2014/main" id="{71071418-5629-4955-A9FA-132A7F225780}"/>
              </a:ext>
            </a:extLst>
          </p:cNvPr>
          <p:cNvSpPr>
            <a:spLocks xmlns:a="http://schemas.openxmlformats.org/drawingml/2006/main" noGrp="1"/>
          </p:cNvSpPr>
          <p:nvPr/>
        </p:nvSpPr>
        <p:spPr>
          <a:xfrm xmlns:a="http://schemas.openxmlformats.org/drawingml/2006/main">
            <a:off x="7667625" y="4905375"/>
            <a:ext cx="3524250" cy="800100"/>
          </a:xfrm>
          <a:prstGeom xmlns:a="http://schemas.openxmlformats.org/drawingml/2006/main" prst="roundRect">
            <a:avLst>
              <a:gd name="adj" fmla="val 9524"/>
            </a:avLst>
          </a:prstGeom>
          <a:solidFill xmlns:a="http://schemas.openxmlformats.org/drawingml/2006/main">
            <a:srgbClr val="EAF5F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E23E98-CD89-48F7-B256-3B1EE4647A02}"/>
              </a:ext>
            </a:extLst>
          </p:cNvPr>
          <p:cNvSpPr>
            <a:spLocks xmlns:a="http://schemas.openxmlformats.org/drawingml/2006/main" noGrp="1"/>
          </p:cNvSpPr>
          <p:nvPr/>
        </p:nvSpPr>
        <p:spPr>
          <a:xfrm xmlns:a="http://schemas.openxmlformats.org/drawingml/2006/main">
            <a:off x="7905750" y="5076825"/>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6324F"/>
                </a:solidFill>
                <a:latin typeface="Helvetica Neue"/>
                <a:ea typeface="Helvetica Neue"/>
                <a:cs typeface="Helvetica Neue"/>
              </a:defRPr>
            </a:pPr>
            <a:r>
              <a:rPr sz="1650" b="1">
                <a:solidFill>
                  <a:srgbClr val="16324F"/>
                </a:solidFill>
                <a:latin typeface="Helvetica Neue"/>
                <a:ea typeface="Helvetica Neue"/>
                <a:cs typeface="Helvetica Neue"/>
              </a:rPr>
              <a:t>Partner talk  90 seconds</a:t>
            </a:r>
          </a:p>
        </p:txBody>
      </p:sp>
    </p:spTree>
    <p:extLst>
      <p:ext uri="{BB962C8B-B14F-4D97-AF65-F5344CB8AC3E}">
        <p14:creationId xmlns:p14="http://schemas.microsoft.com/office/powerpoint/2010/main" val="749467602"/>
      </p:ext>
    </p:extLst>
  </p:cSld>
</p:sld>
</file>

<file path=ppt/slides/slide4.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77E2AED-F9DF-4000-A91C-4B2334F5D457}"/>
              </a:ext>
            </a:extLst>
          </p:cNvPr>
          <p:cNvSpPr>
            <a:spLocks xmlns:a="http://schemas.openxmlformats.org/drawingml/2006/main" noGrp="1"/>
          </p:cNvSpPr>
          <p:nvPr/>
        </p:nvSpPr>
        <p:spPr>
          <a:xfrm xmlns:a="http://schemas.openxmlformats.org/drawingml/2006/main">
            <a:off x="0" y="0"/>
            <a:ext cx="12192000" cy="142875"/>
          </a:xfrm>
          <a:prstGeom xmlns:a="http://schemas.openxmlformats.org/drawingml/2006/main" prst="rect">
            <a:avLst/>
          </a:prstGeom>
          <a:solidFill xmlns:a="http://schemas.openxmlformats.org/drawingml/2006/main">
            <a:srgbClr val="E57A4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A96123-82BC-46E8-80CB-DDD3997B822E}"/>
              </a:ext>
            </a:extLst>
          </p:cNvPr>
          <p:cNvSpPr>
            <a:spLocks xmlns:a="http://schemas.openxmlformats.org/drawingml/2006/main" noGrp="1"/>
          </p:cNvSpPr>
          <p:nvPr/>
        </p:nvSpPr>
        <p:spPr>
          <a:xfrm xmlns:a="http://schemas.openxmlformats.org/drawingml/2006/main">
            <a:off x="609600" y="3238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l">
              <a:buNone/>
              <a:defRPr sz="1350" b="1">
                <a:solidFill>
                  <a:srgbClr val="1677A6"/>
                </a:solidFill>
                <a:latin typeface="Helvetica Neue"/>
                <a:ea typeface="Helvetica Neue"/>
                <a:cs typeface="Helvetica Neue"/>
              </a:defRPr>
            </a:pPr>
            <a:r>
              <a:rPr sz="1350" b="1">
                <a:solidFill>
                  <a:srgbClr val="1677A6"/>
                </a:solidFill>
                <a:latin typeface="Helvetica Neue"/>
                <a:ea typeface="Helvetica Neue"/>
                <a:cs typeface="Helvetica Neue"/>
              </a:rPr>
              <a:t>ICEBREAKER  4/4</a:t>
            </a:r>
          </a:p>
        </p:txBody>
      </p:sp>
      <p:sp>
        <p:nvSpPr>
          <p:cNvPr id="3" name="">
            <a:extLst xmlns:a="http://schemas.openxmlformats.org/drawingml/2006/main">
              <a:ext uri="{FF2B5EF4-FFF2-40B4-BE49-F238E27FC236}">
                <a16:creationId xmlns:a16="http://schemas.microsoft.com/office/drawing/2014/main" id="{515C62FE-106A-46C0-9687-348B3A11ECCA}"/>
              </a:ext>
            </a:extLst>
          </p:cNvPr>
          <p:cNvSpPr>
            <a:spLocks xmlns:a="http://schemas.openxmlformats.org/drawingml/2006/main" noGrp="1"/>
          </p:cNvSpPr>
          <p:nvPr/>
        </p:nvSpPr>
        <p:spPr>
          <a:xfrm xmlns:a="http://schemas.openxmlformats.org/drawingml/2006/main">
            <a:off x="609600" y="7143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3150" b="1">
                <a:solidFill>
                  <a:srgbClr val="16324F"/>
                </a:solidFill>
                <a:latin typeface="Helvetica Neue"/>
                <a:ea typeface="Helvetica Neue"/>
                <a:cs typeface="Helvetica Neue"/>
              </a:defRPr>
            </a:pPr>
            <a:r>
              <a:rPr sz="3150" b="1">
                <a:solidFill>
                  <a:srgbClr val="16324F"/>
                </a:solidFill>
                <a:latin typeface="Helvetica Neue"/>
                <a:ea typeface="Helvetica Neue"/>
                <a:cs typeface="Helvetica Neue"/>
              </a:rPr>
              <a:t>Chapter 1: how businesses contribute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a496016a2624f17"/>
          <a:srcRect xmlns:a="http://schemas.openxmlformats.org/drawingml/2006/main" l="8338" t="0" r="8338" b="0"/>
          <a:stretch xmlns:a="http://schemas.openxmlformats.org/drawingml/2006/main">
            <a:fillRect l="0" t="0" r="0" b="0"/>
          </a:stretch>
        </p:blipFill>
        <p:spPr>
          <a:xfrm xmlns:a="http://schemas.openxmlformats.org/drawingml/2006/main">
            <a:off x="609600" y="1571625"/>
            <a:ext cx="5429250" cy="3667125"/>
          </a:xfrm>
          <a:prstGeom xmlns:a="http://schemas.openxmlformats.org/drawingml/2006/main" prst="roundRect">
            <a:avLst>
              <a:gd name="adj" fmla="val 3117"/>
            </a:avLst>
          </a:prstGeom>
        </p:spPr>
      </p:pic>
      <p:sp>
        <p:nvSpPr>
          <p:cNvPr id="5" name="">
            <a:extLst xmlns:a="http://schemas.openxmlformats.org/drawingml/2006/main">
              <a:ext uri="{FF2B5EF4-FFF2-40B4-BE49-F238E27FC236}">
                <a16:creationId xmlns:a16="http://schemas.microsoft.com/office/drawing/2014/main" id="{B801003A-46CE-4C46-9FB9-4C539C5147CC}"/>
              </a:ext>
            </a:extLst>
          </p:cNvPr>
          <p:cNvSpPr>
            <a:spLocks xmlns:a="http://schemas.openxmlformats.org/drawingml/2006/main" noGrp="1"/>
          </p:cNvSpPr>
          <p:nvPr/>
        </p:nvSpPr>
        <p:spPr>
          <a:xfrm xmlns:a="http://schemas.openxmlformats.org/drawingml/2006/main">
            <a:off x="6477000" y="161925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buNone/>
              <a:defRPr sz="1800" b="1">
                <a:solidFill>
                  <a:srgbClr val="1677A6"/>
                </a:solidFill>
                <a:latin typeface="Helvetica Neue"/>
                <a:ea typeface="Helvetica Neue"/>
                <a:cs typeface="Helvetica Neue"/>
              </a:defRPr>
            </a:pPr>
            <a:r>
              <a:rPr sz="1800" b="1">
                <a:solidFill>
                  <a:srgbClr val="1677A6"/>
                </a:solidFill>
                <a:latin typeface="Helvetica Neue"/>
                <a:ea typeface="Helvetica Neue"/>
                <a:cs typeface="Helvetica Neue"/>
              </a:rPr>
              <a:t>Provide products</a:t>
            </a:r>
          </a:p>
        </p:txBody>
      </p:sp>
      <p:sp>
        <p:nvSpPr>
          <p:cNvPr id="6" name="">
            <a:extLst xmlns:a="http://schemas.openxmlformats.org/drawingml/2006/main">
              <a:ext uri="{FF2B5EF4-FFF2-40B4-BE49-F238E27FC236}">
                <a16:creationId xmlns:a16="http://schemas.microsoft.com/office/drawing/2014/main" id="{442D9825-35D1-4AE8-A136-62B2BF3B40D3}"/>
              </a:ext>
            </a:extLst>
          </p:cNvPr>
          <p:cNvSpPr>
            <a:spLocks xmlns:a="http://schemas.openxmlformats.org/drawingml/2006/main" noGrp="1"/>
          </p:cNvSpPr>
          <p:nvPr/>
        </p:nvSpPr>
        <p:spPr>
          <a:xfrm xmlns:a="http://schemas.openxmlformats.org/drawingml/2006/main">
            <a:off x="6477000" y="1981200"/>
            <a:ext cx="4619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16324F"/>
                </a:solidFill>
                <a:latin typeface="Helvetica Neue"/>
                <a:ea typeface="Helvetica Neue"/>
                <a:cs typeface="Helvetica Neue"/>
              </a:defRPr>
            </a:pPr>
            <a:r>
              <a:rPr sz="1650" b="0">
                <a:solidFill>
                  <a:srgbClr val="16324F"/>
                </a:solidFill>
                <a:latin typeface="Helvetica Neue"/>
                <a:ea typeface="Helvetica Neue"/>
                <a:cs typeface="Helvetica Neue"/>
              </a:rPr>
              <a:t>Bread can meet a need or a want.</a:t>
            </a:r>
          </a:p>
        </p:txBody>
      </p:sp>
      <p:sp>
        <p:nvSpPr>
          <p:cNvPr id="7" name="">
            <a:extLst xmlns:a="http://schemas.openxmlformats.org/drawingml/2006/main">
              <a:ext uri="{FF2B5EF4-FFF2-40B4-BE49-F238E27FC236}">
                <a16:creationId xmlns:a16="http://schemas.microsoft.com/office/drawing/2014/main" id="{3357F59C-1345-4CE3-B862-1465535FDFD9}"/>
              </a:ext>
            </a:extLst>
          </p:cNvPr>
          <p:cNvSpPr>
            <a:spLocks xmlns:a="http://schemas.openxmlformats.org/drawingml/2006/main" noGrp="1"/>
          </p:cNvSpPr>
          <p:nvPr/>
        </p:nvSpPr>
        <p:spPr>
          <a:xfrm xmlns:a="http://schemas.openxmlformats.org/drawingml/2006/main">
            <a:off x="6477000" y="2619375"/>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buNone/>
              <a:defRPr sz="1800" b="1">
                <a:solidFill>
                  <a:srgbClr val="1677A6"/>
                </a:solidFill>
                <a:latin typeface="Helvetica Neue"/>
                <a:ea typeface="Helvetica Neue"/>
                <a:cs typeface="Helvetica Neue"/>
              </a:defRPr>
            </a:pPr>
            <a:r>
              <a:rPr sz="1800" b="1">
                <a:solidFill>
                  <a:srgbClr val="1677A6"/>
                </a:solidFill>
                <a:latin typeface="Helvetica Neue"/>
                <a:ea typeface="Helvetica Neue"/>
                <a:cs typeface="Helvetica Neue"/>
              </a:rPr>
              <a:t>Create markets</a:t>
            </a:r>
          </a:p>
        </p:txBody>
      </p:sp>
      <p:sp>
        <p:nvSpPr>
          <p:cNvPr id="8" name="">
            <a:extLst xmlns:a="http://schemas.openxmlformats.org/drawingml/2006/main">
              <a:ext uri="{FF2B5EF4-FFF2-40B4-BE49-F238E27FC236}">
                <a16:creationId xmlns:a16="http://schemas.microsoft.com/office/drawing/2014/main" id="{A1DEA807-FB07-4D3A-B6C1-BD705812683D}"/>
              </a:ext>
            </a:extLst>
          </p:cNvPr>
          <p:cNvSpPr>
            <a:spLocks xmlns:a="http://schemas.openxmlformats.org/drawingml/2006/main" noGrp="1"/>
          </p:cNvSpPr>
          <p:nvPr/>
        </p:nvSpPr>
        <p:spPr>
          <a:xfrm xmlns:a="http://schemas.openxmlformats.org/drawingml/2006/main">
            <a:off x="6477000" y="29813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16324F"/>
                </a:solidFill>
                <a:latin typeface="Helvetica Neue"/>
                <a:ea typeface="Helvetica Neue"/>
                <a:cs typeface="Helvetica Neue"/>
              </a:defRPr>
            </a:pPr>
            <a:r>
              <a:rPr sz="1650" b="0">
                <a:solidFill>
                  <a:srgbClr val="16324F"/>
                </a:solidFill>
                <a:latin typeface="Helvetica Neue"/>
                <a:ea typeface="Helvetica Neue"/>
                <a:cs typeface="Helvetica Neue"/>
              </a:rPr>
              <a:t>The bakery buys flour and sells to customers.</a:t>
            </a:r>
          </a:p>
        </p:txBody>
      </p:sp>
      <p:sp>
        <p:nvSpPr>
          <p:cNvPr id="9" name="">
            <a:extLst xmlns:a="http://schemas.openxmlformats.org/drawingml/2006/main">
              <a:ext uri="{FF2B5EF4-FFF2-40B4-BE49-F238E27FC236}">
                <a16:creationId xmlns:a16="http://schemas.microsoft.com/office/drawing/2014/main" id="{C0384844-1D52-4894-87F0-BEBA590A69E0}"/>
              </a:ext>
            </a:extLst>
          </p:cNvPr>
          <p:cNvSpPr>
            <a:spLocks xmlns:a="http://schemas.openxmlformats.org/drawingml/2006/main" noGrp="1"/>
          </p:cNvSpPr>
          <p:nvPr/>
        </p:nvSpPr>
        <p:spPr>
          <a:xfrm xmlns:a="http://schemas.openxmlformats.org/drawingml/2006/main">
            <a:off x="6477000" y="3733800"/>
            <a:ext cx="4524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lgn="l">
              <a:buNone/>
              <a:defRPr sz="1800" b="1">
                <a:solidFill>
                  <a:srgbClr val="1677A6"/>
                </a:solidFill>
                <a:latin typeface="Helvetica Neue"/>
                <a:ea typeface="Helvetica Neue"/>
                <a:cs typeface="Helvetica Neue"/>
              </a:defRPr>
            </a:pPr>
            <a:r>
              <a:rPr sz="1800" b="1">
                <a:solidFill>
                  <a:srgbClr val="1677A6"/>
                </a:solidFill>
                <a:latin typeface="Helvetica Neue"/>
                <a:ea typeface="Helvetica Neue"/>
                <a:cs typeface="Helvetica Neue"/>
              </a:rPr>
              <a:t>Increase economic benefits</a:t>
            </a:r>
          </a:p>
        </p:txBody>
      </p:sp>
      <p:sp>
        <p:nvSpPr>
          <p:cNvPr id="10" name="">
            <a:extLst xmlns:a="http://schemas.openxmlformats.org/drawingml/2006/main">
              <a:ext uri="{FF2B5EF4-FFF2-40B4-BE49-F238E27FC236}">
                <a16:creationId xmlns:a16="http://schemas.microsoft.com/office/drawing/2014/main" id="{37A5F074-C4B4-4219-B5C0-04B8EDAFDA39}"/>
              </a:ext>
            </a:extLst>
          </p:cNvPr>
          <p:cNvSpPr>
            <a:spLocks xmlns:a="http://schemas.openxmlformats.org/drawingml/2006/main" noGrp="1"/>
          </p:cNvSpPr>
          <p:nvPr/>
        </p:nvSpPr>
        <p:spPr>
          <a:xfrm xmlns:a="http://schemas.openxmlformats.org/drawingml/2006/main">
            <a:off x="6477000" y="40957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650" b="0">
                <a:solidFill>
                  <a:srgbClr val="16324F"/>
                </a:solidFill>
                <a:latin typeface="Helvetica Neue"/>
                <a:ea typeface="Helvetica Neue"/>
                <a:cs typeface="Helvetica Neue"/>
              </a:defRPr>
            </a:pPr>
            <a:r>
              <a:rPr sz="1650" b="0">
                <a:solidFill>
                  <a:srgbClr val="16324F"/>
                </a:solidFill>
                <a:latin typeface="Helvetica Neue"/>
                <a:ea typeface="Helvetica Neue"/>
                <a:cs typeface="Helvetica Neue"/>
              </a:rPr>
              <a:t>Jobs, wages, and taxes support the community.</a:t>
            </a:r>
          </a:p>
        </p:txBody>
      </p:sp>
      <p:sp>
        <p:nvSpPr>
          <p:cNvPr id="11" name="">
            <a:extLst xmlns:a="http://schemas.openxmlformats.org/drawingml/2006/main">
              <a:ext uri="{FF2B5EF4-FFF2-40B4-BE49-F238E27FC236}">
                <a16:creationId xmlns:a16="http://schemas.microsoft.com/office/drawing/2014/main" id="{6D7EDFA1-96A8-4593-BB79-DED54905EE54}"/>
              </a:ext>
            </a:extLst>
          </p:cNvPr>
          <p:cNvSpPr>
            <a:spLocks xmlns:a="http://schemas.openxmlformats.org/drawingml/2006/main" noGrp="1"/>
          </p:cNvSpPr>
          <p:nvPr/>
        </p:nvSpPr>
        <p:spPr>
          <a:xfrm xmlns:a="http://schemas.openxmlformats.org/drawingml/2006/main">
            <a:off x="609600" y="5524500"/>
            <a:ext cx="10668000" cy="800100"/>
          </a:xfrm>
          <a:prstGeom xmlns:a="http://schemas.openxmlformats.org/drawingml/2006/main" prst="roundRect">
            <a:avLst>
              <a:gd name="adj" fmla="val 9524"/>
            </a:avLst>
          </a:prstGeom>
          <a:solidFill xmlns:a="http://schemas.openxmlformats.org/drawingml/2006/main">
            <a:srgbClr val="16324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DE31E81-44A3-4295-A62D-1B99B9279CEA}"/>
              </a:ext>
            </a:extLst>
          </p:cNvPr>
          <p:cNvSpPr>
            <a:spLocks xmlns:a="http://schemas.openxmlformats.org/drawingml/2006/main" noGrp="1"/>
          </p:cNvSpPr>
          <p:nvPr/>
        </p:nvSpPr>
        <p:spPr>
          <a:xfrm xmlns:a="http://schemas.openxmlformats.org/drawingml/2006/main">
            <a:off x="876300" y="5676900"/>
            <a:ext cx="10134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460"/>
          </a:bodyPr>
          <a:lstStyle xmlns:a="http://schemas.openxmlformats.org/drawingml/2006/main"/>
          <a:p xmlns:a="http://schemas.openxmlformats.org/drawingml/2006/main">
            <a:pPr algn="ctr">
              <a:buNone/>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Businesses help people by providing products, creating markets, and increasing economic benefits.</a:t>
            </a:r>
          </a:p>
        </p:txBody>
      </p:sp>
    </p:spTree>
    <p:extLst>
      <p:ext uri="{BB962C8B-B14F-4D97-AF65-F5344CB8AC3E}">
        <p14:creationId xmlns:p14="http://schemas.microsoft.com/office/powerpoint/2010/main" val="15958046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2026-09-15T12:50:20.2220000Z</dcterms:created>
  <dcterms:modified xsi:type="dcterms:W3CDTF">2026-09-15T12:50:20.2220000Z</dcterms:modified>
</coreProperties>
</file>