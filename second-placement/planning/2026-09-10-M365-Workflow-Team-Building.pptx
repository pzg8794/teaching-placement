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fe6d3bf72294aa9" /><Relationship Type="http://schemas.openxmlformats.org/officeDocument/2006/relationships/extended-properties" Target="/docProps/app.xml" Id="Rdaebbdca7a284fe9" /><Relationship Type="http://schemas.openxmlformats.org/officeDocument/2006/relationships/officeDocument" Target="/ppt/presentation.xml" Id="Rb64f00a1a7de4b94" /></Relationships>
</file>

<file path=ppt/presentation.xml><?xml version="1.0" encoding="utf-8"?>
<p:presentation xmlns:p="http://schemas.openxmlformats.org/presentationml/2006/main">
  <p:sldMasterIdLst>
    <p:sldMasterId xmlns:r="http://schemas.openxmlformats.org/officeDocument/2006/relationships" id="2147483648" r:id="Ra83314050a18429a"/>
  </p:sldMasterIdLst>
  <p:notesMasterIdLst>
    <p:notesMasterId xmlns:r="http://schemas.openxmlformats.org/officeDocument/2006/relationships" r:id="Rb536f213699b4627"/>
  </p:notesMasterIdLst>
  <p:sldIdLst>
    <p:sldId xmlns:r="http://schemas.openxmlformats.org/officeDocument/2006/relationships" id="256" r:id="R18543ea269e649e3"/>
    <p:sldId xmlns:r="http://schemas.openxmlformats.org/officeDocument/2006/relationships" id="257" r:id="Ra7416d7e76dd405d"/>
    <p:sldId xmlns:r="http://schemas.openxmlformats.org/officeDocument/2006/relationships" id="258" r:id="Re354ac83a1de4cd0"/>
    <p:sldId xmlns:r="http://schemas.openxmlformats.org/officeDocument/2006/relationships" id="259" r:id="Re93969026c414230"/>
    <p:sldId xmlns:r="http://schemas.openxmlformats.org/officeDocument/2006/relationships" id="260" r:id="Ra00d62f217e44c03"/>
    <p:sldId xmlns:r="http://schemas.openxmlformats.org/officeDocument/2006/relationships" id="261" r:id="R79ca31c7b2884fd7"/>
    <p:sldId xmlns:r="http://schemas.openxmlformats.org/officeDocument/2006/relationships" id="262" r:id="Ra27ef84837d84ff7"/>
    <p:sldId xmlns:r="http://schemas.openxmlformats.org/officeDocument/2006/relationships" id="263" r:id="Re23d7dbe98a0410e"/>
    <p:sldId xmlns:r="http://schemas.openxmlformats.org/officeDocument/2006/relationships" id="264" r:id="Rcefbb9272bf64377"/>
    <p:sldId xmlns:r="http://schemas.openxmlformats.org/officeDocument/2006/relationships" id="265" r:id="Rdc6d928ae0e2407b"/>
    <p:sldId xmlns:r="http://schemas.openxmlformats.org/officeDocument/2006/relationships" id="266" r:id="Rc18f6f7ca8aa427c"/>
    <p:sldId xmlns:r="http://schemas.openxmlformats.org/officeDocument/2006/relationships" id="267" r:id="Rec024e67ac8348a1"/>
    <p:sldId xmlns:r="http://schemas.openxmlformats.org/officeDocument/2006/relationships" id="268" r:id="R5fa9697613174da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ce540dc2d5644f1" /><Relationship Type="http://schemas.openxmlformats.org/officeDocument/2006/relationships/slideMaster" Target="/ppt/slideMasters/slideMaster1.xml" Id="Ra83314050a18429a" /><Relationship Type="http://schemas.openxmlformats.org/officeDocument/2006/relationships/notesMaster" Target="/ppt/notesMasters/notesMaster1.xml" Id="Rb536f213699b4627" /><Relationship Type="http://schemas.openxmlformats.org/officeDocument/2006/relationships/presProps" Target="/ppt/presProps.xml" Id="Rf8b511c15ab3464a" /><Relationship Type="http://schemas.openxmlformats.org/officeDocument/2006/relationships/tableStyles" Target="/ppt/tableStyles.xml" Id="R13abd09970a34bda" /><Relationship Type="http://schemas.openxmlformats.org/officeDocument/2006/relationships/slide" Target="/ppt/slides/slide1.xml" Id="R18543ea269e649e3" /><Relationship Type="http://schemas.openxmlformats.org/officeDocument/2006/relationships/slide" Target="/ppt/slides/slide2.xml" Id="Ra7416d7e76dd405d" /><Relationship Type="http://schemas.openxmlformats.org/officeDocument/2006/relationships/slide" Target="/ppt/slides/slide3.xml" Id="Re354ac83a1de4cd0" /><Relationship Type="http://schemas.openxmlformats.org/officeDocument/2006/relationships/slide" Target="/ppt/slides/slide4.xml" Id="Re93969026c414230" /><Relationship Type="http://schemas.openxmlformats.org/officeDocument/2006/relationships/slide" Target="/ppt/slides/slide5.xml" Id="Ra00d62f217e44c03" /><Relationship Type="http://schemas.openxmlformats.org/officeDocument/2006/relationships/slide" Target="/ppt/slides/slide6.xml" Id="R79ca31c7b2884fd7" /><Relationship Type="http://schemas.openxmlformats.org/officeDocument/2006/relationships/slide" Target="/ppt/slides/slide7.xml" Id="Ra27ef84837d84ff7" /><Relationship Type="http://schemas.openxmlformats.org/officeDocument/2006/relationships/slide" Target="/ppt/slides/slide8.xml" Id="Re23d7dbe98a0410e" /><Relationship Type="http://schemas.openxmlformats.org/officeDocument/2006/relationships/slide" Target="/ppt/slides/slide9.xml" Id="Rcefbb9272bf64377" /><Relationship Type="http://schemas.openxmlformats.org/officeDocument/2006/relationships/slide" Target="/ppt/slides/slide10.xml" Id="Rdc6d928ae0e2407b" /><Relationship Type="http://schemas.openxmlformats.org/officeDocument/2006/relationships/slide" Target="/ppt/slides/slide11.xml" Id="Rc18f6f7ca8aa427c" /><Relationship Type="http://schemas.openxmlformats.org/officeDocument/2006/relationships/slide" Target="/ppt/slides/slide12.xml" Id="Rec024e67ac8348a1" /><Relationship Type="http://schemas.openxmlformats.org/officeDocument/2006/relationships/slide" Target="/ppt/slides/slide13.xml" Id="R5fa9697613174da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132db86c044467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5fb4ac521874d96" /><Relationship Type="http://schemas.openxmlformats.org/officeDocument/2006/relationships/notesMaster" Target="/ppt/notesMasters/notesMaster1.xml" Id="R21e9a29edb474e4e" /></Relationships>
</file>

<file path=ppt/notesSlides/_rels/notesSlide2.xml.rels>&#65279;<?xml version="1.0" encoding="utf-8"?><Relationships xmlns="http://schemas.openxmlformats.org/package/2006/relationships"><Relationship Type="http://schemas.openxmlformats.org/officeDocument/2006/relationships/slide" Target="/ppt/slides/slide2.xml" Id="R6e7518e3ef6c497a" /><Relationship Type="http://schemas.openxmlformats.org/officeDocument/2006/relationships/notesMaster" Target="/ppt/notesMasters/notesMaster1.xml" Id="Rd975c54980754d0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bdd22555bb04b09" /><Relationship Type="http://schemas.openxmlformats.org/officeDocument/2006/relationships/notesMaster" Target="/ppt/notesMasters/notesMaster1.xml" Id="Ra23a970c8fbb4487" /></Relationships>
</file>

<file path=ppt/notesSlides/_rels/notesSlide4.xml.rels>&#65279;<?xml version="1.0" encoding="utf-8"?><Relationships xmlns="http://schemas.openxmlformats.org/package/2006/relationships"><Relationship Type="http://schemas.openxmlformats.org/officeDocument/2006/relationships/slide" Target="/ppt/slides/slide4.xml" Id="Re7acc10882e24a90" /><Relationship Type="http://schemas.openxmlformats.org/officeDocument/2006/relationships/notesMaster" Target="/ppt/notesMasters/notesMaster1.xml" Id="Rc6e78b08daba4af8" /></Relationships>
</file>

<file path=ppt/notesSlides/_rels/notesSlide5.xml.rels>&#65279;<?xml version="1.0" encoding="utf-8"?><Relationships xmlns="http://schemas.openxmlformats.org/package/2006/relationships"><Relationship Type="http://schemas.openxmlformats.org/officeDocument/2006/relationships/slide" Target="/ppt/slides/slide5.xml" Id="R7d9e3c6b446a42b7" /><Relationship Type="http://schemas.openxmlformats.org/officeDocument/2006/relationships/notesMaster" Target="/ppt/notesMasters/notesMaster1.xml" Id="R15d0dbd01fdb460b" /></Relationships>
</file>

<file path=ppt/notesSlides/_rels/notesSlide6.xml.rels>&#65279;<?xml version="1.0" encoding="utf-8"?><Relationships xmlns="http://schemas.openxmlformats.org/package/2006/relationships"><Relationship Type="http://schemas.openxmlformats.org/officeDocument/2006/relationships/slide" Target="/ppt/slides/slide6.xml" Id="R37f042f97b41420d" /><Relationship Type="http://schemas.openxmlformats.org/officeDocument/2006/relationships/notesMaster" Target="/ppt/notesMasters/notesMaster1.xml" Id="Rfcbb12ee1a0a472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b08e02b4f74a79" /><Relationship Type="http://schemas.openxmlformats.org/officeDocument/2006/relationships/notesMaster" Target="/ppt/notesMasters/notesMaster1.xml" Id="Ra693400531524d3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3a2be5584a747e2" /><Relationship Type="http://schemas.openxmlformats.org/officeDocument/2006/relationships/notesMaster" Target="/ppt/notesMasters/notesMaster1.xml" Id="Raca93a22b64e457c" /></Relationships>
</file>

<file path=ppt/notesSlides/_rels/notesSlide9.xml.rels>&#65279;<?xml version="1.0" encoding="utf-8"?><Relationships xmlns="http://schemas.openxmlformats.org/package/2006/relationships"><Relationship Type="http://schemas.openxmlformats.org/officeDocument/2006/relationships/slide" Target="/ppt/slides/slide9.xml" Id="R7c19be3e393d4072" /><Relationship Type="http://schemas.openxmlformats.org/officeDocument/2006/relationships/notesMaster" Target="/ppt/notesMasters/notesMaster1.xml" Id="Ra4bdae346bf941e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08512a6482b4e4c" /><Relationship Type="http://schemas.openxmlformats.org/officeDocument/2006/relationships/notesMaster" Target="/ppt/notesMasters/notesMaster1.xml" Id="R3b6a93e78aff45d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1019bb249ed4170" /><Relationship Type="http://schemas.openxmlformats.org/officeDocument/2006/relationships/notesMaster" Target="/ppt/notesMasters/notesMaster1.xml" Id="Rb1e8d3c9dffc467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9e41cc7a92d42e4" /><Relationship Type="http://schemas.openxmlformats.org/officeDocument/2006/relationships/notesMaster" Target="/ppt/notesMasters/notesMaster1.xml" Id="R2c72a3cf4c3941d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1094c406e104d98" /><Relationship Type="http://schemas.openxmlformats.org/officeDocument/2006/relationships/notesMaster" Target="/ppt/notesMasters/notesMaster1.xml" Id="Rb812e6ed18aa445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Student-facing deck grounded in Chapter 1, Introduction to Business and Marketing, and the September 9 planning transcript. It is designed to support the SBTE's requested short opening, team activity, and two class agendas while preserving the planned technology boundary. Sources: Chapter 1 Introduction to Business and Marketing.pdf, pp. 4–16; 09-09 Lecture Plan_ Business and Marketing First Lessons-transcript.txt, 00:00:00–00:02:30 and 00:12:57–00:16:50.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Chapter objectives and key terms are transcribed from Chapter 1 Introduction to Business and Marketing.pdf, pp. 4 and 16. The order follows the key-term list on p. 4 and the term sequence discussed in 09-09 Lecture Plan_ Business and Marketing First Lessons-transcript.txt, 00:06:54–00:10:20.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Chapter Review discussion question shown on p. 16 of Chapter 1 Introduction to Business and Marketing.pdf. The SBTE also described opening class with a brain teaser, question, or discussion point while attendance is taken. Source: 09-09 Lecture_ High School Marketing_Business Class Introduction-transcript.txt, 00:14:15–00:15:13 and 00:46:09–00:48:05; 09-09 Lecture Plan_ Business and Marketing First Lessons-transcript.txt, 00:12:57–00:13:45.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Definitions and the product distinction come from Chapter 1 Introduction to Business and Marketing.pdf, p. 4. The chapter explains that marketing and business affect everyday purchasing decisions and that goods, services, and ideas create different marketing opportunities.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Chapter 1 Figure 1.1 provides the goods, services, and ideas examples used in the table. Source: Chapter 1 Introduction to Business and Marketing.pdf, p. 4. The industry/app mapping activity was explicitly proposed during the co-planning transcript: 09-09 Lecture Plan_ Business and Marketing First Lessons-transcript.txt, 00:08:14–00:08:45.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Economics and the three business activity categories are summarized from Chapter 1 Introduction to Business and Marketing.pdf, pp. 5–8. The slide keeps the terms in the chapter sequence and creates a short discussion bridge rather than adding a new assessment.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three elements of the marketing concept and the definition of market share come from Chapter 1 Introduction to Business and Marketing.pdf, p. 10. The scenario is a simplified teaching prompt based on the chapter's Market This case on p. 9, not a new student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4 Ps of the marketing mix and their definitions come from Chapter 1 Introduction to Business and Marketing.pdf, pp. 10–12. The quick test is a prepared discussion prompt; it does not change the SBTE's assessment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seven marketing functions come from Chapter 1 Introduction to Business and Marketing.pdf, pp. 13–15. The instruction to classify examples, explain the reason, and check after trying adapts the co-planning discussion about rearranging concepts and asking students to reason from the words before consulting the book: 09-09 Lecture Plan_ Business and Marketing First Lessons-transcript.txt, 00:20:51–00:23:13.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PowerPoint table activity follows the SBTE's demonstrated plan to teach students how to insert and format a 3-column chart for goods, services, and ideas. Source: 09-09 Lecture Plan_ Business and Marketing First Lessons-transcript.txt, 00:14:02–00:16:50. The example uses Chapter 1 Figure 1.1, p. 4. The table is a native editable PowerPoint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follows the additional planning transcript exactly: create a class folder, archive old files, teach meaningful file names instead of Document1 or Presentation1, download the first vocabulary assignment, and upload it to Teams. Source: 09-09 Lecture Plan_ Business and Marketing First Lessons-transcript.txt, 00:00:00–00:02:30. The example filename is a prepared model, not a confirmed required filename.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 Chapter Review pathways are taken from Chapter 1 Introduction to Business and Marketing.pdf, p. 16. This slide describes the available formats without claiming that students may choose freely or that any specific task has been assigned.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closing bridge applies the user's CS teaching strategy to the Chapter 1 and Microsoft 365 work without replacing the SBTE's course. It draws on Piter's stated goal of making technology clear, creative, and useful, and on the transcript's planned progression from brain teasers and Chapter 1 vocabulary into folders, PowerPoint tables, and Teams. Sources: 09-09 Lecture_ High School Marketing_Business Class Introduction-transcript.txt, 00:09:01–00:09:32; 09-09 Lecture Plan_ Business and Marketing First Lessons-transcript.txt, 00:00:00–00:02:30 and 00:14:02–00:16:50.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03333f55e4b4bb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b046f9925314f28" /><Relationship Type="http://schemas.openxmlformats.org/officeDocument/2006/relationships/slideLayout" Target="/ppt/slideLayouts/slideLayout1.xml" Id="R53b297dc360f482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3b297dc360f482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888166b78104adf" /><Relationship Type="http://schemas.openxmlformats.org/officeDocument/2006/relationships/notesSlide" Target="/ppt/notesSlides/notesSlide1.xml" Id="Rb9ae241be1cd4a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c0df29b16e84cba" /><Relationship Type="http://schemas.openxmlformats.org/officeDocument/2006/relationships/notesSlide" Target="/ppt/notesSlides/notesSlide2.xml" Id="R1e9ab93437c44e6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502fcf40ab5433e" /><Relationship Type="http://schemas.openxmlformats.org/officeDocument/2006/relationships/notesSlide" Target="/ppt/notesSlides/notesSlide3.xml" Id="R08182f231902411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6040a03e884f1c" /><Relationship Type="http://schemas.openxmlformats.org/officeDocument/2006/relationships/notesSlide" Target="/ppt/notesSlides/notesSlide4.xml" Id="R795190d6b9274cc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1a8f97223aa4586" /><Relationship Type="http://schemas.openxmlformats.org/officeDocument/2006/relationships/notesSlide" Target="/ppt/notesSlides/notesSlide5.xml" Id="Rd162a0e85b284fc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806d119c9464c42" /><Relationship Type="http://schemas.openxmlformats.org/officeDocument/2006/relationships/notesSlide" Target="/ppt/notesSlides/notesSlide6.xml" Id="R653641406c6b469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55febae11c54445" /><Relationship Type="http://schemas.openxmlformats.org/officeDocument/2006/relationships/notesSlide" Target="/ppt/notesSlides/notesSlide7.xml" Id="Rce771081f818479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be0b4c573644332" /><Relationship Type="http://schemas.openxmlformats.org/officeDocument/2006/relationships/notesSlide" Target="/ppt/notesSlides/notesSlide8.xml" Id="Rd20a992b5045413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46fd908c29c47e2" /><Relationship Type="http://schemas.openxmlformats.org/officeDocument/2006/relationships/notesSlide" Target="/ppt/notesSlides/notesSlide9.xml" Id="R340c7908990044e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69d8ffe6494cc8" /><Relationship Type="http://schemas.openxmlformats.org/officeDocument/2006/relationships/notesSlide" Target="/ppt/notesSlides/notesSlide10.xml" Id="R6f1810bff99d462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26088cc511542f8" /><Relationship Type="http://schemas.openxmlformats.org/officeDocument/2006/relationships/notesSlide" Target="/ppt/notesSlides/notesSlide11.xml" Id="R9054cdb71d0c4de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be80d4a141642ed" /><Relationship Type="http://schemas.openxmlformats.org/officeDocument/2006/relationships/notesSlide" Target="/ppt/notesSlides/notesSlide12.xml" Id="R114c4a9486014cd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bdb3d21f19d4020" /><Relationship Type="http://schemas.openxmlformats.org/officeDocument/2006/relationships/notesSlide" Target="/ppt/notesSlides/notesSlide13.xml" Id="R6da857b1788248d5" /></Relationships>
</file>

<file path=ppt/slides/slide1.xml><?xml version="1.0" encoding="utf-8"?>
<p:sld xmlns:p="http://schemas.openxmlformats.org/presentationml/2006/main">
  <p:cSld>
    <p:bg>
      <p:bgPr>
        <a:solidFill xmlns:a="http://schemas.openxmlformats.org/drawingml/2006/main">
          <a:srgbClr val="17324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00F3A9D-E980-4A00-A385-DE0687FA21DD}"/>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4A26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4D38CE-6732-4966-ADAC-9626EBD6B5AE}"/>
              </a:ext>
            </a:extLst>
          </p:cNvPr>
          <p:cNvSpPr>
            <a:spLocks xmlns:a="http://schemas.openxmlformats.org/drawingml/2006/main" noGrp="1"/>
          </p:cNvSpPr>
          <p:nvPr/>
        </p:nvSpPr>
        <p:spPr>
          <a:xfrm xmlns:a="http://schemas.openxmlformats.org/drawingml/2006/main">
            <a:off x="723900" y="1428750"/>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100" b="1" i="0">
                <a:solidFill>
                  <a:srgbClr val="F4A261"/>
                </a:solidFill>
                <a:latin typeface="Aptos"/>
                <a:ea typeface="Aptos"/>
                <a:cs typeface="Aptos"/>
              </a:defRPr>
            </a:pPr>
            <a:r>
              <a:rPr sz="2100" b="1" i="0">
                <a:solidFill>
                  <a:srgbClr val="F4A261"/>
                </a:solidFill>
                <a:latin typeface="Aptos"/>
                <a:ea typeface="Aptos"/>
                <a:cs typeface="Aptos"/>
              </a:rPr>
              <a:t>Chapter 1</a:t>
            </a:r>
          </a:p>
        </p:txBody>
      </p:sp>
      <p:sp>
        <p:nvSpPr>
          <p:cNvPr id="3" name="">
            <a:extLst xmlns:a="http://schemas.openxmlformats.org/drawingml/2006/main">
              <a:ext uri="{FF2B5EF4-FFF2-40B4-BE49-F238E27FC236}">
                <a16:creationId xmlns:a16="http://schemas.microsoft.com/office/drawing/2014/main" id="{6C11B4F0-BB0D-45BF-B14D-B76FCF6B3F58}"/>
              </a:ext>
            </a:extLst>
          </p:cNvPr>
          <p:cNvSpPr>
            <a:spLocks xmlns:a="http://schemas.openxmlformats.org/drawingml/2006/main" noGrp="1"/>
          </p:cNvSpPr>
          <p:nvPr/>
        </p:nvSpPr>
        <p:spPr>
          <a:xfrm xmlns:a="http://schemas.openxmlformats.org/drawingml/2006/main">
            <a:off x="723900" y="1981200"/>
            <a:ext cx="7239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3900" b="1" i="0">
                <a:solidFill>
                  <a:srgbClr val="FFFFFF"/>
                </a:solidFill>
                <a:latin typeface="Aptos"/>
                <a:ea typeface="Aptos"/>
                <a:cs typeface="Aptos"/>
              </a:defRPr>
            </a:pPr>
            <a:r>
              <a:rPr sz="3900" b="1" i="0">
                <a:solidFill>
                  <a:srgbClr val="FFFFFF"/>
                </a:solidFill>
                <a:latin typeface="Aptos"/>
                <a:ea typeface="Aptos"/>
                <a:cs typeface="Aptos"/>
              </a:rPr>
              <a:t>Introduction to</a:t>
            </a:r>
          </a:p>
          <a:p xmlns:a="http://schemas.openxmlformats.org/drawingml/2006/main">
            <a:pPr>
              <a:defRPr sz="3900" b="1" i="0">
                <a:solidFill>
                  <a:srgbClr val="FFFFFF"/>
                </a:solidFill>
                <a:latin typeface="Aptos"/>
                <a:ea typeface="Aptos"/>
                <a:cs typeface="Aptos"/>
              </a:defRPr>
            </a:pPr>
            <a:r>
              <a:rPr sz="3900" b="1" i="0">
                <a:solidFill>
                  <a:srgbClr val="FFFFFF"/>
                </a:solidFill>
                <a:latin typeface="Aptos"/>
                <a:ea typeface="Aptos"/>
                <a:cs typeface="Aptos"/>
              </a:rPr>
              <a:t>Business and Marketing</a:t>
            </a:r>
          </a:p>
        </p:txBody>
      </p:sp>
      <p:sp>
        <p:nvSpPr>
          <p:cNvPr id="4" name="">
            <a:extLst xmlns:a="http://schemas.openxmlformats.org/drawingml/2006/main">
              <a:ext uri="{FF2B5EF4-FFF2-40B4-BE49-F238E27FC236}">
                <a16:creationId xmlns:a16="http://schemas.microsoft.com/office/drawing/2014/main" id="{3121C970-D5CB-48B4-9175-01592B7D7F83}"/>
              </a:ext>
            </a:extLst>
          </p:cNvPr>
          <p:cNvSpPr>
            <a:spLocks xmlns:a="http://schemas.openxmlformats.org/drawingml/2006/main" noGrp="1"/>
          </p:cNvSpPr>
          <p:nvPr/>
        </p:nvSpPr>
        <p:spPr>
          <a:xfrm xmlns:a="http://schemas.openxmlformats.org/drawingml/2006/main">
            <a:off x="742950" y="3886200"/>
            <a:ext cx="723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75" b="0" i="0">
                <a:solidFill>
                  <a:srgbClr val="DDEEF2"/>
                </a:solidFill>
                <a:latin typeface="Aptos"/>
                <a:ea typeface="Aptos"/>
                <a:cs typeface="Aptos"/>
              </a:defRPr>
            </a:pPr>
            <a:r>
              <a:rPr sz="1875" b="0" i="0">
                <a:solidFill>
                  <a:srgbClr val="DDEEF2"/>
                </a:solidFill>
                <a:latin typeface="Aptos"/>
                <a:ea typeface="Aptos"/>
                <a:cs typeface="Aptos"/>
              </a:rPr>
              <a:t>Microsoft 365 · problem solving · teamwork</a:t>
            </a:r>
          </a:p>
        </p:txBody>
      </p:sp>
      <p:sp>
        <p:nvSpPr>
          <p:cNvPr id="5" name="">
            <a:extLst xmlns:a="http://schemas.openxmlformats.org/drawingml/2006/main">
              <a:ext uri="{FF2B5EF4-FFF2-40B4-BE49-F238E27FC236}">
                <a16:creationId xmlns:a16="http://schemas.microsoft.com/office/drawing/2014/main" id="{D2C1C49E-3498-48A9-A463-3B00222AE65B}"/>
              </a:ext>
            </a:extLst>
          </p:cNvPr>
          <p:cNvSpPr>
            <a:spLocks xmlns:a="http://schemas.openxmlformats.org/drawingml/2006/main" noGrp="1"/>
          </p:cNvSpPr>
          <p:nvPr/>
        </p:nvSpPr>
        <p:spPr>
          <a:xfrm xmlns:a="http://schemas.openxmlformats.org/drawingml/2006/main">
            <a:off x="742950" y="4629150"/>
            <a:ext cx="723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75" b="0" i="0">
                <a:solidFill>
                  <a:srgbClr val="FFFFFF"/>
                </a:solidFill>
                <a:latin typeface="Aptos"/>
                <a:ea typeface="Aptos"/>
                <a:cs typeface="Aptos"/>
              </a:defRPr>
            </a:pPr>
            <a:r>
              <a:rPr sz="1875" b="0" i="0">
                <a:solidFill>
                  <a:srgbClr val="FFFFFF"/>
                </a:solidFill>
                <a:latin typeface="Aptos"/>
                <a:ea typeface="Aptos"/>
                <a:cs typeface="Aptos"/>
              </a:rPr>
              <a:t>A clear start helps every team do better work.</a:t>
            </a:r>
          </a:p>
        </p:txBody>
      </p:sp>
      <p:sp>
        <p:nvSpPr>
          <p:cNvPr id="6" name="">
            <a:extLst xmlns:a="http://schemas.openxmlformats.org/drawingml/2006/main">
              <a:ext uri="{FF2B5EF4-FFF2-40B4-BE49-F238E27FC236}">
                <a16:creationId xmlns:a16="http://schemas.microsoft.com/office/drawing/2014/main" id="{407336C3-2F31-4197-8710-7234A4F2CBAD}"/>
              </a:ext>
            </a:extLst>
          </p:cNvPr>
          <p:cNvSpPr>
            <a:spLocks xmlns:a="http://schemas.openxmlformats.org/drawingml/2006/main" noGrp="1"/>
          </p:cNvSpPr>
          <p:nvPr/>
        </p:nvSpPr>
        <p:spPr>
          <a:xfrm xmlns:a="http://schemas.openxmlformats.org/drawingml/2006/main">
            <a:off x="8572500" y="1809750"/>
            <a:ext cx="2362200" cy="1466850"/>
          </a:xfrm>
          <a:prstGeom xmlns:a="http://schemas.openxmlformats.org/drawingml/2006/main" prst="roundRect">
            <a:avLst>
              <a:gd name="adj" fmla="val 5195"/>
            </a:avLst>
          </a:prstGeom>
          <a:solidFill xmlns:a="http://schemas.openxmlformats.org/drawingml/2006/main">
            <a:srgbClr val="2A9D8F"/>
          </a:solidFill>
          <a:ln xmlns:a="http://schemas.openxmlformats.org/drawingml/2006/main" w="14288">
            <a:solidFill>
              <a:srgbClr val="2A9D8F"/>
            </a:solidFill>
          </a:ln>
        </p:spPr>
        <p:txBody>
          <a:bodyPr xmlns:a="http://schemas.openxmlformats.org/drawingml/2006/main"/>
          <a:lstStyle xmlns:a="http://schemas.openxmlformats.org/drawingml/2006/main"/>
          <a:p xmlns:a="http://schemas.openxmlformats.org/drawingml/2006/main">
            <a:pPr>
              <a:defRPr sz="2025" b="1">
                <a:solidFill>
                  <a:srgbClr val="FFFFFF"/>
                </a:solidFill>
                <a:latin typeface="Aptos"/>
                <a:ea typeface="Aptos"/>
                <a:cs typeface="Aptos"/>
              </a:defRPr>
            </a:pPr>
            <a:r>
              <a:rPr sz="2025" b="1">
                <a:solidFill>
                  <a:srgbClr val="FFFFFF"/>
                </a:solidFill>
                <a:latin typeface="Aptos"/>
                <a:ea typeface="Aptos"/>
                <a:cs typeface="Aptos"/>
              </a:rPr>
              <a:t>TODAY</a:t>
            </a:r>
          </a:p>
          <a:p xmlns:a="http://schemas.openxmlformats.org/drawingml/2006/main">
            <a:pPr>
              <a:defRPr sz="2025" b="1">
                <a:solidFill>
                  <a:srgbClr val="FFFFFF"/>
                </a:solidFill>
                <a:latin typeface="Aptos"/>
                <a:ea typeface="Aptos"/>
                <a:cs typeface="Aptos"/>
              </a:defRPr>
            </a:pPr>
            <a:r>
              <a:rPr sz="2025" b="1">
                <a:solidFill>
                  <a:srgbClr val="FFFFFF"/>
                </a:solidFill>
                <a:latin typeface="Aptos"/>
                <a:ea typeface="Aptos"/>
                <a:cs typeface="Aptos"/>
              </a:rPr>
              <a:t>Think, talk, build</a:t>
            </a:r>
          </a:p>
        </p:txBody>
      </p:sp>
      <p:sp>
        <p:nvSpPr>
          <p:cNvPr id="7" name="">
            <a:extLst xmlns:a="http://schemas.openxmlformats.org/drawingml/2006/main">
              <a:ext uri="{FF2B5EF4-FFF2-40B4-BE49-F238E27FC236}">
                <a16:creationId xmlns:a16="http://schemas.microsoft.com/office/drawing/2014/main" id="{2173C19A-E2ED-4F5B-A7DD-31B7C0E3C5B8}"/>
              </a:ext>
            </a:extLst>
          </p:cNvPr>
          <p:cNvSpPr>
            <a:spLocks xmlns:a="http://schemas.openxmlformats.org/drawingml/2006/main" noGrp="1"/>
          </p:cNvSpPr>
          <p:nvPr/>
        </p:nvSpPr>
        <p:spPr>
          <a:xfrm xmlns:a="http://schemas.openxmlformats.org/drawingml/2006/main">
            <a:off x="742950" y="61531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0" i="0">
                <a:solidFill>
                  <a:srgbClr val="DDEEF2"/>
                </a:solidFill>
                <a:latin typeface="Aptos"/>
                <a:ea typeface="Aptos"/>
                <a:cs typeface="Aptos"/>
              </a:defRPr>
            </a:pPr>
            <a:r>
              <a:rPr sz="1125" b="0" i="0">
                <a:solidFill>
                  <a:srgbClr val="DDEEF2"/>
                </a:solidFill>
                <a:latin typeface="Aptos"/>
                <a:ea typeface="Aptos"/>
                <a:cs typeface="Aptos"/>
              </a:rPr>
              <a:t>Business course · student activity</a:t>
            </a:r>
          </a:p>
        </p:txBody>
      </p:sp>
    </p:spTree>
    <p:extLst>
      <p:ext uri="{BB962C8B-B14F-4D97-AF65-F5344CB8AC3E}">
        <p14:creationId xmlns:p14="http://schemas.microsoft.com/office/powerpoint/2010/main" val="1122150242"/>
      </p:ext>
    </p:extLst>
  </p:cSld>
</p:sld>
</file>

<file path=ppt/slides/slide2.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472A3E3-CDD8-4A06-B591-CDA0C30294E1}"/>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2A9D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4F9A8E-7DE8-4290-B1D1-24A0197CE65C}"/>
              </a:ext>
            </a:extLst>
          </p:cNvPr>
          <p:cNvSpPr>
            <a:spLocks xmlns:a="http://schemas.openxmlformats.org/drawingml/2006/main" noGrp="1"/>
          </p:cNvSpPr>
          <p:nvPr/>
        </p:nvSpPr>
        <p:spPr>
          <a:xfrm xmlns:a="http://schemas.openxmlformats.org/drawingml/2006/main">
            <a:off x="609600" y="640080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i="0">
                <a:solidFill>
                  <a:srgbClr val="6D7B86"/>
                </a:solidFill>
                <a:latin typeface="Aptos"/>
                <a:ea typeface="Aptos"/>
                <a:cs typeface="Aptos"/>
              </a:defRPr>
            </a:pPr>
            <a:r>
              <a:rPr sz="975" b="1" i="0">
                <a:solidFill>
                  <a:srgbClr val="6D7B86"/>
                </a:solidFill>
                <a:latin typeface="Aptos"/>
                <a:ea typeface="Aptos"/>
                <a:cs typeface="Aptos"/>
              </a:rPr>
              <a:t>BUSINESS COURSE · MICROSOFT 365</a:t>
            </a:r>
          </a:p>
        </p:txBody>
      </p:sp>
      <p:sp>
        <p:nvSpPr>
          <p:cNvPr id="3" name="">
            <a:extLst xmlns:a="http://schemas.openxmlformats.org/drawingml/2006/main">
              <a:ext uri="{FF2B5EF4-FFF2-40B4-BE49-F238E27FC236}">
                <a16:creationId xmlns:a16="http://schemas.microsoft.com/office/drawing/2014/main" id="{FEAC5ECE-CD6C-4FAB-9248-5CCC6CA1BF2A}"/>
              </a:ext>
            </a:extLst>
          </p:cNvPr>
          <p:cNvSpPr>
            <a:spLocks xmlns:a="http://schemas.openxmlformats.org/drawingml/2006/main" noGrp="1"/>
          </p:cNvSpPr>
          <p:nvPr/>
        </p:nvSpPr>
        <p:spPr>
          <a:xfrm xmlns:a="http://schemas.openxmlformats.org/drawingml/2006/main">
            <a:off x="11144250" y="6362700"/>
            <a:ext cx="43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1" i="0">
                <a:solidFill>
                  <a:srgbClr val="6D7B86"/>
                </a:solidFill>
                <a:latin typeface="Aptos"/>
                <a:ea typeface="Aptos"/>
                <a:cs typeface="Aptos"/>
              </a:defRPr>
            </a:pPr>
            <a:r>
              <a:rPr sz="1125" b="1" i="0">
                <a:solidFill>
                  <a:srgbClr val="6D7B86"/>
                </a:solidFill>
                <a:latin typeface="Aptos"/>
                <a:ea typeface="Aptos"/>
                <a:cs typeface="Aptos"/>
              </a:rPr>
              <a:t>02</a:t>
            </a:r>
          </a:p>
        </p:txBody>
      </p:sp>
      <p:sp>
        <p:nvSpPr>
          <p:cNvPr id="4" name="">
            <a:extLst xmlns:a="http://schemas.openxmlformats.org/drawingml/2006/main">
              <a:ext uri="{FF2B5EF4-FFF2-40B4-BE49-F238E27FC236}">
                <a16:creationId xmlns:a16="http://schemas.microsoft.com/office/drawing/2014/main" id="{D7482BA0-7D5B-4E29-825F-23207A4343CC}"/>
              </a:ext>
            </a:extLst>
          </p:cNvPr>
          <p:cNvSpPr>
            <a:spLocks xmlns:a="http://schemas.openxmlformats.org/drawingml/2006/main" noGrp="1"/>
          </p:cNvSpPr>
          <p:nvPr/>
        </p:nvSpPr>
        <p:spPr>
          <a:xfrm xmlns:a="http://schemas.openxmlformats.org/drawingml/2006/main">
            <a:off x="609600" y="4953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925" b="1" i="0">
                <a:solidFill>
                  <a:srgbClr val="17324D"/>
                </a:solidFill>
                <a:latin typeface="Aptos"/>
                <a:ea typeface="Aptos"/>
                <a:cs typeface="Aptos"/>
              </a:defRPr>
            </a:pPr>
            <a:r>
              <a:rPr sz="2925" b="1" i="0">
                <a:solidFill>
                  <a:srgbClr val="17324D"/>
                </a:solidFill>
                <a:latin typeface="Aptos"/>
                <a:ea typeface="Aptos"/>
                <a:cs typeface="Aptos"/>
              </a:rPr>
              <a:t>Chapter 1 learning map</a:t>
            </a:r>
          </a:p>
        </p:txBody>
      </p:sp>
      <p:sp>
        <p:nvSpPr>
          <p:cNvPr id="5" name="">
            <a:extLst xmlns:a="http://schemas.openxmlformats.org/drawingml/2006/main">
              <a:ext uri="{FF2B5EF4-FFF2-40B4-BE49-F238E27FC236}">
                <a16:creationId xmlns:a16="http://schemas.microsoft.com/office/drawing/2014/main" id="{B88F5137-4638-4E96-AEFB-EC91FDD5385F}"/>
              </a:ext>
            </a:extLst>
          </p:cNvPr>
          <p:cNvSpPr>
            <a:spLocks xmlns:a="http://schemas.openxmlformats.org/drawingml/2006/main" noGrp="1"/>
          </p:cNvSpPr>
          <p:nvPr/>
        </p:nvSpPr>
        <p:spPr>
          <a:xfrm xmlns:a="http://schemas.openxmlformats.org/drawingml/2006/main">
            <a:off x="628650" y="10668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6D7B86"/>
                </a:solidFill>
                <a:latin typeface="Aptos"/>
                <a:ea typeface="Aptos"/>
                <a:cs typeface="Aptos"/>
              </a:defRPr>
            </a:pPr>
            <a:r>
              <a:rPr sz="1500" b="0" i="0">
                <a:solidFill>
                  <a:srgbClr val="6D7B86"/>
                </a:solidFill>
                <a:latin typeface="Aptos"/>
                <a:ea typeface="Aptos"/>
                <a:cs typeface="Aptos"/>
              </a:rPr>
              <a:t>Your teacher will choose the timing and the assignment. This map shows where the work is going.</a:t>
            </a:r>
          </a:p>
        </p:txBody>
      </p:sp>
      <p:sp>
        <p:nvSpPr>
          <p:cNvPr id="6" name="">
            <a:extLst xmlns:a="http://schemas.openxmlformats.org/drawingml/2006/main">
              <a:ext uri="{FF2B5EF4-FFF2-40B4-BE49-F238E27FC236}">
                <a16:creationId xmlns:a16="http://schemas.microsoft.com/office/drawing/2014/main" id="{93ABEF3A-4214-4D31-B4F1-1D3CDA4414DE}"/>
              </a:ext>
            </a:extLst>
          </p:cNvPr>
          <p:cNvSpPr>
            <a:spLocks xmlns:a="http://schemas.openxmlformats.org/drawingml/2006/main" noGrp="1"/>
          </p:cNvSpPr>
          <p:nvPr/>
        </p:nvSpPr>
        <p:spPr>
          <a:xfrm xmlns:a="http://schemas.openxmlformats.org/drawingml/2006/main">
            <a:off x="685800" y="1809750"/>
            <a:ext cx="3810000" cy="2000250"/>
          </a:xfrm>
          <a:prstGeom xmlns:a="http://schemas.openxmlformats.org/drawingml/2006/main" prst="roundRect">
            <a:avLst>
              <a:gd name="adj" fmla="val 3810"/>
            </a:avLst>
          </a:prstGeom>
          <a:solidFill xmlns:a="http://schemas.openxmlformats.org/drawingml/2006/main">
            <a:srgbClr val="FFFFFF"/>
          </a:solidFill>
          <a:ln xmlns:a="http://schemas.openxmlformats.org/drawingml/2006/main" w="28575">
            <a:solidFill>
              <a:srgbClr val="2A9D8F"/>
            </a:solidFill>
          </a:ln>
        </p:spPr>
        <p:txBody>
          <a:bodyPr xmlns:a="http://schemas.openxmlformats.org/drawingml/2006/main"/>
          <a:lstStyle xmlns:a="http://schemas.openxmlformats.org/drawingml/2006/main"/>
          <a:p xmlns:a="http://schemas.openxmlformats.org/drawingml/2006/main">
            <a:pPr>
              <a:defRPr sz="1875" b="1">
                <a:solidFill>
                  <a:srgbClr val="17324D"/>
                </a:solidFill>
                <a:latin typeface="Aptos"/>
                <a:ea typeface="Aptos"/>
                <a:cs typeface="Aptos"/>
              </a:defRPr>
            </a:pPr>
            <a:r>
              <a:rPr sz="1875" b="1">
                <a:solidFill>
                  <a:srgbClr val="17324D"/>
                </a:solidFill>
                <a:latin typeface="Aptos"/>
                <a:ea typeface="Aptos"/>
                <a:cs typeface="Aptos"/>
              </a:rPr>
              <a:t>Chapter objectives</a:t>
            </a:r>
          </a:p>
          <a:p xmlns:a="http://schemas.openxmlformats.org/drawingml/2006/main">
            <a:pPr>
              <a:defRPr sz="1875" b="1">
                <a:solidFill>
                  <a:srgbClr val="17324D"/>
                </a:solidFill>
                <a:latin typeface="Aptos"/>
                <a:ea typeface="Aptos"/>
                <a:cs typeface="Aptos"/>
              </a:defRPr>
            </a:pPr>
            <a:r>
              <a:rPr sz="1875" b="1">
                <a:solidFill>
                  <a:srgbClr val="17324D"/>
                </a:solidFill>
                <a:latin typeface="Aptos"/>
                <a:ea typeface="Aptos"/>
                <a:cs typeface="Aptos"/>
              </a:rPr>
              <a:t>Differentiate business and marketing</a:t>
            </a:r>
          </a:p>
          <a:p xmlns:a="http://schemas.openxmlformats.org/drawingml/2006/main">
            <a:pPr>
              <a:defRPr sz="1875" b="1">
                <a:solidFill>
                  <a:srgbClr val="17324D"/>
                </a:solidFill>
                <a:latin typeface="Aptos"/>
                <a:ea typeface="Aptos"/>
                <a:cs typeface="Aptos"/>
              </a:defRPr>
            </a:pPr>
            <a:r>
              <a:rPr sz="1875" b="1">
                <a:solidFill>
                  <a:srgbClr val="17324D"/>
                </a:solidFill>
                <a:latin typeface="Aptos"/>
                <a:ea typeface="Aptos"/>
                <a:cs typeface="Aptos"/>
              </a:rPr>
              <a:t>Understand the purpose of marketing</a:t>
            </a:r>
          </a:p>
          <a:p xmlns:a="http://schemas.openxmlformats.org/drawingml/2006/main">
            <a:pPr>
              <a:defRPr sz="1875" b="1">
                <a:solidFill>
                  <a:srgbClr val="17324D"/>
                </a:solidFill>
                <a:latin typeface="Aptos"/>
                <a:ea typeface="Aptos"/>
                <a:cs typeface="Aptos"/>
              </a:defRPr>
            </a:pPr>
            <a:r>
              <a:rPr sz="1875" b="1">
                <a:solidFill>
                  <a:srgbClr val="17324D"/>
                </a:solidFill>
                <a:latin typeface="Aptos"/>
                <a:ea typeface="Aptos"/>
                <a:cs typeface="Aptos"/>
              </a:rPr>
              <a:t>Explain the marketing mix</a:t>
            </a:r>
          </a:p>
        </p:txBody>
      </p:sp>
      <p:sp>
        <p:nvSpPr>
          <p:cNvPr id="7" name="">
            <a:extLst xmlns:a="http://schemas.openxmlformats.org/drawingml/2006/main">
              <a:ext uri="{FF2B5EF4-FFF2-40B4-BE49-F238E27FC236}">
                <a16:creationId xmlns:a16="http://schemas.microsoft.com/office/drawing/2014/main" id="{13634A2F-CDA2-4BB8-B7F0-CC195D745497}"/>
              </a:ext>
            </a:extLst>
          </p:cNvPr>
          <p:cNvSpPr>
            <a:spLocks xmlns:a="http://schemas.openxmlformats.org/drawingml/2006/main" noGrp="1"/>
          </p:cNvSpPr>
          <p:nvPr/>
        </p:nvSpPr>
        <p:spPr>
          <a:xfrm xmlns:a="http://schemas.openxmlformats.org/drawingml/2006/main">
            <a:off x="5334000" y="1809750"/>
            <a:ext cx="533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950" b="1" i="0">
                <a:solidFill>
                  <a:srgbClr val="17324D"/>
                </a:solidFill>
                <a:latin typeface="Aptos"/>
                <a:ea typeface="Aptos"/>
                <a:cs typeface="Aptos"/>
              </a:defRPr>
            </a:pPr>
            <a:r>
              <a:rPr sz="1950" b="1" i="0">
                <a:solidFill>
                  <a:srgbClr val="17324D"/>
                </a:solidFill>
                <a:latin typeface="Aptos"/>
                <a:ea typeface="Aptos"/>
                <a:cs typeface="Aptos"/>
              </a:rPr>
              <a:t>Key terms in chapter order</a:t>
            </a:r>
          </a:p>
        </p:txBody>
      </p:sp>
      <p:sp>
        <p:nvSpPr>
          <p:cNvPr id="8" name="">
            <a:extLst xmlns:a="http://schemas.openxmlformats.org/drawingml/2006/main">
              <a:ext uri="{FF2B5EF4-FFF2-40B4-BE49-F238E27FC236}">
                <a16:creationId xmlns:a16="http://schemas.microsoft.com/office/drawing/2014/main" id="{CBF3CE5F-9EC3-47BB-B579-C684F53FCF18}"/>
              </a:ext>
            </a:extLst>
          </p:cNvPr>
          <p:cNvSpPr>
            <a:spLocks xmlns:a="http://schemas.openxmlformats.org/drawingml/2006/main" noGrp="1"/>
          </p:cNvSpPr>
          <p:nvPr/>
        </p:nvSpPr>
        <p:spPr>
          <a:xfrm xmlns:a="http://schemas.openxmlformats.org/drawingml/2006/main">
            <a:off x="5334000" y="2333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1" i="0">
                <a:solidFill>
                  <a:srgbClr val="2A9D8F"/>
                </a:solidFill>
                <a:latin typeface="Aptos"/>
                <a:ea typeface="Aptos"/>
                <a:cs typeface="Aptos"/>
              </a:defRPr>
            </a:pPr>
            <a:r>
              <a:rPr sz="1500" b="1" i="0">
                <a:solidFill>
                  <a:srgbClr val="2A9D8F"/>
                </a:solidFill>
                <a:latin typeface="Aptos"/>
                <a:ea typeface="Aptos"/>
                <a:cs typeface="Aptos"/>
              </a:rPr>
              <a:t>1. business</a:t>
            </a:r>
          </a:p>
        </p:txBody>
      </p:sp>
      <p:sp>
        <p:nvSpPr>
          <p:cNvPr id="9" name="">
            <a:extLst xmlns:a="http://schemas.openxmlformats.org/drawingml/2006/main">
              <a:ext uri="{FF2B5EF4-FFF2-40B4-BE49-F238E27FC236}">
                <a16:creationId xmlns:a16="http://schemas.microsoft.com/office/drawing/2014/main" id="{E8415115-9413-4101-BFE5-0D2A00C895BE}"/>
              </a:ext>
            </a:extLst>
          </p:cNvPr>
          <p:cNvSpPr>
            <a:spLocks xmlns:a="http://schemas.openxmlformats.org/drawingml/2006/main" noGrp="1"/>
          </p:cNvSpPr>
          <p:nvPr/>
        </p:nvSpPr>
        <p:spPr>
          <a:xfrm xmlns:a="http://schemas.openxmlformats.org/drawingml/2006/main">
            <a:off x="8191500" y="2333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1" i="0">
                <a:solidFill>
                  <a:srgbClr val="2A9D8F"/>
                </a:solidFill>
                <a:latin typeface="Aptos"/>
                <a:ea typeface="Aptos"/>
                <a:cs typeface="Aptos"/>
              </a:defRPr>
            </a:pPr>
            <a:r>
              <a:rPr sz="1500" b="1" i="0">
                <a:solidFill>
                  <a:srgbClr val="2A9D8F"/>
                </a:solidFill>
                <a:latin typeface="Aptos"/>
                <a:ea typeface="Aptos"/>
                <a:cs typeface="Aptos"/>
              </a:rPr>
              <a:t>2. product</a:t>
            </a:r>
          </a:p>
        </p:txBody>
      </p:sp>
      <p:sp>
        <p:nvSpPr>
          <p:cNvPr id="10" name="">
            <a:extLst xmlns:a="http://schemas.openxmlformats.org/drawingml/2006/main">
              <a:ext uri="{FF2B5EF4-FFF2-40B4-BE49-F238E27FC236}">
                <a16:creationId xmlns:a16="http://schemas.microsoft.com/office/drawing/2014/main" id="{46380E47-8180-491F-AA7A-8F8577E0F1B0}"/>
              </a:ext>
            </a:extLst>
          </p:cNvPr>
          <p:cNvSpPr>
            <a:spLocks xmlns:a="http://schemas.openxmlformats.org/drawingml/2006/main" noGrp="1"/>
          </p:cNvSpPr>
          <p:nvPr/>
        </p:nvSpPr>
        <p:spPr>
          <a:xfrm xmlns:a="http://schemas.openxmlformats.org/drawingml/2006/main">
            <a:off x="5334000" y="2714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1" i="0">
                <a:solidFill>
                  <a:srgbClr val="2A9D8F"/>
                </a:solidFill>
                <a:latin typeface="Aptos"/>
                <a:ea typeface="Aptos"/>
                <a:cs typeface="Aptos"/>
              </a:defRPr>
            </a:pPr>
            <a:r>
              <a:rPr sz="1500" b="1" i="0">
                <a:solidFill>
                  <a:srgbClr val="2A9D8F"/>
                </a:solidFill>
                <a:latin typeface="Aptos"/>
                <a:ea typeface="Aptos"/>
                <a:cs typeface="Aptos"/>
              </a:rPr>
              <a:t>3. marketing</a:t>
            </a:r>
          </a:p>
        </p:txBody>
      </p:sp>
      <p:sp>
        <p:nvSpPr>
          <p:cNvPr id="11" name="">
            <a:extLst xmlns:a="http://schemas.openxmlformats.org/drawingml/2006/main">
              <a:ext uri="{FF2B5EF4-FFF2-40B4-BE49-F238E27FC236}">
                <a16:creationId xmlns:a16="http://schemas.microsoft.com/office/drawing/2014/main" id="{817A0836-E2E5-4848-951B-A54864F887E8}"/>
              </a:ext>
            </a:extLst>
          </p:cNvPr>
          <p:cNvSpPr>
            <a:spLocks xmlns:a="http://schemas.openxmlformats.org/drawingml/2006/main" noGrp="1"/>
          </p:cNvSpPr>
          <p:nvPr/>
        </p:nvSpPr>
        <p:spPr>
          <a:xfrm xmlns:a="http://schemas.openxmlformats.org/drawingml/2006/main">
            <a:off x="8191500" y="2714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1" i="0">
                <a:solidFill>
                  <a:srgbClr val="2A9D8F"/>
                </a:solidFill>
                <a:latin typeface="Aptos"/>
                <a:ea typeface="Aptos"/>
                <a:cs typeface="Aptos"/>
              </a:defRPr>
            </a:pPr>
            <a:r>
              <a:rPr sz="1500" b="1" i="0">
                <a:solidFill>
                  <a:srgbClr val="2A9D8F"/>
                </a:solidFill>
                <a:latin typeface="Aptos"/>
                <a:ea typeface="Aptos"/>
                <a:cs typeface="Aptos"/>
              </a:rPr>
              <a:t>4. good</a:t>
            </a:r>
          </a:p>
        </p:txBody>
      </p:sp>
      <p:sp>
        <p:nvSpPr>
          <p:cNvPr id="12" name="">
            <a:extLst xmlns:a="http://schemas.openxmlformats.org/drawingml/2006/main">
              <a:ext uri="{FF2B5EF4-FFF2-40B4-BE49-F238E27FC236}">
                <a16:creationId xmlns:a16="http://schemas.microsoft.com/office/drawing/2014/main" id="{4EA4616A-A197-48BB-818A-AC41A2914A62}"/>
              </a:ext>
            </a:extLst>
          </p:cNvPr>
          <p:cNvSpPr>
            <a:spLocks xmlns:a="http://schemas.openxmlformats.org/drawingml/2006/main" noGrp="1"/>
          </p:cNvSpPr>
          <p:nvPr/>
        </p:nvSpPr>
        <p:spPr>
          <a:xfrm xmlns:a="http://schemas.openxmlformats.org/drawingml/2006/main">
            <a:off x="5334000" y="3095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1" i="0">
                <a:solidFill>
                  <a:srgbClr val="2A9D8F"/>
                </a:solidFill>
                <a:latin typeface="Aptos"/>
                <a:ea typeface="Aptos"/>
                <a:cs typeface="Aptos"/>
              </a:defRPr>
            </a:pPr>
            <a:r>
              <a:rPr sz="1500" b="1" i="0">
                <a:solidFill>
                  <a:srgbClr val="2A9D8F"/>
                </a:solidFill>
                <a:latin typeface="Aptos"/>
                <a:ea typeface="Aptos"/>
                <a:cs typeface="Aptos"/>
              </a:rPr>
              <a:t>5. service</a:t>
            </a:r>
          </a:p>
        </p:txBody>
      </p:sp>
      <p:sp>
        <p:nvSpPr>
          <p:cNvPr id="13" name="">
            <a:extLst xmlns:a="http://schemas.openxmlformats.org/drawingml/2006/main">
              <a:ext uri="{FF2B5EF4-FFF2-40B4-BE49-F238E27FC236}">
                <a16:creationId xmlns:a16="http://schemas.microsoft.com/office/drawing/2014/main" id="{146D7385-96DC-4334-8C63-D094F4F366E6}"/>
              </a:ext>
            </a:extLst>
          </p:cNvPr>
          <p:cNvSpPr>
            <a:spLocks xmlns:a="http://schemas.openxmlformats.org/drawingml/2006/main" noGrp="1"/>
          </p:cNvSpPr>
          <p:nvPr/>
        </p:nvSpPr>
        <p:spPr>
          <a:xfrm xmlns:a="http://schemas.openxmlformats.org/drawingml/2006/main">
            <a:off x="8191500" y="3095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1" i="0">
                <a:solidFill>
                  <a:srgbClr val="2A9D8F"/>
                </a:solidFill>
                <a:latin typeface="Aptos"/>
                <a:ea typeface="Aptos"/>
                <a:cs typeface="Aptos"/>
              </a:defRPr>
            </a:pPr>
            <a:r>
              <a:rPr sz="1500" b="1" i="0">
                <a:solidFill>
                  <a:srgbClr val="2A9D8F"/>
                </a:solidFill>
                <a:latin typeface="Aptos"/>
                <a:ea typeface="Aptos"/>
                <a:cs typeface="Aptos"/>
              </a:rPr>
              <a:t>6. idea</a:t>
            </a:r>
          </a:p>
        </p:txBody>
      </p:sp>
      <p:sp>
        <p:nvSpPr>
          <p:cNvPr id="14" name="">
            <a:extLst xmlns:a="http://schemas.openxmlformats.org/drawingml/2006/main">
              <a:ext uri="{FF2B5EF4-FFF2-40B4-BE49-F238E27FC236}">
                <a16:creationId xmlns:a16="http://schemas.microsoft.com/office/drawing/2014/main" id="{05C2107E-19BE-4615-93CF-A51C92CB8C4B}"/>
              </a:ext>
            </a:extLst>
          </p:cNvPr>
          <p:cNvSpPr>
            <a:spLocks xmlns:a="http://schemas.openxmlformats.org/drawingml/2006/main" noGrp="1"/>
          </p:cNvSpPr>
          <p:nvPr/>
        </p:nvSpPr>
        <p:spPr>
          <a:xfrm xmlns:a="http://schemas.openxmlformats.org/drawingml/2006/main">
            <a:off x="5334000" y="3476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7. economics</a:t>
            </a:r>
          </a:p>
        </p:txBody>
      </p:sp>
      <p:sp>
        <p:nvSpPr>
          <p:cNvPr id="15" name="">
            <a:extLst xmlns:a="http://schemas.openxmlformats.org/drawingml/2006/main">
              <a:ext uri="{FF2B5EF4-FFF2-40B4-BE49-F238E27FC236}">
                <a16:creationId xmlns:a16="http://schemas.microsoft.com/office/drawing/2014/main" id="{6AB02263-2714-42A2-B072-DC5AA1B8599C}"/>
              </a:ext>
            </a:extLst>
          </p:cNvPr>
          <p:cNvSpPr>
            <a:spLocks xmlns:a="http://schemas.openxmlformats.org/drawingml/2006/main" noGrp="1"/>
          </p:cNvSpPr>
          <p:nvPr/>
        </p:nvSpPr>
        <p:spPr>
          <a:xfrm xmlns:a="http://schemas.openxmlformats.org/drawingml/2006/main">
            <a:off x="8191500" y="3476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8. marketing concept</a:t>
            </a:r>
          </a:p>
        </p:txBody>
      </p:sp>
      <p:sp>
        <p:nvSpPr>
          <p:cNvPr id="16" name="">
            <a:extLst xmlns:a="http://schemas.openxmlformats.org/drawingml/2006/main">
              <a:ext uri="{FF2B5EF4-FFF2-40B4-BE49-F238E27FC236}">
                <a16:creationId xmlns:a16="http://schemas.microsoft.com/office/drawing/2014/main" id="{60019DE1-A3ED-426B-9F13-C00CD95E27FA}"/>
              </a:ext>
            </a:extLst>
          </p:cNvPr>
          <p:cNvSpPr>
            <a:spLocks xmlns:a="http://schemas.openxmlformats.org/drawingml/2006/main" noGrp="1"/>
          </p:cNvSpPr>
          <p:nvPr/>
        </p:nvSpPr>
        <p:spPr>
          <a:xfrm xmlns:a="http://schemas.openxmlformats.org/drawingml/2006/main">
            <a:off x="5334000" y="3857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9. market share</a:t>
            </a:r>
          </a:p>
        </p:txBody>
      </p:sp>
      <p:sp>
        <p:nvSpPr>
          <p:cNvPr id="17" name="">
            <a:extLst xmlns:a="http://schemas.openxmlformats.org/drawingml/2006/main">
              <a:ext uri="{FF2B5EF4-FFF2-40B4-BE49-F238E27FC236}">
                <a16:creationId xmlns:a16="http://schemas.microsoft.com/office/drawing/2014/main" id="{F0D01766-1F2C-4E22-8D5B-2753C371A6CD}"/>
              </a:ext>
            </a:extLst>
          </p:cNvPr>
          <p:cNvSpPr>
            <a:spLocks xmlns:a="http://schemas.openxmlformats.org/drawingml/2006/main" noGrp="1"/>
          </p:cNvSpPr>
          <p:nvPr/>
        </p:nvSpPr>
        <p:spPr>
          <a:xfrm xmlns:a="http://schemas.openxmlformats.org/drawingml/2006/main">
            <a:off x="8191500" y="3857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10. marketing mix</a:t>
            </a:r>
          </a:p>
        </p:txBody>
      </p:sp>
      <p:sp>
        <p:nvSpPr>
          <p:cNvPr id="18" name="">
            <a:extLst xmlns:a="http://schemas.openxmlformats.org/drawingml/2006/main">
              <a:ext uri="{FF2B5EF4-FFF2-40B4-BE49-F238E27FC236}">
                <a16:creationId xmlns:a16="http://schemas.microsoft.com/office/drawing/2014/main" id="{7AB7B763-4DFF-424C-955D-99413E4C1A72}"/>
              </a:ext>
            </a:extLst>
          </p:cNvPr>
          <p:cNvSpPr>
            <a:spLocks xmlns:a="http://schemas.openxmlformats.org/drawingml/2006/main" noGrp="1"/>
          </p:cNvSpPr>
          <p:nvPr/>
        </p:nvSpPr>
        <p:spPr>
          <a:xfrm xmlns:a="http://schemas.openxmlformats.org/drawingml/2006/main">
            <a:off x="5334000" y="4238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11. marketing function</a:t>
            </a:r>
          </a:p>
        </p:txBody>
      </p:sp>
      <p:sp>
        <p:nvSpPr>
          <p:cNvPr id="19" name="">
            <a:extLst xmlns:a="http://schemas.openxmlformats.org/drawingml/2006/main">
              <a:ext uri="{FF2B5EF4-FFF2-40B4-BE49-F238E27FC236}">
                <a16:creationId xmlns:a16="http://schemas.microsoft.com/office/drawing/2014/main" id="{1151EDF1-BB34-4033-AC18-FFD0DB37C51F}"/>
              </a:ext>
            </a:extLst>
          </p:cNvPr>
          <p:cNvSpPr>
            <a:spLocks xmlns:a="http://schemas.openxmlformats.org/drawingml/2006/main" noGrp="1"/>
          </p:cNvSpPr>
          <p:nvPr/>
        </p:nvSpPr>
        <p:spPr>
          <a:xfrm xmlns:a="http://schemas.openxmlformats.org/drawingml/2006/main">
            <a:off x="8191500" y="4238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12. market research</a:t>
            </a:r>
          </a:p>
        </p:txBody>
      </p:sp>
      <p:sp>
        <p:nvSpPr>
          <p:cNvPr id="20" name="">
            <a:extLst xmlns:a="http://schemas.openxmlformats.org/drawingml/2006/main">
              <a:ext uri="{FF2B5EF4-FFF2-40B4-BE49-F238E27FC236}">
                <a16:creationId xmlns:a16="http://schemas.microsoft.com/office/drawing/2014/main" id="{1CEF3FED-F45C-475B-83F7-E566B8EB5906}"/>
              </a:ext>
            </a:extLst>
          </p:cNvPr>
          <p:cNvSpPr>
            <a:spLocks xmlns:a="http://schemas.openxmlformats.org/drawingml/2006/main" noGrp="1"/>
          </p:cNvSpPr>
          <p:nvPr/>
        </p:nvSpPr>
        <p:spPr>
          <a:xfrm xmlns:a="http://schemas.openxmlformats.org/drawingml/2006/main">
            <a:off x="5334000" y="46196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13. target market</a:t>
            </a:r>
          </a:p>
        </p:txBody>
      </p:sp>
      <p:sp>
        <p:nvSpPr>
          <p:cNvPr id="21" name="">
            <a:extLst xmlns:a="http://schemas.openxmlformats.org/drawingml/2006/main">
              <a:ext uri="{FF2B5EF4-FFF2-40B4-BE49-F238E27FC236}">
                <a16:creationId xmlns:a16="http://schemas.microsoft.com/office/drawing/2014/main" id="{B26FDC3F-6805-4E91-8FD3-34BFD9284ED6}"/>
              </a:ext>
            </a:extLst>
          </p:cNvPr>
          <p:cNvSpPr>
            <a:spLocks xmlns:a="http://schemas.openxmlformats.org/drawingml/2006/main" noGrp="1"/>
          </p:cNvSpPr>
          <p:nvPr/>
        </p:nvSpPr>
        <p:spPr>
          <a:xfrm xmlns:a="http://schemas.openxmlformats.org/drawingml/2006/main">
            <a:off x="1809750" y="5334000"/>
            <a:ext cx="8572500" cy="552450"/>
          </a:xfrm>
          <a:prstGeom xmlns:a="http://schemas.openxmlformats.org/drawingml/2006/main" prst="roundRect">
            <a:avLst>
              <a:gd name="adj" fmla="val 13793"/>
            </a:avLst>
          </a:prstGeom>
          <a:solidFill xmlns:a="http://schemas.openxmlformats.org/drawingml/2006/main">
            <a:srgbClr val="E6F3EF"/>
          </a:solidFill>
          <a:ln xmlns:a="http://schemas.openxmlformats.org/drawingml/2006/main" w="14288">
            <a:solidFill>
              <a:srgbClr val="E6F3EF"/>
            </a:solidFill>
          </a:ln>
        </p:spPr>
        <p:txBody>
          <a:bodyPr xmlns:a="http://schemas.openxmlformats.org/drawingml/2006/main"/>
          <a:lstStyle xmlns:a="http://schemas.openxmlformats.org/drawingml/2006/main"/>
          <a:p xmlns:a="http://schemas.openxmlformats.org/drawingml/2006/main">
            <a:pPr>
              <a:defRPr sz="1800" b="1">
                <a:solidFill>
                  <a:srgbClr val="17324D"/>
                </a:solidFill>
                <a:latin typeface="Aptos"/>
                <a:ea typeface="Aptos"/>
                <a:cs typeface="Aptos"/>
              </a:defRPr>
            </a:pPr>
            <a:r>
              <a:rPr sz="1800" b="1">
                <a:solidFill>
                  <a:srgbClr val="17324D"/>
                </a:solidFill>
                <a:latin typeface="Aptos"/>
                <a:ea typeface="Aptos"/>
                <a:cs typeface="Aptos"/>
              </a:rPr>
              <a:t>Start with one question. Then use the chapter ideas to explain your answer.</a:t>
            </a:r>
          </a:p>
        </p:txBody>
      </p:sp>
    </p:spTree>
    <p:extLst>
      <p:ext uri="{BB962C8B-B14F-4D97-AF65-F5344CB8AC3E}">
        <p14:creationId xmlns:p14="http://schemas.microsoft.com/office/powerpoint/2010/main" val="1454187494"/>
      </p:ext>
    </p:extLst>
  </p:cSld>
</p:sld>
</file>

<file path=ppt/slides/slide3.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ECD3D9B-02DA-4334-AB75-AC6A39B9AE72}"/>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2A9D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B09810-89E2-4A80-B263-0C783FE42CC5}"/>
              </a:ext>
            </a:extLst>
          </p:cNvPr>
          <p:cNvSpPr>
            <a:spLocks xmlns:a="http://schemas.openxmlformats.org/drawingml/2006/main" noGrp="1"/>
          </p:cNvSpPr>
          <p:nvPr/>
        </p:nvSpPr>
        <p:spPr>
          <a:xfrm xmlns:a="http://schemas.openxmlformats.org/drawingml/2006/main">
            <a:off x="609600" y="640080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i="0">
                <a:solidFill>
                  <a:srgbClr val="6D7B86"/>
                </a:solidFill>
                <a:latin typeface="Aptos"/>
                <a:ea typeface="Aptos"/>
                <a:cs typeface="Aptos"/>
              </a:defRPr>
            </a:pPr>
            <a:r>
              <a:rPr sz="975" b="1" i="0">
                <a:solidFill>
                  <a:srgbClr val="6D7B86"/>
                </a:solidFill>
                <a:latin typeface="Aptos"/>
                <a:ea typeface="Aptos"/>
                <a:cs typeface="Aptos"/>
              </a:rPr>
              <a:t>BUSINESS COURSE · MICROSOFT 365</a:t>
            </a:r>
          </a:p>
        </p:txBody>
      </p:sp>
      <p:sp>
        <p:nvSpPr>
          <p:cNvPr id="3" name="">
            <a:extLst xmlns:a="http://schemas.openxmlformats.org/drawingml/2006/main">
              <a:ext uri="{FF2B5EF4-FFF2-40B4-BE49-F238E27FC236}">
                <a16:creationId xmlns:a16="http://schemas.microsoft.com/office/drawing/2014/main" id="{7E289A2C-9412-4F57-BBF6-D152210C0AC8}"/>
              </a:ext>
            </a:extLst>
          </p:cNvPr>
          <p:cNvSpPr>
            <a:spLocks xmlns:a="http://schemas.openxmlformats.org/drawingml/2006/main" noGrp="1"/>
          </p:cNvSpPr>
          <p:nvPr/>
        </p:nvSpPr>
        <p:spPr>
          <a:xfrm xmlns:a="http://schemas.openxmlformats.org/drawingml/2006/main">
            <a:off x="11144250" y="6362700"/>
            <a:ext cx="43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1" i="0">
                <a:solidFill>
                  <a:srgbClr val="6D7B86"/>
                </a:solidFill>
                <a:latin typeface="Aptos"/>
                <a:ea typeface="Aptos"/>
                <a:cs typeface="Aptos"/>
              </a:defRPr>
            </a:pPr>
            <a:r>
              <a:rPr sz="1125" b="1" i="0">
                <a:solidFill>
                  <a:srgbClr val="6D7B86"/>
                </a:solidFill>
                <a:latin typeface="Aptos"/>
                <a:ea typeface="Aptos"/>
                <a:cs typeface="Aptos"/>
              </a:rPr>
              <a:t>03</a:t>
            </a:r>
          </a:p>
        </p:txBody>
      </p:sp>
      <p:sp>
        <p:nvSpPr>
          <p:cNvPr id="4" name="">
            <a:extLst xmlns:a="http://schemas.openxmlformats.org/drawingml/2006/main">
              <a:ext uri="{FF2B5EF4-FFF2-40B4-BE49-F238E27FC236}">
                <a16:creationId xmlns:a16="http://schemas.microsoft.com/office/drawing/2014/main" id="{06B63C17-DDD8-409E-852F-9809F3F44CE7}"/>
              </a:ext>
            </a:extLst>
          </p:cNvPr>
          <p:cNvSpPr>
            <a:spLocks xmlns:a="http://schemas.openxmlformats.org/drawingml/2006/main" noGrp="1"/>
          </p:cNvSpPr>
          <p:nvPr/>
        </p:nvSpPr>
        <p:spPr>
          <a:xfrm xmlns:a="http://schemas.openxmlformats.org/drawingml/2006/main">
            <a:off x="609600" y="4953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925" b="1" i="0">
                <a:solidFill>
                  <a:srgbClr val="17324D"/>
                </a:solidFill>
                <a:latin typeface="Aptos"/>
                <a:ea typeface="Aptos"/>
                <a:cs typeface="Aptos"/>
              </a:defRPr>
            </a:pPr>
            <a:r>
              <a:rPr sz="2925" b="1" i="0">
                <a:solidFill>
                  <a:srgbClr val="17324D"/>
                </a:solidFill>
                <a:latin typeface="Aptos"/>
                <a:ea typeface="Aptos"/>
                <a:cs typeface="Aptos"/>
              </a:rPr>
              <a:t>Brain teaser: your last purchase</a:t>
            </a:r>
          </a:p>
        </p:txBody>
      </p:sp>
      <p:sp>
        <p:nvSpPr>
          <p:cNvPr id="5" name="">
            <a:extLst xmlns:a="http://schemas.openxmlformats.org/drawingml/2006/main">
              <a:ext uri="{FF2B5EF4-FFF2-40B4-BE49-F238E27FC236}">
                <a16:creationId xmlns:a16="http://schemas.microsoft.com/office/drawing/2014/main" id="{F1017E35-3746-4933-9D60-CD825599CC5B}"/>
              </a:ext>
            </a:extLst>
          </p:cNvPr>
          <p:cNvSpPr>
            <a:spLocks xmlns:a="http://schemas.openxmlformats.org/drawingml/2006/main" noGrp="1"/>
          </p:cNvSpPr>
          <p:nvPr/>
        </p:nvSpPr>
        <p:spPr>
          <a:xfrm xmlns:a="http://schemas.openxmlformats.org/drawingml/2006/main">
            <a:off x="628650" y="10668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6D7B86"/>
                </a:solidFill>
                <a:latin typeface="Aptos"/>
                <a:ea typeface="Aptos"/>
                <a:cs typeface="Aptos"/>
              </a:defRPr>
            </a:pPr>
            <a:r>
              <a:rPr sz="1500" b="0" i="0">
                <a:solidFill>
                  <a:srgbClr val="6D7B86"/>
                </a:solidFill>
                <a:latin typeface="Aptos"/>
                <a:ea typeface="Aptos"/>
                <a:cs typeface="Aptos"/>
              </a:rPr>
              <a:t>A short opening question can start the class while attendance happens.</a:t>
            </a:r>
          </a:p>
        </p:txBody>
      </p:sp>
      <p:sp>
        <p:nvSpPr>
          <p:cNvPr id="6" name="">
            <a:extLst xmlns:a="http://schemas.openxmlformats.org/drawingml/2006/main">
              <a:ext uri="{FF2B5EF4-FFF2-40B4-BE49-F238E27FC236}">
                <a16:creationId xmlns:a16="http://schemas.microsoft.com/office/drawing/2014/main" id="{4E94AC5C-9CCE-42BD-83B9-3D6113211C8E}"/>
              </a:ext>
            </a:extLst>
          </p:cNvPr>
          <p:cNvSpPr>
            <a:spLocks xmlns:a="http://schemas.openxmlformats.org/drawingml/2006/main" noGrp="1"/>
          </p:cNvSpPr>
          <p:nvPr/>
        </p:nvSpPr>
        <p:spPr>
          <a:xfrm xmlns:a="http://schemas.openxmlformats.org/drawingml/2006/main">
            <a:off x="781050" y="1809750"/>
            <a:ext cx="7334250" cy="238125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28575">
            <a:solidFill>
              <a:srgbClr val="E76F51"/>
            </a:solidFill>
          </a:ln>
        </p:spPr>
        <p:txBody>
          <a:bodyPr xmlns:a="http://schemas.openxmlformats.org/drawingml/2006/main"/>
          <a:lstStyle xmlns:a="http://schemas.openxmlformats.org/drawingml/2006/main"/>
          <a:p xmlns:a="http://schemas.openxmlformats.org/drawingml/2006/main">
            <a:pPr>
              <a:defRPr sz="2400" b="1">
                <a:solidFill>
                  <a:srgbClr val="17324D"/>
                </a:solidFill>
                <a:latin typeface="Aptos"/>
                <a:ea typeface="Aptos"/>
                <a:cs typeface="Aptos"/>
              </a:defRPr>
            </a:pPr>
            <a:r>
              <a:rPr sz="2400" b="1">
                <a:solidFill>
                  <a:srgbClr val="17324D"/>
                </a:solidFill>
                <a:latin typeface="Aptos"/>
                <a:ea typeface="Aptos"/>
                <a:cs typeface="Aptos"/>
              </a:rPr>
              <a:t>What was the last product you purchased?</a:t>
            </a:r>
          </a:p>
          <a:p xmlns:a="http://schemas.openxmlformats.org/drawingml/2006/main">
            <a:r>
              <a:t/>
            </a:r>
          </a:p>
          <a:p xmlns:a="http://schemas.openxmlformats.org/drawingml/2006/main">
            <a:pPr>
              <a:defRPr sz="2400" b="1">
                <a:solidFill>
                  <a:srgbClr val="17324D"/>
                </a:solidFill>
                <a:latin typeface="Aptos"/>
                <a:ea typeface="Aptos"/>
                <a:cs typeface="Aptos"/>
              </a:defRPr>
            </a:pPr>
            <a:r>
              <a:rPr sz="2400" b="1">
                <a:solidFill>
                  <a:srgbClr val="17324D"/>
                </a:solidFill>
                <a:latin typeface="Aptos"/>
                <a:ea typeface="Aptos"/>
                <a:cs typeface="Aptos"/>
              </a:rPr>
              <a:t>How did marketing impact your purchasing decision?</a:t>
            </a:r>
          </a:p>
        </p:txBody>
      </p:sp>
      <p:sp>
        <p:nvSpPr>
          <p:cNvPr id="7" name="">
            <a:extLst xmlns:a="http://schemas.openxmlformats.org/drawingml/2006/main">
              <a:ext uri="{FF2B5EF4-FFF2-40B4-BE49-F238E27FC236}">
                <a16:creationId xmlns:a16="http://schemas.microsoft.com/office/drawing/2014/main" id="{D6057456-9124-4271-B16F-C6D48ED5EB80}"/>
              </a:ext>
            </a:extLst>
          </p:cNvPr>
          <p:cNvSpPr>
            <a:spLocks xmlns:a="http://schemas.openxmlformats.org/drawingml/2006/main" noGrp="1"/>
          </p:cNvSpPr>
          <p:nvPr/>
        </p:nvSpPr>
        <p:spPr>
          <a:xfrm xmlns:a="http://schemas.openxmlformats.org/drawingml/2006/main">
            <a:off x="8858250" y="1847850"/>
            <a:ext cx="247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00" b="1" i="0">
                <a:solidFill>
                  <a:srgbClr val="17324D"/>
                </a:solidFill>
                <a:latin typeface="Aptos"/>
                <a:ea typeface="Aptos"/>
                <a:cs typeface="Aptos"/>
              </a:defRPr>
            </a:pPr>
            <a:r>
              <a:rPr sz="1800" b="1" i="0">
                <a:solidFill>
                  <a:srgbClr val="17324D"/>
                </a:solidFill>
                <a:latin typeface="Aptos"/>
                <a:ea typeface="Aptos"/>
                <a:cs typeface="Aptos"/>
              </a:rPr>
              <a:t>Choose a starting point</a:t>
            </a:r>
          </a:p>
        </p:txBody>
      </p:sp>
      <p:sp>
        <p:nvSpPr>
          <p:cNvPr id="8" name="">
            <a:extLst xmlns:a="http://schemas.openxmlformats.org/drawingml/2006/main">
              <a:ext uri="{FF2B5EF4-FFF2-40B4-BE49-F238E27FC236}">
                <a16:creationId xmlns:a16="http://schemas.microsoft.com/office/drawing/2014/main" id="{148C26DB-0555-4F8A-B16B-DCDC6B3B7C1C}"/>
              </a:ext>
            </a:extLst>
          </p:cNvPr>
          <p:cNvSpPr>
            <a:spLocks xmlns:a="http://schemas.openxmlformats.org/drawingml/2006/main" noGrp="1"/>
          </p:cNvSpPr>
          <p:nvPr/>
        </p:nvSpPr>
        <p:spPr>
          <a:xfrm xmlns:a="http://schemas.openxmlformats.org/drawingml/2006/main">
            <a:off x="8858250" y="2381250"/>
            <a:ext cx="2476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0" i="0">
                <a:solidFill>
                  <a:srgbClr val="243746"/>
                </a:solidFill>
                <a:latin typeface="Aptos"/>
                <a:ea typeface="Aptos"/>
                <a:cs typeface="Aptos"/>
              </a:defRPr>
            </a:pPr>
            <a:r>
              <a:rPr sz="1650" b="0" i="0">
                <a:solidFill>
                  <a:srgbClr val="243746"/>
                </a:solidFill>
                <a:latin typeface="Aptos"/>
                <a:ea typeface="Aptos"/>
                <a:cs typeface="Aptos"/>
              </a:rPr>
              <a:t>Write keywords</a:t>
            </a:r>
          </a:p>
          <a:p xmlns:a="http://schemas.openxmlformats.org/drawingml/2006/main">
            <a:pPr>
              <a:defRPr sz="1650" b="0" i="0">
                <a:solidFill>
                  <a:srgbClr val="243746"/>
                </a:solidFill>
                <a:latin typeface="Aptos"/>
                <a:ea typeface="Aptos"/>
                <a:cs typeface="Aptos"/>
              </a:defRPr>
            </a:pPr>
            <a:r>
              <a:rPr sz="1650" b="0" i="0">
                <a:solidFill>
                  <a:srgbClr val="243746"/>
                </a:solidFill>
                <a:latin typeface="Aptos"/>
                <a:ea typeface="Aptos"/>
                <a:cs typeface="Aptos"/>
              </a:rPr>
              <a:t>Sketch a quick example</a:t>
            </a:r>
          </a:p>
          <a:p xmlns:a="http://schemas.openxmlformats.org/drawingml/2006/main">
            <a:pPr>
              <a:defRPr sz="1650" b="0" i="0">
                <a:solidFill>
                  <a:srgbClr val="243746"/>
                </a:solidFill>
                <a:latin typeface="Aptos"/>
                <a:ea typeface="Aptos"/>
                <a:cs typeface="Aptos"/>
              </a:defRPr>
            </a:pPr>
            <a:r>
              <a:rPr sz="1650" b="0" i="0">
                <a:solidFill>
                  <a:srgbClr val="243746"/>
                </a:solidFill>
                <a:latin typeface="Aptos"/>
                <a:ea typeface="Aptos"/>
                <a:cs typeface="Aptos"/>
              </a:rPr>
              <a:t>Rehearse with a partner</a:t>
            </a:r>
          </a:p>
          <a:p xmlns:a="http://schemas.openxmlformats.org/drawingml/2006/main">
            <a:pPr>
              <a:defRPr sz="1650" b="0" i="0">
                <a:solidFill>
                  <a:srgbClr val="243746"/>
                </a:solidFill>
                <a:latin typeface="Aptos"/>
                <a:ea typeface="Aptos"/>
                <a:cs typeface="Aptos"/>
              </a:defRPr>
            </a:pPr>
            <a:r>
              <a:rPr sz="1650" b="0" i="0">
                <a:solidFill>
                  <a:srgbClr val="243746"/>
                </a:solidFill>
                <a:latin typeface="Aptos"/>
                <a:ea typeface="Aptos"/>
                <a:cs typeface="Aptos"/>
              </a:rPr>
              <a:t>Share one idea</a:t>
            </a:r>
          </a:p>
        </p:txBody>
      </p:sp>
      <p:sp>
        <p:nvSpPr>
          <p:cNvPr id="9" name="">
            <a:extLst xmlns:a="http://schemas.openxmlformats.org/drawingml/2006/main">
              <a:ext uri="{FF2B5EF4-FFF2-40B4-BE49-F238E27FC236}">
                <a16:creationId xmlns:a16="http://schemas.microsoft.com/office/drawing/2014/main" id="{CB3DC3A2-0D94-4B25-9E1F-E0A5DE1D6316}"/>
              </a:ext>
            </a:extLst>
          </p:cNvPr>
          <p:cNvSpPr>
            <a:spLocks xmlns:a="http://schemas.openxmlformats.org/drawingml/2006/main" noGrp="1"/>
          </p:cNvSpPr>
          <p:nvPr/>
        </p:nvSpPr>
        <p:spPr>
          <a:xfrm xmlns:a="http://schemas.openxmlformats.org/drawingml/2006/main">
            <a:off x="781050" y="4857750"/>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1" i="0">
                <a:solidFill>
                  <a:srgbClr val="E76F51"/>
                </a:solidFill>
                <a:latin typeface="Aptos"/>
                <a:ea typeface="Aptos"/>
                <a:cs typeface="Aptos"/>
              </a:defRPr>
            </a:pPr>
            <a:r>
              <a:rPr sz="1725" b="1" i="0">
                <a:solidFill>
                  <a:srgbClr val="E76F51"/>
                </a:solidFill>
                <a:latin typeface="Aptos"/>
                <a:ea typeface="Aptos"/>
                <a:cs typeface="Aptos"/>
              </a:rPr>
              <a:t>2 min</a:t>
            </a:r>
          </a:p>
        </p:txBody>
      </p:sp>
      <p:sp>
        <p:nvSpPr>
          <p:cNvPr id="10" name="">
            <a:extLst xmlns:a="http://schemas.openxmlformats.org/drawingml/2006/main">
              <a:ext uri="{FF2B5EF4-FFF2-40B4-BE49-F238E27FC236}">
                <a16:creationId xmlns:a16="http://schemas.microsoft.com/office/drawing/2014/main" id="{54E4FD42-BC21-4AF5-B077-E8F3ADAD25FB}"/>
              </a:ext>
            </a:extLst>
          </p:cNvPr>
          <p:cNvSpPr>
            <a:spLocks xmlns:a="http://schemas.openxmlformats.org/drawingml/2006/main" noGrp="1"/>
          </p:cNvSpPr>
          <p:nvPr/>
        </p:nvSpPr>
        <p:spPr>
          <a:xfrm xmlns:a="http://schemas.openxmlformats.org/drawingml/2006/main">
            <a:off x="1752600" y="48577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think or write</a:t>
            </a:r>
          </a:p>
        </p:txBody>
      </p:sp>
      <p:sp>
        <p:nvSpPr>
          <p:cNvPr id="11" name="">
            <a:extLst xmlns:a="http://schemas.openxmlformats.org/drawingml/2006/main">
              <a:ext uri="{FF2B5EF4-FFF2-40B4-BE49-F238E27FC236}">
                <a16:creationId xmlns:a16="http://schemas.microsoft.com/office/drawing/2014/main" id="{219422AA-F526-4685-A599-6111AA34EE56}"/>
              </a:ext>
            </a:extLst>
          </p:cNvPr>
          <p:cNvSpPr>
            <a:spLocks xmlns:a="http://schemas.openxmlformats.org/drawingml/2006/main" noGrp="1"/>
          </p:cNvSpPr>
          <p:nvPr/>
        </p:nvSpPr>
        <p:spPr>
          <a:xfrm xmlns:a="http://schemas.openxmlformats.org/drawingml/2006/main">
            <a:off x="4095750" y="4857750"/>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1" i="0">
                <a:solidFill>
                  <a:srgbClr val="E76F51"/>
                </a:solidFill>
                <a:latin typeface="Aptos"/>
                <a:ea typeface="Aptos"/>
                <a:cs typeface="Aptos"/>
              </a:defRPr>
            </a:pPr>
            <a:r>
              <a:rPr sz="1725" b="1" i="0">
                <a:solidFill>
                  <a:srgbClr val="E76F51"/>
                </a:solidFill>
                <a:latin typeface="Aptos"/>
                <a:ea typeface="Aptos"/>
                <a:cs typeface="Aptos"/>
              </a:rPr>
              <a:t>3 min</a:t>
            </a:r>
          </a:p>
        </p:txBody>
      </p:sp>
      <p:sp>
        <p:nvSpPr>
          <p:cNvPr id="12" name="">
            <a:extLst xmlns:a="http://schemas.openxmlformats.org/drawingml/2006/main">
              <a:ext uri="{FF2B5EF4-FFF2-40B4-BE49-F238E27FC236}">
                <a16:creationId xmlns:a16="http://schemas.microsoft.com/office/drawing/2014/main" id="{1F9777CB-3E38-4455-BACB-B8011F83E8E4}"/>
              </a:ext>
            </a:extLst>
          </p:cNvPr>
          <p:cNvSpPr>
            <a:spLocks xmlns:a="http://schemas.openxmlformats.org/drawingml/2006/main" noGrp="1"/>
          </p:cNvSpPr>
          <p:nvPr/>
        </p:nvSpPr>
        <p:spPr>
          <a:xfrm xmlns:a="http://schemas.openxmlformats.org/drawingml/2006/main">
            <a:off x="5048250" y="48577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partner talk</a:t>
            </a:r>
          </a:p>
        </p:txBody>
      </p:sp>
      <p:sp>
        <p:nvSpPr>
          <p:cNvPr id="13" name="">
            <a:extLst xmlns:a="http://schemas.openxmlformats.org/drawingml/2006/main">
              <a:ext uri="{FF2B5EF4-FFF2-40B4-BE49-F238E27FC236}">
                <a16:creationId xmlns:a16="http://schemas.microsoft.com/office/drawing/2014/main" id="{4F4A04B6-A545-4FBD-AD28-8F291519C402}"/>
              </a:ext>
            </a:extLst>
          </p:cNvPr>
          <p:cNvSpPr>
            <a:spLocks xmlns:a="http://schemas.openxmlformats.org/drawingml/2006/main" noGrp="1"/>
          </p:cNvSpPr>
          <p:nvPr/>
        </p:nvSpPr>
        <p:spPr>
          <a:xfrm xmlns:a="http://schemas.openxmlformats.org/drawingml/2006/main">
            <a:off x="7372350" y="4857750"/>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1" i="0">
                <a:solidFill>
                  <a:srgbClr val="E76F51"/>
                </a:solidFill>
                <a:latin typeface="Aptos"/>
                <a:ea typeface="Aptos"/>
                <a:cs typeface="Aptos"/>
              </a:defRPr>
            </a:pPr>
            <a:r>
              <a:rPr sz="1725" b="1" i="0">
                <a:solidFill>
                  <a:srgbClr val="E76F51"/>
                </a:solidFill>
                <a:latin typeface="Aptos"/>
                <a:ea typeface="Aptos"/>
                <a:cs typeface="Aptos"/>
              </a:rPr>
              <a:t>1 idea</a:t>
            </a:r>
          </a:p>
        </p:txBody>
      </p:sp>
      <p:sp>
        <p:nvSpPr>
          <p:cNvPr id="14" name="">
            <a:extLst xmlns:a="http://schemas.openxmlformats.org/drawingml/2006/main">
              <a:ext uri="{FF2B5EF4-FFF2-40B4-BE49-F238E27FC236}">
                <a16:creationId xmlns:a16="http://schemas.microsoft.com/office/drawing/2014/main" id="{924A481C-332D-4D50-B687-FD456D29BDE8}"/>
              </a:ext>
            </a:extLst>
          </p:cNvPr>
          <p:cNvSpPr>
            <a:spLocks xmlns:a="http://schemas.openxmlformats.org/drawingml/2006/main" noGrp="1"/>
          </p:cNvSpPr>
          <p:nvPr/>
        </p:nvSpPr>
        <p:spPr>
          <a:xfrm xmlns:a="http://schemas.openxmlformats.org/drawingml/2006/main">
            <a:off x="8362950" y="48577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class share</a:t>
            </a:r>
          </a:p>
        </p:txBody>
      </p:sp>
      <p:sp>
        <p:nvSpPr>
          <p:cNvPr id="15" name="">
            <a:extLst xmlns:a="http://schemas.openxmlformats.org/drawingml/2006/main">
              <a:ext uri="{FF2B5EF4-FFF2-40B4-BE49-F238E27FC236}">
                <a16:creationId xmlns:a16="http://schemas.microsoft.com/office/drawing/2014/main" id="{F3A36C58-A2AA-4E30-8CF2-AF3E7E0D557A}"/>
              </a:ext>
            </a:extLst>
          </p:cNvPr>
          <p:cNvSpPr>
            <a:spLocks xmlns:a="http://schemas.openxmlformats.org/drawingml/2006/main" noGrp="1"/>
          </p:cNvSpPr>
          <p:nvPr/>
        </p:nvSpPr>
        <p:spPr>
          <a:xfrm xmlns:a="http://schemas.openxmlformats.org/drawingml/2006/main">
            <a:off x="781050" y="5695950"/>
            <a:ext cx="904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0" i="1">
                <a:solidFill>
                  <a:srgbClr val="17324D"/>
                </a:solidFill>
                <a:latin typeface="Aptos"/>
                <a:ea typeface="Aptos"/>
                <a:cs typeface="Aptos"/>
              </a:defRPr>
            </a:pPr>
            <a:r>
              <a:rPr sz="1650" b="0" i="1">
                <a:solidFill>
                  <a:srgbClr val="17324D"/>
                </a:solidFill>
                <a:latin typeface="Aptos"/>
                <a:ea typeface="Aptos"/>
                <a:cs typeface="Aptos"/>
              </a:rPr>
              <a:t>Use an everyday example. No personal story needs to be shared.</a:t>
            </a:r>
          </a:p>
        </p:txBody>
      </p:sp>
    </p:spTree>
    <p:extLst>
      <p:ext uri="{BB962C8B-B14F-4D97-AF65-F5344CB8AC3E}">
        <p14:creationId xmlns:p14="http://schemas.microsoft.com/office/powerpoint/2010/main" val="1706272995"/>
      </p:ext>
    </p:extLst>
  </p:cSld>
</p:sld>
</file>

<file path=ppt/slides/slide4.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D683A94-595B-4CC5-8276-813F3338325F}"/>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2A9D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BBA8F9-3B38-44E1-ACDB-01F77E914B10}"/>
              </a:ext>
            </a:extLst>
          </p:cNvPr>
          <p:cNvSpPr>
            <a:spLocks xmlns:a="http://schemas.openxmlformats.org/drawingml/2006/main" noGrp="1"/>
          </p:cNvSpPr>
          <p:nvPr/>
        </p:nvSpPr>
        <p:spPr>
          <a:xfrm xmlns:a="http://schemas.openxmlformats.org/drawingml/2006/main">
            <a:off x="609600" y="640080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i="0">
                <a:solidFill>
                  <a:srgbClr val="6D7B86"/>
                </a:solidFill>
                <a:latin typeface="Aptos"/>
                <a:ea typeface="Aptos"/>
                <a:cs typeface="Aptos"/>
              </a:defRPr>
            </a:pPr>
            <a:r>
              <a:rPr sz="975" b="1" i="0">
                <a:solidFill>
                  <a:srgbClr val="6D7B86"/>
                </a:solidFill>
                <a:latin typeface="Aptos"/>
                <a:ea typeface="Aptos"/>
                <a:cs typeface="Aptos"/>
              </a:rPr>
              <a:t>BUSINESS COURSE · MICROSOFT 365</a:t>
            </a:r>
          </a:p>
        </p:txBody>
      </p:sp>
      <p:sp>
        <p:nvSpPr>
          <p:cNvPr id="3" name="">
            <a:extLst xmlns:a="http://schemas.openxmlformats.org/drawingml/2006/main">
              <a:ext uri="{FF2B5EF4-FFF2-40B4-BE49-F238E27FC236}">
                <a16:creationId xmlns:a16="http://schemas.microsoft.com/office/drawing/2014/main" id="{E0E822C1-4ECF-421C-92C7-35A7AC8135B8}"/>
              </a:ext>
            </a:extLst>
          </p:cNvPr>
          <p:cNvSpPr>
            <a:spLocks xmlns:a="http://schemas.openxmlformats.org/drawingml/2006/main" noGrp="1"/>
          </p:cNvSpPr>
          <p:nvPr/>
        </p:nvSpPr>
        <p:spPr>
          <a:xfrm xmlns:a="http://schemas.openxmlformats.org/drawingml/2006/main">
            <a:off x="11144250" y="6362700"/>
            <a:ext cx="43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1" i="0">
                <a:solidFill>
                  <a:srgbClr val="6D7B86"/>
                </a:solidFill>
                <a:latin typeface="Aptos"/>
                <a:ea typeface="Aptos"/>
                <a:cs typeface="Aptos"/>
              </a:defRPr>
            </a:pPr>
            <a:r>
              <a:rPr sz="1125" b="1" i="0">
                <a:solidFill>
                  <a:srgbClr val="6D7B86"/>
                </a:solidFill>
                <a:latin typeface="Aptos"/>
                <a:ea typeface="Aptos"/>
                <a:cs typeface="Aptos"/>
              </a:rPr>
              <a:t>04</a:t>
            </a:r>
          </a:p>
        </p:txBody>
      </p:sp>
      <p:sp>
        <p:nvSpPr>
          <p:cNvPr id="4" name="">
            <a:extLst xmlns:a="http://schemas.openxmlformats.org/drawingml/2006/main">
              <a:ext uri="{FF2B5EF4-FFF2-40B4-BE49-F238E27FC236}">
                <a16:creationId xmlns:a16="http://schemas.microsoft.com/office/drawing/2014/main" id="{6A531D54-5C7C-4F9D-AF41-56A20FF54CEA}"/>
              </a:ext>
            </a:extLst>
          </p:cNvPr>
          <p:cNvSpPr>
            <a:spLocks xmlns:a="http://schemas.openxmlformats.org/drawingml/2006/main" noGrp="1"/>
          </p:cNvSpPr>
          <p:nvPr/>
        </p:nvSpPr>
        <p:spPr>
          <a:xfrm xmlns:a="http://schemas.openxmlformats.org/drawingml/2006/main">
            <a:off x="609600" y="4953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925" b="1" i="0">
                <a:solidFill>
                  <a:srgbClr val="17324D"/>
                </a:solidFill>
                <a:latin typeface="Aptos"/>
                <a:ea typeface="Aptos"/>
                <a:cs typeface="Aptos"/>
              </a:defRPr>
            </a:pPr>
            <a:r>
              <a:rPr sz="2925" b="1" i="0">
                <a:solidFill>
                  <a:srgbClr val="17324D"/>
                </a:solidFill>
                <a:latin typeface="Aptos"/>
                <a:ea typeface="Aptos"/>
                <a:cs typeface="Aptos"/>
              </a:rPr>
              <a:t>Business and marketing</a:t>
            </a:r>
          </a:p>
        </p:txBody>
      </p:sp>
      <p:sp>
        <p:nvSpPr>
          <p:cNvPr id="5" name="">
            <a:extLst xmlns:a="http://schemas.openxmlformats.org/drawingml/2006/main">
              <a:ext uri="{FF2B5EF4-FFF2-40B4-BE49-F238E27FC236}">
                <a16:creationId xmlns:a16="http://schemas.microsoft.com/office/drawing/2014/main" id="{21ED5F5C-25D7-41F2-AF06-445CC31C4C88}"/>
              </a:ext>
            </a:extLst>
          </p:cNvPr>
          <p:cNvSpPr>
            <a:spLocks xmlns:a="http://schemas.openxmlformats.org/drawingml/2006/main" noGrp="1"/>
          </p:cNvSpPr>
          <p:nvPr/>
        </p:nvSpPr>
        <p:spPr>
          <a:xfrm xmlns:a="http://schemas.openxmlformats.org/drawingml/2006/main">
            <a:off x="628650" y="10668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6D7B86"/>
                </a:solidFill>
                <a:latin typeface="Aptos"/>
                <a:ea typeface="Aptos"/>
                <a:cs typeface="Aptos"/>
              </a:defRPr>
            </a:pPr>
            <a:r>
              <a:rPr sz="1500" b="0" i="0">
                <a:solidFill>
                  <a:srgbClr val="6D7B86"/>
                </a:solidFill>
                <a:latin typeface="Aptos"/>
                <a:ea typeface="Aptos"/>
                <a:cs typeface="Aptos"/>
              </a:rPr>
              <a:t>The terms work together, but they describe different parts of the system.</a:t>
            </a:r>
          </a:p>
        </p:txBody>
      </p:sp>
      <p:sp>
        <p:nvSpPr>
          <p:cNvPr id="6" name="">
            <a:extLst xmlns:a="http://schemas.openxmlformats.org/drawingml/2006/main">
              <a:ext uri="{FF2B5EF4-FFF2-40B4-BE49-F238E27FC236}">
                <a16:creationId xmlns:a16="http://schemas.microsoft.com/office/drawing/2014/main" id="{E7EC545B-79A9-42B4-86E6-B4AA0333BCD8}"/>
              </a:ext>
            </a:extLst>
          </p:cNvPr>
          <p:cNvSpPr>
            <a:spLocks xmlns:a="http://schemas.openxmlformats.org/drawingml/2006/main" noGrp="1"/>
          </p:cNvSpPr>
          <p:nvPr/>
        </p:nvSpPr>
        <p:spPr>
          <a:xfrm xmlns:a="http://schemas.openxmlformats.org/drawingml/2006/main">
            <a:off x="685800" y="1809750"/>
            <a:ext cx="4857750" cy="238125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28575">
            <a:solidFill>
              <a:srgbClr val="2A9D8F"/>
            </a:solidFill>
          </a:ln>
        </p:spPr>
        <p:txBody>
          <a:bodyPr xmlns:a="http://schemas.openxmlformats.org/drawingml/2006/main"/>
          <a:lstStyle xmlns:a="http://schemas.openxmlformats.org/drawingml/2006/main"/>
          <a:p xmlns:a="http://schemas.openxmlformats.org/drawingml/2006/main">
            <a:pPr>
              <a:defRPr sz="2025" b="1">
                <a:solidFill>
                  <a:srgbClr val="17324D"/>
                </a:solidFill>
                <a:latin typeface="Aptos"/>
                <a:ea typeface="Aptos"/>
                <a:cs typeface="Aptos"/>
              </a:defRPr>
            </a:pPr>
            <a:r>
              <a:rPr sz="2025" b="1">
                <a:solidFill>
                  <a:srgbClr val="17324D"/>
                </a:solidFill>
                <a:latin typeface="Aptos"/>
                <a:ea typeface="Aptos"/>
                <a:cs typeface="Aptos"/>
              </a:rPr>
              <a:t>Business</a:t>
            </a:r>
          </a:p>
          <a:p xmlns:a="http://schemas.openxmlformats.org/drawingml/2006/main">
            <a:pPr>
              <a:defRPr sz="2025" b="1">
                <a:solidFill>
                  <a:srgbClr val="17324D"/>
                </a:solidFill>
                <a:latin typeface="Aptos"/>
                <a:ea typeface="Aptos"/>
                <a:cs typeface="Aptos"/>
              </a:defRPr>
            </a:pPr>
            <a:r>
              <a:rPr sz="2025" b="1">
                <a:solidFill>
                  <a:srgbClr val="17324D"/>
                </a:solidFill>
                <a:latin typeface="Aptos"/>
                <a:ea typeface="Aptos"/>
                <a:cs typeface="Aptos"/>
              </a:rPr>
              <a:t>Making, selling, and providing products in exchange for money.</a:t>
            </a:r>
          </a:p>
          <a:p xmlns:a="http://schemas.openxmlformats.org/drawingml/2006/main">
            <a:r>
              <a:t/>
            </a:r>
          </a:p>
          <a:p xmlns:a="http://schemas.openxmlformats.org/drawingml/2006/main">
            <a:pPr>
              <a:defRPr sz="2025" b="1">
                <a:solidFill>
                  <a:srgbClr val="17324D"/>
                </a:solidFill>
                <a:latin typeface="Aptos"/>
                <a:ea typeface="Aptos"/>
                <a:cs typeface="Aptos"/>
              </a:defRPr>
            </a:pPr>
            <a:r>
              <a:rPr sz="2025" b="1">
                <a:solidFill>
                  <a:srgbClr val="17324D"/>
                </a:solidFill>
                <a:latin typeface="Aptos"/>
                <a:ea typeface="Aptos"/>
                <a:cs typeface="Aptos"/>
              </a:rPr>
              <a:t>A product is anything that can be bought or sold.</a:t>
            </a:r>
          </a:p>
        </p:txBody>
      </p:sp>
      <p:sp>
        <p:nvSpPr>
          <p:cNvPr id="7" name="">
            <a:extLst xmlns:a="http://schemas.openxmlformats.org/drawingml/2006/main">
              <a:ext uri="{FF2B5EF4-FFF2-40B4-BE49-F238E27FC236}">
                <a16:creationId xmlns:a16="http://schemas.microsoft.com/office/drawing/2014/main" id="{28B0D7DE-7696-4F94-9493-94565A3F56CD}"/>
              </a:ext>
            </a:extLst>
          </p:cNvPr>
          <p:cNvSpPr>
            <a:spLocks xmlns:a="http://schemas.openxmlformats.org/drawingml/2006/main" noGrp="1"/>
          </p:cNvSpPr>
          <p:nvPr/>
        </p:nvSpPr>
        <p:spPr>
          <a:xfrm xmlns:a="http://schemas.openxmlformats.org/drawingml/2006/main">
            <a:off x="6648450" y="1809750"/>
            <a:ext cx="4857750" cy="238125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28575">
            <a:solidFill>
              <a:srgbClr val="E76F51"/>
            </a:solidFill>
          </a:ln>
        </p:spPr>
        <p:txBody>
          <a:bodyPr xmlns:a="http://schemas.openxmlformats.org/drawingml/2006/main"/>
          <a:lstStyle xmlns:a="http://schemas.openxmlformats.org/drawingml/2006/main"/>
          <a:p xmlns:a="http://schemas.openxmlformats.org/drawingml/2006/main">
            <a:pPr>
              <a:defRPr sz="2025" b="1">
                <a:solidFill>
                  <a:srgbClr val="17324D"/>
                </a:solidFill>
                <a:latin typeface="Aptos"/>
                <a:ea typeface="Aptos"/>
                <a:cs typeface="Aptos"/>
              </a:defRPr>
            </a:pPr>
            <a:r>
              <a:rPr sz="2025" b="1">
                <a:solidFill>
                  <a:srgbClr val="17324D"/>
                </a:solidFill>
                <a:latin typeface="Aptos"/>
                <a:ea typeface="Aptos"/>
                <a:cs typeface="Aptos"/>
              </a:rPr>
              <a:t>Marketing</a:t>
            </a:r>
          </a:p>
          <a:p xmlns:a="http://schemas.openxmlformats.org/drawingml/2006/main">
            <a:pPr>
              <a:defRPr sz="2025" b="1">
                <a:solidFill>
                  <a:srgbClr val="17324D"/>
                </a:solidFill>
                <a:latin typeface="Aptos"/>
                <a:ea typeface="Aptos"/>
                <a:cs typeface="Aptos"/>
              </a:defRPr>
            </a:pPr>
            <a:r>
              <a:rPr sz="2025" b="1">
                <a:solidFill>
                  <a:srgbClr val="17324D"/>
                </a:solidFill>
                <a:latin typeface="Aptos"/>
                <a:ea typeface="Aptos"/>
                <a:cs typeface="Aptos"/>
              </a:rPr>
              <a:t>Promoting, selling, and distributing a product or service.</a:t>
            </a:r>
          </a:p>
          <a:p xmlns:a="http://schemas.openxmlformats.org/drawingml/2006/main">
            <a:r>
              <a:t/>
            </a:r>
          </a:p>
          <a:p xmlns:a="http://schemas.openxmlformats.org/drawingml/2006/main">
            <a:pPr>
              <a:defRPr sz="2025" b="1">
                <a:solidFill>
                  <a:srgbClr val="17324D"/>
                </a:solidFill>
                <a:latin typeface="Aptos"/>
                <a:ea typeface="Aptos"/>
                <a:cs typeface="Aptos"/>
              </a:defRPr>
            </a:pPr>
            <a:r>
              <a:rPr sz="2025" b="1">
                <a:solidFill>
                  <a:srgbClr val="17324D"/>
                </a:solidFill>
                <a:latin typeface="Aptos"/>
                <a:ea typeface="Aptos"/>
                <a:cs typeface="Aptos"/>
              </a:rPr>
              <a:t>Marketing helps a business understand and respond to customer demand.</a:t>
            </a:r>
          </a:p>
        </p:txBody>
      </p:sp>
      <p:sp>
        <p:nvSpPr>
          <p:cNvPr id="8" name="">
            <a:extLst xmlns:a="http://schemas.openxmlformats.org/drawingml/2006/main">
              <a:ext uri="{FF2B5EF4-FFF2-40B4-BE49-F238E27FC236}">
                <a16:creationId xmlns:a16="http://schemas.microsoft.com/office/drawing/2014/main" id="{1837A5D9-6F37-44B7-B7F5-E2EB7A4BE414}"/>
              </a:ext>
            </a:extLst>
          </p:cNvPr>
          <p:cNvSpPr>
            <a:spLocks xmlns:a="http://schemas.openxmlformats.org/drawingml/2006/main" noGrp="1"/>
          </p:cNvSpPr>
          <p:nvPr/>
        </p:nvSpPr>
        <p:spPr>
          <a:xfrm xmlns:a="http://schemas.openxmlformats.org/drawingml/2006/main">
            <a:off x="1524000" y="4953000"/>
            <a:ext cx="9334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025" b="1" i="0">
                <a:solidFill>
                  <a:srgbClr val="17324D"/>
                </a:solidFill>
                <a:latin typeface="Aptos"/>
                <a:ea typeface="Aptos"/>
                <a:cs typeface="Aptos"/>
              </a:defRPr>
            </a:pPr>
            <a:r>
              <a:rPr sz="2025" b="1" i="0">
                <a:solidFill>
                  <a:srgbClr val="17324D"/>
                </a:solidFill>
                <a:latin typeface="Aptos"/>
                <a:ea typeface="Aptos"/>
                <a:cs typeface="Aptos"/>
              </a:rPr>
              <a:t>Ask: What is being offered? Who needs it? How does it reach them?</a:t>
            </a:r>
          </a:p>
        </p:txBody>
      </p:sp>
    </p:spTree>
    <p:extLst>
      <p:ext uri="{BB962C8B-B14F-4D97-AF65-F5344CB8AC3E}">
        <p14:creationId xmlns:p14="http://schemas.microsoft.com/office/powerpoint/2010/main" val="89626476"/>
      </p:ext>
    </p:extLst>
  </p:cSld>
</p:sld>
</file>

<file path=ppt/slides/slide5.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DF308DE-C25F-423C-8AFF-F1F352F21335}"/>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2A9D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C82CB4-9F57-4E8F-9A31-9DC9CEACB573}"/>
              </a:ext>
            </a:extLst>
          </p:cNvPr>
          <p:cNvSpPr>
            <a:spLocks xmlns:a="http://schemas.openxmlformats.org/drawingml/2006/main" noGrp="1"/>
          </p:cNvSpPr>
          <p:nvPr/>
        </p:nvSpPr>
        <p:spPr>
          <a:xfrm xmlns:a="http://schemas.openxmlformats.org/drawingml/2006/main">
            <a:off x="609600" y="640080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i="0">
                <a:solidFill>
                  <a:srgbClr val="6D7B86"/>
                </a:solidFill>
                <a:latin typeface="Aptos"/>
                <a:ea typeface="Aptos"/>
                <a:cs typeface="Aptos"/>
              </a:defRPr>
            </a:pPr>
            <a:r>
              <a:rPr sz="975" b="1" i="0">
                <a:solidFill>
                  <a:srgbClr val="6D7B86"/>
                </a:solidFill>
                <a:latin typeface="Aptos"/>
                <a:ea typeface="Aptos"/>
                <a:cs typeface="Aptos"/>
              </a:rPr>
              <a:t>BUSINESS COURSE · MICROSOFT 365</a:t>
            </a:r>
          </a:p>
        </p:txBody>
      </p:sp>
      <p:sp>
        <p:nvSpPr>
          <p:cNvPr id="3" name="">
            <a:extLst xmlns:a="http://schemas.openxmlformats.org/drawingml/2006/main">
              <a:ext uri="{FF2B5EF4-FFF2-40B4-BE49-F238E27FC236}">
                <a16:creationId xmlns:a16="http://schemas.microsoft.com/office/drawing/2014/main" id="{4F42D61B-D6F0-4B3A-87B9-EC3DB3F0F105}"/>
              </a:ext>
            </a:extLst>
          </p:cNvPr>
          <p:cNvSpPr>
            <a:spLocks xmlns:a="http://schemas.openxmlformats.org/drawingml/2006/main" noGrp="1"/>
          </p:cNvSpPr>
          <p:nvPr/>
        </p:nvSpPr>
        <p:spPr>
          <a:xfrm xmlns:a="http://schemas.openxmlformats.org/drawingml/2006/main">
            <a:off x="11144250" y="6362700"/>
            <a:ext cx="43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1" i="0">
                <a:solidFill>
                  <a:srgbClr val="6D7B86"/>
                </a:solidFill>
                <a:latin typeface="Aptos"/>
                <a:ea typeface="Aptos"/>
                <a:cs typeface="Aptos"/>
              </a:defRPr>
            </a:pPr>
            <a:r>
              <a:rPr sz="1125" b="1" i="0">
                <a:solidFill>
                  <a:srgbClr val="6D7B86"/>
                </a:solidFill>
                <a:latin typeface="Aptos"/>
                <a:ea typeface="Aptos"/>
                <a:cs typeface="Aptos"/>
              </a:rPr>
              <a:t>05</a:t>
            </a:r>
          </a:p>
        </p:txBody>
      </p:sp>
      <p:sp>
        <p:nvSpPr>
          <p:cNvPr id="4" name="">
            <a:extLst xmlns:a="http://schemas.openxmlformats.org/drawingml/2006/main">
              <a:ext uri="{FF2B5EF4-FFF2-40B4-BE49-F238E27FC236}">
                <a16:creationId xmlns:a16="http://schemas.microsoft.com/office/drawing/2014/main" id="{53964C10-9888-4370-B742-C5F996936896}"/>
              </a:ext>
            </a:extLst>
          </p:cNvPr>
          <p:cNvSpPr>
            <a:spLocks xmlns:a="http://schemas.openxmlformats.org/drawingml/2006/main" noGrp="1"/>
          </p:cNvSpPr>
          <p:nvPr/>
        </p:nvSpPr>
        <p:spPr>
          <a:xfrm xmlns:a="http://schemas.openxmlformats.org/drawingml/2006/main">
            <a:off x="609600" y="4953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925" b="1" i="0">
                <a:solidFill>
                  <a:srgbClr val="17324D"/>
                </a:solidFill>
                <a:latin typeface="Aptos"/>
                <a:ea typeface="Aptos"/>
                <a:cs typeface="Aptos"/>
              </a:defRPr>
            </a:pPr>
            <a:r>
              <a:rPr sz="2925" b="1" i="0">
                <a:solidFill>
                  <a:srgbClr val="17324D"/>
                </a:solidFill>
                <a:latin typeface="Aptos"/>
                <a:ea typeface="Aptos"/>
                <a:cs typeface="Aptos"/>
              </a:rPr>
              <a:t>Goods, services, and ideas</a:t>
            </a:r>
          </a:p>
        </p:txBody>
      </p:sp>
      <p:sp>
        <p:nvSpPr>
          <p:cNvPr id="5" name="">
            <a:extLst xmlns:a="http://schemas.openxmlformats.org/drawingml/2006/main">
              <a:ext uri="{FF2B5EF4-FFF2-40B4-BE49-F238E27FC236}">
                <a16:creationId xmlns:a16="http://schemas.microsoft.com/office/drawing/2014/main" id="{475E3A7D-632E-4B0A-9976-F210F7731A58}"/>
              </a:ext>
            </a:extLst>
          </p:cNvPr>
          <p:cNvSpPr>
            <a:spLocks xmlns:a="http://schemas.openxmlformats.org/drawingml/2006/main" noGrp="1"/>
          </p:cNvSpPr>
          <p:nvPr/>
        </p:nvSpPr>
        <p:spPr>
          <a:xfrm xmlns:a="http://schemas.openxmlformats.org/drawingml/2006/main">
            <a:off x="628650" y="10668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6D7B86"/>
                </a:solidFill>
                <a:latin typeface="Aptos"/>
                <a:ea typeface="Aptos"/>
                <a:cs typeface="Aptos"/>
              </a:defRPr>
            </a:pPr>
            <a:r>
              <a:rPr sz="1500" b="0" i="0">
                <a:solidFill>
                  <a:srgbClr val="6D7B86"/>
                </a:solidFill>
                <a:latin typeface="Aptos"/>
                <a:ea typeface="Aptos"/>
                <a:cs typeface="Aptos"/>
              </a:rPr>
              <a:t>Classify the offer before you plan how to market it.</a:t>
            </a:r>
          </a:p>
        </p:txBody>
      </p:sp>
      <p:graphicFrame>
        <p:nvGraphicFramePr>
          <p:cNvPr id="14" name=""/>
          <p:cNvGraphicFramePr/>
          <p:nvPr/>
        </p:nvGraphicFramePr>
        <p:xfrm>
          <a:off xmlns:a="http://schemas.openxmlformats.org/drawingml/2006/main" x="685800" y="1857375"/>
          <a:ext xmlns:a="http://schemas.openxmlformats.org/drawingml/2006/main" cx="8286750" cy="2714625"/>
        </p:xfrm>
        <a:graphic xmlns:a="http://schemas.openxmlformats.org/drawingml/2006/main">
          <a:graphicData uri="http://schemas.openxmlformats.org/drawingml/2006/table">
            <a:tbl>
              <a:tblPr firstRow="1" bandRow="1"/>
              <a:tblGrid>
                <a:gridCol w="2762250"/>
                <a:gridCol w="2762250"/>
                <a:gridCol w="2762250"/>
              </a:tblGrid>
              <a:tr h="678656">
                <a:tc>
                  <a:txBody>
                    <a:bodyPr/>
                    <a:lstStyle/>
                    <a:p>
                      <a:r>
                        <a:rPr sz="1500" b="1">
                          <a:solidFill>
                            <a:srgbClr val="FFFFFF"/>
                          </a:solidFill>
                          <a:latin typeface="Aptos"/>
                          <a:ea typeface="Aptos"/>
                          <a:cs typeface="Aptos"/>
                        </a:rPr>
                        <a:t>Goods</a:t>
                      </a:r>
                    </a:p>
                  </a:txBody>
                  <a:tcPr marL="91440" marR="91440" marT="45720" marB="45720">
                    <a:solidFill>
                      <a:srgbClr val="17324D"/>
                    </a:solidFill>
                  </a:tcPr>
                </a:tc>
                <a:tc>
                  <a:txBody>
                    <a:bodyPr/>
                    <a:lstStyle/>
                    <a:p>
                      <a:r>
                        <a:rPr sz="1500" b="1">
                          <a:solidFill>
                            <a:srgbClr val="FFFFFF"/>
                          </a:solidFill>
                          <a:latin typeface="Aptos"/>
                          <a:ea typeface="Aptos"/>
                          <a:cs typeface="Aptos"/>
                        </a:rPr>
                        <a:t>Services</a:t>
                      </a:r>
                    </a:p>
                  </a:txBody>
                  <a:tcPr marL="91440" marR="91440" marT="45720" marB="45720">
                    <a:solidFill>
                      <a:srgbClr val="17324D"/>
                    </a:solidFill>
                  </a:tcPr>
                </a:tc>
                <a:tc>
                  <a:txBody>
                    <a:bodyPr/>
                    <a:lstStyle/>
                    <a:p>
                      <a:r>
                        <a:rPr sz="1500" b="1">
                          <a:solidFill>
                            <a:srgbClr val="FFFFFF"/>
                          </a:solidFill>
                          <a:latin typeface="Aptos"/>
                          <a:ea typeface="Aptos"/>
                          <a:cs typeface="Aptos"/>
                        </a:rPr>
                        <a:t>Ideas</a:t>
                      </a:r>
                    </a:p>
                  </a:txBody>
                  <a:tcPr marL="91440" marR="91440" marT="45720" marB="45720">
                    <a:solidFill>
                      <a:srgbClr val="17324D"/>
                    </a:solidFill>
                  </a:tcPr>
                </a:tc>
              </a:tr>
              <a:tr h="678656">
                <a:tc>
                  <a:txBody>
                    <a:bodyPr/>
                    <a:lstStyle/>
                    <a:p>
                      <a:r>
                        <a:rPr sz="1425">
                          <a:solidFill>
                            <a:srgbClr val="243746"/>
                          </a:solidFill>
                          <a:latin typeface="Aptos"/>
                          <a:ea typeface="Aptos"/>
                          <a:cs typeface="Aptos"/>
                        </a:rPr>
                        <a:t>Food</a:t>
                      </a:r>
                    </a:p>
                  </a:txBody>
                  <a:tcPr marL="91440" marR="91440" marT="45720" marB="45720">
                    <a:solidFill>
                      <a:srgbClr val="FFFFFF"/>
                    </a:solidFill>
                  </a:tcPr>
                </a:tc>
                <a:tc>
                  <a:txBody>
                    <a:bodyPr/>
                    <a:lstStyle/>
                    <a:p>
                      <a:r>
                        <a:rPr sz="1425">
                          <a:solidFill>
                            <a:srgbClr val="243746"/>
                          </a:solidFill>
                          <a:latin typeface="Aptos"/>
                          <a:ea typeface="Aptos"/>
                          <a:cs typeface="Aptos"/>
                        </a:rPr>
                        <a:t>Car repair</a:t>
                      </a:r>
                    </a:p>
                  </a:txBody>
                  <a:tcPr marL="91440" marR="91440" marT="45720" marB="45720">
                    <a:solidFill>
                      <a:srgbClr val="FFFFFF"/>
                    </a:solidFill>
                  </a:tcPr>
                </a:tc>
                <a:tc>
                  <a:txBody>
                    <a:bodyPr/>
                    <a:lstStyle/>
                    <a:p>
                      <a:r>
                        <a:rPr sz="1425">
                          <a:solidFill>
                            <a:srgbClr val="243746"/>
                          </a:solidFill>
                          <a:latin typeface="Aptos"/>
                          <a:ea typeface="Aptos"/>
                          <a:cs typeface="Aptos"/>
                        </a:rPr>
                        <a:t>Voting for a political candidate</a:t>
                      </a:r>
                    </a:p>
                  </a:txBody>
                  <a:tcPr marL="91440" marR="91440" marT="45720" marB="45720">
                    <a:solidFill>
                      <a:srgbClr val="FFFFFF"/>
                    </a:solidFill>
                  </a:tcPr>
                </a:tc>
              </a:tr>
              <a:tr h="678656">
                <a:tc>
                  <a:txBody>
                    <a:bodyPr/>
                    <a:lstStyle/>
                    <a:p>
                      <a:r>
                        <a:rPr sz="1425">
                          <a:solidFill>
                            <a:srgbClr val="243746"/>
                          </a:solidFill>
                          <a:latin typeface="Aptos"/>
                          <a:ea typeface="Aptos"/>
                          <a:cs typeface="Aptos"/>
                        </a:rPr>
                        <a:t>Clothing</a:t>
                      </a:r>
                    </a:p>
                  </a:txBody>
                  <a:tcPr marL="91440" marR="91440" marT="45720" marB="45720">
                    <a:solidFill>
                      <a:srgbClr val="DDEEF2"/>
                    </a:solidFill>
                  </a:tcPr>
                </a:tc>
                <a:tc>
                  <a:txBody>
                    <a:bodyPr/>
                    <a:lstStyle/>
                    <a:p>
                      <a:r>
                        <a:rPr sz="1425">
                          <a:solidFill>
                            <a:srgbClr val="243746"/>
                          </a:solidFill>
                          <a:latin typeface="Aptos"/>
                          <a:ea typeface="Aptos"/>
                          <a:cs typeface="Aptos"/>
                        </a:rPr>
                        <a:t>Financial advising</a:t>
                      </a:r>
                    </a:p>
                  </a:txBody>
                  <a:tcPr marL="91440" marR="91440" marT="45720" marB="45720">
                    <a:solidFill>
                      <a:srgbClr val="DDEEF2"/>
                    </a:solidFill>
                  </a:tcPr>
                </a:tc>
                <a:tc>
                  <a:txBody>
                    <a:bodyPr/>
                    <a:lstStyle/>
                    <a:p>
                      <a:r>
                        <a:rPr sz="1425">
                          <a:solidFill>
                            <a:srgbClr val="243746"/>
                          </a:solidFill>
                          <a:latin typeface="Aptos"/>
                          <a:ea typeface="Aptos"/>
                          <a:cs typeface="Aptos"/>
                        </a:rPr>
                        <a:t>Donating to a specific charity</a:t>
                      </a:r>
                    </a:p>
                  </a:txBody>
                  <a:tcPr marL="91440" marR="91440" marT="45720" marB="45720">
                    <a:solidFill>
                      <a:srgbClr val="DDEEF2"/>
                    </a:solidFill>
                  </a:tcPr>
                </a:tc>
              </a:tr>
              <a:tr h="678656">
                <a:tc>
                  <a:txBody>
                    <a:bodyPr/>
                    <a:lstStyle/>
                    <a:p>
                      <a:r>
                        <a:rPr sz="1425">
                          <a:solidFill>
                            <a:srgbClr val="243746"/>
                          </a:solidFill>
                          <a:latin typeface="Aptos"/>
                          <a:ea typeface="Aptos"/>
                          <a:cs typeface="Aptos"/>
                        </a:rPr>
                        <a:t>Your industry or app</a:t>
                      </a:r>
                    </a:p>
                  </a:txBody>
                  <a:tcPr marL="91440" marR="91440" marT="45720" marB="45720">
                    <a:solidFill>
                      <a:srgbClr val="FFFFFF"/>
                    </a:solidFill>
                  </a:tcPr>
                </a:tc>
                <a:tc>
                  <a:txBody>
                    <a:bodyPr/>
                    <a:lstStyle/>
                    <a:p>
                      <a:r>
                        <a:rPr sz="1425">
                          <a:solidFill>
                            <a:srgbClr val="243746"/>
                          </a:solidFill>
                          <a:latin typeface="Aptos"/>
                          <a:ea typeface="Aptos"/>
                          <a:cs typeface="Aptos"/>
                        </a:rPr>
                        <a:t>Your industry or app</a:t>
                      </a:r>
                    </a:p>
                  </a:txBody>
                  <a:tcPr marL="91440" marR="91440" marT="45720" marB="45720">
                    <a:solidFill>
                      <a:srgbClr val="FFFFFF"/>
                    </a:solidFill>
                  </a:tcPr>
                </a:tc>
                <a:tc>
                  <a:txBody>
                    <a:bodyPr/>
                    <a:lstStyle/>
                    <a:p>
                      <a:r>
                        <a:rPr sz="1425">
                          <a:solidFill>
                            <a:srgbClr val="243746"/>
                          </a:solidFill>
                          <a:latin typeface="Aptos"/>
                          <a:ea typeface="Aptos"/>
                          <a:cs typeface="Aptos"/>
                        </a:rPr>
                        <a:t>Your industry or app</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01FF0E24-7525-4794-95EA-B8FBB58556A1}"/>
              </a:ext>
            </a:extLst>
          </p:cNvPr>
          <p:cNvSpPr>
            <a:spLocks xmlns:a="http://schemas.openxmlformats.org/drawingml/2006/main" noGrp="1"/>
          </p:cNvSpPr>
          <p:nvPr/>
        </p:nvSpPr>
        <p:spPr>
          <a:xfrm xmlns:a="http://schemas.openxmlformats.org/drawingml/2006/main">
            <a:off x="9334500" y="1857375"/>
            <a:ext cx="2190750" cy="2714625"/>
          </a:xfrm>
          <a:prstGeom xmlns:a="http://schemas.openxmlformats.org/drawingml/2006/main" prst="roundRect">
            <a:avLst>
              <a:gd name="adj" fmla="val 3478"/>
            </a:avLst>
          </a:prstGeom>
          <a:solidFill xmlns:a="http://schemas.openxmlformats.org/drawingml/2006/main">
            <a:srgbClr val="E6F3EF"/>
          </a:solidFill>
          <a:ln xmlns:a="http://schemas.openxmlformats.org/drawingml/2006/main" w="14288">
            <a:solidFill>
              <a:srgbClr val="E6F3EF"/>
            </a:solidFill>
          </a:ln>
        </p:spPr>
        <p:txBody>
          <a:bodyPr xmlns:a="http://schemas.openxmlformats.org/drawingml/2006/main"/>
          <a:lstStyle xmlns:a="http://schemas.openxmlformats.org/drawingml/2006/main"/>
          <a:p xmlns:a="http://schemas.openxmlformats.org/drawingml/2006/main">
            <a:pPr>
              <a:defRPr sz="1650" b="1">
                <a:solidFill>
                  <a:srgbClr val="17324D"/>
                </a:solidFill>
                <a:latin typeface="Aptos"/>
                <a:ea typeface="Aptos"/>
                <a:cs typeface="Aptos"/>
              </a:defRPr>
            </a:pPr>
            <a:r>
              <a:rPr sz="1650" b="1">
                <a:solidFill>
                  <a:srgbClr val="17324D"/>
                </a:solidFill>
                <a:latin typeface="Aptos"/>
                <a:ea typeface="Aptos"/>
                <a:cs typeface="Aptos"/>
              </a:rPr>
              <a:t>Team task</a:t>
            </a:r>
          </a:p>
          <a:p xmlns:a="http://schemas.openxmlformats.org/drawingml/2006/main">
            <a:pPr>
              <a:defRPr sz="1650" b="1">
                <a:solidFill>
                  <a:srgbClr val="17324D"/>
                </a:solidFill>
                <a:latin typeface="Aptos"/>
                <a:ea typeface="Aptos"/>
                <a:cs typeface="Aptos"/>
              </a:defRPr>
            </a:pPr>
            <a:r>
              <a:rPr sz="1650" b="1">
                <a:solidFill>
                  <a:srgbClr val="17324D"/>
                </a:solidFill>
                <a:latin typeface="Aptos"/>
                <a:ea typeface="Aptos"/>
                <a:cs typeface="Aptos"/>
              </a:rPr>
              <a:t>Choose an industry or app. Add one good, one service, and one idea.</a:t>
            </a:r>
          </a:p>
          <a:p xmlns:a="http://schemas.openxmlformats.org/drawingml/2006/main">
            <a:r>
              <a:t/>
            </a:r>
          </a:p>
          <a:p xmlns:a="http://schemas.openxmlformats.org/drawingml/2006/main">
            <a:pPr>
              <a:defRPr sz="1650" b="1">
                <a:solidFill>
                  <a:srgbClr val="17324D"/>
                </a:solidFill>
                <a:latin typeface="Aptos"/>
                <a:ea typeface="Aptos"/>
                <a:cs typeface="Aptos"/>
              </a:defRPr>
            </a:pPr>
            <a:r>
              <a:rPr sz="1650" b="1">
                <a:solidFill>
                  <a:srgbClr val="17324D"/>
                </a:solidFill>
                <a:latin typeface="Aptos"/>
                <a:ea typeface="Aptos"/>
                <a:cs typeface="Aptos"/>
              </a:rPr>
              <a:t>Then explain why each belongs in its column.</a:t>
            </a:r>
          </a:p>
        </p:txBody>
      </p:sp>
      <p:sp>
        <p:nvSpPr>
          <p:cNvPr id="8" name="">
            <a:extLst xmlns:a="http://schemas.openxmlformats.org/drawingml/2006/main">
              <a:ext uri="{FF2B5EF4-FFF2-40B4-BE49-F238E27FC236}">
                <a16:creationId xmlns:a16="http://schemas.microsoft.com/office/drawing/2014/main" id="{1AF8C01A-5D94-46D3-85CE-666C86D16A47}"/>
              </a:ext>
            </a:extLst>
          </p:cNvPr>
          <p:cNvSpPr>
            <a:spLocks xmlns:a="http://schemas.openxmlformats.org/drawingml/2006/main" noGrp="1"/>
          </p:cNvSpPr>
          <p:nvPr/>
        </p:nvSpPr>
        <p:spPr>
          <a:xfrm xmlns:a="http://schemas.openxmlformats.org/drawingml/2006/main">
            <a:off x="1714500" y="5238750"/>
            <a:ext cx="857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75" b="1" i="0">
                <a:solidFill>
                  <a:srgbClr val="17324D"/>
                </a:solidFill>
                <a:latin typeface="Aptos"/>
                <a:ea typeface="Aptos"/>
                <a:cs typeface="Aptos"/>
              </a:defRPr>
            </a:pPr>
            <a:r>
              <a:rPr sz="1875" b="1" i="0">
                <a:solidFill>
                  <a:srgbClr val="17324D"/>
                </a:solidFill>
                <a:latin typeface="Aptos"/>
                <a:ea typeface="Aptos"/>
                <a:cs typeface="Aptos"/>
              </a:rPr>
              <a:t>Start alone. Compare with a partner. Agree on one row to share.</a:t>
            </a:r>
          </a:p>
        </p:txBody>
      </p:sp>
    </p:spTree>
    <p:extLst>
      <p:ext uri="{BB962C8B-B14F-4D97-AF65-F5344CB8AC3E}">
        <p14:creationId xmlns:p14="http://schemas.microsoft.com/office/powerpoint/2010/main" val="976183733"/>
      </p:ext>
    </p:extLst>
  </p:cSld>
</p:sld>
</file>

<file path=ppt/slides/slide6.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3AF18A3-A8AB-4E9D-A2F0-53F20010DF19}"/>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2A9D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B3C0EF-593B-4FAE-A368-F77FEF737D8B}"/>
              </a:ext>
            </a:extLst>
          </p:cNvPr>
          <p:cNvSpPr>
            <a:spLocks xmlns:a="http://schemas.openxmlformats.org/drawingml/2006/main" noGrp="1"/>
          </p:cNvSpPr>
          <p:nvPr/>
        </p:nvSpPr>
        <p:spPr>
          <a:xfrm xmlns:a="http://schemas.openxmlformats.org/drawingml/2006/main">
            <a:off x="609600" y="640080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i="0">
                <a:solidFill>
                  <a:srgbClr val="6D7B86"/>
                </a:solidFill>
                <a:latin typeface="Aptos"/>
                <a:ea typeface="Aptos"/>
                <a:cs typeface="Aptos"/>
              </a:defRPr>
            </a:pPr>
            <a:r>
              <a:rPr sz="975" b="1" i="0">
                <a:solidFill>
                  <a:srgbClr val="6D7B86"/>
                </a:solidFill>
                <a:latin typeface="Aptos"/>
                <a:ea typeface="Aptos"/>
                <a:cs typeface="Aptos"/>
              </a:rPr>
              <a:t>BUSINESS COURSE · MICROSOFT 365</a:t>
            </a:r>
          </a:p>
        </p:txBody>
      </p:sp>
      <p:sp>
        <p:nvSpPr>
          <p:cNvPr id="3" name="">
            <a:extLst xmlns:a="http://schemas.openxmlformats.org/drawingml/2006/main">
              <a:ext uri="{FF2B5EF4-FFF2-40B4-BE49-F238E27FC236}">
                <a16:creationId xmlns:a16="http://schemas.microsoft.com/office/drawing/2014/main" id="{73D5E520-5DA9-472A-A0E7-357FEE3DFB73}"/>
              </a:ext>
            </a:extLst>
          </p:cNvPr>
          <p:cNvSpPr>
            <a:spLocks xmlns:a="http://schemas.openxmlformats.org/drawingml/2006/main" noGrp="1"/>
          </p:cNvSpPr>
          <p:nvPr/>
        </p:nvSpPr>
        <p:spPr>
          <a:xfrm xmlns:a="http://schemas.openxmlformats.org/drawingml/2006/main">
            <a:off x="11144250" y="6362700"/>
            <a:ext cx="43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1" i="0">
                <a:solidFill>
                  <a:srgbClr val="6D7B86"/>
                </a:solidFill>
                <a:latin typeface="Aptos"/>
                <a:ea typeface="Aptos"/>
                <a:cs typeface="Aptos"/>
              </a:defRPr>
            </a:pPr>
            <a:r>
              <a:rPr sz="1125" b="1" i="0">
                <a:solidFill>
                  <a:srgbClr val="6D7B86"/>
                </a:solidFill>
                <a:latin typeface="Aptos"/>
                <a:ea typeface="Aptos"/>
                <a:cs typeface="Aptos"/>
              </a:rPr>
              <a:t>06</a:t>
            </a:r>
          </a:p>
        </p:txBody>
      </p:sp>
      <p:sp>
        <p:nvSpPr>
          <p:cNvPr id="4" name="">
            <a:extLst xmlns:a="http://schemas.openxmlformats.org/drawingml/2006/main">
              <a:ext uri="{FF2B5EF4-FFF2-40B4-BE49-F238E27FC236}">
                <a16:creationId xmlns:a16="http://schemas.microsoft.com/office/drawing/2014/main" id="{6721F125-1C02-4EE1-B210-188A38BD15BF}"/>
              </a:ext>
            </a:extLst>
          </p:cNvPr>
          <p:cNvSpPr>
            <a:spLocks xmlns:a="http://schemas.openxmlformats.org/drawingml/2006/main" noGrp="1"/>
          </p:cNvSpPr>
          <p:nvPr/>
        </p:nvSpPr>
        <p:spPr>
          <a:xfrm xmlns:a="http://schemas.openxmlformats.org/drawingml/2006/main">
            <a:off x="609600" y="4953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925" b="1" i="0">
                <a:solidFill>
                  <a:srgbClr val="17324D"/>
                </a:solidFill>
                <a:latin typeface="Aptos"/>
                <a:ea typeface="Aptos"/>
                <a:cs typeface="Aptos"/>
              </a:defRPr>
            </a:pPr>
            <a:r>
              <a:rPr sz="2925" b="1" i="0">
                <a:solidFill>
                  <a:srgbClr val="17324D"/>
                </a:solidFill>
                <a:latin typeface="Aptos"/>
                <a:ea typeface="Aptos"/>
                <a:cs typeface="Aptos"/>
              </a:rPr>
              <a:t>Economics and business activity</a:t>
            </a:r>
          </a:p>
        </p:txBody>
      </p:sp>
      <p:sp>
        <p:nvSpPr>
          <p:cNvPr id="5" name="">
            <a:extLst xmlns:a="http://schemas.openxmlformats.org/drawingml/2006/main">
              <a:ext uri="{FF2B5EF4-FFF2-40B4-BE49-F238E27FC236}">
                <a16:creationId xmlns:a16="http://schemas.microsoft.com/office/drawing/2014/main" id="{DEA694EA-3559-4593-88A8-79F8698DADBD}"/>
              </a:ext>
            </a:extLst>
          </p:cNvPr>
          <p:cNvSpPr>
            <a:spLocks xmlns:a="http://schemas.openxmlformats.org/drawingml/2006/main" noGrp="1"/>
          </p:cNvSpPr>
          <p:nvPr/>
        </p:nvSpPr>
        <p:spPr>
          <a:xfrm xmlns:a="http://schemas.openxmlformats.org/drawingml/2006/main">
            <a:off x="628650" y="10668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6D7B86"/>
                </a:solidFill>
                <a:latin typeface="Aptos"/>
                <a:ea typeface="Aptos"/>
                <a:cs typeface="Aptos"/>
              </a:defRPr>
            </a:pPr>
            <a:r>
              <a:rPr sz="1500" b="0" i="0">
                <a:solidFill>
                  <a:srgbClr val="6D7B86"/>
                </a:solidFill>
                <a:latin typeface="Aptos"/>
                <a:ea typeface="Aptos"/>
                <a:cs typeface="Aptos"/>
              </a:rPr>
              <a:t>Businesses make choices with limited resources while trying to meet wants and needs.</a:t>
            </a:r>
          </a:p>
        </p:txBody>
      </p:sp>
      <p:sp>
        <p:nvSpPr>
          <p:cNvPr id="6" name="">
            <a:extLst xmlns:a="http://schemas.openxmlformats.org/drawingml/2006/main">
              <a:ext uri="{FF2B5EF4-FFF2-40B4-BE49-F238E27FC236}">
                <a16:creationId xmlns:a16="http://schemas.microsoft.com/office/drawing/2014/main" id="{4C69CA1F-5031-46E6-AEAD-F32271D5776B}"/>
              </a:ext>
            </a:extLst>
          </p:cNvPr>
          <p:cNvSpPr>
            <a:spLocks xmlns:a="http://schemas.openxmlformats.org/drawingml/2006/main" noGrp="1"/>
          </p:cNvSpPr>
          <p:nvPr/>
        </p:nvSpPr>
        <p:spPr>
          <a:xfrm xmlns:a="http://schemas.openxmlformats.org/drawingml/2006/main">
            <a:off x="685800" y="1809750"/>
            <a:ext cx="4953000" cy="1762125"/>
          </a:xfrm>
          <a:prstGeom xmlns:a="http://schemas.openxmlformats.org/drawingml/2006/main" prst="roundRect">
            <a:avLst>
              <a:gd name="adj" fmla="val 4324"/>
            </a:avLst>
          </a:prstGeom>
          <a:solidFill xmlns:a="http://schemas.openxmlformats.org/drawingml/2006/main">
            <a:srgbClr val="FFFFFF"/>
          </a:solidFill>
          <a:ln xmlns:a="http://schemas.openxmlformats.org/drawingml/2006/main" w="28575">
            <a:solidFill>
              <a:srgbClr val="F4A261"/>
            </a:solidFill>
          </a:ln>
        </p:spPr>
        <p:txBody>
          <a:bodyPr xmlns:a="http://schemas.openxmlformats.org/drawingml/2006/main"/>
          <a:lstStyle xmlns:a="http://schemas.openxmlformats.org/drawingml/2006/main"/>
          <a:p xmlns:a="http://schemas.openxmlformats.org/drawingml/2006/main">
            <a:pPr>
              <a:defRPr sz="1800" b="1">
                <a:solidFill>
                  <a:srgbClr val="17324D"/>
                </a:solidFill>
                <a:latin typeface="Aptos"/>
                <a:ea typeface="Aptos"/>
                <a:cs typeface="Aptos"/>
              </a:defRPr>
            </a:pPr>
            <a:r>
              <a:rPr sz="1800" b="1">
                <a:solidFill>
                  <a:srgbClr val="17324D"/>
                </a:solidFill>
                <a:latin typeface="Aptos"/>
                <a:ea typeface="Aptos"/>
                <a:cs typeface="Aptos"/>
              </a:rPr>
              <a:t>Economics</a:t>
            </a:r>
          </a:p>
          <a:p xmlns:a="http://schemas.openxmlformats.org/drawingml/2006/main">
            <a:pPr>
              <a:defRPr sz="1800" b="1">
                <a:solidFill>
                  <a:srgbClr val="17324D"/>
                </a:solidFill>
                <a:latin typeface="Aptos"/>
                <a:ea typeface="Aptos"/>
                <a:cs typeface="Aptos"/>
              </a:defRPr>
            </a:pPr>
            <a:r>
              <a:rPr sz="1800" b="1">
                <a:solidFill>
                  <a:srgbClr val="17324D"/>
                </a:solidFill>
                <a:latin typeface="Aptos"/>
                <a:ea typeface="Aptos"/>
                <a:cs typeface="Aptos"/>
              </a:rPr>
              <a:t>How individuals, businesses, and governments make decisions about unlimited wants and limited resources.</a:t>
            </a:r>
          </a:p>
        </p:txBody>
      </p:sp>
      <p:sp>
        <p:nvSpPr>
          <p:cNvPr id="7" name="">
            <a:extLst xmlns:a="http://schemas.openxmlformats.org/drawingml/2006/main">
              <a:ext uri="{FF2B5EF4-FFF2-40B4-BE49-F238E27FC236}">
                <a16:creationId xmlns:a16="http://schemas.microsoft.com/office/drawing/2014/main" id="{1783784A-F7C2-481E-94E1-4C66C8CB9222}"/>
              </a:ext>
            </a:extLst>
          </p:cNvPr>
          <p:cNvSpPr>
            <a:spLocks xmlns:a="http://schemas.openxmlformats.org/drawingml/2006/main" noGrp="1"/>
          </p:cNvSpPr>
          <p:nvPr/>
        </p:nvSpPr>
        <p:spPr>
          <a:xfrm xmlns:a="http://schemas.openxmlformats.org/drawingml/2006/main">
            <a:off x="6667500" y="1809750"/>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950" b="1" i="0">
                <a:solidFill>
                  <a:srgbClr val="17324D"/>
                </a:solidFill>
                <a:latin typeface="Aptos"/>
                <a:ea typeface="Aptos"/>
                <a:cs typeface="Aptos"/>
              </a:defRPr>
            </a:pPr>
            <a:r>
              <a:rPr sz="1950" b="1" i="0">
                <a:solidFill>
                  <a:srgbClr val="17324D"/>
                </a:solidFill>
                <a:latin typeface="Aptos"/>
                <a:ea typeface="Aptos"/>
                <a:cs typeface="Aptos"/>
              </a:rPr>
              <a:t>Business activities</a:t>
            </a:r>
          </a:p>
        </p:txBody>
      </p:sp>
      <p:sp>
        <p:nvSpPr>
          <p:cNvPr id="8" name="">
            <a:extLst xmlns:a="http://schemas.openxmlformats.org/drawingml/2006/main">
              <a:ext uri="{FF2B5EF4-FFF2-40B4-BE49-F238E27FC236}">
                <a16:creationId xmlns:a16="http://schemas.microsoft.com/office/drawing/2014/main" id="{D929AA15-89AA-4E59-AED3-801B78659DF6}"/>
              </a:ext>
            </a:extLst>
          </p:cNvPr>
          <p:cNvSpPr>
            <a:spLocks xmlns:a="http://schemas.openxmlformats.org/drawingml/2006/main" noGrp="1"/>
          </p:cNvSpPr>
          <p:nvPr/>
        </p:nvSpPr>
        <p:spPr>
          <a:xfrm xmlns:a="http://schemas.openxmlformats.org/drawingml/2006/main">
            <a:off x="6667500" y="2333625"/>
            <a:ext cx="1714500" cy="476250"/>
          </a:xfrm>
          <a:prstGeom xmlns:a="http://schemas.openxmlformats.org/drawingml/2006/main" prst="roundRect">
            <a:avLst>
              <a:gd name="adj" fmla="val 16000"/>
            </a:avLst>
          </a:prstGeom>
          <a:solidFill xmlns:a="http://schemas.openxmlformats.org/drawingml/2006/main">
            <a:srgbClr val="2A9D8F"/>
          </a:solidFill>
          <a:ln xmlns:a="http://schemas.openxmlformats.org/drawingml/2006/main" w="14288">
            <a:solidFill>
              <a:srgbClr val="2A9D8F"/>
            </a:solidFill>
          </a:ln>
        </p:spPr>
        <p:txBody>
          <a:bodyPr xmlns:a="http://schemas.openxmlformats.org/drawingml/2006/main"/>
          <a:lstStyle xmlns:a="http://schemas.openxmlformats.org/drawingml/2006/main"/>
          <a:p xmlns:a="http://schemas.openxmlformats.org/drawingml/2006/main">
            <a:pPr>
              <a:defRPr sz="1650" b="1">
                <a:solidFill>
                  <a:srgbClr val="FFFFFF"/>
                </a:solidFill>
                <a:latin typeface="Aptos"/>
                <a:ea typeface="Aptos"/>
                <a:cs typeface="Aptos"/>
              </a:defRPr>
            </a:pPr>
            <a:r>
              <a:rPr sz="1650" b="1">
                <a:solidFill>
                  <a:srgbClr val="FFFFFF"/>
                </a:solidFill>
                <a:latin typeface="Aptos"/>
                <a:ea typeface="Aptos"/>
                <a:cs typeface="Aptos"/>
              </a:rPr>
              <a:t>Operational</a:t>
            </a:r>
          </a:p>
        </p:txBody>
      </p:sp>
      <p:sp>
        <p:nvSpPr>
          <p:cNvPr id="9" name="">
            <a:extLst xmlns:a="http://schemas.openxmlformats.org/drawingml/2006/main">
              <a:ext uri="{FF2B5EF4-FFF2-40B4-BE49-F238E27FC236}">
                <a16:creationId xmlns:a16="http://schemas.microsoft.com/office/drawing/2014/main" id="{6DE8E8F3-6B01-46D3-82DE-0C2E23474893}"/>
              </a:ext>
            </a:extLst>
          </p:cNvPr>
          <p:cNvSpPr>
            <a:spLocks xmlns:a="http://schemas.openxmlformats.org/drawingml/2006/main" noGrp="1"/>
          </p:cNvSpPr>
          <p:nvPr/>
        </p:nvSpPr>
        <p:spPr>
          <a:xfrm xmlns:a="http://schemas.openxmlformats.org/drawingml/2006/main">
            <a:off x="8620125" y="2371725"/>
            <a:ext cx="266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production, research, hiring</a:t>
            </a:r>
          </a:p>
        </p:txBody>
      </p:sp>
      <p:sp>
        <p:nvSpPr>
          <p:cNvPr id="10" name="">
            <a:extLst xmlns:a="http://schemas.openxmlformats.org/drawingml/2006/main">
              <a:ext uri="{FF2B5EF4-FFF2-40B4-BE49-F238E27FC236}">
                <a16:creationId xmlns:a16="http://schemas.microsoft.com/office/drawing/2014/main" id="{6BE2620A-0D46-45C0-B839-DEC26C160899}"/>
              </a:ext>
            </a:extLst>
          </p:cNvPr>
          <p:cNvSpPr>
            <a:spLocks xmlns:a="http://schemas.openxmlformats.org/drawingml/2006/main" noGrp="1"/>
          </p:cNvSpPr>
          <p:nvPr/>
        </p:nvSpPr>
        <p:spPr>
          <a:xfrm xmlns:a="http://schemas.openxmlformats.org/drawingml/2006/main">
            <a:off x="6667500" y="3209925"/>
            <a:ext cx="1714500" cy="476250"/>
          </a:xfrm>
          <a:prstGeom xmlns:a="http://schemas.openxmlformats.org/drawingml/2006/main" prst="roundRect">
            <a:avLst>
              <a:gd name="adj" fmla="val 16000"/>
            </a:avLst>
          </a:prstGeom>
          <a:solidFill xmlns:a="http://schemas.openxmlformats.org/drawingml/2006/main">
            <a:srgbClr val="F4A261"/>
          </a:solidFill>
          <a:ln xmlns:a="http://schemas.openxmlformats.org/drawingml/2006/main" w="14288">
            <a:solidFill>
              <a:srgbClr val="F4A261"/>
            </a:solidFill>
          </a:ln>
        </p:spPr>
        <p:txBody>
          <a:bodyPr xmlns:a="http://schemas.openxmlformats.org/drawingml/2006/main"/>
          <a:lstStyle xmlns:a="http://schemas.openxmlformats.org/drawingml/2006/main"/>
          <a:p xmlns:a="http://schemas.openxmlformats.org/drawingml/2006/main">
            <a:pPr>
              <a:defRPr sz="1650" b="1">
                <a:solidFill>
                  <a:srgbClr val="FFFFFF"/>
                </a:solidFill>
                <a:latin typeface="Aptos"/>
                <a:ea typeface="Aptos"/>
                <a:cs typeface="Aptos"/>
              </a:defRPr>
            </a:pPr>
            <a:r>
              <a:rPr sz="1650" b="1">
                <a:solidFill>
                  <a:srgbClr val="FFFFFF"/>
                </a:solidFill>
                <a:latin typeface="Aptos"/>
                <a:ea typeface="Aptos"/>
                <a:cs typeface="Aptos"/>
              </a:rPr>
              <a:t>Investing</a:t>
            </a:r>
          </a:p>
        </p:txBody>
      </p:sp>
      <p:sp>
        <p:nvSpPr>
          <p:cNvPr id="11" name="">
            <a:extLst xmlns:a="http://schemas.openxmlformats.org/drawingml/2006/main">
              <a:ext uri="{FF2B5EF4-FFF2-40B4-BE49-F238E27FC236}">
                <a16:creationId xmlns:a16="http://schemas.microsoft.com/office/drawing/2014/main" id="{7892489E-92F6-409F-AEEF-72C5A68772CE}"/>
              </a:ext>
            </a:extLst>
          </p:cNvPr>
          <p:cNvSpPr>
            <a:spLocks xmlns:a="http://schemas.openxmlformats.org/drawingml/2006/main" noGrp="1"/>
          </p:cNvSpPr>
          <p:nvPr/>
        </p:nvSpPr>
        <p:spPr>
          <a:xfrm xmlns:a="http://schemas.openxmlformats.org/drawingml/2006/main">
            <a:off x="8620125" y="3248025"/>
            <a:ext cx="266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buildings, materials, growth</a:t>
            </a:r>
          </a:p>
        </p:txBody>
      </p:sp>
      <p:sp>
        <p:nvSpPr>
          <p:cNvPr id="12" name="">
            <a:extLst xmlns:a="http://schemas.openxmlformats.org/drawingml/2006/main">
              <a:ext uri="{FF2B5EF4-FFF2-40B4-BE49-F238E27FC236}">
                <a16:creationId xmlns:a16="http://schemas.microsoft.com/office/drawing/2014/main" id="{32F26D24-3E69-46D9-AD13-24A6F2D2AB94}"/>
              </a:ext>
            </a:extLst>
          </p:cNvPr>
          <p:cNvSpPr>
            <a:spLocks xmlns:a="http://schemas.openxmlformats.org/drawingml/2006/main" noGrp="1"/>
          </p:cNvSpPr>
          <p:nvPr/>
        </p:nvSpPr>
        <p:spPr>
          <a:xfrm xmlns:a="http://schemas.openxmlformats.org/drawingml/2006/main">
            <a:off x="6667500" y="4086225"/>
            <a:ext cx="1714500" cy="476250"/>
          </a:xfrm>
          <a:prstGeom xmlns:a="http://schemas.openxmlformats.org/drawingml/2006/main" prst="roundRect">
            <a:avLst>
              <a:gd name="adj" fmla="val 16000"/>
            </a:avLst>
          </a:prstGeom>
          <a:solidFill xmlns:a="http://schemas.openxmlformats.org/drawingml/2006/main">
            <a:srgbClr val="E76F51"/>
          </a:solidFill>
          <a:ln xmlns:a="http://schemas.openxmlformats.org/drawingml/2006/main" w="14288">
            <a:solidFill>
              <a:srgbClr val="E76F51"/>
            </a:solidFill>
          </a:ln>
        </p:spPr>
        <p:txBody>
          <a:bodyPr xmlns:a="http://schemas.openxmlformats.org/drawingml/2006/main"/>
          <a:lstStyle xmlns:a="http://schemas.openxmlformats.org/drawingml/2006/main"/>
          <a:p xmlns:a="http://schemas.openxmlformats.org/drawingml/2006/main">
            <a:pPr>
              <a:defRPr sz="1650" b="1">
                <a:solidFill>
                  <a:srgbClr val="FFFFFF"/>
                </a:solidFill>
                <a:latin typeface="Aptos"/>
                <a:ea typeface="Aptos"/>
                <a:cs typeface="Aptos"/>
              </a:defRPr>
            </a:pPr>
            <a:r>
              <a:rPr sz="1650" b="1">
                <a:solidFill>
                  <a:srgbClr val="FFFFFF"/>
                </a:solidFill>
                <a:latin typeface="Aptos"/>
                <a:ea typeface="Aptos"/>
                <a:cs typeface="Aptos"/>
              </a:rPr>
              <a:t>Financial</a:t>
            </a:r>
          </a:p>
        </p:txBody>
      </p:sp>
      <p:sp>
        <p:nvSpPr>
          <p:cNvPr id="13" name="">
            <a:extLst xmlns:a="http://schemas.openxmlformats.org/drawingml/2006/main">
              <a:ext uri="{FF2B5EF4-FFF2-40B4-BE49-F238E27FC236}">
                <a16:creationId xmlns:a16="http://schemas.microsoft.com/office/drawing/2014/main" id="{FF29E7CE-F393-4103-BDB0-0CA68ACDB1A1}"/>
              </a:ext>
            </a:extLst>
          </p:cNvPr>
          <p:cNvSpPr>
            <a:spLocks xmlns:a="http://schemas.openxmlformats.org/drawingml/2006/main" noGrp="1"/>
          </p:cNvSpPr>
          <p:nvPr/>
        </p:nvSpPr>
        <p:spPr>
          <a:xfrm xmlns:a="http://schemas.openxmlformats.org/drawingml/2006/main">
            <a:off x="8620125" y="4124325"/>
            <a:ext cx="266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collecting money, paying costs</a:t>
            </a:r>
          </a:p>
        </p:txBody>
      </p:sp>
      <p:sp>
        <p:nvSpPr>
          <p:cNvPr id="14" name="">
            <a:extLst xmlns:a="http://schemas.openxmlformats.org/drawingml/2006/main">
              <a:ext uri="{FF2B5EF4-FFF2-40B4-BE49-F238E27FC236}">
                <a16:creationId xmlns:a16="http://schemas.microsoft.com/office/drawing/2014/main" id="{E01631A5-BDE5-43B8-BFBF-121A901AAB53}"/>
              </a:ext>
            </a:extLst>
          </p:cNvPr>
          <p:cNvSpPr>
            <a:spLocks xmlns:a="http://schemas.openxmlformats.org/drawingml/2006/main" noGrp="1"/>
          </p:cNvSpPr>
          <p:nvPr/>
        </p:nvSpPr>
        <p:spPr>
          <a:xfrm xmlns:a="http://schemas.openxmlformats.org/drawingml/2006/main">
            <a:off x="2000250" y="4857750"/>
            <a:ext cx="8191500" cy="781050"/>
          </a:xfrm>
          <a:prstGeom xmlns:a="http://schemas.openxmlformats.org/drawingml/2006/main" prst="roundRect">
            <a:avLst>
              <a:gd name="adj" fmla="val 9756"/>
            </a:avLst>
          </a:prstGeom>
          <a:solidFill xmlns:a="http://schemas.openxmlformats.org/drawingml/2006/main">
            <a:srgbClr val="DDEEF2"/>
          </a:solidFill>
          <a:ln xmlns:a="http://schemas.openxmlformats.org/drawingml/2006/main" w="14288">
            <a:solidFill>
              <a:srgbClr val="DDEEF2"/>
            </a:solidFill>
          </a:ln>
        </p:spPr>
        <p:txBody>
          <a:bodyPr xmlns:a="http://schemas.openxmlformats.org/drawingml/2006/main"/>
          <a:lstStyle xmlns:a="http://schemas.openxmlformats.org/drawingml/2006/main"/>
          <a:p xmlns:a="http://schemas.openxmlformats.org/drawingml/2006/main">
            <a:pPr>
              <a:defRPr sz="1875" b="1">
                <a:solidFill>
                  <a:srgbClr val="17324D"/>
                </a:solidFill>
                <a:latin typeface="Aptos"/>
                <a:ea typeface="Aptos"/>
                <a:cs typeface="Aptos"/>
              </a:defRPr>
            </a:pPr>
            <a:r>
              <a:rPr sz="1875" b="1">
                <a:solidFill>
                  <a:srgbClr val="17324D"/>
                </a:solidFill>
                <a:latin typeface="Aptos"/>
                <a:ea typeface="Aptos"/>
                <a:cs typeface="Aptos"/>
              </a:rPr>
              <a:t>Team question</a:t>
            </a:r>
          </a:p>
          <a:p xmlns:a="http://schemas.openxmlformats.org/drawingml/2006/main">
            <a:pPr>
              <a:defRPr sz="1875" b="1">
                <a:solidFill>
                  <a:srgbClr val="17324D"/>
                </a:solidFill>
                <a:latin typeface="Aptos"/>
                <a:ea typeface="Aptos"/>
                <a:cs typeface="Aptos"/>
              </a:defRPr>
            </a:pPr>
            <a:r>
              <a:rPr sz="1875" b="1">
                <a:solidFill>
                  <a:srgbClr val="17324D"/>
                </a:solidFill>
                <a:latin typeface="Aptos"/>
                <a:ea typeface="Aptos"/>
                <a:cs typeface="Aptos"/>
              </a:rPr>
              <a:t>Which business choice uses a limited resource, and what goal does it support?</a:t>
            </a:r>
          </a:p>
        </p:txBody>
      </p:sp>
    </p:spTree>
    <p:extLst>
      <p:ext uri="{BB962C8B-B14F-4D97-AF65-F5344CB8AC3E}">
        <p14:creationId xmlns:p14="http://schemas.microsoft.com/office/powerpoint/2010/main" val="896898067"/>
      </p:ext>
    </p:extLst>
  </p:cSld>
</p:sld>
</file>

<file path=ppt/slides/slide7.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0C39603-F17F-4D6E-96ED-20A3D8162CD7}"/>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2A9D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696CDA-56C1-4891-9E04-4CD2F09D8CDD}"/>
              </a:ext>
            </a:extLst>
          </p:cNvPr>
          <p:cNvSpPr>
            <a:spLocks xmlns:a="http://schemas.openxmlformats.org/drawingml/2006/main" noGrp="1"/>
          </p:cNvSpPr>
          <p:nvPr/>
        </p:nvSpPr>
        <p:spPr>
          <a:xfrm xmlns:a="http://schemas.openxmlformats.org/drawingml/2006/main">
            <a:off x="609600" y="640080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i="0">
                <a:solidFill>
                  <a:srgbClr val="6D7B86"/>
                </a:solidFill>
                <a:latin typeface="Aptos"/>
                <a:ea typeface="Aptos"/>
                <a:cs typeface="Aptos"/>
              </a:defRPr>
            </a:pPr>
            <a:r>
              <a:rPr sz="975" b="1" i="0">
                <a:solidFill>
                  <a:srgbClr val="6D7B86"/>
                </a:solidFill>
                <a:latin typeface="Aptos"/>
                <a:ea typeface="Aptos"/>
                <a:cs typeface="Aptos"/>
              </a:rPr>
              <a:t>BUSINESS COURSE · MICROSOFT 365</a:t>
            </a:r>
          </a:p>
        </p:txBody>
      </p:sp>
      <p:sp>
        <p:nvSpPr>
          <p:cNvPr id="3" name="">
            <a:extLst xmlns:a="http://schemas.openxmlformats.org/drawingml/2006/main">
              <a:ext uri="{FF2B5EF4-FFF2-40B4-BE49-F238E27FC236}">
                <a16:creationId xmlns:a16="http://schemas.microsoft.com/office/drawing/2014/main" id="{631C46B1-4DEF-4C54-984F-28D4CF0CC3A6}"/>
              </a:ext>
            </a:extLst>
          </p:cNvPr>
          <p:cNvSpPr>
            <a:spLocks xmlns:a="http://schemas.openxmlformats.org/drawingml/2006/main" noGrp="1"/>
          </p:cNvSpPr>
          <p:nvPr/>
        </p:nvSpPr>
        <p:spPr>
          <a:xfrm xmlns:a="http://schemas.openxmlformats.org/drawingml/2006/main">
            <a:off x="11144250" y="6362700"/>
            <a:ext cx="43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1" i="0">
                <a:solidFill>
                  <a:srgbClr val="6D7B86"/>
                </a:solidFill>
                <a:latin typeface="Aptos"/>
                <a:ea typeface="Aptos"/>
                <a:cs typeface="Aptos"/>
              </a:defRPr>
            </a:pPr>
            <a:r>
              <a:rPr sz="1125" b="1" i="0">
                <a:solidFill>
                  <a:srgbClr val="6D7B86"/>
                </a:solidFill>
                <a:latin typeface="Aptos"/>
                <a:ea typeface="Aptos"/>
                <a:cs typeface="Aptos"/>
              </a:rPr>
              <a:t>07</a:t>
            </a:r>
          </a:p>
        </p:txBody>
      </p:sp>
      <p:sp>
        <p:nvSpPr>
          <p:cNvPr id="4" name="">
            <a:extLst xmlns:a="http://schemas.openxmlformats.org/drawingml/2006/main">
              <a:ext uri="{FF2B5EF4-FFF2-40B4-BE49-F238E27FC236}">
                <a16:creationId xmlns:a16="http://schemas.microsoft.com/office/drawing/2014/main" id="{22B72678-6F0C-445E-B8A5-877B299AE28C}"/>
              </a:ext>
            </a:extLst>
          </p:cNvPr>
          <p:cNvSpPr>
            <a:spLocks xmlns:a="http://schemas.openxmlformats.org/drawingml/2006/main" noGrp="1"/>
          </p:cNvSpPr>
          <p:nvPr/>
        </p:nvSpPr>
        <p:spPr>
          <a:xfrm xmlns:a="http://schemas.openxmlformats.org/drawingml/2006/main">
            <a:off x="609600" y="4953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925" b="1" i="0">
                <a:solidFill>
                  <a:srgbClr val="17324D"/>
                </a:solidFill>
                <a:latin typeface="Aptos"/>
                <a:ea typeface="Aptos"/>
                <a:cs typeface="Aptos"/>
              </a:defRPr>
            </a:pPr>
            <a:r>
              <a:rPr sz="2925" b="1" i="0">
                <a:solidFill>
                  <a:srgbClr val="17324D"/>
                </a:solidFill>
                <a:latin typeface="Aptos"/>
                <a:ea typeface="Aptos"/>
                <a:cs typeface="Aptos"/>
              </a:rPr>
              <a:t>Marketing concept</a:t>
            </a:r>
          </a:p>
        </p:txBody>
      </p:sp>
      <p:sp>
        <p:nvSpPr>
          <p:cNvPr id="5" name="">
            <a:extLst xmlns:a="http://schemas.openxmlformats.org/drawingml/2006/main">
              <a:ext uri="{FF2B5EF4-FFF2-40B4-BE49-F238E27FC236}">
                <a16:creationId xmlns:a16="http://schemas.microsoft.com/office/drawing/2014/main" id="{D3DC7F10-95B1-40CC-9B7D-874CE0C23A9C}"/>
              </a:ext>
            </a:extLst>
          </p:cNvPr>
          <p:cNvSpPr>
            <a:spLocks xmlns:a="http://schemas.openxmlformats.org/drawingml/2006/main" noGrp="1"/>
          </p:cNvSpPr>
          <p:nvPr/>
        </p:nvSpPr>
        <p:spPr>
          <a:xfrm xmlns:a="http://schemas.openxmlformats.org/drawingml/2006/main">
            <a:off x="628650" y="10668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6D7B86"/>
                </a:solidFill>
                <a:latin typeface="Aptos"/>
                <a:ea typeface="Aptos"/>
                <a:cs typeface="Aptos"/>
              </a:defRPr>
            </a:pPr>
            <a:r>
              <a:rPr sz="1500" b="0" i="0">
                <a:solidFill>
                  <a:srgbClr val="6D7B86"/>
                </a:solidFill>
                <a:latin typeface="Aptos"/>
                <a:ea typeface="Aptos"/>
                <a:cs typeface="Aptos"/>
              </a:rPr>
              <a:t>A business connects customer needs, company goals, and profits.</a:t>
            </a:r>
          </a:p>
        </p:txBody>
      </p:sp>
      <p:sp>
        <p:nvSpPr>
          <p:cNvPr id="6" name="">
            <a:extLst xmlns:a="http://schemas.openxmlformats.org/drawingml/2006/main">
              <a:ext uri="{FF2B5EF4-FFF2-40B4-BE49-F238E27FC236}">
                <a16:creationId xmlns:a16="http://schemas.microsoft.com/office/drawing/2014/main" id="{8A0C2419-6A1B-457F-B838-8FCC3C33271B}"/>
              </a:ext>
            </a:extLst>
          </p:cNvPr>
          <p:cNvSpPr>
            <a:spLocks xmlns:a="http://schemas.openxmlformats.org/drawingml/2006/main" noGrp="1"/>
          </p:cNvSpPr>
          <p:nvPr/>
        </p:nvSpPr>
        <p:spPr>
          <a:xfrm xmlns:a="http://schemas.openxmlformats.org/drawingml/2006/main">
            <a:off x="857250" y="2000250"/>
            <a:ext cx="2857500" cy="666750"/>
          </a:xfrm>
          <a:prstGeom xmlns:a="http://schemas.openxmlformats.org/drawingml/2006/main" prst="roundRect">
            <a:avLst>
              <a:gd name="adj" fmla="val 11429"/>
            </a:avLst>
          </a:prstGeom>
          <a:solidFill xmlns:a="http://schemas.openxmlformats.org/drawingml/2006/main">
            <a:srgbClr val="2A9D8F"/>
          </a:solidFill>
          <a:ln xmlns:a="http://schemas.openxmlformats.org/drawingml/2006/main" w="14288">
            <a:solidFill>
              <a:srgbClr val="2A9D8F"/>
            </a:solidFill>
          </a:ln>
        </p:spPr>
        <p:txBody>
          <a:bodyPr xmlns:a="http://schemas.openxmlformats.org/drawingml/2006/main"/>
          <a:lstStyle xmlns:a="http://schemas.openxmlformats.org/drawingml/2006/main"/>
          <a:p xmlns:a="http://schemas.openxmlformats.org/drawingml/2006/main">
            <a:pPr>
              <a:defRPr sz="2100" b="1">
                <a:solidFill>
                  <a:srgbClr val="FFFFFF"/>
                </a:solidFill>
                <a:latin typeface="Aptos"/>
                <a:ea typeface="Aptos"/>
                <a:cs typeface="Aptos"/>
              </a:defRPr>
            </a:pPr>
            <a:r>
              <a:rPr sz="2100" b="1">
                <a:solidFill>
                  <a:srgbClr val="FFFFFF"/>
                </a:solidFill>
                <a:latin typeface="Aptos"/>
                <a:ea typeface="Aptos"/>
                <a:cs typeface="Aptos"/>
              </a:rPr>
              <a:t>Customer needs</a:t>
            </a:r>
          </a:p>
        </p:txBody>
      </p:sp>
      <p:sp>
        <p:nvSpPr>
          <p:cNvPr id="7" name="">
            <a:extLst xmlns:a="http://schemas.openxmlformats.org/drawingml/2006/main">
              <a:ext uri="{FF2B5EF4-FFF2-40B4-BE49-F238E27FC236}">
                <a16:creationId xmlns:a16="http://schemas.microsoft.com/office/drawing/2014/main" id="{38BEE130-7179-40B2-9738-4E425D77B33A}"/>
              </a:ext>
            </a:extLst>
          </p:cNvPr>
          <p:cNvSpPr>
            <a:spLocks xmlns:a="http://schemas.openxmlformats.org/drawingml/2006/main" noGrp="1"/>
          </p:cNvSpPr>
          <p:nvPr/>
        </p:nvSpPr>
        <p:spPr>
          <a:xfrm xmlns:a="http://schemas.openxmlformats.org/drawingml/2006/main">
            <a:off x="857250" y="2905125"/>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What do people want or need?</a:t>
            </a:r>
          </a:p>
        </p:txBody>
      </p:sp>
      <p:sp>
        <p:nvSpPr>
          <p:cNvPr id="8" name="">
            <a:extLst xmlns:a="http://schemas.openxmlformats.org/drawingml/2006/main">
              <a:ext uri="{FF2B5EF4-FFF2-40B4-BE49-F238E27FC236}">
                <a16:creationId xmlns:a16="http://schemas.microsoft.com/office/drawing/2014/main" id="{83ED33B4-47B8-4EAB-A4CC-84E42F80EEAA}"/>
              </a:ext>
            </a:extLst>
          </p:cNvPr>
          <p:cNvSpPr>
            <a:spLocks xmlns:a="http://schemas.openxmlformats.org/drawingml/2006/main" noGrp="1"/>
          </p:cNvSpPr>
          <p:nvPr/>
        </p:nvSpPr>
        <p:spPr>
          <a:xfrm xmlns:a="http://schemas.openxmlformats.org/drawingml/2006/main">
            <a:off x="4524375" y="2000250"/>
            <a:ext cx="2857500" cy="666750"/>
          </a:xfrm>
          <a:prstGeom xmlns:a="http://schemas.openxmlformats.org/drawingml/2006/main" prst="roundRect">
            <a:avLst>
              <a:gd name="adj" fmla="val 11429"/>
            </a:avLst>
          </a:prstGeom>
          <a:solidFill xmlns:a="http://schemas.openxmlformats.org/drawingml/2006/main">
            <a:srgbClr val="F4A261"/>
          </a:solidFill>
          <a:ln xmlns:a="http://schemas.openxmlformats.org/drawingml/2006/main" w="14288">
            <a:solidFill>
              <a:srgbClr val="F4A261"/>
            </a:solidFill>
          </a:ln>
        </p:spPr>
        <p:txBody>
          <a:bodyPr xmlns:a="http://schemas.openxmlformats.org/drawingml/2006/main"/>
          <a:lstStyle xmlns:a="http://schemas.openxmlformats.org/drawingml/2006/main"/>
          <a:p xmlns:a="http://schemas.openxmlformats.org/drawingml/2006/main">
            <a:pPr>
              <a:defRPr sz="2100" b="1">
                <a:solidFill>
                  <a:srgbClr val="FFFFFF"/>
                </a:solidFill>
                <a:latin typeface="Aptos"/>
                <a:ea typeface="Aptos"/>
                <a:cs typeface="Aptos"/>
              </a:defRPr>
            </a:pPr>
            <a:r>
              <a:rPr sz="2100" b="1">
                <a:solidFill>
                  <a:srgbClr val="FFFFFF"/>
                </a:solidFill>
                <a:latin typeface="Aptos"/>
                <a:ea typeface="Aptos"/>
                <a:cs typeface="Aptos"/>
              </a:rPr>
              <a:t>Company goals</a:t>
            </a:r>
          </a:p>
        </p:txBody>
      </p:sp>
      <p:sp>
        <p:nvSpPr>
          <p:cNvPr id="9" name="">
            <a:extLst xmlns:a="http://schemas.openxmlformats.org/drawingml/2006/main">
              <a:ext uri="{FF2B5EF4-FFF2-40B4-BE49-F238E27FC236}">
                <a16:creationId xmlns:a16="http://schemas.microsoft.com/office/drawing/2014/main" id="{BAC63114-1AD3-4432-AC20-26496520FA4D}"/>
              </a:ext>
            </a:extLst>
          </p:cNvPr>
          <p:cNvSpPr>
            <a:spLocks xmlns:a="http://schemas.openxmlformats.org/drawingml/2006/main" noGrp="1"/>
          </p:cNvSpPr>
          <p:nvPr/>
        </p:nvSpPr>
        <p:spPr>
          <a:xfrm xmlns:a="http://schemas.openxmlformats.org/drawingml/2006/main">
            <a:off x="4524375" y="2905125"/>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What is the business trying to achieve?</a:t>
            </a:r>
          </a:p>
        </p:txBody>
      </p:sp>
      <p:sp>
        <p:nvSpPr>
          <p:cNvPr id="10" name="">
            <a:extLst xmlns:a="http://schemas.openxmlformats.org/drawingml/2006/main">
              <a:ext uri="{FF2B5EF4-FFF2-40B4-BE49-F238E27FC236}">
                <a16:creationId xmlns:a16="http://schemas.microsoft.com/office/drawing/2014/main" id="{B17424B5-EBDF-426B-A860-83285B6D877C}"/>
              </a:ext>
            </a:extLst>
          </p:cNvPr>
          <p:cNvSpPr>
            <a:spLocks xmlns:a="http://schemas.openxmlformats.org/drawingml/2006/main" noGrp="1"/>
          </p:cNvSpPr>
          <p:nvPr/>
        </p:nvSpPr>
        <p:spPr>
          <a:xfrm xmlns:a="http://schemas.openxmlformats.org/drawingml/2006/main">
            <a:off x="8191500" y="2000250"/>
            <a:ext cx="2857500" cy="666750"/>
          </a:xfrm>
          <a:prstGeom xmlns:a="http://schemas.openxmlformats.org/drawingml/2006/main" prst="roundRect">
            <a:avLst>
              <a:gd name="adj" fmla="val 11429"/>
            </a:avLst>
          </a:prstGeom>
          <a:solidFill xmlns:a="http://schemas.openxmlformats.org/drawingml/2006/main">
            <a:srgbClr val="E76F51"/>
          </a:solidFill>
          <a:ln xmlns:a="http://schemas.openxmlformats.org/drawingml/2006/main" w="14288">
            <a:solidFill>
              <a:srgbClr val="E76F51"/>
            </a:solidFill>
          </a:ln>
        </p:spPr>
        <p:txBody>
          <a:bodyPr xmlns:a="http://schemas.openxmlformats.org/drawingml/2006/main"/>
          <a:lstStyle xmlns:a="http://schemas.openxmlformats.org/drawingml/2006/main"/>
          <a:p xmlns:a="http://schemas.openxmlformats.org/drawingml/2006/main">
            <a:pPr>
              <a:defRPr sz="2100" b="1">
                <a:solidFill>
                  <a:srgbClr val="FFFFFF"/>
                </a:solidFill>
                <a:latin typeface="Aptos"/>
                <a:ea typeface="Aptos"/>
                <a:cs typeface="Aptos"/>
              </a:defRPr>
            </a:pPr>
            <a:r>
              <a:rPr sz="2100" b="1">
                <a:solidFill>
                  <a:srgbClr val="FFFFFF"/>
                </a:solidFill>
                <a:latin typeface="Aptos"/>
                <a:ea typeface="Aptos"/>
                <a:cs typeface="Aptos"/>
              </a:rPr>
              <a:t>Profits</a:t>
            </a:r>
          </a:p>
        </p:txBody>
      </p:sp>
      <p:sp>
        <p:nvSpPr>
          <p:cNvPr id="11" name="">
            <a:extLst xmlns:a="http://schemas.openxmlformats.org/drawingml/2006/main">
              <a:ext uri="{FF2B5EF4-FFF2-40B4-BE49-F238E27FC236}">
                <a16:creationId xmlns:a16="http://schemas.microsoft.com/office/drawing/2014/main" id="{38E3EBDC-4DCD-4530-B5BC-89F28D9ADA97}"/>
              </a:ext>
            </a:extLst>
          </p:cNvPr>
          <p:cNvSpPr>
            <a:spLocks xmlns:a="http://schemas.openxmlformats.org/drawingml/2006/main" noGrp="1"/>
          </p:cNvSpPr>
          <p:nvPr/>
        </p:nvSpPr>
        <p:spPr>
          <a:xfrm xmlns:a="http://schemas.openxmlformats.org/drawingml/2006/main">
            <a:off x="8191500" y="2905125"/>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What remains after revenue minus expenses?</a:t>
            </a:r>
          </a:p>
        </p:txBody>
      </p:sp>
      <p:sp>
        <p:nvSpPr>
          <p:cNvPr id="12" name="">
            <a:extLst xmlns:a="http://schemas.openxmlformats.org/drawingml/2006/main">
              <a:ext uri="{FF2B5EF4-FFF2-40B4-BE49-F238E27FC236}">
                <a16:creationId xmlns:a16="http://schemas.microsoft.com/office/drawing/2014/main" id="{56D441F9-56C3-49C1-A7E4-8B2E181BEDF3}"/>
              </a:ext>
            </a:extLst>
          </p:cNvPr>
          <p:cNvSpPr>
            <a:spLocks xmlns:a="http://schemas.openxmlformats.org/drawingml/2006/main" noGrp="1"/>
          </p:cNvSpPr>
          <p:nvPr/>
        </p:nvSpPr>
        <p:spPr>
          <a:xfrm xmlns:a="http://schemas.openxmlformats.org/drawingml/2006/main">
            <a:off x="3714750" y="2333625"/>
            <a:ext cx="800100" cy="0"/>
          </a:xfrm>
          <a:prstGeom xmlns:a="http://schemas.openxmlformats.org/drawingml/2006/main" prst="line">
            <a:avLst/>
          </a:prstGeom>
          <a:noFill xmlns:a="http://schemas.openxmlformats.org/drawingml/2006/main"/>
          <a:ln xmlns:a="http://schemas.openxmlformats.org/drawingml/2006/main" w="28575">
            <a:solidFill>
              <a:srgbClr val="C7D5DA"/>
            </a:solidFill>
          </a:ln>
        </p:spPr>
      </p:sp>
      <p:sp>
        <p:nvSpPr>
          <p:cNvPr id="13" name="">
            <a:extLst xmlns:a="http://schemas.openxmlformats.org/drawingml/2006/main">
              <a:ext uri="{FF2B5EF4-FFF2-40B4-BE49-F238E27FC236}">
                <a16:creationId xmlns:a16="http://schemas.microsoft.com/office/drawing/2014/main" id="{A099C7CF-4BCD-47D5-9FFC-D671BAA7D88C}"/>
              </a:ext>
            </a:extLst>
          </p:cNvPr>
          <p:cNvSpPr>
            <a:spLocks xmlns:a="http://schemas.openxmlformats.org/drawingml/2006/main" noGrp="1"/>
          </p:cNvSpPr>
          <p:nvPr/>
        </p:nvSpPr>
        <p:spPr>
          <a:xfrm xmlns:a="http://schemas.openxmlformats.org/drawingml/2006/main">
            <a:off x="7381875" y="2333625"/>
            <a:ext cx="800100" cy="0"/>
          </a:xfrm>
          <a:prstGeom xmlns:a="http://schemas.openxmlformats.org/drawingml/2006/main" prst="line">
            <a:avLst/>
          </a:prstGeom>
          <a:noFill xmlns:a="http://schemas.openxmlformats.org/drawingml/2006/main"/>
          <a:ln xmlns:a="http://schemas.openxmlformats.org/drawingml/2006/main" w="28575">
            <a:solidFill>
              <a:srgbClr val="C7D5DA"/>
            </a:solidFill>
          </a:ln>
        </p:spPr>
      </p:sp>
      <p:sp>
        <p:nvSpPr>
          <p:cNvPr id="14" name="">
            <a:extLst xmlns:a="http://schemas.openxmlformats.org/drawingml/2006/main">
              <a:ext uri="{FF2B5EF4-FFF2-40B4-BE49-F238E27FC236}">
                <a16:creationId xmlns:a16="http://schemas.microsoft.com/office/drawing/2014/main" id="{A8959A6E-65F4-476D-8704-60B5EE9E2957}"/>
              </a:ext>
            </a:extLst>
          </p:cNvPr>
          <p:cNvSpPr>
            <a:spLocks xmlns:a="http://schemas.openxmlformats.org/drawingml/2006/main" noGrp="1"/>
          </p:cNvSpPr>
          <p:nvPr/>
        </p:nvSpPr>
        <p:spPr>
          <a:xfrm xmlns:a="http://schemas.openxmlformats.org/drawingml/2006/main">
            <a:off x="1714500" y="4476750"/>
            <a:ext cx="8763000" cy="876300"/>
          </a:xfrm>
          <a:prstGeom xmlns:a="http://schemas.openxmlformats.org/drawingml/2006/main" prst="roundRect">
            <a:avLst>
              <a:gd name="adj" fmla="val 8696"/>
            </a:avLst>
          </a:prstGeom>
          <a:solidFill xmlns:a="http://schemas.openxmlformats.org/drawingml/2006/main">
            <a:srgbClr val="E6F3EF"/>
          </a:solidFill>
          <a:ln xmlns:a="http://schemas.openxmlformats.org/drawingml/2006/main" w="14288">
            <a:solidFill>
              <a:srgbClr val="E6F3EF"/>
            </a:solidFill>
          </a:ln>
        </p:spPr>
        <p:txBody>
          <a:bodyPr xmlns:a="http://schemas.openxmlformats.org/drawingml/2006/main"/>
          <a:lstStyle xmlns:a="http://schemas.openxmlformats.org/drawingml/2006/main"/>
          <a:p xmlns:a="http://schemas.openxmlformats.org/drawingml/2006/main">
            <a:pPr>
              <a:defRPr sz="1950" b="1">
                <a:solidFill>
                  <a:srgbClr val="17324D"/>
                </a:solidFill>
                <a:latin typeface="Aptos"/>
                <a:ea typeface="Aptos"/>
                <a:cs typeface="Aptos"/>
              </a:defRPr>
            </a:pPr>
            <a:r>
              <a:rPr sz="1950" b="1">
                <a:solidFill>
                  <a:srgbClr val="17324D"/>
                </a:solidFill>
                <a:latin typeface="Aptos"/>
                <a:ea typeface="Aptos"/>
                <a:cs typeface="Aptos"/>
              </a:rPr>
              <a:t>When these pieces fit, a business can serve customers and work toward a larger market share.</a:t>
            </a:r>
          </a:p>
        </p:txBody>
      </p:sp>
      <p:sp>
        <p:nvSpPr>
          <p:cNvPr id="15" name="">
            <a:extLst xmlns:a="http://schemas.openxmlformats.org/drawingml/2006/main">
              <a:ext uri="{FF2B5EF4-FFF2-40B4-BE49-F238E27FC236}">
                <a16:creationId xmlns:a16="http://schemas.microsoft.com/office/drawing/2014/main" id="{D097FD64-07F6-4160-962C-5A57A04E3F40}"/>
              </a:ext>
            </a:extLst>
          </p:cNvPr>
          <p:cNvSpPr>
            <a:spLocks xmlns:a="http://schemas.openxmlformats.org/drawingml/2006/main" noGrp="1"/>
          </p:cNvSpPr>
          <p:nvPr/>
        </p:nvSpPr>
        <p:spPr>
          <a:xfrm xmlns:a="http://schemas.openxmlformats.org/drawingml/2006/main">
            <a:off x="1428750" y="5743575"/>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1">
                <a:solidFill>
                  <a:srgbClr val="17324D"/>
                </a:solidFill>
                <a:latin typeface="Aptos"/>
                <a:ea typeface="Aptos"/>
                <a:cs typeface="Aptos"/>
              </a:defRPr>
            </a:pPr>
            <a:r>
              <a:rPr sz="1575" b="0" i="1">
                <a:solidFill>
                  <a:srgbClr val="17324D"/>
                </a:solidFill>
                <a:latin typeface="Aptos"/>
                <a:ea typeface="Aptos"/>
                <a:cs typeface="Aptos"/>
              </a:rPr>
              <a:t>Scenario: A local food business wants to reach more customers. What should it learn first?</a:t>
            </a:r>
          </a:p>
        </p:txBody>
      </p:sp>
    </p:spTree>
    <p:extLst>
      <p:ext uri="{BB962C8B-B14F-4D97-AF65-F5344CB8AC3E}">
        <p14:creationId xmlns:p14="http://schemas.microsoft.com/office/powerpoint/2010/main" val="1625355230"/>
      </p:ext>
    </p:extLst>
  </p:cSld>
</p:sld>
</file>

<file path=ppt/slides/slide8.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E8BF912-00C4-4952-AA96-66FB2E9F1364}"/>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2A9D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FA1CF0-A1CC-47C0-BCEA-8A7734F08A2A}"/>
              </a:ext>
            </a:extLst>
          </p:cNvPr>
          <p:cNvSpPr>
            <a:spLocks xmlns:a="http://schemas.openxmlformats.org/drawingml/2006/main" noGrp="1"/>
          </p:cNvSpPr>
          <p:nvPr/>
        </p:nvSpPr>
        <p:spPr>
          <a:xfrm xmlns:a="http://schemas.openxmlformats.org/drawingml/2006/main">
            <a:off x="609600" y="640080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i="0">
                <a:solidFill>
                  <a:srgbClr val="6D7B86"/>
                </a:solidFill>
                <a:latin typeface="Aptos"/>
                <a:ea typeface="Aptos"/>
                <a:cs typeface="Aptos"/>
              </a:defRPr>
            </a:pPr>
            <a:r>
              <a:rPr sz="975" b="1" i="0">
                <a:solidFill>
                  <a:srgbClr val="6D7B86"/>
                </a:solidFill>
                <a:latin typeface="Aptos"/>
                <a:ea typeface="Aptos"/>
                <a:cs typeface="Aptos"/>
              </a:rPr>
              <a:t>BUSINESS COURSE · MICROSOFT 365</a:t>
            </a:r>
          </a:p>
        </p:txBody>
      </p:sp>
      <p:sp>
        <p:nvSpPr>
          <p:cNvPr id="3" name="">
            <a:extLst xmlns:a="http://schemas.openxmlformats.org/drawingml/2006/main">
              <a:ext uri="{FF2B5EF4-FFF2-40B4-BE49-F238E27FC236}">
                <a16:creationId xmlns:a16="http://schemas.microsoft.com/office/drawing/2014/main" id="{8E13E5FB-D986-46A5-96F6-B078CC1E3057}"/>
              </a:ext>
            </a:extLst>
          </p:cNvPr>
          <p:cNvSpPr>
            <a:spLocks xmlns:a="http://schemas.openxmlformats.org/drawingml/2006/main" noGrp="1"/>
          </p:cNvSpPr>
          <p:nvPr/>
        </p:nvSpPr>
        <p:spPr>
          <a:xfrm xmlns:a="http://schemas.openxmlformats.org/drawingml/2006/main">
            <a:off x="11144250" y="6362700"/>
            <a:ext cx="43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1" i="0">
                <a:solidFill>
                  <a:srgbClr val="6D7B86"/>
                </a:solidFill>
                <a:latin typeface="Aptos"/>
                <a:ea typeface="Aptos"/>
                <a:cs typeface="Aptos"/>
              </a:defRPr>
            </a:pPr>
            <a:r>
              <a:rPr sz="1125" b="1" i="0">
                <a:solidFill>
                  <a:srgbClr val="6D7B86"/>
                </a:solidFill>
                <a:latin typeface="Aptos"/>
                <a:ea typeface="Aptos"/>
                <a:cs typeface="Aptos"/>
              </a:rPr>
              <a:t>08</a:t>
            </a:r>
          </a:p>
        </p:txBody>
      </p:sp>
      <p:sp>
        <p:nvSpPr>
          <p:cNvPr id="4" name="">
            <a:extLst xmlns:a="http://schemas.openxmlformats.org/drawingml/2006/main">
              <a:ext uri="{FF2B5EF4-FFF2-40B4-BE49-F238E27FC236}">
                <a16:creationId xmlns:a16="http://schemas.microsoft.com/office/drawing/2014/main" id="{DC8E8789-69D5-44A4-A66D-F86E437097C4}"/>
              </a:ext>
            </a:extLst>
          </p:cNvPr>
          <p:cNvSpPr>
            <a:spLocks xmlns:a="http://schemas.openxmlformats.org/drawingml/2006/main" noGrp="1"/>
          </p:cNvSpPr>
          <p:nvPr/>
        </p:nvSpPr>
        <p:spPr>
          <a:xfrm xmlns:a="http://schemas.openxmlformats.org/drawingml/2006/main">
            <a:off x="609600" y="4953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925" b="1" i="0">
                <a:solidFill>
                  <a:srgbClr val="17324D"/>
                </a:solidFill>
                <a:latin typeface="Aptos"/>
                <a:ea typeface="Aptos"/>
                <a:cs typeface="Aptos"/>
              </a:defRPr>
            </a:pPr>
            <a:r>
              <a:rPr sz="2925" b="1" i="0">
                <a:solidFill>
                  <a:srgbClr val="17324D"/>
                </a:solidFill>
                <a:latin typeface="Aptos"/>
                <a:ea typeface="Aptos"/>
                <a:cs typeface="Aptos"/>
              </a:rPr>
              <a:t>Marketing mix: the 4 Ps</a:t>
            </a:r>
          </a:p>
        </p:txBody>
      </p:sp>
      <p:sp>
        <p:nvSpPr>
          <p:cNvPr id="5" name="">
            <a:extLst xmlns:a="http://schemas.openxmlformats.org/drawingml/2006/main">
              <a:ext uri="{FF2B5EF4-FFF2-40B4-BE49-F238E27FC236}">
                <a16:creationId xmlns:a16="http://schemas.microsoft.com/office/drawing/2014/main" id="{A1BE1992-B74E-460F-A31B-B8E7493953B5}"/>
              </a:ext>
            </a:extLst>
          </p:cNvPr>
          <p:cNvSpPr>
            <a:spLocks xmlns:a="http://schemas.openxmlformats.org/drawingml/2006/main" noGrp="1"/>
          </p:cNvSpPr>
          <p:nvPr/>
        </p:nvSpPr>
        <p:spPr>
          <a:xfrm xmlns:a="http://schemas.openxmlformats.org/drawingml/2006/main">
            <a:off x="628650" y="10668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6D7B86"/>
                </a:solidFill>
                <a:latin typeface="Aptos"/>
                <a:ea typeface="Aptos"/>
                <a:cs typeface="Aptos"/>
              </a:defRPr>
            </a:pPr>
            <a:r>
              <a:rPr sz="1500" b="0" i="0">
                <a:solidFill>
                  <a:srgbClr val="6D7B86"/>
                </a:solidFill>
                <a:latin typeface="Aptos"/>
                <a:ea typeface="Aptos"/>
                <a:cs typeface="Aptos"/>
              </a:rPr>
              <a:t>Each part helps a business meet customer needs and compete.</a:t>
            </a:r>
          </a:p>
        </p:txBody>
      </p:sp>
      <p:sp>
        <p:nvSpPr>
          <p:cNvPr id="6" name="">
            <a:extLst xmlns:a="http://schemas.openxmlformats.org/drawingml/2006/main">
              <a:ext uri="{FF2B5EF4-FFF2-40B4-BE49-F238E27FC236}">
                <a16:creationId xmlns:a16="http://schemas.microsoft.com/office/drawing/2014/main" id="{9C01BE8F-C51E-48D1-BA1F-26833CD0AD7E}"/>
              </a:ext>
            </a:extLst>
          </p:cNvPr>
          <p:cNvSpPr>
            <a:spLocks xmlns:a="http://schemas.openxmlformats.org/drawingml/2006/main" noGrp="1"/>
          </p:cNvSpPr>
          <p:nvPr/>
        </p:nvSpPr>
        <p:spPr>
          <a:xfrm xmlns:a="http://schemas.openxmlformats.org/drawingml/2006/main">
            <a:off x="781050" y="2095500"/>
            <a:ext cx="2095500" cy="685800"/>
          </a:xfrm>
          <a:prstGeom xmlns:a="http://schemas.openxmlformats.org/drawingml/2006/main" prst="roundRect">
            <a:avLst>
              <a:gd name="adj" fmla="val 11111"/>
            </a:avLst>
          </a:prstGeom>
          <a:solidFill xmlns:a="http://schemas.openxmlformats.org/drawingml/2006/main">
            <a:srgbClr val="2A9D8F"/>
          </a:solidFill>
          <a:ln xmlns:a="http://schemas.openxmlformats.org/drawingml/2006/main" w="14288">
            <a:solidFill>
              <a:srgbClr val="2A9D8F"/>
            </a:solidFill>
          </a:ln>
        </p:spPr>
        <p:txBody>
          <a:bodyPr xmlns:a="http://schemas.openxmlformats.org/drawingml/2006/main"/>
          <a:lstStyle xmlns:a="http://schemas.openxmlformats.org/drawingml/2006/main"/>
          <a:p xmlns:a="http://schemas.openxmlformats.org/drawingml/2006/main">
            <a:pPr>
              <a:defRPr sz="2175" b="1">
                <a:solidFill>
                  <a:srgbClr val="FFFFFF"/>
                </a:solidFill>
                <a:latin typeface="Aptos"/>
                <a:ea typeface="Aptos"/>
                <a:cs typeface="Aptos"/>
              </a:defRPr>
            </a:pPr>
            <a:r>
              <a:rPr sz="2175" b="1">
                <a:solidFill>
                  <a:srgbClr val="FFFFFF"/>
                </a:solidFill>
                <a:latin typeface="Aptos"/>
                <a:ea typeface="Aptos"/>
                <a:cs typeface="Aptos"/>
              </a:rPr>
              <a:t>Product</a:t>
            </a:r>
          </a:p>
        </p:txBody>
      </p:sp>
      <p:sp>
        <p:nvSpPr>
          <p:cNvPr id="7" name="">
            <a:extLst xmlns:a="http://schemas.openxmlformats.org/drawingml/2006/main">
              <a:ext uri="{FF2B5EF4-FFF2-40B4-BE49-F238E27FC236}">
                <a16:creationId xmlns:a16="http://schemas.microsoft.com/office/drawing/2014/main" id="{B6B37AC8-1488-4249-9B7F-74452C79A533}"/>
              </a:ext>
            </a:extLst>
          </p:cNvPr>
          <p:cNvSpPr>
            <a:spLocks xmlns:a="http://schemas.openxmlformats.org/drawingml/2006/main" noGrp="1"/>
          </p:cNvSpPr>
          <p:nvPr/>
        </p:nvSpPr>
        <p:spPr>
          <a:xfrm xmlns:a="http://schemas.openxmlformats.org/drawingml/2006/main">
            <a:off x="781050" y="304800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What is offered?</a:t>
            </a:r>
          </a:p>
        </p:txBody>
      </p:sp>
      <p:sp>
        <p:nvSpPr>
          <p:cNvPr id="8" name="">
            <a:extLst xmlns:a="http://schemas.openxmlformats.org/drawingml/2006/main">
              <a:ext uri="{FF2B5EF4-FFF2-40B4-BE49-F238E27FC236}">
                <a16:creationId xmlns:a16="http://schemas.microsoft.com/office/drawing/2014/main" id="{D839B14D-39F4-427D-B9AF-B644F5229099}"/>
              </a:ext>
            </a:extLst>
          </p:cNvPr>
          <p:cNvSpPr>
            <a:spLocks xmlns:a="http://schemas.openxmlformats.org/drawingml/2006/main" noGrp="1"/>
          </p:cNvSpPr>
          <p:nvPr/>
        </p:nvSpPr>
        <p:spPr>
          <a:xfrm xmlns:a="http://schemas.openxmlformats.org/drawingml/2006/main">
            <a:off x="3505200" y="2095500"/>
            <a:ext cx="2095500" cy="685800"/>
          </a:xfrm>
          <a:prstGeom xmlns:a="http://schemas.openxmlformats.org/drawingml/2006/main" prst="roundRect">
            <a:avLst>
              <a:gd name="adj" fmla="val 11111"/>
            </a:avLst>
          </a:prstGeom>
          <a:solidFill xmlns:a="http://schemas.openxmlformats.org/drawingml/2006/main">
            <a:srgbClr val="F4A261"/>
          </a:solidFill>
          <a:ln xmlns:a="http://schemas.openxmlformats.org/drawingml/2006/main" w="14288">
            <a:solidFill>
              <a:srgbClr val="F4A261"/>
            </a:solidFill>
          </a:ln>
        </p:spPr>
        <p:txBody>
          <a:bodyPr xmlns:a="http://schemas.openxmlformats.org/drawingml/2006/main"/>
          <a:lstStyle xmlns:a="http://schemas.openxmlformats.org/drawingml/2006/main"/>
          <a:p xmlns:a="http://schemas.openxmlformats.org/drawingml/2006/main">
            <a:pPr>
              <a:defRPr sz="2175" b="1">
                <a:solidFill>
                  <a:srgbClr val="FFFFFF"/>
                </a:solidFill>
                <a:latin typeface="Aptos"/>
                <a:ea typeface="Aptos"/>
                <a:cs typeface="Aptos"/>
              </a:defRPr>
            </a:pPr>
            <a:r>
              <a:rPr sz="2175" b="1">
                <a:solidFill>
                  <a:srgbClr val="FFFFFF"/>
                </a:solidFill>
                <a:latin typeface="Aptos"/>
                <a:ea typeface="Aptos"/>
                <a:cs typeface="Aptos"/>
              </a:rPr>
              <a:t>Promotion</a:t>
            </a:r>
          </a:p>
        </p:txBody>
      </p:sp>
      <p:sp>
        <p:nvSpPr>
          <p:cNvPr id="9" name="">
            <a:extLst xmlns:a="http://schemas.openxmlformats.org/drawingml/2006/main">
              <a:ext uri="{FF2B5EF4-FFF2-40B4-BE49-F238E27FC236}">
                <a16:creationId xmlns:a16="http://schemas.microsoft.com/office/drawing/2014/main" id="{126C429B-8004-46DE-8E91-4291E6D99B23}"/>
              </a:ext>
            </a:extLst>
          </p:cNvPr>
          <p:cNvSpPr>
            <a:spLocks xmlns:a="http://schemas.openxmlformats.org/drawingml/2006/main" noGrp="1"/>
          </p:cNvSpPr>
          <p:nvPr/>
        </p:nvSpPr>
        <p:spPr>
          <a:xfrm xmlns:a="http://schemas.openxmlformats.org/drawingml/2006/main">
            <a:off x="3505200" y="304800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How is the message shared?</a:t>
            </a:r>
          </a:p>
        </p:txBody>
      </p:sp>
      <p:sp>
        <p:nvSpPr>
          <p:cNvPr id="10" name="">
            <a:extLst xmlns:a="http://schemas.openxmlformats.org/drawingml/2006/main">
              <a:ext uri="{FF2B5EF4-FFF2-40B4-BE49-F238E27FC236}">
                <a16:creationId xmlns:a16="http://schemas.microsoft.com/office/drawing/2014/main" id="{9F86225A-A598-4028-95DB-4E9EFA05956A}"/>
              </a:ext>
            </a:extLst>
          </p:cNvPr>
          <p:cNvSpPr>
            <a:spLocks xmlns:a="http://schemas.openxmlformats.org/drawingml/2006/main" noGrp="1"/>
          </p:cNvSpPr>
          <p:nvPr/>
        </p:nvSpPr>
        <p:spPr>
          <a:xfrm xmlns:a="http://schemas.openxmlformats.org/drawingml/2006/main">
            <a:off x="6229350" y="2095500"/>
            <a:ext cx="2095500" cy="685800"/>
          </a:xfrm>
          <a:prstGeom xmlns:a="http://schemas.openxmlformats.org/drawingml/2006/main" prst="roundRect">
            <a:avLst>
              <a:gd name="adj" fmla="val 11111"/>
            </a:avLst>
          </a:prstGeom>
          <a:solidFill xmlns:a="http://schemas.openxmlformats.org/drawingml/2006/main">
            <a:srgbClr val="E76F51"/>
          </a:solidFill>
          <a:ln xmlns:a="http://schemas.openxmlformats.org/drawingml/2006/main" w="14288">
            <a:solidFill>
              <a:srgbClr val="E76F51"/>
            </a:solidFill>
          </a:ln>
        </p:spPr>
        <p:txBody>
          <a:bodyPr xmlns:a="http://schemas.openxmlformats.org/drawingml/2006/main"/>
          <a:lstStyle xmlns:a="http://schemas.openxmlformats.org/drawingml/2006/main"/>
          <a:p xmlns:a="http://schemas.openxmlformats.org/drawingml/2006/main">
            <a:pPr>
              <a:defRPr sz="2175" b="1">
                <a:solidFill>
                  <a:srgbClr val="FFFFFF"/>
                </a:solidFill>
                <a:latin typeface="Aptos"/>
                <a:ea typeface="Aptos"/>
                <a:cs typeface="Aptos"/>
              </a:defRPr>
            </a:pPr>
            <a:r>
              <a:rPr sz="2175" b="1">
                <a:solidFill>
                  <a:srgbClr val="FFFFFF"/>
                </a:solidFill>
                <a:latin typeface="Aptos"/>
                <a:ea typeface="Aptos"/>
                <a:cs typeface="Aptos"/>
              </a:rPr>
              <a:t>Price</a:t>
            </a:r>
          </a:p>
        </p:txBody>
      </p:sp>
      <p:sp>
        <p:nvSpPr>
          <p:cNvPr id="11" name="">
            <a:extLst xmlns:a="http://schemas.openxmlformats.org/drawingml/2006/main">
              <a:ext uri="{FF2B5EF4-FFF2-40B4-BE49-F238E27FC236}">
                <a16:creationId xmlns:a16="http://schemas.microsoft.com/office/drawing/2014/main" id="{F8AFE744-E2E5-4E45-8F3B-12A1CEDB1DC3}"/>
              </a:ext>
            </a:extLst>
          </p:cNvPr>
          <p:cNvSpPr>
            <a:spLocks xmlns:a="http://schemas.openxmlformats.org/drawingml/2006/main" noGrp="1"/>
          </p:cNvSpPr>
          <p:nvPr/>
        </p:nvSpPr>
        <p:spPr>
          <a:xfrm xmlns:a="http://schemas.openxmlformats.org/drawingml/2006/main">
            <a:off x="6229350" y="304800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What does the customer pay?</a:t>
            </a:r>
          </a:p>
        </p:txBody>
      </p:sp>
      <p:sp>
        <p:nvSpPr>
          <p:cNvPr id="12" name="">
            <a:extLst xmlns:a="http://schemas.openxmlformats.org/drawingml/2006/main">
              <a:ext uri="{FF2B5EF4-FFF2-40B4-BE49-F238E27FC236}">
                <a16:creationId xmlns:a16="http://schemas.microsoft.com/office/drawing/2014/main" id="{3281BFA7-7CCB-4CF0-9FE4-0114150BB149}"/>
              </a:ext>
            </a:extLst>
          </p:cNvPr>
          <p:cNvSpPr>
            <a:spLocks xmlns:a="http://schemas.openxmlformats.org/drawingml/2006/main" noGrp="1"/>
          </p:cNvSpPr>
          <p:nvPr/>
        </p:nvSpPr>
        <p:spPr>
          <a:xfrm xmlns:a="http://schemas.openxmlformats.org/drawingml/2006/main">
            <a:off x="8953500" y="2095500"/>
            <a:ext cx="2095500" cy="685800"/>
          </a:xfrm>
          <a:prstGeom xmlns:a="http://schemas.openxmlformats.org/drawingml/2006/main" prst="roundRect">
            <a:avLst>
              <a:gd name="adj" fmla="val 11111"/>
            </a:avLst>
          </a:prstGeom>
          <a:solidFill xmlns:a="http://schemas.openxmlformats.org/drawingml/2006/main">
            <a:srgbClr val="2A9D8F"/>
          </a:solidFill>
          <a:ln xmlns:a="http://schemas.openxmlformats.org/drawingml/2006/main" w="14288">
            <a:solidFill>
              <a:srgbClr val="2A9D8F"/>
            </a:solidFill>
          </a:ln>
        </p:spPr>
        <p:txBody>
          <a:bodyPr xmlns:a="http://schemas.openxmlformats.org/drawingml/2006/main"/>
          <a:lstStyle xmlns:a="http://schemas.openxmlformats.org/drawingml/2006/main"/>
          <a:p xmlns:a="http://schemas.openxmlformats.org/drawingml/2006/main">
            <a:pPr>
              <a:defRPr sz="2175" b="1">
                <a:solidFill>
                  <a:srgbClr val="FFFFFF"/>
                </a:solidFill>
                <a:latin typeface="Aptos"/>
                <a:ea typeface="Aptos"/>
                <a:cs typeface="Aptos"/>
              </a:defRPr>
            </a:pPr>
            <a:r>
              <a:rPr sz="2175" b="1">
                <a:solidFill>
                  <a:srgbClr val="FFFFFF"/>
                </a:solidFill>
                <a:latin typeface="Aptos"/>
                <a:ea typeface="Aptos"/>
                <a:cs typeface="Aptos"/>
              </a:rPr>
              <a:t>Place</a:t>
            </a:r>
          </a:p>
        </p:txBody>
      </p:sp>
      <p:sp>
        <p:nvSpPr>
          <p:cNvPr id="13" name="">
            <a:extLst xmlns:a="http://schemas.openxmlformats.org/drawingml/2006/main">
              <a:ext uri="{FF2B5EF4-FFF2-40B4-BE49-F238E27FC236}">
                <a16:creationId xmlns:a16="http://schemas.microsoft.com/office/drawing/2014/main" id="{68F5178A-5150-46EF-8DEF-BC3B181DE46F}"/>
              </a:ext>
            </a:extLst>
          </p:cNvPr>
          <p:cNvSpPr>
            <a:spLocks xmlns:a="http://schemas.openxmlformats.org/drawingml/2006/main" noGrp="1"/>
          </p:cNvSpPr>
          <p:nvPr/>
        </p:nvSpPr>
        <p:spPr>
          <a:xfrm xmlns:a="http://schemas.openxmlformats.org/drawingml/2006/main">
            <a:off x="8953500" y="304800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How does it reach the customer?</a:t>
            </a:r>
          </a:p>
        </p:txBody>
      </p:sp>
      <p:sp>
        <p:nvSpPr>
          <p:cNvPr id="14" name="">
            <a:extLst xmlns:a="http://schemas.openxmlformats.org/drawingml/2006/main">
              <a:ext uri="{FF2B5EF4-FFF2-40B4-BE49-F238E27FC236}">
                <a16:creationId xmlns:a16="http://schemas.microsoft.com/office/drawing/2014/main" id="{52D95181-0DAF-4D57-A91A-467C0808AFA4}"/>
              </a:ext>
            </a:extLst>
          </p:cNvPr>
          <p:cNvSpPr>
            <a:spLocks xmlns:a="http://schemas.openxmlformats.org/drawingml/2006/main" noGrp="1"/>
          </p:cNvSpPr>
          <p:nvPr/>
        </p:nvSpPr>
        <p:spPr>
          <a:xfrm xmlns:a="http://schemas.openxmlformats.org/drawingml/2006/main">
            <a:off x="1952625" y="4667250"/>
            <a:ext cx="8286750" cy="952500"/>
          </a:xfrm>
          <a:prstGeom xmlns:a="http://schemas.openxmlformats.org/drawingml/2006/main" prst="roundRect">
            <a:avLst>
              <a:gd name="adj" fmla="val 8000"/>
            </a:avLst>
          </a:prstGeom>
          <a:solidFill xmlns:a="http://schemas.openxmlformats.org/drawingml/2006/main">
            <a:srgbClr val="DDEEF2"/>
          </a:solidFill>
          <a:ln xmlns:a="http://schemas.openxmlformats.org/drawingml/2006/main" w="14288">
            <a:solidFill>
              <a:srgbClr val="DDEEF2"/>
            </a:solidFill>
          </a:ln>
        </p:spPr>
        <p:txBody>
          <a:bodyPr xmlns:a="http://schemas.openxmlformats.org/drawingml/2006/main"/>
          <a:lstStyle xmlns:a="http://schemas.openxmlformats.org/drawingml/2006/main"/>
          <a:p xmlns:a="http://schemas.openxmlformats.org/drawingml/2006/main">
            <a:pPr>
              <a:defRPr sz="1950" b="1">
                <a:solidFill>
                  <a:srgbClr val="17324D"/>
                </a:solidFill>
                <a:latin typeface="Aptos"/>
                <a:ea typeface="Aptos"/>
                <a:cs typeface="Aptos"/>
              </a:defRPr>
            </a:pPr>
            <a:r>
              <a:rPr sz="1950" b="1">
                <a:solidFill>
                  <a:srgbClr val="17324D"/>
                </a:solidFill>
                <a:latin typeface="Aptos"/>
                <a:ea typeface="Aptos"/>
                <a:cs typeface="Aptos"/>
              </a:rPr>
              <a:t>Quick test</a:t>
            </a:r>
          </a:p>
          <a:p xmlns:a="http://schemas.openxmlformats.org/drawingml/2006/main">
            <a:pPr>
              <a:defRPr sz="1950" b="1">
                <a:solidFill>
                  <a:srgbClr val="17324D"/>
                </a:solidFill>
                <a:latin typeface="Aptos"/>
                <a:ea typeface="Aptos"/>
                <a:cs typeface="Aptos"/>
              </a:defRPr>
            </a:pPr>
            <a:r>
              <a:rPr sz="1950" b="1">
                <a:solidFill>
                  <a:srgbClr val="17324D"/>
                </a:solidFill>
                <a:latin typeface="Aptos"/>
                <a:ea typeface="Aptos"/>
                <a:cs typeface="Aptos"/>
              </a:rPr>
              <a:t>For your team’s example, which P is easiest to see? Which P needs more information?</a:t>
            </a:r>
          </a:p>
        </p:txBody>
      </p:sp>
    </p:spTree>
    <p:extLst>
      <p:ext uri="{BB962C8B-B14F-4D97-AF65-F5344CB8AC3E}">
        <p14:creationId xmlns:p14="http://schemas.microsoft.com/office/powerpoint/2010/main" val="168659391"/>
      </p:ext>
    </p:extLst>
  </p:cSld>
</p:sld>
</file>

<file path=ppt/slides/slide9.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6BDFBC6-AC5E-4EC8-96C4-095BBA5834A3}"/>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2A9D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C67B99-6A66-4E1A-8341-823DE8E42967}"/>
              </a:ext>
            </a:extLst>
          </p:cNvPr>
          <p:cNvSpPr>
            <a:spLocks xmlns:a="http://schemas.openxmlformats.org/drawingml/2006/main" noGrp="1"/>
          </p:cNvSpPr>
          <p:nvPr/>
        </p:nvSpPr>
        <p:spPr>
          <a:xfrm xmlns:a="http://schemas.openxmlformats.org/drawingml/2006/main">
            <a:off x="609600" y="640080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i="0">
                <a:solidFill>
                  <a:srgbClr val="6D7B86"/>
                </a:solidFill>
                <a:latin typeface="Aptos"/>
                <a:ea typeface="Aptos"/>
                <a:cs typeface="Aptos"/>
              </a:defRPr>
            </a:pPr>
            <a:r>
              <a:rPr sz="975" b="1" i="0">
                <a:solidFill>
                  <a:srgbClr val="6D7B86"/>
                </a:solidFill>
                <a:latin typeface="Aptos"/>
                <a:ea typeface="Aptos"/>
                <a:cs typeface="Aptos"/>
              </a:rPr>
              <a:t>BUSINESS COURSE · MICROSOFT 365</a:t>
            </a:r>
          </a:p>
        </p:txBody>
      </p:sp>
      <p:sp>
        <p:nvSpPr>
          <p:cNvPr id="3" name="">
            <a:extLst xmlns:a="http://schemas.openxmlformats.org/drawingml/2006/main">
              <a:ext uri="{FF2B5EF4-FFF2-40B4-BE49-F238E27FC236}">
                <a16:creationId xmlns:a16="http://schemas.microsoft.com/office/drawing/2014/main" id="{C3714A61-9871-4B0B-843A-E05337219A7F}"/>
              </a:ext>
            </a:extLst>
          </p:cNvPr>
          <p:cNvSpPr>
            <a:spLocks xmlns:a="http://schemas.openxmlformats.org/drawingml/2006/main" noGrp="1"/>
          </p:cNvSpPr>
          <p:nvPr/>
        </p:nvSpPr>
        <p:spPr>
          <a:xfrm xmlns:a="http://schemas.openxmlformats.org/drawingml/2006/main">
            <a:off x="11144250" y="6362700"/>
            <a:ext cx="43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1" i="0">
                <a:solidFill>
                  <a:srgbClr val="6D7B86"/>
                </a:solidFill>
                <a:latin typeface="Aptos"/>
                <a:ea typeface="Aptos"/>
                <a:cs typeface="Aptos"/>
              </a:defRPr>
            </a:pPr>
            <a:r>
              <a:rPr sz="1125" b="1" i="0">
                <a:solidFill>
                  <a:srgbClr val="6D7B86"/>
                </a:solidFill>
                <a:latin typeface="Aptos"/>
                <a:ea typeface="Aptos"/>
                <a:cs typeface="Aptos"/>
              </a:rPr>
              <a:t>09</a:t>
            </a:r>
          </a:p>
        </p:txBody>
      </p:sp>
      <p:sp>
        <p:nvSpPr>
          <p:cNvPr id="4" name="">
            <a:extLst xmlns:a="http://schemas.openxmlformats.org/drawingml/2006/main">
              <a:ext uri="{FF2B5EF4-FFF2-40B4-BE49-F238E27FC236}">
                <a16:creationId xmlns:a16="http://schemas.microsoft.com/office/drawing/2014/main" id="{62F75980-1A0D-44BA-88EF-BC14E8572CE1}"/>
              </a:ext>
            </a:extLst>
          </p:cNvPr>
          <p:cNvSpPr>
            <a:spLocks xmlns:a="http://schemas.openxmlformats.org/drawingml/2006/main" noGrp="1"/>
          </p:cNvSpPr>
          <p:nvPr/>
        </p:nvSpPr>
        <p:spPr>
          <a:xfrm xmlns:a="http://schemas.openxmlformats.org/drawingml/2006/main">
            <a:off x="609600" y="4953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925" b="1" i="0">
                <a:solidFill>
                  <a:srgbClr val="17324D"/>
                </a:solidFill>
                <a:latin typeface="Aptos"/>
                <a:ea typeface="Aptos"/>
                <a:cs typeface="Aptos"/>
              </a:defRPr>
            </a:pPr>
            <a:r>
              <a:rPr sz="2925" b="1" i="0">
                <a:solidFill>
                  <a:srgbClr val="17324D"/>
                </a:solidFill>
                <a:latin typeface="Aptos"/>
                <a:ea typeface="Aptos"/>
                <a:cs typeface="Aptos"/>
              </a:rPr>
              <a:t>Marketing functions</a:t>
            </a:r>
          </a:p>
        </p:txBody>
      </p:sp>
      <p:sp>
        <p:nvSpPr>
          <p:cNvPr id="5" name="">
            <a:extLst xmlns:a="http://schemas.openxmlformats.org/drawingml/2006/main">
              <a:ext uri="{FF2B5EF4-FFF2-40B4-BE49-F238E27FC236}">
                <a16:creationId xmlns:a16="http://schemas.microsoft.com/office/drawing/2014/main" id="{1831F846-E82B-4DC3-A528-CFF720584223}"/>
              </a:ext>
            </a:extLst>
          </p:cNvPr>
          <p:cNvSpPr>
            <a:spLocks xmlns:a="http://schemas.openxmlformats.org/drawingml/2006/main" noGrp="1"/>
          </p:cNvSpPr>
          <p:nvPr/>
        </p:nvSpPr>
        <p:spPr>
          <a:xfrm xmlns:a="http://schemas.openxmlformats.org/drawingml/2006/main">
            <a:off x="628650" y="10668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6D7B86"/>
                </a:solidFill>
                <a:latin typeface="Aptos"/>
                <a:ea typeface="Aptos"/>
                <a:cs typeface="Aptos"/>
              </a:defRPr>
            </a:pPr>
            <a:r>
              <a:rPr sz="1500" b="0" i="0">
                <a:solidFill>
                  <a:srgbClr val="6D7B86"/>
                </a:solidFill>
                <a:latin typeface="Aptos"/>
                <a:ea typeface="Aptos"/>
                <a:cs typeface="Aptos"/>
              </a:rPr>
              <a:t>Seven kinds of work help connect the marketing concept to action.</a:t>
            </a:r>
          </a:p>
        </p:txBody>
      </p:sp>
      <p:sp>
        <p:nvSpPr>
          <p:cNvPr id="6" name="">
            <a:extLst xmlns:a="http://schemas.openxmlformats.org/drawingml/2006/main">
              <a:ext uri="{FF2B5EF4-FFF2-40B4-BE49-F238E27FC236}">
                <a16:creationId xmlns:a16="http://schemas.microsoft.com/office/drawing/2014/main" id="{70F11216-9ED8-41F0-A04D-A22C33E75831}"/>
              </a:ext>
            </a:extLst>
          </p:cNvPr>
          <p:cNvSpPr>
            <a:spLocks xmlns:a="http://schemas.openxmlformats.org/drawingml/2006/main" noGrp="1"/>
          </p:cNvSpPr>
          <p:nvPr/>
        </p:nvSpPr>
        <p:spPr>
          <a:xfrm xmlns:a="http://schemas.openxmlformats.org/drawingml/2006/main">
            <a:off x="781050" y="1809750"/>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1" i="0">
                <a:solidFill>
                  <a:srgbClr val="2A9D8F"/>
                </a:solidFill>
                <a:latin typeface="Aptos"/>
                <a:ea typeface="Aptos"/>
                <a:cs typeface="Aptos"/>
              </a:defRPr>
            </a:pPr>
            <a:r>
              <a:rPr sz="1650" b="1" i="0">
                <a:solidFill>
                  <a:srgbClr val="2A9D8F"/>
                </a:solidFill>
                <a:latin typeface="Aptos"/>
                <a:ea typeface="Aptos"/>
                <a:cs typeface="Aptos"/>
              </a:rPr>
              <a:t>1. Channel management</a:t>
            </a:r>
          </a:p>
        </p:txBody>
      </p:sp>
      <p:sp>
        <p:nvSpPr>
          <p:cNvPr id="7" name="">
            <a:extLst xmlns:a="http://schemas.openxmlformats.org/drawingml/2006/main">
              <a:ext uri="{FF2B5EF4-FFF2-40B4-BE49-F238E27FC236}">
                <a16:creationId xmlns:a16="http://schemas.microsoft.com/office/drawing/2014/main" id="{96D13D6E-4A80-484C-AD1E-FDD9FAF5BD7D}"/>
              </a:ext>
            </a:extLst>
          </p:cNvPr>
          <p:cNvSpPr>
            <a:spLocks xmlns:a="http://schemas.openxmlformats.org/drawingml/2006/main" noGrp="1"/>
          </p:cNvSpPr>
          <p:nvPr/>
        </p:nvSpPr>
        <p:spPr>
          <a:xfrm xmlns:a="http://schemas.openxmlformats.org/drawingml/2006/main">
            <a:off x="5734050" y="1809750"/>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1" i="0">
                <a:solidFill>
                  <a:srgbClr val="17324D"/>
                </a:solidFill>
                <a:latin typeface="Aptos"/>
                <a:ea typeface="Aptos"/>
                <a:cs typeface="Aptos"/>
              </a:defRPr>
            </a:pPr>
            <a:r>
              <a:rPr sz="1650" b="1" i="0">
                <a:solidFill>
                  <a:srgbClr val="17324D"/>
                </a:solidFill>
                <a:latin typeface="Aptos"/>
                <a:ea typeface="Aptos"/>
                <a:cs typeface="Aptos"/>
              </a:rPr>
              <a:t>2. Marketing information management</a:t>
            </a:r>
          </a:p>
        </p:txBody>
      </p:sp>
      <p:sp>
        <p:nvSpPr>
          <p:cNvPr id="8" name="">
            <a:extLst xmlns:a="http://schemas.openxmlformats.org/drawingml/2006/main">
              <a:ext uri="{FF2B5EF4-FFF2-40B4-BE49-F238E27FC236}">
                <a16:creationId xmlns:a16="http://schemas.microsoft.com/office/drawing/2014/main" id="{D32490EF-0696-4C75-B680-05DF7862A212}"/>
              </a:ext>
            </a:extLst>
          </p:cNvPr>
          <p:cNvSpPr>
            <a:spLocks xmlns:a="http://schemas.openxmlformats.org/drawingml/2006/main" noGrp="1"/>
          </p:cNvSpPr>
          <p:nvPr/>
        </p:nvSpPr>
        <p:spPr>
          <a:xfrm xmlns:a="http://schemas.openxmlformats.org/drawingml/2006/main">
            <a:off x="781050" y="2476500"/>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1" i="0">
                <a:solidFill>
                  <a:srgbClr val="2A9D8F"/>
                </a:solidFill>
                <a:latin typeface="Aptos"/>
                <a:ea typeface="Aptos"/>
                <a:cs typeface="Aptos"/>
              </a:defRPr>
            </a:pPr>
            <a:r>
              <a:rPr sz="1650" b="1" i="0">
                <a:solidFill>
                  <a:srgbClr val="2A9D8F"/>
                </a:solidFill>
                <a:latin typeface="Aptos"/>
                <a:ea typeface="Aptos"/>
                <a:cs typeface="Aptos"/>
              </a:rPr>
              <a:t>3. Marketing planning</a:t>
            </a:r>
          </a:p>
        </p:txBody>
      </p:sp>
      <p:sp>
        <p:nvSpPr>
          <p:cNvPr id="9" name="">
            <a:extLst xmlns:a="http://schemas.openxmlformats.org/drawingml/2006/main">
              <a:ext uri="{FF2B5EF4-FFF2-40B4-BE49-F238E27FC236}">
                <a16:creationId xmlns:a16="http://schemas.microsoft.com/office/drawing/2014/main" id="{5BEDDD3F-7DE0-4E28-93B6-5C987B37CFE8}"/>
              </a:ext>
            </a:extLst>
          </p:cNvPr>
          <p:cNvSpPr>
            <a:spLocks xmlns:a="http://schemas.openxmlformats.org/drawingml/2006/main" noGrp="1"/>
          </p:cNvSpPr>
          <p:nvPr/>
        </p:nvSpPr>
        <p:spPr>
          <a:xfrm xmlns:a="http://schemas.openxmlformats.org/drawingml/2006/main">
            <a:off x="5734050" y="2476500"/>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1" i="0">
                <a:solidFill>
                  <a:srgbClr val="17324D"/>
                </a:solidFill>
                <a:latin typeface="Aptos"/>
                <a:ea typeface="Aptos"/>
                <a:cs typeface="Aptos"/>
              </a:defRPr>
            </a:pPr>
            <a:r>
              <a:rPr sz="1650" b="1" i="0">
                <a:solidFill>
                  <a:srgbClr val="17324D"/>
                </a:solidFill>
                <a:latin typeface="Aptos"/>
                <a:ea typeface="Aptos"/>
                <a:cs typeface="Aptos"/>
              </a:rPr>
              <a:t>4. Pricing</a:t>
            </a:r>
          </a:p>
        </p:txBody>
      </p:sp>
      <p:sp>
        <p:nvSpPr>
          <p:cNvPr id="10" name="">
            <a:extLst xmlns:a="http://schemas.openxmlformats.org/drawingml/2006/main">
              <a:ext uri="{FF2B5EF4-FFF2-40B4-BE49-F238E27FC236}">
                <a16:creationId xmlns:a16="http://schemas.microsoft.com/office/drawing/2014/main" id="{1A4CA692-4D1D-408C-A715-C49B988180D9}"/>
              </a:ext>
            </a:extLst>
          </p:cNvPr>
          <p:cNvSpPr>
            <a:spLocks xmlns:a="http://schemas.openxmlformats.org/drawingml/2006/main" noGrp="1"/>
          </p:cNvSpPr>
          <p:nvPr/>
        </p:nvSpPr>
        <p:spPr>
          <a:xfrm xmlns:a="http://schemas.openxmlformats.org/drawingml/2006/main">
            <a:off x="781050" y="3143250"/>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1" i="0">
                <a:solidFill>
                  <a:srgbClr val="2A9D8F"/>
                </a:solidFill>
                <a:latin typeface="Aptos"/>
                <a:ea typeface="Aptos"/>
                <a:cs typeface="Aptos"/>
              </a:defRPr>
            </a:pPr>
            <a:r>
              <a:rPr sz="1650" b="1" i="0">
                <a:solidFill>
                  <a:srgbClr val="2A9D8F"/>
                </a:solidFill>
                <a:latin typeface="Aptos"/>
                <a:ea typeface="Aptos"/>
                <a:cs typeface="Aptos"/>
              </a:rPr>
              <a:t>5. Product and service management</a:t>
            </a:r>
          </a:p>
        </p:txBody>
      </p:sp>
      <p:sp>
        <p:nvSpPr>
          <p:cNvPr id="11" name="">
            <a:extLst xmlns:a="http://schemas.openxmlformats.org/drawingml/2006/main">
              <a:ext uri="{FF2B5EF4-FFF2-40B4-BE49-F238E27FC236}">
                <a16:creationId xmlns:a16="http://schemas.microsoft.com/office/drawing/2014/main" id="{A58CCBD3-2365-48CE-977F-855DD9D58534}"/>
              </a:ext>
            </a:extLst>
          </p:cNvPr>
          <p:cNvSpPr>
            <a:spLocks xmlns:a="http://schemas.openxmlformats.org/drawingml/2006/main" noGrp="1"/>
          </p:cNvSpPr>
          <p:nvPr/>
        </p:nvSpPr>
        <p:spPr>
          <a:xfrm xmlns:a="http://schemas.openxmlformats.org/drawingml/2006/main">
            <a:off x="5734050" y="3143250"/>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1" i="0">
                <a:solidFill>
                  <a:srgbClr val="17324D"/>
                </a:solidFill>
                <a:latin typeface="Aptos"/>
                <a:ea typeface="Aptos"/>
                <a:cs typeface="Aptos"/>
              </a:defRPr>
            </a:pPr>
            <a:r>
              <a:rPr sz="1650" b="1" i="0">
                <a:solidFill>
                  <a:srgbClr val="17324D"/>
                </a:solidFill>
                <a:latin typeface="Aptos"/>
                <a:ea typeface="Aptos"/>
                <a:cs typeface="Aptos"/>
              </a:rPr>
              <a:t>6. Promotion</a:t>
            </a:r>
          </a:p>
        </p:txBody>
      </p:sp>
      <p:sp>
        <p:nvSpPr>
          <p:cNvPr id="12" name="">
            <a:extLst xmlns:a="http://schemas.openxmlformats.org/drawingml/2006/main">
              <a:ext uri="{FF2B5EF4-FFF2-40B4-BE49-F238E27FC236}">
                <a16:creationId xmlns:a16="http://schemas.microsoft.com/office/drawing/2014/main" id="{2311D3DF-459B-4D9A-99BD-4F8F2E91B37F}"/>
              </a:ext>
            </a:extLst>
          </p:cNvPr>
          <p:cNvSpPr>
            <a:spLocks xmlns:a="http://schemas.openxmlformats.org/drawingml/2006/main" noGrp="1"/>
          </p:cNvSpPr>
          <p:nvPr/>
        </p:nvSpPr>
        <p:spPr>
          <a:xfrm xmlns:a="http://schemas.openxmlformats.org/drawingml/2006/main">
            <a:off x="781050" y="3810000"/>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1" i="0">
                <a:solidFill>
                  <a:srgbClr val="2A9D8F"/>
                </a:solidFill>
                <a:latin typeface="Aptos"/>
                <a:ea typeface="Aptos"/>
                <a:cs typeface="Aptos"/>
              </a:defRPr>
            </a:pPr>
            <a:r>
              <a:rPr sz="1650" b="1" i="0">
                <a:solidFill>
                  <a:srgbClr val="2A9D8F"/>
                </a:solidFill>
                <a:latin typeface="Aptos"/>
                <a:ea typeface="Aptos"/>
                <a:cs typeface="Aptos"/>
              </a:rPr>
              <a:t>7. Selling</a:t>
            </a:r>
          </a:p>
        </p:txBody>
      </p:sp>
      <p:sp>
        <p:nvSpPr>
          <p:cNvPr id="13" name="">
            <a:extLst xmlns:a="http://schemas.openxmlformats.org/drawingml/2006/main">
              <a:ext uri="{FF2B5EF4-FFF2-40B4-BE49-F238E27FC236}">
                <a16:creationId xmlns:a16="http://schemas.microsoft.com/office/drawing/2014/main" id="{06E8C9A7-6F43-448D-8409-C50253769710}"/>
              </a:ext>
            </a:extLst>
          </p:cNvPr>
          <p:cNvSpPr>
            <a:spLocks xmlns:a="http://schemas.openxmlformats.org/drawingml/2006/main" noGrp="1"/>
          </p:cNvSpPr>
          <p:nvPr/>
        </p:nvSpPr>
        <p:spPr>
          <a:xfrm xmlns:a="http://schemas.openxmlformats.org/drawingml/2006/main">
            <a:off x="3048000" y="4810125"/>
            <a:ext cx="6096000" cy="1000125"/>
          </a:xfrm>
          <a:prstGeom xmlns:a="http://schemas.openxmlformats.org/drawingml/2006/main" prst="roundRect">
            <a:avLst>
              <a:gd name="adj" fmla="val 7619"/>
            </a:avLst>
          </a:prstGeom>
          <a:solidFill xmlns:a="http://schemas.openxmlformats.org/drawingml/2006/main">
            <a:srgbClr val="E6F3EF"/>
          </a:solidFill>
          <a:ln xmlns:a="http://schemas.openxmlformats.org/drawingml/2006/main" w="14288">
            <a:solidFill>
              <a:srgbClr val="E6F3EF"/>
            </a:solidFill>
          </a:ln>
        </p:spPr>
        <p:txBody>
          <a:bodyPr xmlns:a="http://schemas.openxmlformats.org/drawingml/2006/main"/>
          <a:lstStyle xmlns:a="http://schemas.openxmlformats.org/drawingml/2006/main"/>
          <a:p xmlns:a="http://schemas.openxmlformats.org/drawingml/2006/main">
            <a:pPr>
              <a:defRPr sz="1800" b="1">
                <a:solidFill>
                  <a:srgbClr val="17324D"/>
                </a:solidFill>
                <a:latin typeface="Aptos"/>
                <a:ea typeface="Aptos"/>
                <a:cs typeface="Aptos"/>
              </a:defRPr>
            </a:pPr>
            <a:r>
              <a:rPr sz="1800" b="1">
                <a:solidFill>
                  <a:srgbClr val="17324D"/>
                </a:solidFill>
                <a:latin typeface="Aptos"/>
                <a:ea typeface="Aptos"/>
                <a:cs typeface="Aptos"/>
              </a:rPr>
              <a:t>Team sort</a:t>
            </a:r>
          </a:p>
          <a:p xmlns:a="http://schemas.openxmlformats.org/drawingml/2006/main">
            <a:pPr>
              <a:defRPr sz="1800" b="1">
                <a:solidFill>
                  <a:srgbClr val="17324D"/>
                </a:solidFill>
                <a:latin typeface="Aptos"/>
                <a:ea typeface="Aptos"/>
                <a:cs typeface="Aptos"/>
              </a:defRPr>
            </a:pPr>
            <a:r>
              <a:rPr sz="1800" b="1">
                <a:solidFill>
                  <a:srgbClr val="17324D"/>
                </a:solidFill>
                <a:latin typeface="Aptos"/>
                <a:ea typeface="Aptos"/>
                <a:cs typeface="Aptos"/>
              </a:rPr>
              <a:t>Read an example. Decide which function it shows. Explain the evidence.</a:t>
            </a:r>
          </a:p>
          <a:p xmlns:a="http://schemas.openxmlformats.org/drawingml/2006/main">
            <a:r>
              <a:t/>
            </a:r>
          </a:p>
          <a:p xmlns:a="http://schemas.openxmlformats.org/drawingml/2006/main">
            <a:pPr>
              <a:defRPr sz="1800" b="1">
                <a:solidFill>
                  <a:srgbClr val="17324D"/>
                </a:solidFill>
                <a:latin typeface="Aptos"/>
                <a:ea typeface="Aptos"/>
                <a:cs typeface="Aptos"/>
              </a:defRPr>
            </a:pPr>
            <a:r>
              <a:rPr sz="1800" b="1">
                <a:solidFill>
                  <a:srgbClr val="17324D"/>
                </a:solidFill>
                <a:latin typeface="Aptos"/>
                <a:ea typeface="Aptos"/>
                <a:cs typeface="Aptos"/>
              </a:rPr>
              <a:t>Try first without looking at the book. Then check.</a:t>
            </a:r>
          </a:p>
        </p:txBody>
      </p:sp>
    </p:spTree>
    <p:extLst>
      <p:ext uri="{BB962C8B-B14F-4D97-AF65-F5344CB8AC3E}">
        <p14:creationId xmlns:p14="http://schemas.microsoft.com/office/powerpoint/2010/main" val="1259109955"/>
      </p:ext>
    </p:extLst>
  </p:cSld>
</p:sld>
</file>

<file path=ppt/slides/slide10.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FF9B98F-57B9-44DF-A17D-0B37326D55EA}"/>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2A9D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4ACC3F-C0F6-4DCC-9B50-95D1E7E1EC0B}"/>
              </a:ext>
            </a:extLst>
          </p:cNvPr>
          <p:cNvSpPr>
            <a:spLocks xmlns:a="http://schemas.openxmlformats.org/drawingml/2006/main" noGrp="1"/>
          </p:cNvSpPr>
          <p:nvPr/>
        </p:nvSpPr>
        <p:spPr>
          <a:xfrm xmlns:a="http://schemas.openxmlformats.org/drawingml/2006/main">
            <a:off x="609600" y="640080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i="0">
                <a:solidFill>
                  <a:srgbClr val="6D7B86"/>
                </a:solidFill>
                <a:latin typeface="Aptos"/>
                <a:ea typeface="Aptos"/>
                <a:cs typeface="Aptos"/>
              </a:defRPr>
            </a:pPr>
            <a:r>
              <a:rPr sz="975" b="1" i="0">
                <a:solidFill>
                  <a:srgbClr val="6D7B86"/>
                </a:solidFill>
                <a:latin typeface="Aptos"/>
                <a:ea typeface="Aptos"/>
                <a:cs typeface="Aptos"/>
              </a:rPr>
              <a:t>BUSINESS COURSE · MICROSOFT 365</a:t>
            </a:r>
          </a:p>
        </p:txBody>
      </p:sp>
      <p:sp>
        <p:nvSpPr>
          <p:cNvPr id="3" name="">
            <a:extLst xmlns:a="http://schemas.openxmlformats.org/drawingml/2006/main">
              <a:ext uri="{FF2B5EF4-FFF2-40B4-BE49-F238E27FC236}">
                <a16:creationId xmlns:a16="http://schemas.microsoft.com/office/drawing/2014/main" id="{8BFFA382-4824-4291-A954-D0C6930FFCDF}"/>
              </a:ext>
            </a:extLst>
          </p:cNvPr>
          <p:cNvSpPr>
            <a:spLocks xmlns:a="http://schemas.openxmlformats.org/drawingml/2006/main" noGrp="1"/>
          </p:cNvSpPr>
          <p:nvPr/>
        </p:nvSpPr>
        <p:spPr>
          <a:xfrm xmlns:a="http://schemas.openxmlformats.org/drawingml/2006/main">
            <a:off x="11144250" y="6362700"/>
            <a:ext cx="43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1" i="0">
                <a:solidFill>
                  <a:srgbClr val="6D7B86"/>
                </a:solidFill>
                <a:latin typeface="Aptos"/>
                <a:ea typeface="Aptos"/>
                <a:cs typeface="Aptos"/>
              </a:defRPr>
            </a:pPr>
            <a:r>
              <a:rPr sz="1125" b="1" i="0">
                <a:solidFill>
                  <a:srgbClr val="6D7B86"/>
                </a:solidFill>
                <a:latin typeface="Aptos"/>
                <a:ea typeface="Aptos"/>
                <a:cs typeface="Aptos"/>
              </a:rPr>
              <a:t>10</a:t>
            </a:r>
          </a:p>
        </p:txBody>
      </p:sp>
      <p:sp>
        <p:nvSpPr>
          <p:cNvPr id="4" name="">
            <a:extLst xmlns:a="http://schemas.openxmlformats.org/drawingml/2006/main">
              <a:ext uri="{FF2B5EF4-FFF2-40B4-BE49-F238E27FC236}">
                <a16:creationId xmlns:a16="http://schemas.microsoft.com/office/drawing/2014/main" id="{271FCF93-1596-4380-9BD0-D3CCDF1A21AD}"/>
              </a:ext>
            </a:extLst>
          </p:cNvPr>
          <p:cNvSpPr>
            <a:spLocks xmlns:a="http://schemas.openxmlformats.org/drawingml/2006/main" noGrp="1"/>
          </p:cNvSpPr>
          <p:nvPr/>
        </p:nvSpPr>
        <p:spPr>
          <a:xfrm xmlns:a="http://schemas.openxmlformats.org/drawingml/2006/main">
            <a:off x="609600" y="4953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925" b="1" i="0">
                <a:solidFill>
                  <a:srgbClr val="17324D"/>
                </a:solidFill>
                <a:latin typeface="Aptos"/>
                <a:ea typeface="Aptos"/>
                <a:cs typeface="Aptos"/>
              </a:defRPr>
            </a:pPr>
            <a:r>
              <a:rPr sz="2925" b="1" i="0">
                <a:solidFill>
                  <a:srgbClr val="17324D"/>
                </a:solidFill>
                <a:latin typeface="Aptos"/>
                <a:ea typeface="Aptos"/>
                <a:cs typeface="Aptos"/>
              </a:rPr>
              <a:t>PowerPoint build: a clear comparison chart</a:t>
            </a:r>
          </a:p>
        </p:txBody>
      </p:sp>
      <p:sp>
        <p:nvSpPr>
          <p:cNvPr id="5" name="">
            <a:extLst xmlns:a="http://schemas.openxmlformats.org/drawingml/2006/main">
              <a:ext uri="{FF2B5EF4-FFF2-40B4-BE49-F238E27FC236}">
                <a16:creationId xmlns:a16="http://schemas.microsoft.com/office/drawing/2014/main" id="{86D7E717-3F66-45AB-BE56-BB911453EBCE}"/>
              </a:ext>
            </a:extLst>
          </p:cNvPr>
          <p:cNvSpPr>
            <a:spLocks xmlns:a="http://schemas.openxmlformats.org/drawingml/2006/main" noGrp="1"/>
          </p:cNvSpPr>
          <p:nvPr/>
        </p:nvSpPr>
        <p:spPr>
          <a:xfrm xmlns:a="http://schemas.openxmlformats.org/drawingml/2006/main">
            <a:off x="628650" y="10668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6D7B86"/>
                </a:solidFill>
                <a:latin typeface="Aptos"/>
                <a:ea typeface="Aptos"/>
                <a:cs typeface="Aptos"/>
              </a:defRPr>
            </a:pPr>
            <a:r>
              <a:rPr sz="1500" b="0" i="0">
                <a:solidFill>
                  <a:srgbClr val="6D7B86"/>
                </a:solidFill>
                <a:latin typeface="Aptos"/>
                <a:ea typeface="Aptos"/>
                <a:cs typeface="Aptos"/>
              </a:rPr>
              <a:t>The tool can show thinking, not just decorate a page.</a:t>
            </a:r>
          </a:p>
        </p:txBody>
      </p:sp>
      <p:graphicFrame>
        <p:nvGraphicFramePr>
          <p:cNvPr id="15" name=""/>
          <p:cNvGraphicFramePr/>
          <p:nvPr/>
        </p:nvGraphicFramePr>
        <p:xfrm>
          <a:off xmlns:a="http://schemas.openxmlformats.org/drawingml/2006/main" x="685800" y="1857375"/>
          <a:ext xmlns:a="http://schemas.openxmlformats.org/drawingml/2006/main" cx="7334250" cy="2238375"/>
        </p:xfrm>
        <a:graphic xmlns:a="http://schemas.openxmlformats.org/drawingml/2006/main">
          <a:graphicData uri="http://schemas.openxmlformats.org/drawingml/2006/table">
            <a:tbl>
              <a:tblPr firstRow="1" bandRow="1"/>
              <a:tblGrid>
                <a:gridCol w="2444750"/>
                <a:gridCol w="2444750"/>
                <a:gridCol w="2444750"/>
              </a:tblGrid>
              <a:tr h="746125">
                <a:tc>
                  <a:txBody>
                    <a:bodyPr/>
                    <a:lstStyle/>
                    <a:p>
                      <a:r>
                        <a:rPr sz="1500" b="1">
                          <a:solidFill>
                            <a:srgbClr val="FFFFFF"/>
                          </a:solidFill>
                          <a:latin typeface="Aptos"/>
                          <a:ea typeface="Aptos"/>
                          <a:cs typeface="Aptos"/>
                        </a:rPr>
                        <a:t>Goods</a:t>
                      </a:r>
                    </a:p>
                  </a:txBody>
                  <a:tcPr marL="91440" marR="91440" marT="45720" marB="45720">
                    <a:solidFill>
                      <a:srgbClr val="17324D"/>
                    </a:solidFill>
                  </a:tcPr>
                </a:tc>
                <a:tc>
                  <a:txBody>
                    <a:bodyPr/>
                    <a:lstStyle/>
                    <a:p>
                      <a:r>
                        <a:rPr sz="1500" b="1">
                          <a:solidFill>
                            <a:srgbClr val="FFFFFF"/>
                          </a:solidFill>
                          <a:latin typeface="Aptos"/>
                          <a:ea typeface="Aptos"/>
                          <a:cs typeface="Aptos"/>
                        </a:rPr>
                        <a:t>Services</a:t>
                      </a:r>
                    </a:p>
                  </a:txBody>
                  <a:tcPr marL="91440" marR="91440" marT="45720" marB="45720">
                    <a:solidFill>
                      <a:srgbClr val="17324D"/>
                    </a:solidFill>
                  </a:tcPr>
                </a:tc>
                <a:tc>
                  <a:txBody>
                    <a:bodyPr/>
                    <a:lstStyle/>
                    <a:p>
                      <a:r>
                        <a:rPr sz="1500" b="1">
                          <a:solidFill>
                            <a:srgbClr val="FFFFFF"/>
                          </a:solidFill>
                          <a:latin typeface="Aptos"/>
                          <a:ea typeface="Aptos"/>
                          <a:cs typeface="Aptos"/>
                        </a:rPr>
                        <a:t>Ideas</a:t>
                      </a:r>
                    </a:p>
                  </a:txBody>
                  <a:tcPr marL="91440" marR="91440" marT="45720" marB="45720">
                    <a:solidFill>
                      <a:srgbClr val="17324D"/>
                    </a:solidFill>
                  </a:tcPr>
                </a:tc>
              </a:tr>
              <a:tr h="746125">
                <a:tc>
                  <a:txBody>
                    <a:bodyPr/>
                    <a:lstStyle/>
                    <a:p>
                      <a:r>
                        <a:rPr sz="1425">
                          <a:solidFill>
                            <a:srgbClr val="243746"/>
                          </a:solidFill>
                          <a:latin typeface="Aptos"/>
                          <a:ea typeface="Aptos"/>
                          <a:cs typeface="Aptos"/>
                        </a:rPr>
                        <a:t>Food</a:t>
                      </a:r>
                    </a:p>
                  </a:txBody>
                  <a:tcPr marL="91440" marR="91440" marT="45720" marB="45720">
                    <a:solidFill>
                      <a:srgbClr val="FFFFFF"/>
                    </a:solidFill>
                  </a:tcPr>
                </a:tc>
                <a:tc>
                  <a:txBody>
                    <a:bodyPr/>
                    <a:lstStyle/>
                    <a:p>
                      <a:r>
                        <a:rPr sz="1425">
                          <a:solidFill>
                            <a:srgbClr val="243746"/>
                          </a:solidFill>
                          <a:latin typeface="Aptos"/>
                          <a:ea typeface="Aptos"/>
                          <a:cs typeface="Aptos"/>
                        </a:rPr>
                        <a:t>Car repair</a:t>
                      </a:r>
                    </a:p>
                  </a:txBody>
                  <a:tcPr marL="91440" marR="91440" marT="45720" marB="45720">
                    <a:solidFill>
                      <a:srgbClr val="FFFFFF"/>
                    </a:solidFill>
                  </a:tcPr>
                </a:tc>
                <a:tc>
                  <a:txBody>
                    <a:bodyPr/>
                    <a:lstStyle/>
                    <a:p>
                      <a:r>
                        <a:rPr sz="1425">
                          <a:solidFill>
                            <a:srgbClr val="243746"/>
                          </a:solidFill>
                          <a:latin typeface="Aptos"/>
                          <a:ea typeface="Aptos"/>
                          <a:cs typeface="Aptos"/>
                        </a:rPr>
                        <a:t>Voting</a:t>
                      </a:r>
                    </a:p>
                  </a:txBody>
                  <a:tcPr marL="91440" marR="91440" marT="45720" marB="45720">
                    <a:solidFill>
                      <a:srgbClr val="FFFFFF"/>
                    </a:solidFill>
                  </a:tcPr>
                </a:tc>
              </a:tr>
              <a:tr h="746125">
                <a:tc>
                  <a:txBody>
                    <a:bodyPr/>
                    <a:lstStyle/>
                    <a:p>
                      <a:r>
                        <a:rPr sz="1425">
                          <a:solidFill>
                            <a:srgbClr val="243746"/>
                          </a:solidFill>
                          <a:latin typeface="Aptos"/>
                          <a:ea typeface="Aptos"/>
                          <a:cs typeface="Aptos"/>
                        </a:rPr>
                        <a:t>Your example</a:t>
                      </a:r>
                    </a:p>
                  </a:txBody>
                  <a:tcPr marL="91440" marR="91440" marT="45720" marB="45720">
                    <a:solidFill>
                      <a:srgbClr val="DDEEF2"/>
                    </a:solidFill>
                  </a:tcPr>
                </a:tc>
                <a:tc>
                  <a:txBody>
                    <a:bodyPr/>
                    <a:lstStyle/>
                    <a:p>
                      <a:r>
                        <a:rPr sz="1425">
                          <a:solidFill>
                            <a:srgbClr val="243746"/>
                          </a:solidFill>
                          <a:latin typeface="Aptos"/>
                          <a:ea typeface="Aptos"/>
                          <a:cs typeface="Aptos"/>
                        </a:rPr>
                        <a:t>Your example</a:t>
                      </a:r>
                    </a:p>
                  </a:txBody>
                  <a:tcPr marL="91440" marR="91440" marT="45720" marB="45720">
                    <a:solidFill>
                      <a:srgbClr val="DDEEF2"/>
                    </a:solidFill>
                  </a:tcPr>
                </a:tc>
                <a:tc>
                  <a:txBody>
                    <a:bodyPr/>
                    <a:lstStyle/>
                    <a:p>
                      <a:r>
                        <a:rPr sz="1425">
                          <a:solidFill>
                            <a:srgbClr val="243746"/>
                          </a:solidFill>
                          <a:latin typeface="Aptos"/>
                          <a:ea typeface="Aptos"/>
                          <a:cs typeface="Aptos"/>
                        </a:rPr>
                        <a:t>Your example</a:t>
                      </a:r>
                    </a:p>
                  </a:txBody>
                  <a:tcPr marL="91440" marR="91440" marT="45720" marB="45720">
                    <a:solidFill>
                      <a:srgbClr val="DDEEF2"/>
                    </a:solidFill>
                  </a:tcPr>
                </a:tc>
              </a:tr>
            </a:tbl>
          </a:graphicData>
        </a:graphic>
      </p:graphicFrame>
      <p:sp>
        <p:nvSpPr>
          <p:cNvPr id="7" name="">
            <a:extLst xmlns:a="http://schemas.openxmlformats.org/drawingml/2006/main">
              <a:ext uri="{FF2B5EF4-FFF2-40B4-BE49-F238E27FC236}">
                <a16:creationId xmlns:a16="http://schemas.microsoft.com/office/drawing/2014/main" id="{DCC11AC3-4782-4872-A09B-4C130AB6C563}"/>
              </a:ext>
            </a:extLst>
          </p:cNvPr>
          <p:cNvSpPr>
            <a:spLocks xmlns:a="http://schemas.openxmlformats.org/drawingml/2006/main" noGrp="1"/>
          </p:cNvSpPr>
          <p:nvPr/>
        </p:nvSpPr>
        <p:spPr>
          <a:xfrm xmlns:a="http://schemas.openxmlformats.org/drawingml/2006/main">
            <a:off x="8858250" y="180975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75" b="1" i="0">
                <a:solidFill>
                  <a:srgbClr val="17324D"/>
                </a:solidFill>
                <a:latin typeface="Aptos"/>
                <a:ea typeface="Aptos"/>
                <a:cs typeface="Aptos"/>
              </a:defRPr>
            </a:pPr>
            <a:r>
              <a:rPr sz="1875" b="1" i="0">
                <a:solidFill>
                  <a:srgbClr val="17324D"/>
                </a:solidFill>
                <a:latin typeface="Aptos"/>
                <a:ea typeface="Aptos"/>
                <a:cs typeface="Aptos"/>
              </a:rPr>
              <a:t>Build sequence</a:t>
            </a:r>
          </a:p>
        </p:txBody>
      </p:sp>
      <p:sp>
        <p:nvSpPr>
          <p:cNvPr id="8" name="">
            <a:extLst xmlns:a="http://schemas.openxmlformats.org/drawingml/2006/main">
              <a:ext uri="{FF2B5EF4-FFF2-40B4-BE49-F238E27FC236}">
                <a16:creationId xmlns:a16="http://schemas.microsoft.com/office/drawing/2014/main" id="{21680028-33F4-4380-ADD7-C3CD4994CD53}"/>
              </a:ext>
            </a:extLst>
          </p:cNvPr>
          <p:cNvSpPr>
            <a:spLocks xmlns:a="http://schemas.openxmlformats.org/drawingml/2006/main" noGrp="1"/>
          </p:cNvSpPr>
          <p:nvPr/>
        </p:nvSpPr>
        <p:spPr>
          <a:xfrm xmlns:a="http://schemas.openxmlformats.org/drawingml/2006/main">
            <a:off x="8858250" y="2381250"/>
            <a:ext cx="2571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1. Insert a table</a:t>
            </a:r>
          </a:p>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2. Choose 3 columns</a:t>
            </a:r>
          </a:p>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3. Add examples</a:t>
            </a:r>
          </a:p>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4. Format the header</a:t>
            </a:r>
          </a:p>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5. Check that the labels help the reader</a:t>
            </a:r>
          </a:p>
        </p:txBody>
      </p:sp>
      <p:sp>
        <p:nvSpPr>
          <p:cNvPr id="9" name="">
            <a:extLst xmlns:a="http://schemas.openxmlformats.org/drawingml/2006/main">
              <a:ext uri="{FF2B5EF4-FFF2-40B4-BE49-F238E27FC236}">
                <a16:creationId xmlns:a16="http://schemas.microsoft.com/office/drawing/2014/main" id="{CB104BC6-A449-46EF-8434-0A4B64D30DF4}"/>
              </a:ext>
            </a:extLst>
          </p:cNvPr>
          <p:cNvSpPr>
            <a:spLocks xmlns:a="http://schemas.openxmlformats.org/drawingml/2006/main" noGrp="1"/>
          </p:cNvSpPr>
          <p:nvPr/>
        </p:nvSpPr>
        <p:spPr>
          <a:xfrm xmlns:a="http://schemas.openxmlformats.org/drawingml/2006/main">
            <a:off x="2000250" y="4810125"/>
            <a:ext cx="8191500" cy="933450"/>
          </a:xfrm>
          <a:prstGeom xmlns:a="http://schemas.openxmlformats.org/drawingml/2006/main" prst="roundRect">
            <a:avLst>
              <a:gd name="adj" fmla="val 8163"/>
            </a:avLst>
          </a:prstGeom>
          <a:solidFill xmlns:a="http://schemas.openxmlformats.org/drawingml/2006/main">
            <a:srgbClr val="DDEEF2"/>
          </a:solidFill>
          <a:ln xmlns:a="http://schemas.openxmlformats.org/drawingml/2006/main" w="14288">
            <a:solidFill>
              <a:srgbClr val="DDEEF2"/>
            </a:solidFill>
          </a:ln>
        </p:spPr>
        <p:txBody>
          <a:bodyPr xmlns:a="http://schemas.openxmlformats.org/drawingml/2006/main"/>
          <a:lstStyle xmlns:a="http://schemas.openxmlformats.org/drawingml/2006/main"/>
          <a:p xmlns:a="http://schemas.openxmlformats.org/drawingml/2006/main">
            <a:pPr>
              <a:defRPr sz="1875" b="1">
                <a:solidFill>
                  <a:srgbClr val="17324D"/>
                </a:solidFill>
                <a:latin typeface="Aptos"/>
                <a:ea typeface="Aptos"/>
                <a:cs typeface="Aptos"/>
              </a:defRPr>
            </a:pPr>
            <a:r>
              <a:rPr sz="1875" b="1">
                <a:solidFill>
                  <a:srgbClr val="17324D"/>
                </a:solidFill>
                <a:latin typeface="Aptos"/>
                <a:ea typeface="Aptos"/>
                <a:cs typeface="Aptos"/>
              </a:rPr>
              <a:t>A useful design check</a:t>
            </a:r>
          </a:p>
          <a:p xmlns:a="http://schemas.openxmlformats.org/drawingml/2006/main">
            <a:pPr>
              <a:defRPr sz="1875" b="1">
                <a:solidFill>
                  <a:srgbClr val="17324D"/>
                </a:solidFill>
                <a:latin typeface="Aptos"/>
                <a:ea typeface="Aptos"/>
                <a:cs typeface="Aptos"/>
              </a:defRPr>
            </a:pPr>
            <a:r>
              <a:rPr sz="1875" b="1">
                <a:solidFill>
                  <a:srgbClr val="17324D"/>
                </a:solidFill>
                <a:latin typeface="Aptos"/>
                <a:ea typeface="Aptos"/>
                <a:cs typeface="Aptos"/>
              </a:rPr>
              <a:t>Can someone else understand the categories without you explaining every cell?</a:t>
            </a:r>
          </a:p>
        </p:txBody>
      </p:sp>
    </p:spTree>
    <p:extLst>
      <p:ext uri="{BB962C8B-B14F-4D97-AF65-F5344CB8AC3E}">
        <p14:creationId xmlns:p14="http://schemas.microsoft.com/office/powerpoint/2010/main" val="831084256"/>
      </p:ext>
    </p:extLst>
  </p:cSld>
</p:sld>
</file>

<file path=ppt/slides/slide11.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300ABCF7-63E2-49B2-B379-BFDDC11131F6}"/>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2A9D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E53763-BC79-41B0-999D-DBDA3AA78083}"/>
              </a:ext>
            </a:extLst>
          </p:cNvPr>
          <p:cNvSpPr>
            <a:spLocks xmlns:a="http://schemas.openxmlformats.org/drawingml/2006/main" noGrp="1"/>
          </p:cNvSpPr>
          <p:nvPr/>
        </p:nvSpPr>
        <p:spPr>
          <a:xfrm xmlns:a="http://schemas.openxmlformats.org/drawingml/2006/main">
            <a:off x="609600" y="640080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i="0">
                <a:solidFill>
                  <a:srgbClr val="6D7B86"/>
                </a:solidFill>
                <a:latin typeface="Aptos"/>
                <a:ea typeface="Aptos"/>
                <a:cs typeface="Aptos"/>
              </a:defRPr>
            </a:pPr>
            <a:r>
              <a:rPr sz="975" b="1" i="0">
                <a:solidFill>
                  <a:srgbClr val="6D7B86"/>
                </a:solidFill>
                <a:latin typeface="Aptos"/>
                <a:ea typeface="Aptos"/>
                <a:cs typeface="Aptos"/>
              </a:rPr>
              <a:t>BUSINESS COURSE · MICROSOFT 365</a:t>
            </a:r>
          </a:p>
        </p:txBody>
      </p:sp>
      <p:sp>
        <p:nvSpPr>
          <p:cNvPr id="3" name="">
            <a:extLst xmlns:a="http://schemas.openxmlformats.org/drawingml/2006/main">
              <a:ext uri="{FF2B5EF4-FFF2-40B4-BE49-F238E27FC236}">
                <a16:creationId xmlns:a16="http://schemas.microsoft.com/office/drawing/2014/main" id="{465D95C6-FA23-4335-9964-6F1A413269FB}"/>
              </a:ext>
            </a:extLst>
          </p:cNvPr>
          <p:cNvSpPr>
            <a:spLocks xmlns:a="http://schemas.openxmlformats.org/drawingml/2006/main" noGrp="1"/>
          </p:cNvSpPr>
          <p:nvPr/>
        </p:nvSpPr>
        <p:spPr>
          <a:xfrm xmlns:a="http://schemas.openxmlformats.org/drawingml/2006/main">
            <a:off x="11144250" y="6362700"/>
            <a:ext cx="43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1" i="0">
                <a:solidFill>
                  <a:srgbClr val="6D7B86"/>
                </a:solidFill>
                <a:latin typeface="Aptos"/>
                <a:ea typeface="Aptos"/>
                <a:cs typeface="Aptos"/>
              </a:defRPr>
            </a:pPr>
            <a:r>
              <a:rPr sz="1125" b="1" i="0">
                <a:solidFill>
                  <a:srgbClr val="6D7B86"/>
                </a:solidFill>
                <a:latin typeface="Aptos"/>
                <a:ea typeface="Aptos"/>
                <a:cs typeface="Aptos"/>
              </a:rPr>
              <a:t>11</a:t>
            </a:r>
          </a:p>
        </p:txBody>
      </p:sp>
      <p:sp>
        <p:nvSpPr>
          <p:cNvPr id="4" name="">
            <a:extLst xmlns:a="http://schemas.openxmlformats.org/drawingml/2006/main">
              <a:ext uri="{FF2B5EF4-FFF2-40B4-BE49-F238E27FC236}">
                <a16:creationId xmlns:a16="http://schemas.microsoft.com/office/drawing/2014/main" id="{EF3A54C5-BBB2-48DD-A3ED-12B030261C7D}"/>
              </a:ext>
            </a:extLst>
          </p:cNvPr>
          <p:cNvSpPr>
            <a:spLocks xmlns:a="http://schemas.openxmlformats.org/drawingml/2006/main" noGrp="1"/>
          </p:cNvSpPr>
          <p:nvPr/>
        </p:nvSpPr>
        <p:spPr>
          <a:xfrm xmlns:a="http://schemas.openxmlformats.org/drawingml/2006/main">
            <a:off x="609600" y="4953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925" b="1" i="0">
                <a:solidFill>
                  <a:srgbClr val="17324D"/>
                </a:solidFill>
                <a:latin typeface="Aptos"/>
                <a:ea typeface="Aptos"/>
                <a:cs typeface="Aptos"/>
              </a:defRPr>
            </a:pPr>
            <a:r>
              <a:rPr sz="2925" b="1" i="0">
                <a:solidFill>
                  <a:srgbClr val="17324D"/>
                </a:solidFill>
                <a:latin typeface="Aptos"/>
                <a:ea typeface="Aptos"/>
                <a:cs typeface="Aptos"/>
              </a:rPr>
              <a:t>Microsoft 365 workflow</a:t>
            </a:r>
          </a:p>
        </p:txBody>
      </p:sp>
      <p:sp>
        <p:nvSpPr>
          <p:cNvPr id="5" name="">
            <a:extLst xmlns:a="http://schemas.openxmlformats.org/drawingml/2006/main">
              <a:ext uri="{FF2B5EF4-FFF2-40B4-BE49-F238E27FC236}">
                <a16:creationId xmlns:a16="http://schemas.microsoft.com/office/drawing/2014/main" id="{30D21FE5-C141-4EB0-97FA-414F2AADA0D8}"/>
              </a:ext>
            </a:extLst>
          </p:cNvPr>
          <p:cNvSpPr>
            <a:spLocks xmlns:a="http://schemas.openxmlformats.org/drawingml/2006/main" noGrp="1"/>
          </p:cNvSpPr>
          <p:nvPr/>
        </p:nvSpPr>
        <p:spPr>
          <a:xfrm xmlns:a="http://schemas.openxmlformats.org/drawingml/2006/main">
            <a:off x="628650" y="10668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6D7B86"/>
                </a:solidFill>
                <a:latin typeface="Aptos"/>
                <a:ea typeface="Aptos"/>
                <a:cs typeface="Aptos"/>
              </a:defRPr>
            </a:pPr>
            <a:r>
              <a:rPr sz="1500" b="0" i="0">
                <a:solidFill>
                  <a:srgbClr val="6D7B86"/>
                </a:solidFill>
                <a:latin typeface="Aptos"/>
                <a:ea typeface="Aptos"/>
                <a:cs typeface="Aptos"/>
              </a:rPr>
              <a:t>When the class moves into systems work, clear file habits will make the business work easier to find.</a:t>
            </a:r>
          </a:p>
        </p:txBody>
      </p:sp>
      <p:sp>
        <p:nvSpPr>
          <p:cNvPr id="6" name="">
            <a:extLst xmlns:a="http://schemas.openxmlformats.org/drawingml/2006/main">
              <a:ext uri="{FF2B5EF4-FFF2-40B4-BE49-F238E27FC236}">
                <a16:creationId xmlns:a16="http://schemas.microsoft.com/office/drawing/2014/main" id="{CCC1F685-3F96-4848-9845-B53C4D654E91}"/>
              </a:ext>
            </a:extLst>
          </p:cNvPr>
          <p:cNvSpPr>
            <a:spLocks xmlns:a="http://schemas.openxmlformats.org/drawingml/2006/main" noGrp="1"/>
          </p:cNvSpPr>
          <p:nvPr/>
        </p:nvSpPr>
        <p:spPr>
          <a:xfrm xmlns:a="http://schemas.openxmlformats.org/drawingml/2006/main">
            <a:off x="666750" y="2000250"/>
            <a:ext cx="514350" cy="514350"/>
          </a:xfrm>
          <a:prstGeom xmlns:a="http://schemas.openxmlformats.org/drawingml/2006/main" prst="roundRect">
            <a:avLst>
              <a:gd name="adj" fmla="val 14815"/>
            </a:avLst>
          </a:prstGeom>
          <a:solidFill xmlns:a="http://schemas.openxmlformats.org/drawingml/2006/main">
            <a:srgbClr val="2A9D8F"/>
          </a:solidFill>
          <a:ln xmlns:a="http://schemas.openxmlformats.org/drawingml/2006/main" w="14288">
            <a:solidFill>
              <a:srgbClr val="2A9D8F"/>
            </a:solidFill>
          </a:ln>
        </p:spPr>
        <p:txBody>
          <a:bodyPr xmlns:a="http://schemas.openxmlformats.org/drawingml/2006/main"/>
          <a:lstStyle xmlns:a="http://schemas.openxmlformats.org/drawingml/2006/main"/>
          <a:p xmlns:a="http://schemas.openxmlformats.org/drawingml/2006/main">
            <a:pPr>
              <a:defRPr sz="1875" b="1">
                <a:solidFill>
                  <a:srgbClr val="FFFFFF"/>
                </a:solidFill>
                <a:latin typeface="Aptos"/>
                <a:ea typeface="Aptos"/>
                <a:cs typeface="Aptos"/>
              </a:defRPr>
            </a:pPr>
            <a:r>
              <a:rPr sz="1875" b="1">
                <a:solidFill>
                  <a:srgbClr val="FFFFFF"/>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902061C1-051D-4C8D-BB17-19C4A37E6F36}"/>
              </a:ext>
            </a:extLst>
          </p:cNvPr>
          <p:cNvSpPr>
            <a:spLocks xmlns:a="http://schemas.openxmlformats.org/drawingml/2006/main" noGrp="1"/>
          </p:cNvSpPr>
          <p:nvPr/>
        </p:nvSpPr>
        <p:spPr>
          <a:xfrm xmlns:a="http://schemas.openxmlformats.org/drawingml/2006/main">
            <a:off x="666750" y="2762250"/>
            <a:ext cx="1809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1" i="0">
                <a:solidFill>
                  <a:srgbClr val="17324D"/>
                </a:solidFill>
                <a:latin typeface="Aptos"/>
                <a:ea typeface="Aptos"/>
                <a:cs typeface="Aptos"/>
              </a:defRPr>
            </a:pPr>
            <a:r>
              <a:rPr sz="1650" b="1" i="0">
                <a:solidFill>
                  <a:srgbClr val="17324D"/>
                </a:solidFill>
                <a:latin typeface="Aptos"/>
                <a:ea typeface="Aptos"/>
                <a:cs typeface="Aptos"/>
              </a:rPr>
              <a:t>Make a class folder</a:t>
            </a:r>
          </a:p>
        </p:txBody>
      </p:sp>
      <p:sp>
        <p:nvSpPr>
          <p:cNvPr id="8" name="">
            <a:extLst xmlns:a="http://schemas.openxmlformats.org/drawingml/2006/main">
              <a:ext uri="{FF2B5EF4-FFF2-40B4-BE49-F238E27FC236}">
                <a16:creationId xmlns:a16="http://schemas.microsoft.com/office/drawing/2014/main" id="{628394FA-2360-4C8F-A05B-64850A7A338E}"/>
              </a:ext>
            </a:extLst>
          </p:cNvPr>
          <p:cNvSpPr>
            <a:spLocks xmlns:a="http://schemas.openxmlformats.org/drawingml/2006/main" noGrp="1"/>
          </p:cNvSpPr>
          <p:nvPr/>
        </p:nvSpPr>
        <p:spPr>
          <a:xfrm xmlns:a="http://schemas.openxmlformats.org/drawingml/2006/main">
            <a:off x="666750" y="3333750"/>
            <a:ext cx="1809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350" b="0" i="0">
                <a:solidFill>
                  <a:srgbClr val="243746"/>
                </a:solidFill>
                <a:latin typeface="Aptos"/>
                <a:ea typeface="Aptos"/>
                <a:cs typeface="Aptos"/>
              </a:defRPr>
            </a:pPr>
            <a:r>
              <a:rPr sz="1350" b="0" i="0">
                <a:solidFill>
                  <a:srgbClr val="243746"/>
                </a:solidFill>
                <a:latin typeface="Aptos"/>
                <a:ea typeface="Aptos"/>
                <a:cs typeface="Aptos"/>
              </a:rPr>
              <a:t>Keep this year's work together</a:t>
            </a:r>
          </a:p>
        </p:txBody>
      </p:sp>
      <p:sp>
        <p:nvSpPr>
          <p:cNvPr id="9" name="">
            <a:extLst xmlns:a="http://schemas.openxmlformats.org/drawingml/2006/main">
              <a:ext uri="{FF2B5EF4-FFF2-40B4-BE49-F238E27FC236}">
                <a16:creationId xmlns:a16="http://schemas.microsoft.com/office/drawing/2014/main" id="{08FA80B5-ED48-4851-8F0C-41CC31B91EC8}"/>
              </a:ext>
            </a:extLst>
          </p:cNvPr>
          <p:cNvSpPr>
            <a:spLocks xmlns:a="http://schemas.openxmlformats.org/drawingml/2006/main" noGrp="1"/>
          </p:cNvSpPr>
          <p:nvPr/>
        </p:nvSpPr>
        <p:spPr>
          <a:xfrm xmlns:a="http://schemas.openxmlformats.org/drawingml/2006/main">
            <a:off x="1238250" y="2257425"/>
            <a:ext cx="1571625" cy="0"/>
          </a:xfrm>
          <a:prstGeom xmlns:a="http://schemas.openxmlformats.org/drawingml/2006/main" prst="line">
            <a:avLst/>
          </a:prstGeom>
          <a:noFill xmlns:a="http://schemas.openxmlformats.org/drawingml/2006/main"/>
          <a:ln xmlns:a="http://schemas.openxmlformats.org/drawingml/2006/main" w="28575">
            <a:solidFill>
              <a:srgbClr val="C7D5DA"/>
            </a:solidFill>
          </a:ln>
        </p:spPr>
      </p:sp>
      <p:sp>
        <p:nvSpPr>
          <p:cNvPr id="10" name="">
            <a:extLst xmlns:a="http://schemas.openxmlformats.org/drawingml/2006/main">
              <a:ext uri="{FF2B5EF4-FFF2-40B4-BE49-F238E27FC236}">
                <a16:creationId xmlns:a16="http://schemas.microsoft.com/office/drawing/2014/main" id="{0E02BA13-6891-4429-A29B-9D5F9B034F2F}"/>
              </a:ext>
            </a:extLst>
          </p:cNvPr>
          <p:cNvSpPr>
            <a:spLocks xmlns:a="http://schemas.openxmlformats.org/drawingml/2006/main" noGrp="1"/>
          </p:cNvSpPr>
          <p:nvPr/>
        </p:nvSpPr>
        <p:spPr>
          <a:xfrm xmlns:a="http://schemas.openxmlformats.org/drawingml/2006/main">
            <a:off x="2933700" y="2000250"/>
            <a:ext cx="514350" cy="514350"/>
          </a:xfrm>
          <a:prstGeom xmlns:a="http://schemas.openxmlformats.org/drawingml/2006/main" prst="roundRect">
            <a:avLst>
              <a:gd name="adj" fmla="val 14815"/>
            </a:avLst>
          </a:prstGeom>
          <a:solidFill xmlns:a="http://schemas.openxmlformats.org/drawingml/2006/main">
            <a:srgbClr val="F4A261"/>
          </a:solidFill>
          <a:ln xmlns:a="http://schemas.openxmlformats.org/drawingml/2006/main" w="14288">
            <a:solidFill>
              <a:srgbClr val="F4A261"/>
            </a:solidFill>
          </a:ln>
        </p:spPr>
        <p:txBody>
          <a:bodyPr xmlns:a="http://schemas.openxmlformats.org/drawingml/2006/main"/>
          <a:lstStyle xmlns:a="http://schemas.openxmlformats.org/drawingml/2006/main"/>
          <a:p xmlns:a="http://schemas.openxmlformats.org/drawingml/2006/main">
            <a:pPr>
              <a:defRPr sz="1875" b="1">
                <a:solidFill>
                  <a:srgbClr val="FFFFFF"/>
                </a:solidFill>
                <a:latin typeface="Aptos"/>
                <a:ea typeface="Aptos"/>
                <a:cs typeface="Aptos"/>
              </a:defRPr>
            </a:pPr>
            <a:r>
              <a:rPr sz="1875" b="1">
                <a:solidFill>
                  <a:srgbClr val="FFFFFF"/>
                </a:solidFill>
                <a:latin typeface="Aptos"/>
                <a:ea typeface="Aptos"/>
                <a:cs typeface="Aptos"/>
              </a:rPr>
              <a:t>2</a:t>
            </a:r>
          </a:p>
        </p:txBody>
      </p:sp>
      <p:sp>
        <p:nvSpPr>
          <p:cNvPr id="11" name="">
            <a:extLst xmlns:a="http://schemas.openxmlformats.org/drawingml/2006/main">
              <a:ext uri="{FF2B5EF4-FFF2-40B4-BE49-F238E27FC236}">
                <a16:creationId xmlns:a16="http://schemas.microsoft.com/office/drawing/2014/main" id="{C32F1012-70EB-4123-B21B-C2ED620461FA}"/>
              </a:ext>
            </a:extLst>
          </p:cNvPr>
          <p:cNvSpPr>
            <a:spLocks xmlns:a="http://schemas.openxmlformats.org/drawingml/2006/main" noGrp="1"/>
          </p:cNvSpPr>
          <p:nvPr/>
        </p:nvSpPr>
        <p:spPr>
          <a:xfrm xmlns:a="http://schemas.openxmlformats.org/drawingml/2006/main">
            <a:off x="2933700" y="2762250"/>
            <a:ext cx="1809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1" i="0">
                <a:solidFill>
                  <a:srgbClr val="17324D"/>
                </a:solidFill>
                <a:latin typeface="Aptos"/>
                <a:ea typeface="Aptos"/>
                <a:cs typeface="Aptos"/>
              </a:defRPr>
            </a:pPr>
            <a:r>
              <a:rPr sz="1650" b="1" i="0">
                <a:solidFill>
                  <a:srgbClr val="17324D"/>
                </a:solidFill>
                <a:latin typeface="Aptos"/>
                <a:ea typeface="Aptos"/>
                <a:cs typeface="Aptos"/>
              </a:rPr>
              <a:t>Archive older work</a:t>
            </a:r>
          </a:p>
        </p:txBody>
      </p:sp>
      <p:sp>
        <p:nvSpPr>
          <p:cNvPr id="12" name="">
            <a:extLst xmlns:a="http://schemas.openxmlformats.org/drawingml/2006/main">
              <a:ext uri="{FF2B5EF4-FFF2-40B4-BE49-F238E27FC236}">
                <a16:creationId xmlns:a16="http://schemas.microsoft.com/office/drawing/2014/main" id="{7A970BFB-F2E6-4DB4-A473-6431BEF611B1}"/>
              </a:ext>
            </a:extLst>
          </p:cNvPr>
          <p:cNvSpPr>
            <a:spLocks xmlns:a="http://schemas.openxmlformats.org/drawingml/2006/main" noGrp="1"/>
          </p:cNvSpPr>
          <p:nvPr/>
        </p:nvSpPr>
        <p:spPr>
          <a:xfrm xmlns:a="http://schemas.openxmlformats.org/drawingml/2006/main">
            <a:off x="2933700" y="3333750"/>
            <a:ext cx="1809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350" b="0" i="0">
                <a:solidFill>
                  <a:srgbClr val="243746"/>
                </a:solidFill>
                <a:latin typeface="Aptos"/>
                <a:ea typeface="Aptos"/>
                <a:cs typeface="Aptos"/>
              </a:defRPr>
            </a:pPr>
            <a:r>
              <a:rPr sz="1350" b="0" i="0">
                <a:solidFill>
                  <a:srgbClr val="243746"/>
                </a:solidFill>
                <a:latin typeface="Aptos"/>
                <a:ea typeface="Aptos"/>
                <a:cs typeface="Aptos"/>
              </a:rPr>
              <a:t>Move old files out of the way</a:t>
            </a:r>
          </a:p>
        </p:txBody>
      </p:sp>
      <p:sp>
        <p:nvSpPr>
          <p:cNvPr id="13" name="">
            <a:extLst xmlns:a="http://schemas.openxmlformats.org/drawingml/2006/main">
              <a:ext uri="{FF2B5EF4-FFF2-40B4-BE49-F238E27FC236}">
                <a16:creationId xmlns:a16="http://schemas.microsoft.com/office/drawing/2014/main" id="{96D3E68D-57ED-47D2-801E-372B875B4CDB}"/>
              </a:ext>
            </a:extLst>
          </p:cNvPr>
          <p:cNvSpPr>
            <a:spLocks xmlns:a="http://schemas.openxmlformats.org/drawingml/2006/main" noGrp="1"/>
          </p:cNvSpPr>
          <p:nvPr/>
        </p:nvSpPr>
        <p:spPr>
          <a:xfrm xmlns:a="http://schemas.openxmlformats.org/drawingml/2006/main">
            <a:off x="3505200" y="2257425"/>
            <a:ext cx="1571625" cy="0"/>
          </a:xfrm>
          <a:prstGeom xmlns:a="http://schemas.openxmlformats.org/drawingml/2006/main" prst="line">
            <a:avLst/>
          </a:prstGeom>
          <a:noFill xmlns:a="http://schemas.openxmlformats.org/drawingml/2006/main"/>
          <a:ln xmlns:a="http://schemas.openxmlformats.org/drawingml/2006/main" w="28575">
            <a:solidFill>
              <a:srgbClr val="C7D5DA"/>
            </a:solidFill>
          </a:ln>
        </p:spPr>
      </p:sp>
      <p:sp>
        <p:nvSpPr>
          <p:cNvPr id="14" name="">
            <a:extLst xmlns:a="http://schemas.openxmlformats.org/drawingml/2006/main">
              <a:ext uri="{FF2B5EF4-FFF2-40B4-BE49-F238E27FC236}">
                <a16:creationId xmlns:a16="http://schemas.microsoft.com/office/drawing/2014/main" id="{42F3394C-AC2C-40D7-B9BE-14982AAB5712}"/>
              </a:ext>
            </a:extLst>
          </p:cNvPr>
          <p:cNvSpPr>
            <a:spLocks xmlns:a="http://schemas.openxmlformats.org/drawingml/2006/main" noGrp="1"/>
          </p:cNvSpPr>
          <p:nvPr/>
        </p:nvSpPr>
        <p:spPr>
          <a:xfrm xmlns:a="http://schemas.openxmlformats.org/drawingml/2006/main">
            <a:off x="5200650" y="2000250"/>
            <a:ext cx="514350" cy="514350"/>
          </a:xfrm>
          <a:prstGeom xmlns:a="http://schemas.openxmlformats.org/drawingml/2006/main" prst="roundRect">
            <a:avLst>
              <a:gd name="adj" fmla="val 14815"/>
            </a:avLst>
          </a:prstGeom>
          <a:solidFill xmlns:a="http://schemas.openxmlformats.org/drawingml/2006/main">
            <a:srgbClr val="E76F51"/>
          </a:solidFill>
          <a:ln xmlns:a="http://schemas.openxmlformats.org/drawingml/2006/main" w="14288">
            <a:solidFill>
              <a:srgbClr val="E76F51"/>
            </a:solidFill>
          </a:ln>
        </p:spPr>
        <p:txBody>
          <a:bodyPr xmlns:a="http://schemas.openxmlformats.org/drawingml/2006/main"/>
          <a:lstStyle xmlns:a="http://schemas.openxmlformats.org/drawingml/2006/main"/>
          <a:p xmlns:a="http://schemas.openxmlformats.org/drawingml/2006/main">
            <a:pPr>
              <a:defRPr sz="1875" b="1">
                <a:solidFill>
                  <a:srgbClr val="FFFFFF"/>
                </a:solidFill>
                <a:latin typeface="Aptos"/>
                <a:ea typeface="Aptos"/>
                <a:cs typeface="Aptos"/>
              </a:defRPr>
            </a:pPr>
            <a:r>
              <a:rPr sz="1875" b="1">
                <a:solidFill>
                  <a:srgbClr val="FFFFFF"/>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3ED02465-541F-4A0E-A3FF-A1DB80B54EB6}"/>
              </a:ext>
            </a:extLst>
          </p:cNvPr>
          <p:cNvSpPr>
            <a:spLocks xmlns:a="http://schemas.openxmlformats.org/drawingml/2006/main" noGrp="1"/>
          </p:cNvSpPr>
          <p:nvPr/>
        </p:nvSpPr>
        <p:spPr>
          <a:xfrm xmlns:a="http://schemas.openxmlformats.org/drawingml/2006/main">
            <a:off x="5200650" y="2762250"/>
            <a:ext cx="1809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1" i="0">
                <a:solidFill>
                  <a:srgbClr val="17324D"/>
                </a:solidFill>
                <a:latin typeface="Aptos"/>
                <a:ea typeface="Aptos"/>
                <a:cs typeface="Aptos"/>
              </a:defRPr>
            </a:pPr>
            <a:r>
              <a:rPr sz="1650" b="1" i="0">
                <a:solidFill>
                  <a:srgbClr val="17324D"/>
                </a:solidFill>
                <a:latin typeface="Aptos"/>
                <a:ea typeface="Aptos"/>
                <a:cs typeface="Aptos"/>
              </a:rPr>
              <a:t>Name the file</a:t>
            </a:r>
          </a:p>
        </p:txBody>
      </p:sp>
      <p:sp>
        <p:nvSpPr>
          <p:cNvPr id="16" name="">
            <a:extLst xmlns:a="http://schemas.openxmlformats.org/drawingml/2006/main">
              <a:ext uri="{FF2B5EF4-FFF2-40B4-BE49-F238E27FC236}">
                <a16:creationId xmlns:a16="http://schemas.microsoft.com/office/drawing/2014/main" id="{1A86FD2B-1F3A-49E6-B90B-D08DBD829D9E}"/>
              </a:ext>
            </a:extLst>
          </p:cNvPr>
          <p:cNvSpPr>
            <a:spLocks xmlns:a="http://schemas.openxmlformats.org/drawingml/2006/main" noGrp="1"/>
          </p:cNvSpPr>
          <p:nvPr/>
        </p:nvSpPr>
        <p:spPr>
          <a:xfrm xmlns:a="http://schemas.openxmlformats.org/drawingml/2006/main">
            <a:off x="5200650" y="3333750"/>
            <a:ext cx="1809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350" b="0" i="0">
                <a:solidFill>
                  <a:srgbClr val="243746"/>
                </a:solidFill>
                <a:latin typeface="Aptos"/>
                <a:ea typeface="Aptos"/>
                <a:cs typeface="Aptos"/>
              </a:defRPr>
            </a:pPr>
            <a:r>
              <a:rPr sz="1350" b="0" i="0">
                <a:solidFill>
                  <a:srgbClr val="243746"/>
                </a:solidFill>
                <a:latin typeface="Aptos"/>
                <a:ea typeface="Aptos"/>
                <a:cs typeface="Aptos"/>
              </a:rPr>
              <a:t>Use the class and task name</a:t>
            </a:r>
          </a:p>
        </p:txBody>
      </p:sp>
      <p:sp>
        <p:nvSpPr>
          <p:cNvPr id="17" name="">
            <a:extLst xmlns:a="http://schemas.openxmlformats.org/drawingml/2006/main">
              <a:ext uri="{FF2B5EF4-FFF2-40B4-BE49-F238E27FC236}">
                <a16:creationId xmlns:a16="http://schemas.microsoft.com/office/drawing/2014/main" id="{8585436B-1177-4182-AD5E-2915964B5C11}"/>
              </a:ext>
            </a:extLst>
          </p:cNvPr>
          <p:cNvSpPr>
            <a:spLocks xmlns:a="http://schemas.openxmlformats.org/drawingml/2006/main" noGrp="1"/>
          </p:cNvSpPr>
          <p:nvPr/>
        </p:nvSpPr>
        <p:spPr>
          <a:xfrm xmlns:a="http://schemas.openxmlformats.org/drawingml/2006/main">
            <a:off x="5772150" y="2257425"/>
            <a:ext cx="1571625" cy="0"/>
          </a:xfrm>
          <a:prstGeom xmlns:a="http://schemas.openxmlformats.org/drawingml/2006/main" prst="line">
            <a:avLst/>
          </a:prstGeom>
          <a:noFill xmlns:a="http://schemas.openxmlformats.org/drawingml/2006/main"/>
          <a:ln xmlns:a="http://schemas.openxmlformats.org/drawingml/2006/main" w="28575">
            <a:solidFill>
              <a:srgbClr val="C7D5DA"/>
            </a:solidFill>
          </a:ln>
        </p:spPr>
      </p:sp>
      <p:sp>
        <p:nvSpPr>
          <p:cNvPr id="18" name="">
            <a:extLst xmlns:a="http://schemas.openxmlformats.org/drawingml/2006/main">
              <a:ext uri="{FF2B5EF4-FFF2-40B4-BE49-F238E27FC236}">
                <a16:creationId xmlns:a16="http://schemas.microsoft.com/office/drawing/2014/main" id="{C6141272-5664-43EC-A9B0-0B335E418B2E}"/>
              </a:ext>
            </a:extLst>
          </p:cNvPr>
          <p:cNvSpPr>
            <a:spLocks xmlns:a="http://schemas.openxmlformats.org/drawingml/2006/main" noGrp="1"/>
          </p:cNvSpPr>
          <p:nvPr/>
        </p:nvSpPr>
        <p:spPr>
          <a:xfrm xmlns:a="http://schemas.openxmlformats.org/drawingml/2006/main">
            <a:off x="7467600" y="2000250"/>
            <a:ext cx="514350" cy="514350"/>
          </a:xfrm>
          <a:prstGeom xmlns:a="http://schemas.openxmlformats.org/drawingml/2006/main" prst="roundRect">
            <a:avLst>
              <a:gd name="adj" fmla="val 14815"/>
            </a:avLst>
          </a:prstGeom>
          <a:solidFill xmlns:a="http://schemas.openxmlformats.org/drawingml/2006/main">
            <a:srgbClr val="2A9D8F"/>
          </a:solidFill>
          <a:ln xmlns:a="http://schemas.openxmlformats.org/drawingml/2006/main" w="14288">
            <a:solidFill>
              <a:srgbClr val="2A9D8F"/>
            </a:solidFill>
          </a:ln>
        </p:spPr>
        <p:txBody>
          <a:bodyPr xmlns:a="http://schemas.openxmlformats.org/drawingml/2006/main"/>
          <a:lstStyle xmlns:a="http://schemas.openxmlformats.org/drawingml/2006/main"/>
          <a:p xmlns:a="http://schemas.openxmlformats.org/drawingml/2006/main">
            <a:pPr>
              <a:defRPr sz="1875" b="1">
                <a:solidFill>
                  <a:srgbClr val="FFFFFF"/>
                </a:solidFill>
                <a:latin typeface="Aptos"/>
                <a:ea typeface="Aptos"/>
                <a:cs typeface="Aptos"/>
              </a:defRPr>
            </a:pPr>
            <a:r>
              <a:rPr sz="1875" b="1">
                <a:solidFill>
                  <a:srgbClr val="FFFFFF"/>
                </a:solidFill>
                <a:latin typeface="Aptos"/>
                <a:ea typeface="Aptos"/>
                <a:cs typeface="Aptos"/>
              </a:rPr>
              <a:t>4</a:t>
            </a:r>
          </a:p>
        </p:txBody>
      </p:sp>
      <p:sp>
        <p:nvSpPr>
          <p:cNvPr id="19" name="">
            <a:extLst xmlns:a="http://schemas.openxmlformats.org/drawingml/2006/main">
              <a:ext uri="{FF2B5EF4-FFF2-40B4-BE49-F238E27FC236}">
                <a16:creationId xmlns:a16="http://schemas.microsoft.com/office/drawing/2014/main" id="{653CDC1E-0DCA-4892-9A91-DD001B9F3F41}"/>
              </a:ext>
            </a:extLst>
          </p:cNvPr>
          <p:cNvSpPr>
            <a:spLocks xmlns:a="http://schemas.openxmlformats.org/drawingml/2006/main" noGrp="1"/>
          </p:cNvSpPr>
          <p:nvPr/>
        </p:nvSpPr>
        <p:spPr>
          <a:xfrm xmlns:a="http://schemas.openxmlformats.org/drawingml/2006/main">
            <a:off x="7467600" y="2762250"/>
            <a:ext cx="1809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1" i="0">
                <a:solidFill>
                  <a:srgbClr val="17324D"/>
                </a:solidFill>
                <a:latin typeface="Aptos"/>
                <a:ea typeface="Aptos"/>
                <a:cs typeface="Aptos"/>
              </a:defRPr>
            </a:pPr>
            <a:r>
              <a:rPr sz="1650" b="1" i="0">
                <a:solidFill>
                  <a:srgbClr val="17324D"/>
                </a:solidFill>
                <a:latin typeface="Aptos"/>
                <a:ea typeface="Aptos"/>
                <a:cs typeface="Aptos"/>
              </a:rPr>
              <a:t>Download the assignment</a:t>
            </a:r>
          </a:p>
        </p:txBody>
      </p:sp>
      <p:sp>
        <p:nvSpPr>
          <p:cNvPr id="20" name="">
            <a:extLst xmlns:a="http://schemas.openxmlformats.org/drawingml/2006/main">
              <a:ext uri="{FF2B5EF4-FFF2-40B4-BE49-F238E27FC236}">
                <a16:creationId xmlns:a16="http://schemas.microsoft.com/office/drawing/2014/main" id="{FA781CBD-D145-468F-A303-6CC3F1356C25}"/>
              </a:ext>
            </a:extLst>
          </p:cNvPr>
          <p:cNvSpPr>
            <a:spLocks xmlns:a="http://schemas.openxmlformats.org/drawingml/2006/main" noGrp="1"/>
          </p:cNvSpPr>
          <p:nvPr/>
        </p:nvSpPr>
        <p:spPr>
          <a:xfrm xmlns:a="http://schemas.openxmlformats.org/drawingml/2006/main">
            <a:off x="7467600" y="3333750"/>
            <a:ext cx="1809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350" b="0" i="0">
                <a:solidFill>
                  <a:srgbClr val="243746"/>
                </a:solidFill>
                <a:latin typeface="Aptos"/>
                <a:ea typeface="Aptos"/>
                <a:cs typeface="Aptos"/>
              </a:defRPr>
            </a:pPr>
            <a:r>
              <a:rPr sz="1350" b="0" i="0">
                <a:solidFill>
                  <a:srgbClr val="243746"/>
                </a:solidFill>
                <a:latin typeface="Aptos"/>
                <a:ea typeface="Aptos"/>
                <a:cs typeface="Aptos"/>
              </a:rPr>
              <a:t>Save it where you can find it</a:t>
            </a:r>
          </a:p>
        </p:txBody>
      </p:sp>
      <p:sp>
        <p:nvSpPr>
          <p:cNvPr id="21" name="">
            <a:extLst xmlns:a="http://schemas.openxmlformats.org/drawingml/2006/main">
              <a:ext uri="{FF2B5EF4-FFF2-40B4-BE49-F238E27FC236}">
                <a16:creationId xmlns:a16="http://schemas.microsoft.com/office/drawing/2014/main" id="{FA796C01-AE0F-403B-A3BB-DB7473A48BE4}"/>
              </a:ext>
            </a:extLst>
          </p:cNvPr>
          <p:cNvSpPr>
            <a:spLocks xmlns:a="http://schemas.openxmlformats.org/drawingml/2006/main" noGrp="1"/>
          </p:cNvSpPr>
          <p:nvPr/>
        </p:nvSpPr>
        <p:spPr>
          <a:xfrm xmlns:a="http://schemas.openxmlformats.org/drawingml/2006/main">
            <a:off x="8039100" y="2257425"/>
            <a:ext cx="1571625" cy="0"/>
          </a:xfrm>
          <a:prstGeom xmlns:a="http://schemas.openxmlformats.org/drawingml/2006/main" prst="line">
            <a:avLst/>
          </a:prstGeom>
          <a:noFill xmlns:a="http://schemas.openxmlformats.org/drawingml/2006/main"/>
          <a:ln xmlns:a="http://schemas.openxmlformats.org/drawingml/2006/main" w="28575">
            <a:solidFill>
              <a:srgbClr val="C7D5DA"/>
            </a:solidFill>
          </a:ln>
        </p:spPr>
      </p:sp>
      <p:sp>
        <p:nvSpPr>
          <p:cNvPr id="22" name="">
            <a:extLst xmlns:a="http://schemas.openxmlformats.org/drawingml/2006/main">
              <a:ext uri="{FF2B5EF4-FFF2-40B4-BE49-F238E27FC236}">
                <a16:creationId xmlns:a16="http://schemas.microsoft.com/office/drawing/2014/main" id="{FBB04FAE-B571-4C64-BC45-B333AA7B0753}"/>
              </a:ext>
            </a:extLst>
          </p:cNvPr>
          <p:cNvSpPr>
            <a:spLocks xmlns:a="http://schemas.openxmlformats.org/drawingml/2006/main" noGrp="1"/>
          </p:cNvSpPr>
          <p:nvPr/>
        </p:nvSpPr>
        <p:spPr>
          <a:xfrm xmlns:a="http://schemas.openxmlformats.org/drawingml/2006/main">
            <a:off x="9734550" y="2000250"/>
            <a:ext cx="514350" cy="514350"/>
          </a:xfrm>
          <a:prstGeom xmlns:a="http://schemas.openxmlformats.org/drawingml/2006/main" prst="roundRect">
            <a:avLst>
              <a:gd name="adj" fmla="val 14815"/>
            </a:avLst>
          </a:prstGeom>
          <a:solidFill xmlns:a="http://schemas.openxmlformats.org/drawingml/2006/main">
            <a:srgbClr val="F4A261"/>
          </a:solidFill>
          <a:ln xmlns:a="http://schemas.openxmlformats.org/drawingml/2006/main" w="14288">
            <a:solidFill>
              <a:srgbClr val="F4A261"/>
            </a:solidFill>
          </a:ln>
        </p:spPr>
        <p:txBody>
          <a:bodyPr xmlns:a="http://schemas.openxmlformats.org/drawingml/2006/main"/>
          <a:lstStyle xmlns:a="http://schemas.openxmlformats.org/drawingml/2006/main"/>
          <a:p xmlns:a="http://schemas.openxmlformats.org/drawingml/2006/main">
            <a:pPr>
              <a:defRPr sz="1875" b="1">
                <a:solidFill>
                  <a:srgbClr val="FFFFFF"/>
                </a:solidFill>
                <a:latin typeface="Aptos"/>
                <a:ea typeface="Aptos"/>
                <a:cs typeface="Aptos"/>
              </a:defRPr>
            </a:pPr>
            <a:r>
              <a:rPr sz="1875" b="1">
                <a:solidFill>
                  <a:srgbClr val="FFFFFF"/>
                </a:solidFill>
                <a:latin typeface="Aptos"/>
                <a:ea typeface="Aptos"/>
                <a:cs typeface="Aptos"/>
              </a:rPr>
              <a:t>5</a:t>
            </a:r>
          </a:p>
        </p:txBody>
      </p:sp>
      <p:sp>
        <p:nvSpPr>
          <p:cNvPr id="23" name="">
            <a:extLst xmlns:a="http://schemas.openxmlformats.org/drawingml/2006/main">
              <a:ext uri="{FF2B5EF4-FFF2-40B4-BE49-F238E27FC236}">
                <a16:creationId xmlns:a16="http://schemas.microsoft.com/office/drawing/2014/main" id="{AC4D16B5-5EEA-451D-9543-BF755B6A1D0F}"/>
              </a:ext>
            </a:extLst>
          </p:cNvPr>
          <p:cNvSpPr>
            <a:spLocks xmlns:a="http://schemas.openxmlformats.org/drawingml/2006/main" noGrp="1"/>
          </p:cNvSpPr>
          <p:nvPr/>
        </p:nvSpPr>
        <p:spPr>
          <a:xfrm xmlns:a="http://schemas.openxmlformats.org/drawingml/2006/main">
            <a:off x="9734550" y="2762250"/>
            <a:ext cx="1809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650" b="1" i="0">
                <a:solidFill>
                  <a:srgbClr val="17324D"/>
                </a:solidFill>
                <a:latin typeface="Aptos"/>
                <a:ea typeface="Aptos"/>
                <a:cs typeface="Aptos"/>
              </a:defRPr>
            </a:pPr>
            <a:r>
              <a:rPr sz="1650" b="1" i="0">
                <a:solidFill>
                  <a:srgbClr val="17324D"/>
                </a:solidFill>
                <a:latin typeface="Aptos"/>
                <a:ea typeface="Aptos"/>
                <a:cs typeface="Aptos"/>
              </a:rPr>
              <a:t>Upload to Teams</a:t>
            </a:r>
          </a:p>
        </p:txBody>
      </p:sp>
      <p:sp>
        <p:nvSpPr>
          <p:cNvPr id="24" name="">
            <a:extLst xmlns:a="http://schemas.openxmlformats.org/drawingml/2006/main">
              <a:ext uri="{FF2B5EF4-FFF2-40B4-BE49-F238E27FC236}">
                <a16:creationId xmlns:a16="http://schemas.microsoft.com/office/drawing/2014/main" id="{9FB538B4-D7F4-4B7B-9F2F-CC6966965954}"/>
              </a:ext>
            </a:extLst>
          </p:cNvPr>
          <p:cNvSpPr>
            <a:spLocks xmlns:a="http://schemas.openxmlformats.org/drawingml/2006/main" noGrp="1"/>
          </p:cNvSpPr>
          <p:nvPr/>
        </p:nvSpPr>
        <p:spPr>
          <a:xfrm xmlns:a="http://schemas.openxmlformats.org/drawingml/2006/main">
            <a:off x="9734550" y="3333750"/>
            <a:ext cx="1809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350" b="0" i="0">
                <a:solidFill>
                  <a:srgbClr val="243746"/>
                </a:solidFill>
                <a:latin typeface="Aptos"/>
                <a:ea typeface="Aptos"/>
                <a:cs typeface="Aptos"/>
              </a:defRPr>
            </a:pPr>
            <a:r>
              <a:rPr sz="1350" b="0" i="0">
                <a:solidFill>
                  <a:srgbClr val="243746"/>
                </a:solidFill>
                <a:latin typeface="Aptos"/>
                <a:ea typeface="Aptos"/>
                <a:cs typeface="Aptos"/>
              </a:rPr>
              <a:t>Put the finished file where the class expects it</a:t>
            </a:r>
          </a:p>
        </p:txBody>
      </p:sp>
      <p:sp>
        <p:nvSpPr>
          <p:cNvPr id="25" name="">
            <a:extLst xmlns:a="http://schemas.openxmlformats.org/drawingml/2006/main">
              <a:ext uri="{FF2B5EF4-FFF2-40B4-BE49-F238E27FC236}">
                <a16:creationId xmlns:a16="http://schemas.microsoft.com/office/drawing/2014/main" id="{99EA8929-4298-429B-B75F-2848608FAEDB}"/>
              </a:ext>
            </a:extLst>
          </p:cNvPr>
          <p:cNvSpPr>
            <a:spLocks xmlns:a="http://schemas.openxmlformats.org/drawingml/2006/main" noGrp="1"/>
          </p:cNvSpPr>
          <p:nvPr/>
        </p:nvSpPr>
        <p:spPr>
          <a:xfrm xmlns:a="http://schemas.openxmlformats.org/drawingml/2006/main">
            <a:off x="1809750" y="4810125"/>
            <a:ext cx="8572500" cy="857250"/>
          </a:xfrm>
          <a:prstGeom xmlns:a="http://schemas.openxmlformats.org/drawingml/2006/main" prst="roundRect">
            <a:avLst>
              <a:gd name="adj" fmla="val 8889"/>
            </a:avLst>
          </a:prstGeom>
          <a:solidFill xmlns:a="http://schemas.openxmlformats.org/drawingml/2006/main">
            <a:srgbClr val="E6F3EF"/>
          </a:solidFill>
          <a:ln xmlns:a="http://schemas.openxmlformats.org/drawingml/2006/main" w="14288">
            <a:solidFill>
              <a:srgbClr val="E6F3EF"/>
            </a:solidFill>
          </a:ln>
        </p:spPr>
        <p:txBody>
          <a:bodyPr xmlns:a="http://schemas.openxmlformats.org/drawingml/2006/main"/>
          <a:lstStyle xmlns:a="http://schemas.openxmlformats.org/drawingml/2006/main"/>
          <a:p xmlns:a="http://schemas.openxmlformats.org/drawingml/2006/main">
            <a:pPr>
              <a:defRPr sz="1875" b="1">
                <a:solidFill>
                  <a:srgbClr val="17324D"/>
                </a:solidFill>
                <a:latin typeface="Aptos"/>
                <a:ea typeface="Aptos"/>
                <a:cs typeface="Aptos"/>
              </a:defRPr>
            </a:pPr>
            <a:r>
              <a:rPr sz="1875" b="1">
                <a:solidFill>
                  <a:srgbClr val="17324D"/>
                </a:solidFill>
                <a:latin typeface="Aptos"/>
                <a:ea typeface="Aptos"/>
                <a:cs typeface="Aptos"/>
              </a:rPr>
              <a:t>Example file name</a:t>
            </a:r>
          </a:p>
          <a:p xmlns:a="http://schemas.openxmlformats.org/drawingml/2006/main">
            <a:pPr>
              <a:defRPr sz="1875" b="1">
                <a:solidFill>
                  <a:srgbClr val="17324D"/>
                </a:solidFill>
                <a:latin typeface="Aptos"/>
                <a:ea typeface="Aptos"/>
                <a:cs typeface="Aptos"/>
              </a:defRPr>
            </a:pPr>
            <a:r>
              <a:rPr sz="1875" b="1">
                <a:solidFill>
                  <a:srgbClr val="17324D"/>
                </a:solidFill>
                <a:latin typeface="Aptos"/>
                <a:ea typeface="Aptos"/>
                <a:cs typeface="Aptos"/>
              </a:rPr>
              <a:t>PrinciplesOfMarketing_Chapter1_Vocabulary.pptx</a:t>
            </a:r>
          </a:p>
        </p:txBody>
      </p:sp>
    </p:spTree>
    <p:extLst>
      <p:ext uri="{BB962C8B-B14F-4D97-AF65-F5344CB8AC3E}">
        <p14:creationId xmlns:p14="http://schemas.microsoft.com/office/powerpoint/2010/main" val="163910886"/>
      </p:ext>
    </p:extLst>
  </p:cSld>
</p:sld>
</file>

<file path=ppt/slides/slide12.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16BBF61-DEAD-4053-9978-FBD428F18366}"/>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2A9D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813949-609C-409F-B672-95F54200E5BE}"/>
              </a:ext>
            </a:extLst>
          </p:cNvPr>
          <p:cNvSpPr>
            <a:spLocks xmlns:a="http://schemas.openxmlformats.org/drawingml/2006/main" noGrp="1"/>
          </p:cNvSpPr>
          <p:nvPr/>
        </p:nvSpPr>
        <p:spPr>
          <a:xfrm xmlns:a="http://schemas.openxmlformats.org/drawingml/2006/main">
            <a:off x="609600" y="640080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i="0">
                <a:solidFill>
                  <a:srgbClr val="6D7B86"/>
                </a:solidFill>
                <a:latin typeface="Aptos"/>
                <a:ea typeface="Aptos"/>
                <a:cs typeface="Aptos"/>
              </a:defRPr>
            </a:pPr>
            <a:r>
              <a:rPr sz="975" b="1" i="0">
                <a:solidFill>
                  <a:srgbClr val="6D7B86"/>
                </a:solidFill>
                <a:latin typeface="Aptos"/>
                <a:ea typeface="Aptos"/>
                <a:cs typeface="Aptos"/>
              </a:rPr>
              <a:t>BUSINESS COURSE · MICROSOFT 365</a:t>
            </a:r>
          </a:p>
        </p:txBody>
      </p:sp>
      <p:sp>
        <p:nvSpPr>
          <p:cNvPr id="3" name="">
            <a:extLst xmlns:a="http://schemas.openxmlformats.org/drawingml/2006/main">
              <a:ext uri="{FF2B5EF4-FFF2-40B4-BE49-F238E27FC236}">
                <a16:creationId xmlns:a16="http://schemas.microsoft.com/office/drawing/2014/main" id="{ED6A19CB-5A87-4AD6-9114-74175FE49E77}"/>
              </a:ext>
            </a:extLst>
          </p:cNvPr>
          <p:cNvSpPr>
            <a:spLocks xmlns:a="http://schemas.openxmlformats.org/drawingml/2006/main" noGrp="1"/>
          </p:cNvSpPr>
          <p:nvPr/>
        </p:nvSpPr>
        <p:spPr>
          <a:xfrm xmlns:a="http://schemas.openxmlformats.org/drawingml/2006/main">
            <a:off x="11144250" y="6362700"/>
            <a:ext cx="43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1" i="0">
                <a:solidFill>
                  <a:srgbClr val="6D7B86"/>
                </a:solidFill>
                <a:latin typeface="Aptos"/>
                <a:ea typeface="Aptos"/>
                <a:cs typeface="Aptos"/>
              </a:defRPr>
            </a:pPr>
            <a:r>
              <a:rPr sz="1125" b="1" i="0">
                <a:solidFill>
                  <a:srgbClr val="6D7B86"/>
                </a:solidFill>
                <a:latin typeface="Aptos"/>
                <a:ea typeface="Aptos"/>
                <a:cs typeface="Aptos"/>
              </a:rPr>
              <a:t>12</a:t>
            </a:r>
          </a:p>
        </p:txBody>
      </p:sp>
      <p:sp>
        <p:nvSpPr>
          <p:cNvPr id="4" name="">
            <a:extLst xmlns:a="http://schemas.openxmlformats.org/drawingml/2006/main">
              <a:ext uri="{FF2B5EF4-FFF2-40B4-BE49-F238E27FC236}">
                <a16:creationId xmlns:a16="http://schemas.microsoft.com/office/drawing/2014/main" id="{0023B225-948F-405D-9B46-12322895ED32}"/>
              </a:ext>
            </a:extLst>
          </p:cNvPr>
          <p:cNvSpPr>
            <a:spLocks xmlns:a="http://schemas.openxmlformats.org/drawingml/2006/main" noGrp="1"/>
          </p:cNvSpPr>
          <p:nvPr/>
        </p:nvSpPr>
        <p:spPr>
          <a:xfrm xmlns:a="http://schemas.openxmlformats.org/drawingml/2006/main">
            <a:off x="609600" y="4953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925" b="1" i="0">
                <a:solidFill>
                  <a:srgbClr val="17324D"/>
                </a:solidFill>
                <a:latin typeface="Aptos"/>
                <a:ea typeface="Aptos"/>
                <a:cs typeface="Aptos"/>
              </a:defRPr>
            </a:pPr>
            <a:r>
              <a:rPr sz="2925" b="1" i="0">
                <a:solidFill>
                  <a:srgbClr val="17324D"/>
                </a:solidFill>
                <a:latin typeface="Aptos"/>
                <a:ea typeface="Aptos"/>
                <a:cs typeface="Aptos"/>
              </a:rPr>
              <a:t>Chapter review paths</a:t>
            </a:r>
          </a:p>
        </p:txBody>
      </p:sp>
      <p:sp>
        <p:nvSpPr>
          <p:cNvPr id="5" name="">
            <a:extLst xmlns:a="http://schemas.openxmlformats.org/drawingml/2006/main">
              <a:ext uri="{FF2B5EF4-FFF2-40B4-BE49-F238E27FC236}">
                <a16:creationId xmlns:a16="http://schemas.microsoft.com/office/drawing/2014/main" id="{DAFB3D87-3852-427D-82C4-57C76F7F63EF}"/>
              </a:ext>
            </a:extLst>
          </p:cNvPr>
          <p:cNvSpPr>
            <a:spLocks xmlns:a="http://schemas.openxmlformats.org/drawingml/2006/main" noGrp="1"/>
          </p:cNvSpPr>
          <p:nvPr/>
        </p:nvSpPr>
        <p:spPr>
          <a:xfrm xmlns:a="http://schemas.openxmlformats.org/drawingml/2006/main">
            <a:off x="628650" y="10668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6D7B86"/>
                </a:solidFill>
                <a:latin typeface="Aptos"/>
                <a:ea typeface="Aptos"/>
                <a:cs typeface="Aptos"/>
              </a:defRPr>
            </a:pPr>
            <a:r>
              <a:rPr sz="1500" b="0" i="0">
                <a:solidFill>
                  <a:srgbClr val="6D7B86"/>
                </a:solidFill>
                <a:latin typeface="Aptos"/>
                <a:ea typeface="Aptos"/>
                <a:cs typeface="Aptos"/>
              </a:rPr>
              <a:t>The chapter offers several ways to demonstrate understanding. Your teacher will confirm the assignment.</a:t>
            </a:r>
          </a:p>
        </p:txBody>
      </p:sp>
      <p:sp>
        <p:nvSpPr>
          <p:cNvPr id="6" name="">
            <a:extLst xmlns:a="http://schemas.openxmlformats.org/drawingml/2006/main">
              <a:ext uri="{FF2B5EF4-FFF2-40B4-BE49-F238E27FC236}">
                <a16:creationId xmlns:a16="http://schemas.microsoft.com/office/drawing/2014/main" id="{A30AA767-E9AE-4109-AD16-CB6219C32939}"/>
              </a:ext>
            </a:extLst>
          </p:cNvPr>
          <p:cNvSpPr>
            <a:spLocks xmlns:a="http://schemas.openxmlformats.org/drawingml/2006/main" noGrp="1"/>
          </p:cNvSpPr>
          <p:nvPr/>
        </p:nvSpPr>
        <p:spPr>
          <a:xfrm xmlns:a="http://schemas.openxmlformats.org/drawingml/2006/main">
            <a:off x="1047750" y="1762125"/>
            <a:ext cx="2857500" cy="457200"/>
          </a:xfrm>
          <a:prstGeom xmlns:a="http://schemas.openxmlformats.org/drawingml/2006/main" prst="roundRect">
            <a:avLst>
              <a:gd name="adj" fmla="val 16667"/>
            </a:avLst>
          </a:prstGeom>
          <a:solidFill xmlns:a="http://schemas.openxmlformats.org/drawingml/2006/main">
            <a:srgbClr val="2A9D8F"/>
          </a:solidFill>
          <a:ln xmlns:a="http://schemas.openxmlformats.org/drawingml/2006/main" w="14288">
            <a:solidFill>
              <a:srgbClr val="2A9D8F"/>
            </a:solidFill>
          </a:ln>
        </p:spPr>
        <p:txBody>
          <a:bodyPr xmlns:a="http://schemas.openxmlformats.org/drawingml/2006/main"/>
          <a:lstStyle xmlns:a="http://schemas.openxmlformats.org/drawingml/2006/main"/>
          <a:p xmlns:a="http://schemas.openxmlformats.org/drawingml/2006/main">
            <a:pPr>
              <a:defRPr sz="1650" b="1">
                <a:solidFill>
                  <a:srgbClr val="FFFFFF"/>
                </a:solidFill>
                <a:latin typeface="Aptos"/>
                <a:ea typeface="Aptos"/>
                <a:cs typeface="Aptos"/>
              </a:defRPr>
            </a:pPr>
            <a:r>
              <a:rPr sz="1650" b="1">
                <a:solidFill>
                  <a:srgbClr val="FFFFFF"/>
                </a:solidFill>
                <a:latin typeface="Aptos"/>
                <a:ea typeface="Aptos"/>
                <a:cs typeface="Aptos"/>
              </a:rPr>
              <a:t>Define Key Terms</a:t>
            </a:r>
          </a:p>
        </p:txBody>
      </p:sp>
      <p:sp>
        <p:nvSpPr>
          <p:cNvPr id="7" name="">
            <a:extLst xmlns:a="http://schemas.openxmlformats.org/drawingml/2006/main">
              <a:ext uri="{FF2B5EF4-FFF2-40B4-BE49-F238E27FC236}">
                <a16:creationId xmlns:a16="http://schemas.microsoft.com/office/drawing/2014/main" id="{74C1F716-83C1-4215-B433-034591E3C74D}"/>
              </a:ext>
            </a:extLst>
          </p:cNvPr>
          <p:cNvSpPr>
            <a:spLocks xmlns:a="http://schemas.openxmlformats.org/drawingml/2006/main" noGrp="1"/>
          </p:cNvSpPr>
          <p:nvPr/>
        </p:nvSpPr>
        <p:spPr>
          <a:xfrm xmlns:a="http://schemas.openxmlformats.org/drawingml/2006/main">
            <a:off x="4476750" y="180022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Explain the vocabulary</a:t>
            </a:r>
          </a:p>
        </p:txBody>
      </p:sp>
      <p:sp>
        <p:nvSpPr>
          <p:cNvPr id="8" name="">
            <a:extLst xmlns:a="http://schemas.openxmlformats.org/drawingml/2006/main">
              <a:ext uri="{FF2B5EF4-FFF2-40B4-BE49-F238E27FC236}">
                <a16:creationId xmlns:a16="http://schemas.microsoft.com/office/drawing/2014/main" id="{BF335CDF-E8CD-42D8-91F7-B2C43D87D652}"/>
              </a:ext>
            </a:extLst>
          </p:cNvPr>
          <p:cNvSpPr>
            <a:spLocks xmlns:a="http://schemas.openxmlformats.org/drawingml/2006/main" noGrp="1"/>
          </p:cNvSpPr>
          <p:nvPr/>
        </p:nvSpPr>
        <p:spPr>
          <a:xfrm xmlns:a="http://schemas.openxmlformats.org/drawingml/2006/main">
            <a:off x="1047750" y="2466975"/>
            <a:ext cx="2857500" cy="457200"/>
          </a:xfrm>
          <a:prstGeom xmlns:a="http://schemas.openxmlformats.org/drawingml/2006/main" prst="roundRect">
            <a:avLst>
              <a:gd name="adj" fmla="val 16667"/>
            </a:avLst>
          </a:prstGeom>
          <a:solidFill xmlns:a="http://schemas.openxmlformats.org/drawingml/2006/main">
            <a:srgbClr val="F4A261"/>
          </a:solidFill>
          <a:ln xmlns:a="http://schemas.openxmlformats.org/drawingml/2006/main" w="14288">
            <a:solidFill>
              <a:srgbClr val="F4A261"/>
            </a:solidFill>
          </a:ln>
        </p:spPr>
        <p:txBody>
          <a:bodyPr xmlns:a="http://schemas.openxmlformats.org/drawingml/2006/main"/>
          <a:lstStyle xmlns:a="http://schemas.openxmlformats.org/drawingml/2006/main"/>
          <a:p xmlns:a="http://schemas.openxmlformats.org/drawingml/2006/main">
            <a:pPr>
              <a:defRPr sz="1650" b="1">
                <a:solidFill>
                  <a:srgbClr val="FFFFFF"/>
                </a:solidFill>
                <a:latin typeface="Aptos"/>
                <a:ea typeface="Aptos"/>
                <a:cs typeface="Aptos"/>
              </a:defRPr>
            </a:pPr>
            <a:r>
              <a:rPr sz="1650" b="1">
                <a:solidFill>
                  <a:srgbClr val="FFFFFF"/>
                </a:solidFill>
                <a:latin typeface="Aptos"/>
                <a:ea typeface="Aptos"/>
                <a:cs typeface="Aptos"/>
              </a:rPr>
              <a:t>Test Your Knowledge</a:t>
            </a:r>
          </a:p>
        </p:txBody>
      </p:sp>
      <p:sp>
        <p:nvSpPr>
          <p:cNvPr id="9" name="">
            <a:extLst xmlns:a="http://schemas.openxmlformats.org/drawingml/2006/main">
              <a:ext uri="{FF2B5EF4-FFF2-40B4-BE49-F238E27FC236}">
                <a16:creationId xmlns:a16="http://schemas.microsoft.com/office/drawing/2014/main" id="{A4C8EDE2-E77E-4366-BD3C-D84D774DD130}"/>
              </a:ext>
            </a:extLst>
          </p:cNvPr>
          <p:cNvSpPr>
            <a:spLocks xmlns:a="http://schemas.openxmlformats.org/drawingml/2006/main" noGrp="1"/>
          </p:cNvSpPr>
          <p:nvPr/>
        </p:nvSpPr>
        <p:spPr>
          <a:xfrm xmlns:a="http://schemas.openxmlformats.org/drawingml/2006/main">
            <a:off x="4476750" y="250507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Answer short questions</a:t>
            </a:r>
          </a:p>
        </p:txBody>
      </p:sp>
      <p:sp>
        <p:nvSpPr>
          <p:cNvPr id="10" name="">
            <a:extLst xmlns:a="http://schemas.openxmlformats.org/drawingml/2006/main">
              <a:ext uri="{FF2B5EF4-FFF2-40B4-BE49-F238E27FC236}">
                <a16:creationId xmlns:a16="http://schemas.microsoft.com/office/drawing/2014/main" id="{A1E46596-F2D4-43E9-9FE8-CE2D8372188F}"/>
              </a:ext>
            </a:extLst>
          </p:cNvPr>
          <p:cNvSpPr>
            <a:spLocks xmlns:a="http://schemas.openxmlformats.org/drawingml/2006/main" noGrp="1"/>
          </p:cNvSpPr>
          <p:nvPr/>
        </p:nvSpPr>
        <p:spPr>
          <a:xfrm xmlns:a="http://schemas.openxmlformats.org/drawingml/2006/main">
            <a:off x="1047750" y="3171825"/>
            <a:ext cx="2857500" cy="457200"/>
          </a:xfrm>
          <a:prstGeom xmlns:a="http://schemas.openxmlformats.org/drawingml/2006/main" prst="roundRect">
            <a:avLst>
              <a:gd name="adj" fmla="val 16667"/>
            </a:avLst>
          </a:prstGeom>
          <a:solidFill xmlns:a="http://schemas.openxmlformats.org/drawingml/2006/main">
            <a:srgbClr val="2A9D8F"/>
          </a:solidFill>
          <a:ln xmlns:a="http://schemas.openxmlformats.org/drawingml/2006/main" w="14288">
            <a:solidFill>
              <a:srgbClr val="2A9D8F"/>
            </a:solidFill>
          </a:ln>
        </p:spPr>
        <p:txBody>
          <a:bodyPr xmlns:a="http://schemas.openxmlformats.org/drawingml/2006/main"/>
          <a:lstStyle xmlns:a="http://schemas.openxmlformats.org/drawingml/2006/main"/>
          <a:p xmlns:a="http://schemas.openxmlformats.org/drawingml/2006/main">
            <a:pPr>
              <a:defRPr sz="1650" b="1">
                <a:solidFill>
                  <a:srgbClr val="FFFFFF"/>
                </a:solidFill>
                <a:latin typeface="Aptos"/>
                <a:ea typeface="Aptos"/>
                <a:cs typeface="Aptos"/>
              </a:defRPr>
            </a:pPr>
            <a:r>
              <a:rPr sz="1650" b="1">
                <a:solidFill>
                  <a:srgbClr val="FFFFFF"/>
                </a:solidFill>
                <a:latin typeface="Aptos"/>
                <a:ea typeface="Aptos"/>
                <a:cs typeface="Aptos"/>
              </a:rPr>
              <a:t>Read and Write</a:t>
            </a:r>
          </a:p>
        </p:txBody>
      </p:sp>
      <p:sp>
        <p:nvSpPr>
          <p:cNvPr id="11" name="">
            <a:extLst xmlns:a="http://schemas.openxmlformats.org/drawingml/2006/main">
              <a:ext uri="{FF2B5EF4-FFF2-40B4-BE49-F238E27FC236}">
                <a16:creationId xmlns:a16="http://schemas.microsoft.com/office/drawing/2014/main" id="{5D6182AA-34F8-4D15-9E98-0DBB6495D38A}"/>
              </a:ext>
            </a:extLst>
          </p:cNvPr>
          <p:cNvSpPr>
            <a:spLocks xmlns:a="http://schemas.openxmlformats.org/drawingml/2006/main" noGrp="1"/>
          </p:cNvSpPr>
          <p:nvPr/>
        </p:nvSpPr>
        <p:spPr>
          <a:xfrm xmlns:a="http://schemas.openxmlformats.org/drawingml/2006/main">
            <a:off x="4476750" y="320992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Use the Market This case</a:t>
            </a:r>
          </a:p>
        </p:txBody>
      </p:sp>
      <p:sp>
        <p:nvSpPr>
          <p:cNvPr id="12" name="">
            <a:extLst xmlns:a="http://schemas.openxmlformats.org/drawingml/2006/main">
              <a:ext uri="{FF2B5EF4-FFF2-40B4-BE49-F238E27FC236}">
                <a16:creationId xmlns:a16="http://schemas.microsoft.com/office/drawing/2014/main" id="{132F9AF7-7E37-499E-9C2C-1F4A1AB98B53}"/>
              </a:ext>
            </a:extLst>
          </p:cNvPr>
          <p:cNvSpPr>
            <a:spLocks xmlns:a="http://schemas.openxmlformats.org/drawingml/2006/main" noGrp="1"/>
          </p:cNvSpPr>
          <p:nvPr/>
        </p:nvSpPr>
        <p:spPr>
          <a:xfrm xmlns:a="http://schemas.openxmlformats.org/drawingml/2006/main">
            <a:off x="1047750" y="3876675"/>
            <a:ext cx="2857500" cy="457200"/>
          </a:xfrm>
          <a:prstGeom xmlns:a="http://schemas.openxmlformats.org/drawingml/2006/main" prst="roundRect">
            <a:avLst>
              <a:gd name="adj" fmla="val 16667"/>
            </a:avLst>
          </a:prstGeom>
          <a:solidFill xmlns:a="http://schemas.openxmlformats.org/drawingml/2006/main">
            <a:srgbClr val="F4A261"/>
          </a:solidFill>
          <a:ln xmlns:a="http://schemas.openxmlformats.org/drawingml/2006/main" w="14288">
            <a:solidFill>
              <a:srgbClr val="F4A261"/>
            </a:solidFill>
          </a:ln>
        </p:spPr>
        <p:txBody>
          <a:bodyPr xmlns:a="http://schemas.openxmlformats.org/drawingml/2006/main"/>
          <a:lstStyle xmlns:a="http://schemas.openxmlformats.org/drawingml/2006/main"/>
          <a:p xmlns:a="http://schemas.openxmlformats.org/drawingml/2006/main">
            <a:pPr>
              <a:defRPr sz="1650" b="1">
                <a:solidFill>
                  <a:srgbClr val="FFFFFF"/>
                </a:solidFill>
                <a:latin typeface="Aptos"/>
                <a:ea typeface="Aptos"/>
                <a:cs typeface="Aptos"/>
              </a:defRPr>
            </a:pPr>
            <a:r>
              <a:rPr sz="1650" b="1">
                <a:solidFill>
                  <a:srgbClr val="FFFFFF"/>
                </a:solidFill>
                <a:latin typeface="Aptos"/>
                <a:ea typeface="Aptos"/>
                <a:cs typeface="Aptos"/>
              </a:rPr>
              <a:t>Listen and Speak</a:t>
            </a:r>
          </a:p>
        </p:txBody>
      </p:sp>
      <p:sp>
        <p:nvSpPr>
          <p:cNvPr id="13" name="">
            <a:extLst xmlns:a="http://schemas.openxmlformats.org/drawingml/2006/main">
              <a:ext uri="{FF2B5EF4-FFF2-40B4-BE49-F238E27FC236}">
                <a16:creationId xmlns:a16="http://schemas.microsoft.com/office/drawing/2014/main" id="{D331E5FC-9723-4362-BC77-E32480AE47A5}"/>
              </a:ext>
            </a:extLst>
          </p:cNvPr>
          <p:cNvSpPr>
            <a:spLocks xmlns:a="http://schemas.openxmlformats.org/drawingml/2006/main" noGrp="1"/>
          </p:cNvSpPr>
          <p:nvPr/>
        </p:nvSpPr>
        <p:spPr>
          <a:xfrm xmlns:a="http://schemas.openxmlformats.org/drawingml/2006/main">
            <a:off x="4476750" y="391477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Present marketing functions</a:t>
            </a:r>
          </a:p>
        </p:txBody>
      </p:sp>
      <p:sp>
        <p:nvSpPr>
          <p:cNvPr id="14" name="">
            <a:extLst xmlns:a="http://schemas.openxmlformats.org/drawingml/2006/main">
              <a:ext uri="{FF2B5EF4-FFF2-40B4-BE49-F238E27FC236}">
                <a16:creationId xmlns:a16="http://schemas.microsoft.com/office/drawing/2014/main" id="{0CE003EA-AD59-4090-8775-0C58E470017F}"/>
              </a:ext>
            </a:extLst>
          </p:cNvPr>
          <p:cNvSpPr>
            <a:spLocks xmlns:a="http://schemas.openxmlformats.org/drawingml/2006/main" noGrp="1"/>
          </p:cNvSpPr>
          <p:nvPr/>
        </p:nvSpPr>
        <p:spPr>
          <a:xfrm xmlns:a="http://schemas.openxmlformats.org/drawingml/2006/main">
            <a:off x="1047750" y="4581525"/>
            <a:ext cx="2857500" cy="457200"/>
          </a:xfrm>
          <a:prstGeom xmlns:a="http://schemas.openxmlformats.org/drawingml/2006/main" prst="roundRect">
            <a:avLst>
              <a:gd name="adj" fmla="val 16667"/>
            </a:avLst>
          </a:prstGeom>
          <a:solidFill xmlns:a="http://schemas.openxmlformats.org/drawingml/2006/main">
            <a:srgbClr val="2A9D8F"/>
          </a:solidFill>
          <a:ln xmlns:a="http://schemas.openxmlformats.org/drawingml/2006/main" w="14288">
            <a:solidFill>
              <a:srgbClr val="2A9D8F"/>
            </a:solidFill>
          </a:ln>
        </p:spPr>
        <p:txBody>
          <a:bodyPr xmlns:a="http://schemas.openxmlformats.org/drawingml/2006/main"/>
          <a:lstStyle xmlns:a="http://schemas.openxmlformats.org/drawingml/2006/main"/>
          <a:p xmlns:a="http://schemas.openxmlformats.org/drawingml/2006/main">
            <a:pPr>
              <a:defRPr sz="1650" b="1">
                <a:solidFill>
                  <a:srgbClr val="FFFFFF"/>
                </a:solidFill>
                <a:latin typeface="Aptos"/>
                <a:ea typeface="Aptos"/>
                <a:cs typeface="Aptos"/>
              </a:defRPr>
            </a:pPr>
            <a:r>
              <a:rPr sz="1650" b="1">
                <a:solidFill>
                  <a:srgbClr val="FFFFFF"/>
                </a:solidFill>
                <a:latin typeface="Aptos"/>
                <a:ea typeface="Aptos"/>
                <a:cs typeface="Aptos"/>
              </a:rPr>
              <a:t>Create and Design</a:t>
            </a:r>
          </a:p>
        </p:txBody>
      </p:sp>
      <p:sp>
        <p:nvSpPr>
          <p:cNvPr id="15" name="">
            <a:extLst xmlns:a="http://schemas.openxmlformats.org/drawingml/2006/main">
              <a:ext uri="{FF2B5EF4-FFF2-40B4-BE49-F238E27FC236}">
                <a16:creationId xmlns:a16="http://schemas.microsoft.com/office/drawing/2014/main" id="{AF45D59B-5CE3-456A-99E0-4C96F5B539AB}"/>
              </a:ext>
            </a:extLst>
          </p:cNvPr>
          <p:cNvSpPr>
            <a:spLocks xmlns:a="http://schemas.openxmlformats.org/drawingml/2006/main" noGrp="1"/>
          </p:cNvSpPr>
          <p:nvPr/>
        </p:nvSpPr>
        <p:spPr>
          <a:xfrm xmlns:a="http://schemas.openxmlformats.org/drawingml/2006/main">
            <a:off x="4476750" y="461962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i="0">
                <a:solidFill>
                  <a:srgbClr val="243746"/>
                </a:solidFill>
                <a:latin typeface="Aptos"/>
                <a:ea typeface="Aptos"/>
                <a:cs typeface="Aptos"/>
              </a:defRPr>
            </a:pPr>
            <a:r>
              <a:rPr sz="1575" b="0" i="0">
                <a:solidFill>
                  <a:srgbClr val="243746"/>
                </a:solidFill>
                <a:latin typeface="Aptos"/>
                <a:ea typeface="Aptos"/>
                <a:cs typeface="Aptos"/>
              </a:rPr>
              <a:t>Build a goods/services/ideas chart</a:t>
            </a:r>
          </a:p>
        </p:txBody>
      </p:sp>
      <p:sp>
        <p:nvSpPr>
          <p:cNvPr id="16" name="">
            <a:extLst xmlns:a="http://schemas.openxmlformats.org/drawingml/2006/main">
              <a:ext uri="{FF2B5EF4-FFF2-40B4-BE49-F238E27FC236}">
                <a16:creationId xmlns:a16="http://schemas.microsoft.com/office/drawing/2014/main" id="{6D1F27E9-FCAA-4A85-ACB8-9180FE17B0E7}"/>
              </a:ext>
            </a:extLst>
          </p:cNvPr>
          <p:cNvSpPr>
            <a:spLocks xmlns:a="http://schemas.openxmlformats.org/drawingml/2006/main" noGrp="1"/>
          </p:cNvSpPr>
          <p:nvPr/>
        </p:nvSpPr>
        <p:spPr>
          <a:xfrm xmlns:a="http://schemas.openxmlformats.org/drawingml/2006/main">
            <a:off x="2095500" y="5476875"/>
            <a:ext cx="8001000" cy="552450"/>
          </a:xfrm>
          <a:prstGeom xmlns:a="http://schemas.openxmlformats.org/drawingml/2006/main" prst="roundRect">
            <a:avLst>
              <a:gd name="adj" fmla="val 13793"/>
            </a:avLst>
          </a:prstGeom>
          <a:solidFill xmlns:a="http://schemas.openxmlformats.org/drawingml/2006/main">
            <a:srgbClr val="DDEEF2"/>
          </a:solidFill>
          <a:ln xmlns:a="http://schemas.openxmlformats.org/drawingml/2006/main" w="14288">
            <a:solidFill>
              <a:srgbClr val="DDEEF2"/>
            </a:solidFill>
          </a:ln>
        </p:spPr>
        <p:txBody>
          <a:bodyPr xmlns:a="http://schemas.openxmlformats.org/drawingml/2006/main"/>
          <a:lstStyle xmlns:a="http://schemas.openxmlformats.org/drawingml/2006/main"/>
          <a:p xmlns:a="http://schemas.openxmlformats.org/drawingml/2006/main">
            <a:pPr>
              <a:defRPr sz="1875" b="1">
                <a:solidFill>
                  <a:srgbClr val="17324D"/>
                </a:solidFill>
                <a:latin typeface="Aptos"/>
                <a:ea typeface="Aptos"/>
                <a:cs typeface="Aptos"/>
              </a:defRPr>
            </a:pPr>
            <a:r>
              <a:rPr sz="1875" b="1">
                <a:solidFill>
                  <a:srgbClr val="17324D"/>
                </a:solidFill>
                <a:latin typeface="Aptos"/>
                <a:ea typeface="Aptos"/>
                <a:cs typeface="Aptos"/>
              </a:rPr>
              <a:t>Same chapter. Different ways to show what you understand.</a:t>
            </a:r>
          </a:p>
        </p:txBody>
      </p:sp>
    </p:spTree>
    <p:extLst>
      <p:ext uri="{BB962C8B-B14F-4D97-AF65-F5344CB8AC3E}">
        <p14:creationId xmlns:p14="http://schemas.microsoft.com/office/powerpoint/2010/main" val="1553044681"/>
      </p:ext>
    </p:extLst>
  </p:cSld>
</p:sld>
</file>

<file path=ppt/slides/slide13.xml><?xml version="1.0" encoding="utf-8"?>
<p:sld xmlns:p="http://schemas.openxmlformats.org/presentationml/2006/main">
  <p:cSld>
    <p:bg>
      <p:bgPr>
        <a:solidFill xmlns:a="http://schemas.openxmlformats.org/drawingml/2006/main">
          <a:srgbClr val="F8F5E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793CBAD-A6BA-49E8-B7BF-1D289EB50EEE}"/>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2A9D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62BB59-5A06-423C-AA46-B25DFB0BCC03}"/>
              </a:ext>
            </a:extLst>
          </p:cNvPr>
          <p:cNvSpPr>
            <a:spLocks xmlns:a="http://schemas.openxmlformats.org/drawingml/2006/main" noGrp="1"/>
          </p:cNvSpPr>
          <p:nvPr/>
        </p:nvSpPr>
        <p:spPr>
          <a:xfrm xmlns:a="http://schemas.openxmlformats.org/drawingml/2006/main">
            <a:off x="609600" y="640080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i="0">
                <a:solidFill>
                  <a:srgbClr val="6D7B86"/>
                </a:solidFill>
                <a:latin typeface="Aptos"/>
                <a:ea typeface="Aptos"/>
                <a:cs typeface="Aptos"/>
              </a:defRPr>
            </a:pPr>
            <a:r>
              <a:rPr sz="975" b="1" i="0">
                <a:solidFill>
                  <a:srgbClr val="6D7B86"/>
                </a:solidFill>
                <a:latin typeface="Aptos"/>
                <a:ea typeface="Aptos"/>
                <a:cs typeface="Aptos"/>
              </a:rPr>
              <a:t>BUSINESS COURSE · MICROSOFT 365</a:t>
            </a:r>
          </a:p>
        </p:txBody>
      </p:sp>
      <p:sp>
        <p:nvSpPr>
          <p:cNvPr id="3" name="">
            <a:extLst xmlns:a="http://schemas.openxmlformats.org/drawingml/2006/main">
              <a:ext uri="{FF2B5EF4-FFF2-40B4-BE49-F238E27FC236}">
                <a16:creationId xmlns:a16="http://schemas.microsoft.com/office/drawing/2014/main" id="{2A11CED6-0A81-456E-8B17-3FE7857C7CD0}"/>
              </a:ext>
            </a:extLst>
          </p:cNvPr>
          <p:cNvSpPr>
            <a:spLocks xmlns:a="http://schemas.openxmlformats.org/drawingml/2006/main" noGrp="1"/>
          </p:cNvSpPr>
          <p:nvPr/>
        </p:nvSpPr>
        <p:spPr>
          <a:xfrm xmlns:a="http://schemas.openxmlformats.org/drawingml/2006/main">
            <a:off x="11144250" y="6362700"/>
            <a:ext cx="43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125" b="1" i="0">
                <a:solidFill>
                  <a:srgbClr val="6D7B86"/>
                </a:solidFill>
                <a:latin typeface="Aptos"/>
                <a:ea typeface="Aptos"/>
                <a:cs typeface="Aptos"/>
              </a:defRPr>
            </a:pPr>
            <a:r>
              <a:rPr sz="1125" b="1" i="0">
                <a:solidFill>
                  <a:srgbClr val="6D7B86"/>
                </a:solidFill>
                <a:latin typeface="Aptos"/>
                <a:ea typeface="Aptos"/>
                <a:cs typeface="Aptos"/>
              </a:rPr>
              <a:t>13</a:t>
            </a:r>
          </a:p>
        </p:txBody>
      </p:sp>
      <p:sp>
        <p:nvSpPr>
          <p:cNvPr id="4" name="">
            <a:extLst xmlns:a="http://schemas.openxmlformats.org/drawingml/2006/main">
              <a:ext uri="{FF2B5EF4-FFF2-40B4-BE49-F238E27FC236}">
                <a16:creationId xmlns:a16="http://schemas.microsoft.com/office/drawing/2014/main" id="{D4281DFE-BE94-4DB8-8D01-F1693F7F8C0A}"/>
              </a:ext>
            </a:extLst>
          </p:cNvPr>
          <p:cNvSpPr>
            <a:spLocks xmlns:a="http://schemas.openxmlformats.org/drawingml/2006/main" noGrp="1"/>
          </p:cNvSpPr>
          <p:nvPr/>
        </p:nvSpPr>
        <p:spPr>
          <a:xfrm xmlns:a="http://schemas.openxmlformats.org/drawingml/2006/main">
            <a:off x="609600" y="4953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925" b="1" i="0">
                <a:solidFill>
                  <a:srgbClr val="17324D"/>
                </a:solidFill>
                <a:latin typeface="Aptos"/>
                <a:ea typeface="Aptos"/>
                <a:cs typeface="Aptos"/>
              </a:defRPr>
            </a:pPr>
            <a:r>
              <a:rPr sz="2925" b="1" i="0">
                <a:solidFill>
                  <a:srgbClr val="17324D"/>
                </a:solidFill>
                <a:latin typeface="Aptos"/>
                <a:ea typeface="Aptos"/>
                <a:cs typeface="Aptos"/>
              </a:rPr>
              <a:t>The CS connection</a:t>
            </a:r>
          </a:p>
        </p:txBody>
      </p:sp>
      <p:sp>
        <p:nvSpPr>
          <p:cNvPr id="5" name="">
            <a:extLst xmlns:a="http://schemas.openxmlformats.org/drawingml/2006/main">
              <a:ext uri="{FF2B5EF4-FFF2-40B4-BE49-F238E27FC236}">
                <a16:creationId xmlns:a16="http://schemas.microsoft.com/office/drawing/2014/main" id="{D4EDC817-F585-43DE-8668-674F4E0C84E2}"/>
              </a:ext>
            </a:extLst>
          </p:cNvPr>
          <p:cNvSpPr>
            <a:spLocks xmlns:a="http://schemas.openxmlformats.org/drawingml/2006/main" noGrp="1"/>
          </p:cNvSpPr>
          <p:nvPr/>
        </p:nvSpPr>
        <p:spPr>
          <a:xfrm xmlns:a="http://schemas.openxmlformats.org/drawingml/2006/main">
            <a:off x="628650" y="10668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6D7B86"/>
                </a:solidFill>
                <a:latin typeface="Aptos"/>
                <a:ea typeface="Aptos"/>
                <a:cs typeface="Aptos"/>
              </a:defRPr>
            </a:pPr>
            <a:r>
              <a:rPr sz="1500" b="0" i="0">
                <a:solidFill>
                  <a:srgbClr val="6D7B86"/>
                </a:solidFill>
                <a:latin typeface="Aptos"/>
                <a:ea typeface="Aptos"/>
                <a:cs typeface="Aptos"/>
              </a:rPr>
              <a:t>We can use computer-science habits to make business work easier to understand.</a:t>
            </a:r>
          </a:p>
        </p:txBody>
      </p:sp>
      <p:sp>
        <p:nvSpPr>
          <p:cNvPr id="6" name="">
            <a:extLst xmlns:a="http://schemas.openxmlformats.org/drawingml/2006/main">
              <a:ext uri="{FF2B5EF4-FFF2-40B4-BE49-F238E27FC236}">
                <a16:creationId xmlns:a16="http://schemas.microsoft.com/office/drawing/2014/main" id="{EBD89198-152A-4A71-A487-64F8B3E23C59}"/>
              </a:ext>
            </a:extLst>
          </p:cNvPr>
          <p:cNvSpPr>
            <a:spLocks xmlns:a="http://schemas.openxmlformats.org/drawingml/2006/main" noGrp="1"/>
          </p:cNvSpPr>
          <p:nvPr/>
        </p:nvSpPr>
        <p:spPr>
          <a:xfrm xmlns:a="http://schemas.openxmlformats.org/drawingml/2006/main">
            <a:off x="800100" y="1905000"/>
            <a:ext cx="533400" cy="533400"/>
          </a:xfrm>
          <a:prstGeom xmlns:a="http://schemas.openxmlformats.org/drawingml/2006/main" prst="roundRect">
            <a:avLst>
              <a:gd name="adj" fmla="val 14286"/>
            </a:avLst>
          </a:prstGeom>
          <a:solidFill xmlns:a="http://schemas.openxmlformats.org/drawingml/2006/main">
            <a:srgbClr val="2A9D8F"/>
          </a:solidFill>
          <a:ln xmlns:a="http://schemas.openxmlformats.org/drawingml/2006/main" w="14288">
            <a:solidFill>
              <a:srgbClr val="2A9D8F"/>
            </a:solidFill>
          </a:ln>
        </p:spPr>
        <p:txBody>
          <a:bodyPr xmlns:a="http://schemas.openxmlformats.org/drawingml/2006/main"/>
          <a:lstStyle xmlns:a="http://schemas.openxmlformats.org/drawingml/2006/main"/>
          <a:p xmlns:a="http://schemas.openxmlformats.org/drawingml/2006/main">
            <a:pPr>
              <a:defRPr sz="1950" b="1">
                <a:solidFill>
                  <a:srgbClr val="FFFFFF"/>
                </a:solidFill>
                <a:latin typeface="Aptos"/>
                <a:ea typeface="Aptos"/>
                <a:cs typeface="Aptos"/>
              </a:defRPr>
            </a:pPr>
            <a:r>
              <a:rPr sz="1950" b="1">
                <a:solidFill>
                  <a:srgbClr val="FFFFFF"/>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0CA4468A-3552-4495-BAE2-875D0CC7F7E8}"/>
              </a:ext>
            </a:extLst>
          </p:cNvPr>
          <p:cNvSpPr>
            <a:spLocks xmlns:a="http://schemas.openxmlformats.org/drawingml/2006/main" noGrp="1"/>
          </p:cNvSpPr>
          <p:nvPr/>
        </p:nvSpPr>
        <p:spPr>
          <a:xfrm xmlns:a="http://schemas.openxmlformats.org/drawingml/2006/main">
            <a:off x="800100" y="2743200"/>
            <a:ext cx="219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025" b="1" i="0">
                <a:solidFill>
                  <a:srgbClr val="17324D"/>
                </a:solidFill>
                <a:latin typeface="Aptos"/>
                <a:ea typeface="Aptos"/>
                <a:cs typeface="Aptos"/>
              </a:defRPr>
            </a:pPr>
            <a:r>
              <a:rPr sz="2025" b="1" i="0">
                <a:solidFill>
                  <a:srgbClr val="17324D"/>
                </a:solidFill>
                <a:latin typeface="Aptos"/>
                <a:ea typeface="Aptos"/>
                <a:cs typeface="Aptos"/>
              </a:rPr>
              <a:t>Define</a:t>
            </a:r>
          </a:p>
        </p:txBody>
      </p:sp>
      <p:sp>
        <p:nvSpPr>
          <p:cNvPr id="8" name="">
            <a:extLst xmlns:a="http://schemas.openxmlformats.org/drawingml/2006/main">
              <a:ext uri="{FF2B5EF4-FFF2-40B4-BE49-F238E27FC236}">
                <a16:creationId xmlns:a16="http://schemas.microsoft.com/office/drawing/2014/main" id="{58979BAD-3050-4796-9950-AFA860CE9AA8}"/>
              </a:ext>
            </a:extLst>
          </p:cNvPr>
          <p:cNvSpPr>
            <a:spLocks xmlns:a="http://schemas.openxmlformats.org/drawingml/2006/main" noGrp="1"/>
          </p:cNvSpPr>
          <p:nvPr/>
        </p:nvSpPr>
        <p:spPr>
          <a:xfrm xmlns:a="http://schemas.openxmlformats.org/drawingml/2006/main">
            <a:off x="800100" y="321945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What is the task asking?</a:t>
            </a:r>
          </a:p>
        </p:txBody>
      </p:sp>
      <p:sp>
        <p:nvSpPr>
          <p:cNvPr id="9" name="">
            <a:extLst xmlns:a="http://schemas.openxmlformats.org/drawingml/2006/main">
              <a:ext uri="{FF2B5EF4-FFF2-40B4-BE49-F238E27FC236}">
                <a16:creationId xmlns:a16="http://schemas.microsoft.com/office/drawing/2014/main" id="{60518809-F5E5-4038-AB59-589AE8AA79AB}"/>
              </a:ext>
            </a:extLst>
          </p:cNvPr>
          <p:cNvSpPr>
            <a:spLocks xmlns:a="http://schemas.openxmlformats.org/drawingml/2006/main" noGrp="1"/>
          </p:cNvSpPr>
          <p:nvPr/>
        </p:nvSpPr>
        <p:spPr>
          <a:xfrm xmlns:a="http://schemas.openxmlformats.org/drawingml/2006/main">
            <a:off x="1390650" y="2171700"/>
            <a:ext cx="2038350" cy="0"/>
          </a:xfrm>
          <a:prstGeom xmlns:a="http://schemas.openxmlformats.org/drawingml/2006/main" prst="line">
            <a:avLst/>
          </a:prstGeom>
          <a:noFill xmlns:a="http://schemas.openxmlformats.org/drawingml/2006/main"/>
          <a:ln xmlns:a="http://schemas.openxmlformats.org/drawingml/2006/main" w="28575">
            <a:solidFill>
              <a:srgbClr val="C7D5DA"/>
            </a:solidFill>
          </a:ln>
        </p:spPr>
      </p:sp>
      <p:sp>
        <p:nvSpPr>
          <p:cNvPr id="10" name="">
            <a:extLst xmlns:a="http://schemas.openxmlformats.org/drawingml/2006/main">
              <a:ext uri="{FF2B5EF4-FFF2-40B4-BE49-F238E27FC236}">
                <a16:creationId xmlns:a16="http://schemas.microsoft.com/office/drawing/2014/main" id="{725A4FE5-8EA9-44D2-B0C8-8A71398EC820}"/>
              </a:ext>
            </a:extLst>
          </p:cNvPr>
          <p:cNvSpPr>
            <a:spLocks xmlns:a="http://schemas.openxmlformats.org/drawingml/2006/main" noGrp="1"/>
          </p:cNvSpPr>
          <p:nvPr/>
        </p:nvSpPr>
        <p:spPr>
          <a:xfrm xmlns:a="http://schemas.openxmlformats.org/drawingml/2006/main">
            <a:off x="3524250" y="1905000"/>
            <a:ext cx="533400" cy="533400"/>
          </a:xfrm>
          <a:prstGeom xmlns:a="http://schemas.openxmlformats.org/drawingml/2006/main" prst="roundRect">
            <a:avLst>
              <a:gd name="adj" fmla="val 14286"/>
            </a:avLst>
          </a:prstGeom>
          <a:solidFill xmlns:a="http://schemas.openxmlformats.org/drawingml/2006/main">
            <a:srgbClr val="F4A261"/>
          </a:solidFill>
          <a:ln xmlns:a="http://schemas.openxmlformats.org/drawingml/2006/main" w="14288">
            <a:solidFill>
              <a:srgbClr val="F4A261"/>
            </a:solidFill>
          </a:ln>
        </p:spPr>
        <p:txBody>
          <a:bodyPr xmlns:a="http://schemas.openxmlformats.org/drawingml/2006/main"/>
          <a:lstStyle xmlns:a="http://schemas.openxmlformats.org/drawingml/2006/main"/>
          <a:p xmlns:a="http://schemas.openxmlformats.org/drawingml/2006/main">
            <a:pPr>
              <a:defRPr sz="1950" b="1">
                <a:solidFill>
                  <a:srgbClr val="FFFFFF"/>
                </a:solidFill>
                <a:latin typeface="Aptos"/>
                <a:ea typeface="Aptos"/>
                <a:cs typeface="Aptos"/>
              </a:defRPr>
            </a:pPr>
            <a:r>
              <a:rPr sz="1950" b="1">
                <a:solidFill>
                  <a:srgbClr val="FFFFFF"/>
                </a:solidFill>
                <a:latin typeface="Aptos"/>
                <a:ea typeface="Aptos"/>
                <a:cs typeface="Aptos"/>
              </a:rPr>
              <a:t>2</a:t>
            </a:r>
          </a:p>
        </p:txBody>
      </p:sp>
      <p:sp>
        <p:nvSpPr>
          <p:cNvPr id="11" name="">
            <a:extLst xmlns:a="http://schemas.openxmlformats.org/drawingml/2006/main">
              <a:ext uri="{FF2B5EF4-FFF2-40B4-BE49-F238E27FC236}">
                <a16:creationId xmlns:a16="http://schemas.microsoft.com/office/drawing/2014/main" id="{F110A422-E23B-4CDF-8765-1337396CBBEA}"/>
              </a:ext>
            </a:extLst>
          </p:cNvPr>
          <p:cNvSpPr>
            <a:spLocks xmlns:a="http://schemas.openxmlformats.org/drawingml/2006/main" noGrp="1"/>
          </p:cNvSpPr>
          <p:nvPr/>
        </p:nvSpPr>
        <p:spPr>
          <a:xfrm xmlns:a="http://schemas.openxmlformats.org/drawingml/2006/main">
            <a:off x="3524250" y="2743200"/>
            <a:ext cx="219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025" b="1" i="0">
                <a:solidFill>
                  <a:srgbClr val="17324D"/>
                </a:solidFill>
                <a:latin typeface="Aptos"/>
                <a:ea typeface="Aptos"/>
                <a:cs typeface="Aptos"/>
              </a:defRPr>
            </a:pPr>
            <a:r>
              <a:rPr sz="2025" b="1" i="0">
                <a:solidFill>
                  <a:srgbClr val="17324D"/>
                </a:solidFill>
                <a:latin typeface="Aptos"/>
                <a:ea typeface="Aptos"/>
                <a:cs typeface="Aptos"/>
              </a:rPr>
              <a:t>Break it down</a:t>
            </a:r>
          </a:p>
        </p:txBody>
      </p:sp>
      <p:sp>
        <p:nvSpPr>
          <p:cNvPr id="12" name="">
            <a:extLst xmlns:a="http://schemas.openxmlformats.org/drawingml/2006/main">
              <a:ext uri="{FF2B5EF4-FFF2-40B4-BE49-F238E27FC236}">
                <a16:creationId xmlns:a16="http://schemas.microsoft.com/office/drawing/2014/main" id="{10ED3879-0326-4309-9A83-A76933FDC140}"/>
              </a:ext>
            </a:extLst>
          </p:cNvPr>
          <p:cNvSpPr>
            <a:spLocks xmlns:a="http://schemas.openxmlformats.org/drawingml/2006/main" noGrp="1"/>
          </p:cNvSpPr>
          <p:nvPr/>
        </p:nvSpPr>
        <p:spPr>
          <a:xfrm xmlns:a="http://schemas.openxmlformats.org/drawingml/2006/main">
            <a:off x="3524250" y="321945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What is the next small step?</a:t>
            </a:r>
          </a:p>
        </p:txBody>
      </p:sp>
      <p:sp>
        <p:nvSpPr>
          <p:cNvPr id="13" name="">
            <a:extLst xmlns:a="http://schemas.openxmlformats.org/drawingml/2006/main">
              <a:ext uri="{FF2B5EF4-FFF2-40B4-BE49-F238E27FC236}">
                <a16:creationId xmlns:a16="http://schemas.microsoft.com/office/drawing/2014/main" id="{F03E6F80-5F98-4FD7-812A-A13228805569}"/>
              </a:ext>
            </a:extLst>
          </p:cNvPr>
          <p:cNvSpPr>
            <a:spLocks xmlns:a="http://schemas.openxmlformats.org/drawingml/2006/main" noGrp="1"/>
          </p:cNvSpPr>
          <p:nvPr/>
        </p:nvSpPr>
        <p:spPr>
          <a:xfrm xmlns:a="http://schemas.openxmlformats.org/drawingml/2006/main">
            <a:off x="4114800" y="2171700"/>
            <a:ext cx="2038350" cy="0"/>
          </a:xfrm>
          <a:prstGeom xmlns:a="http://schemas.openxmlformats.org/drawingml/2006/main" prst="line">
            <a:avLst/>
          </a:prstGeom>
          <a:noFill xmlns:a="http://schemas.openxmlformats.org/drawingml/2006/main"/>
          <a:ln xmlns:a="http://schemas.openxmlformats.org/drawingml/2006/main" w="28575">
            <a:solidFill>
              <a:srgbClr val="C7D5DA"/>
            </a:solidFill>
          </a:ln>
        </p:spPr>
      </p:sp>
      <p:sp>
        <p:nvSpPr>
          <p:cNvPr id="14" name="">
            <a:extLst xmlns:a="http://schemas.openxmlformats.org/drawingml/2006/main">
              <a:ext uri="{FF2B5EF4-FFF2-40B4-BE49-F238E27FC236}">
                <a16:creationId xmlns:a16="http://schemas.microsoft.com/office/drawing/2014/main" id="{203080AD-09FD-4437-993F-35CDCA3BD46F}"/>
              </a:ext>
            </a:extLst>
          </p:cNvPr>
          <p:cNvSpPr>
            <a:spLocks xmlns:a="http://schemas.openxmlformats.org/drawingml/2006/main" noGrp="1"/>
          </p:cNvSpPr>
          <p:nvPr/>
        </p:nvSpPr>
        <p:spPr>
          <a:xfrm xmlns:a="http://schemas.openxmlformats.org/drawingml/2006/main">
            <a:off x="6248400" y="1905000"/>
            <a:ext cx="533400" cy="533400"/>
          </a:xfrm>
          <a:prstGeom xmlns:a="http://schemas.openxmlformats.org/drawingml/2006/main" prst="roundRect">
            <a:avLst>
              <a:gd name="adj" fmla="val 14286"/>
            </a:avLst>
          </a:prstGeom>
          <a:solidFill xmlns:a="http://schemas.openxmlformats.org/drawingml/2006/main">
            <a:srgbClr val="E76F51"/>
          </a:solidFill>
          <a:ln xmlns:a="http://schemas.openxmlformats.org/drawingml/2006/main" w="14288">
            <a:solidFill>
              <a:srgbClr val="E76F51"/>
            </a:solidFill>
          </a:ln>
        </p:spPr>
        <p:txBody>
          <a:bodyPr xmlns:a="http://schemas.openxmlformats.org/drawingml/2006/main"/>
          <a:lstStyle xmlns:a="http://schemas.openxmlformats.org/drawingml/2006/main"/>
          <a:p xmlns:a="http://schemas.openxmlformats.org/drawingml/2006/main">
            <a:pPr>
              <a:defRPr sz="1950" b="1">
                <a:solidFill>
                  <a:srgbClr val="FFFFFF"/>
                </a:solidFill>
                <a:latin typeface="Aptos"/>
                <a:ea typeface="Aptos"/>
                <a:cs typeface="Aptos"/>
              </a:defRPr>
            </a:pPr>
            <a:r>
              <a:rPr sz="1950" b="1">
                <a:solidFill>
                  <a:srgbClr val="FFFFFF"/>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8C0DDA12-F908-468F-9151-9F19BF0BE469}"/>
              </a:ext>
            </a:extLst>
          </p:cNvPr>
          <p:cNvSpPr>
            <a:spLocks xmlns:a="http://schemas.openxmlformats.org/drawingml/2006/main" noGrp="1"/>
          </p:cNvSpPr>
          <p:nvPr/>
        </p:nvSpPr>
        <p:spPr>
          <a:xfrm xmlns:a="http://schemas.openxmlformats.org/drawingml/2006/main">
            <a:off x="6248400" y="2743200"/>
            <a:ext cx="219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025" b="1" i="0">
                <a:solidFill>
                  <a:srgbClr val="17324D"/>
                </a:solidFill>
                <a:latin typeface="Aptos"/>
                <a:ea typeface="Aptos"/>
                <a:cs typeface="Aptos"/>
              </a:defRPr>
            </a:pPr>
            <a:r>
              <a:rPr sz="2025" b="1" i="0">
                <a:solidFill>
                  <a:srgbClr val="17324D"/>
                </a:solidFill>
                <a:latin typeface="Aptos"/>
                <a:ea typeface="Aptos"/>
                <a:cs typeface="Aptos"/>
              </a:rPr>
              <a:t>Test</a:t>
            </a:r>
          </a:p>
        </p:txBody>
      </p:sp>
      <p:sp>
        <p:nvSpPr>
          <p:cNvPr id="16" name="">
            <a:extLst xmlns:a="http://schemas.openxmlformats.org/drawingml/2006/main">
              <a:ext uri="{FF2B5EF4-FFF2-40B4-BE49-F238E27FC236}">
                <a16:creationId xmlns:a16="http://schemas.microsoft.com/office/drawing/2014/main" id="{69010EA9-F941-4C24-A3DC-9A9774D8C16E}"/>
              </a:ext>
            </a:extLst>
          </p:cNvPr>
          <p:cNvSpPr>
            <a:spLocks xmlns:a="http://schemas.openxmlformats.org/drawingml/2006/main" noGrp="1"/>
          </p:cNvSpPr>
          <p:nvPr/>
        </p:nvSpPr>
        <p:spPr>
          <a:xfrm xmlns:a="http://schemas.openxmlformats.org/drawingml/2006/main">
            <a:off x="6248400" y="321945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Did the step work?</a:t>
            </a:r>
          </a:p>
        </p:txBody>
      </p:sp>
      <p:sp>
        <p:nvSpPr>
          <p:cNvPr id="17" name="">
            <a:extLst xmlns:a="http://schemas.openxmlformats.org/drawingml/2006/main">
              <a:ext uri="{FF2B5EF4-FFF2-40B4-BE49-F238E27FC236}">
                <a16:creationId xmlns:a16="http://schemas.microsoft.com/office/drawing/2014/main" id="{A29900DC-43E5-4EF3-B909-6C05F65C179B}"/>
              </a:ext>
            </a:extLst>
          </p:cNvPr>
          <p:cNvSpPr>
            <a:spLocks xmlns:a="http://schemas.openxmlformats.org/drawingml/2006/main" noGrp="1"/>
          </p:cNvSpPr>
          <p:nvPr/>
        </p:nvSpPr>
        <p:spPr>
          <a:xfrm xmlns:a="http://schemas.openxmlformats.org/drawingml/2006/main">
            <a:off x="6838950" y="2171700"/>
            <a:ext cx="2038350" cy="0"/>
          </a:xfrm>
          <a:prstGeom xmlns:a="http://schemas.openxmlformats.org/drawingml/2006/main" prst="line">
            <a:avLst/>
          </a:prstGeom>
          <a:noFill xmlns:a="http://schemas.openxmlformats.org/drawingml/2006/main"/>
          <a:ln xmlns:a="http://schemas.openxmlformats.org/drawingml/2006/main" w="28575">
            <a:solidFill>
              <a:srgbClr val="C7D5DA"/>
            </a:solidFill>
          </a:ln>
        </p:spPr>
      </p:sp>
      <p:sp>
        <p:nvSpPr>
          <p:cNvPr id="18" name="">
            <a:extLst xmlns:a="http://schemas.openxmlformats.org/drawingml/2006/main">
              <a:ext uri="{FF2B5EF4-FFF2-40B4-BE49-F238E27FC236}">
                <a16:creationId xmlns:a16="http://schemas.microsoft.com/office/drawing/2014/main" id="{D2FA4398-BCEA-44AE-95D5-FAE34ACA6FFB}"/>
              </a:ext>
            </a:extLst>
          </p:cNvPr>
          <p:cNvSpPr>
            <a:spLocks xmlns:a="http://schemas.openxmlformats.org/drawingml/2006/main" noGrp="1"/>
          </p:cNvSpPr>
          <p:nvPr/>
        </p:nvSpPr>
        <p:spPr>
          <a:xfrm xmlns:a="http://schemas.openxmlformats.org/drawingml/2006/main">
            <a:off x="8972550" y="1905000"/>
            <a:ext cx="533400" cy="533400"/>
          </a:xfrm>
          <a:prstGeom xmlns:a="http://schemas.openxmlformats.org/drawingml/2006/main" prst="roundRect">
            <a:avLst>
              <a:gd name="adj" fmla="val 14286"/>
            </a:avLst>
          </a:prstGeom>
          <a:solidFill xmlns:a="http://schemas.openxmlformats.org/drawingml/2006/main">
            <a:srgbClr val="2A9D8F"/>
          </a:solidFill>
          <a:ln xmlns:a="http://schemas.openxmlformats.org/drawingml/2006/main" w="14288">
            <a:solidFill>
              <a:srgbClr val="2A9D8F"/>
            </a:solidFill>
          </a:ln>
        </p:spPr>
        <p:txBody>
          <a:bodyPr xmlns:a="http://schemas.openxmlformats.org/drawingml/2006/main"/>
          <a:lstStyle xmlns:a="http://schemas.openxmlformats.org/drawingml/2006/main"/>
          <a:p xmlns:a="http://schemas.openxmlformats.org/drawingml/2006/main">
            <a:pPr>
              <a:defRPr sz="1950" b="1">
                <a:solidFill>
                  <a:srgbClr val="FFFFFF"/>
                </a:solidFill>
                <a:latin typeface="Aptos"/>
                <a:ea typeface="Aptos"/>
                <a:cs typeface="Aptos"/>
              </a:defRPr>
            </a:pPr>
            <a:r>
              <a:rPr sz="1950" b="1">
                <a:solidFill>
                  <a:srgbClr val="FFFFFF"/>
                </a:solidFill>
                <a:latin typeface="Aptos"/>
                <a:ea typeface="Aptos"/>
                <a:cs typeface="Aptos"/>
              </a:rPr>
              <a:t>4</a:t>
            </a:r>
          </a:p>
        </p:txBody>
      </p:sp>
      <p:sp>
        <p:nvSpPr>
          <p:cNvPr id="19" name="">
            <a:extLst xmlns:a="http://schemas.openxmlformats.org/drawingml/2006/main">
              <a:ext uri="{FF2B5EF4-FFF2-40B4-BE49-F238E27FC236}">
                <a16:creationId xmlns:a16="http://schemas.microsoft.com/office/drawing/2014/main" id="{4870654C-0E8A-403A-8D52-3654F8F7DDFA}"/>
              </a:ext>
            </a:extLst>
          </p:cNvPr>
          <p:cNvSpPr>
            <a:spLocks xmlns:a="http://schemas.openxmlformats.org/drawingml/2006/main" noGrp="1"/>
          </p:cNvSpPr>
          <p:nvPr/>
        </p:nvSpPr>
        <p:spPr>
          <a:xfrm xmlns:a="http://schemas.openxmlformats.org/drawingml/2006/main">
            <a:off x="8972550" y="2743200"/>
            <a:ext cx="219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025" b="1" i="0">
                <a:solidFill>
                  <a:srgbClr val="17324D"/>
                </a:solidFill>
                <a:latin typeface="Aptos"/>
                <a:ea typeface="Aptos"/>
                <a:cs typeface="Aptos"/>
              </a:defRPr>
            </a:pPr>
            <a:r>
              <a:rPr sz="2025" b="1" i="0">
                <a:solidFill>
                  <a:srgbClr val="17324D"/>
                </a:solidFill>
                <a:latin typeface="Aptos"/>
                <a:ea typeface="Aptos"/>
                <a:cs typeface="Aptos"/>
              </a:rPr>
              <a:t>Improve</a:t>
            </a:r>
          </a:p>
        </p:txBody>
      </p:sp>
      <p:sp>
        <p:nvSpPr>
          <p:cNvPr id="20" name="">
            <a:extLst xmlns:a="http://schemas.openxmlformats.org/drawingml/2006/main">
              <a:ext uri="{FF2B5EF4-FFF2-40B4-BE49-F238E27FC236}">
                <a16:creationId xmlns:a16="http://schemas.microsoft.com/office/drawing/2014/main" id="{E915C998-47D2-4DFC-91DE-34FAE5843A0E}"/>
              </a:ext>
            </a:extLst>
          </p:cNvPr>
          <p:cNvSpPr>
            <a:spLocks xmlns:a="http://schemas.openxmlformats.org/drawingml/2006/main" noGrp="1"/>
          </p:cNvSpPr>
          <p:nvPr/>
        </p:nvSpPr>
        <p:spPr>
          <a:xfrm xmlns:a="http://schemas.openxmlformats.org/drawingml/2006/main">
            <a:off x="8972550" y="321945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i="0">
                <a:solidFill>
                  <a:srgbClr val="243746"/>
                </a:solidFill>
                <a:latin typeface="Aptos"/>
                <a:ea typeface="Aptos"/>
                <a:cs typeface="Aptos"/>
              </a:defRPr>
            </a:pPr>
            <a:r>
              <a:rPr sz="1500" b="0" i="0">
                <a:solidFill>
                  <a:srgbClr val="243746"/>
                </a:solidFill>
                <a:latin typeface="Aptos"/>
                <a:ea typeface="Aptos"/>
                <a:cs typeface="Aptos"/>
              </a:rPr>
              <a:t>What should change?</a:t>
            </a:r>
          </a:p>
        </p:txBody>
      </p:sp>
      <p:sp>
        <p:nvSpPr>
          <p:cNvPr id="21" name="">
            <a:extLst xmlns:a="http://schemas.openxmlformats.org/drawingml/2006/main">
              <a:ext uri="{FF2B5EF4-FFF2-40B4-BE49-F238E27FC236}">
                <a16:creationId xmlns:a16="http://schemas.microsoft.com/office/drawing/2014/main" id="{046C25CF-34C5-4B00-9D7A-02B05DA23D78}"/>
              </a:ext>
            </a:extLst>
          </p:cNvPr>
          <p:cNvSpPr>
            <a:spLocks xmlns:a="http://schemas.openxmlformats.org/drawingml/2006/main" noGrp="1"/>
          </p:cNvSpPr>
          <p:nvPr/>
        </p:nvSpPr>
        <p:spPr>
          <a:xfrm xmlns:a="http://schemas.openxmlformats.org/drawingml/2006/main">
            <a:off x="1619250" y="4667250"/>
            <a:ext cx="8953500" cy="1028700"/>
          </a:xfrm>
          <a:prstGeom xmlns:a="http://schemas.openxmlformats.org/drawingml/2006/main" prst="roundRect">
            <a:avLst>
              <a:gd name="adj" fmla="val 7407"/>
            </a:avLst>
          </a:prstGeom>
          <a:solidFill xmlns:a="http://schemas.openxmlformats.org/drawingml/2006/main">
            <a:srgbClr val="17324D"/>
          </a:solidFill>
          <a:ln xmlns:a="http://schemas.openxmlformats.org/drawingml/2006/main" w="14288">
            <a:solidFill>
              <a:srgbClr val="17324D"/>
            </a:solidFill>
          </a:ln>
        </p:spPr>
        <p:txBody>
          <a:bodyPr xmlns:a="http://schemas.openxmlformats.org/drawingml/2006/main"/>
          <a:lstStyle xmlns:a="http://schemas.openxmlformats.org/drawingml/2006/main"/>
          <a:p xmlns:a="http://schemas.openxmlformats.org/drawingml/2006/main">
            <a:pPr>
              <a:defRPr sz="2100" b="1">
                <a:solidFill>
                  <a:srgbClr val="FFFFFF"/>
                </a:solidFill>
                <a:latin typeface="Aptos"/>
                <a:ea typeface="Aptos"/>
                <a:cs typeface="Aptos"/>
              </a:defRPr>
            </a:pPr>
            <a:r>
              <a:rPr sz="2100" b="1">
                <a:solidFill>
                  <a:srgbClr val="FFFFFF"/>
                </a:solidFill>
                <a:latin typeface="Aptos"/>
                <a:ea typeface="Aptos"/>
                <a:cs typeface="Aptos"/>
              </a:rPr>
              <a:t>Today: use one clear idea and help your team move.</a:t>
            </a:r>
          </a:p>
          <a:p xmlns:a="http://schemas.openxmlformats.org/drawingml/2006/main">
            <a:pPr>
              <a:defRPr sz="2100" b="1">
                <a:solidFill>
                  <a:srgbClr val="FFFFFF"/>
                </a:solidFill>
                <a:latin typeface="Aptos"/>
                <a:ea typeface="Aptos"/>
                <a:cs typeface="Aptos"/>
              </a:defRPr>
            </a:pPr>
            <a:r>
              <a:rPr sz="2100" b="1">
                <a:solidFill>
                  <a:srgbClr val="FFFFFF"/>
                </a:solidFill>
                <a:latin typeface="Aptos"/>
                <a:ea typeface="Aptos"/>
                <a:cs typeface="Aptos"/>
              </a:rPr>
              <a:t>Later: build it in Microsoft 365 when your teacher says.</a:t>
            </a:r>
          </a:p>
        </p:txBody>
      </p:sp>
    </p:spTree>
    <p:extLst>
      <p:ext uri="{BB962C8B-B14F-4D97-AF65-F5344CB8AC3E}">
        <p14:creationId xmlns:p14="http://schemas.microsoft.com/office/powerpoint/2010/main" val="17759414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2026-09-09T15:41:23.0990000Z</dcterms:created>
  <dcterms:modified xsi:type="dcterms:W3CDTF">2026-09-09T15:41:23.0990000Z</dcterms:modified>
</coreProperties>
</file>