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baa4b450004ba8" /><Relationship Type="http://schemas.openxmlformats.org/officeDocument/2006/relationships/extended-properties" Target="/docProps/app.xml" Id="R49124de7475f49f6" /><Relationship Type="http://schemas.openxmlformats.org/officeDocument/2006/relationships/officeDocument" Target="/ppt/presentation.xml" Id="R5f7b5f26102e4c68" /></Relationships>
</file>

<file path=ppt/presentation.xml><?xml version="1.0" encoding="utf-8"?>
<p:presentation xmlns:p="http://schemas.openxmlformats.org/presentationml/2006/main">
  <p:sldMasterIdLst>
    <p:sldMasterId xmlns:r="http://schemas.openxmlformats.org/officeDocument/2006/relationships" id="2147483648" r:id="R36e80cde86d845e0"/>
  </p:sldMasterIdLst>
  <p:notesMasterIdLst>
    <p:notesMasterId xmlns:r="http://schemas.openxmlformats.org/officeDocument/2006/relationships" r:id="R235b5665d99b4163"/>
  </p:notesMasterIdLst>
  <p:sldIdLst>
    <p:sldId xmlns:r="http://schemas.openxmlformats.org/officeDocument/2006/relationships" id="256" r:id="Rb4ebc38bec584e97"/>
    <p:sldId xmlns:r="http://schemas.openxmlformats.org/officeDocument/2006/relationships" id="257" r:id="R9504c9d3f6c145c9"/>
    <p:sldId xmlns:r="http://schemas.openxmlformats.org/officeDocument/2006/relationships" id="258" r:id="R8a2a9025606a4cb6"/>
    <p:sldId xmlns:r="http://schemas.openxmlformats.org/officeDocument/2006/relationships" id="259" r:id="R462d1b8a8e184618"/>
    <p:sldId xmlns:r="http://schemas.openxmlformats.org/officeDocument/2006/relationships" id="260" r:id="Ra36fb00609d7435c"/>
    <p:sldId xmlns:r="http://schemas.openxmlformats.org/officeDocument/2006/relationships" id="261" r:id="R16bcafe6e5f64072"/>
    <p:sldId xmlns:r="http://schemas.openxmlformats.org/officeDocument/2006/relationships" id="262" r:id="Rf09a693f0c674366"/>
    <p:sldId xmlns:r="http://schemas.openxmlformats.org/officeDocument/2006/relationships" id="263" r:id="R99cd6e4d476d4a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d8b2eb2b514f30" /><Relationship Type="http://schemas.openxmlformats.org/officeDocument/2006/relationships/slideMaster" Target="/ppt/slideMasters/slideMaster1.xml" Id="R36e80cde86d845e0" /><Relationship Type="http://schemas.openxmlformats.org/officeDocument/2006/relationships/notesMaster" Target="/ppt/notesMasters/notesMaster1.xml" Id="R235b5665d99b4163" /><Relationship Type="http://schemas.openxmlformats.org/officeDocument/2006/relationships/presProps" Target="/ppt/presProps.xml" Id="R4384ca4543f2473a" /><Relationship Type="http://schemas.openxmlformats.org/officeDocument/2006/relationships/tableStyles" Target="/ppt/tableStyles.xml" Id="R5925ea61de064d27" /><Relationship Type="http://schemas.openxmlformats.org/officeDocument/2006/relationships/slide" Target="/ppt/slides/slide1.xml" Id="Rb4ebc38bec584e97" /><Relationship Type="http://schemas.openxmlformats.org/officeDocument/2006/relationships/slide" Target="/ppt/slides/slide2.xml" Id="R9504c9d3f6c145c9" /><Relationship Type="http://schemas.openxmlformats.org/officeDocument/2006/relationships/slide" Target="/ppt/slides/slide3.xml" Id="R8a2a9025606a4cb6" /><Relationship Type="http://schemas.openxmlformats.org/officeDocument/2006/relationships/slide" Target="/ppt/slides/slide4.xml" Id="R462d1b8a8e184618" /><Relationship Type="http://schemas.openxmlformats.org/officeDocument/2006/relationships/slide" Target="/ppt/slides/slide5.xml" Id="Ra36fb00609d7435c" /><Relationship Type="http://schemas.openxmlformats.org/officeDocument/2006/relationships/slide" Target="/ppt/slides/slide6.xml" Id="R16bcafe6e5f64072" /><Relationship Type="http://schemas.openxmlformats.org/officeDocument/2006/relationships/slide" Target="/ppt/slides/slide7.xml" Id="Rf09a693f0c674366" /><Relationship Type="http://schemas.openxmlformats.org/officeDocument/2006/relationships/slide" Target="/ppt/slides/slide8.xml" Id="R99cd6e4d476d4a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29de7bb4234c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8be34452d4cef" /><Relationship Type="http://schemas.openxmlformats.org/officeDocument/2006/relationships/notesMaster" Target="/ppt/notesMasters/notesMaster1.xml" Id="R29487ed0fd1d4b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3755a9bac44972" /><Relationship Type="http://schemas.openxmlformats.org/officeDocument/2006/relationships/notesMaster" Target="/ppt/notesMasters/notesMaster1.xml" Id="R9fe35e9929694f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6ef72cbc3c43e6" /><Relationship Type="http://schemas.openxmlformats.org/officeDocument/2006/relationships/notesMaster" Target="/ppt/notesMasters/notesMaster1.xml" Id="R0bfcc118241d43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14f8acc34b4fab" /><Relationship Type="http://schemas.openxmlformats.org/officeDocument/2006/relationships/notesMaster" Target="/ppt/notesMasters/notesMaster1.xml" Id="Rb562e26bca15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2d1a1f663d4382" /><Relationship Type="http://schemas.openxmlformats.org/officeDocument/2006/relationships/notesMaster" Target="/ppt/notesMasters/notesMaster1.xml" Id="R2b88b31bfbce49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5fc8721fe24667" /><Relationship Type="http://schemas.openxmlformats.org/officeDocument/2006/relationships/notesMaster" Target="/ppt/notesMasters/notesMaster1.xml" Id="R2c7aa052209d47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a5af9d8a5a45b7" /><Relationship Type="http://schemas.openxmlformats.org/officeDocument/2006/relationships/notesMaster" Target="/ppt/notesMasters/notesMaster1.xml" Id="Re48fac3452b145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e61917c10f49f9" /><Relationship Type="http://schemas.openxmlformats.org/officeDocument/2006/relationships/notesMaster" Target="/ppt/notesMasters/notesMaster1.xml" Id="R9811b248cfc24d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Student-facing opening deck. Built from the September 9 transcript direction: a short thought-provoking opening, another team-building activity, and two agendas for the next day. Source: 09-09 Lecture_ High School Marketing_Business Class Introduction-transcript.txt, 00:46:09–00:48:27.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design choice based on the SBTE's request for an agenda visible when students enter and a short prompt students can discuss while attendance is taken. Source: 09-09 Weekly Meeting_ School Operations, Student Management, and Class Planning-transcript.txt, 00:11:01–00:12:09; 09-09 Lecture_ High School Marketing_Business Class Introduction-transcript.txt, 00:46:09–00:48:27. The participation choices are a prepared universal-design support, not a transcript claim or formal accommodation.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SBTE described brief brain teasers or thought-provoking discussion points at the beginning of class and asked for marketing starters while attendance is taken. Source: 09-09 Lecture_ High School Marketing_Business Class Introduction-transcript.txt, 00:10:32–00:15:13 and 00:46:09–00:48:05. The fictional café prompt is a prepared course-relevant example, not a transcript-assigned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workflow adapts the SBTE's described Office support sequence: read the step, try it, ask a nearby peer, then ask the teacher. Source: 09-08 Onboarding a Student Teacher on the First Day of School-transcript.txt, 01:24:18–01:33:28. The gradual participation and small instructional piece are supported by 09-08 Onboarding..., 01:52:52–01:53:16 and Co-planning_ Business Course Operations and Student Management-transcript.txt, 01:00:28–01:11:01. The visual workflow is an editable teaching model, not a new classroom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SBTE requested another team-building activity before technology work on Friday. Source: 09-09 Lecture_ High School Marketing_Business Class Introduction-transcript.txt, 00:46:09–00:48:05. The roles and participation choices are prepared universal-design supports. They should be offered flexibly and should not be framed as being for a particular diagnosis or student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requested CS teaching bridge: use decomposition, testing, and iteration to aid the business course without replacing the SBTE's curriculum. It extends Piter's stated teaching frame of making technology clear, creative, and useful. Source: 09-09 Lecture_ High School Marketing_Business Class Introduction-transcript.txt, 00:09:01–00:09:32; Co-planning_ Business Course Operations and Student Management-transcript.txt, 01:23:03–01:27:18. Microsoft 365 examples are instructional framing, not a claim that students must complete these tools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universal-design participation options for the deck. These are not formal accommodations and are not assigned to particular students. The design responds to the transcript's emphasis on short opening questions, partner discussion, and the SBTE's gradual participation approach. Sources: 09-09 Lecture_ High School Marketing_Business Class Introduction-transcript.txt, 00:10:32–00:15:13 and 00:46:09–00:48:05; 09-08 Onboarding a Student Teacher on the First Day of School-transcript.txt, 01:52:52–01:53:16.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bridge to the future technology work. The SBTE explicitly placed deeper technology work on Friday and asked for a team-building activity and short opening work first. Source: 09-09 Lecture_ High School Marketing_Business Class Introduction-transcript.txt, 00:46:09–00:48:27. The one-artifact sequence demonstrates a CS-informed approach without creating a Thursday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dcb2dd47024a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a6735a311c4d05" /><Relationship Type="http://schemas.openxmlformats.org/officeDocument/2006/relationships/slideLayout" Target="/ppt/slideLayouts/slideLayout1.xml" Id="R4412d05212164a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12d05212164a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55def96b7a4fd7" /><Relationship Type="http://schemas.openxmlformats.org/officeDocument/2006/relationships/notesSlide" Target="/ppt/notesSlides/notesSlide1.xml" Id="R92955f1d4a7a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2772b11ff6412d" /><Relationship Type="http://schemas.openxmlformats.org/officeDocument/2006/relationships/notesSlide" Target="/ppt/notesSlides/notesSlide2.xml" Id="Rbc7696e7ddf141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8d2e893767407b" /><Relationship Type="http://schemas.openxmlformats.org/officeDocument/2006/relationships/notesSlide" Target="/ppt/notesSlides/notesSlide3.xml" Id="R225e4cac9ba142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186441fc6d46f3" /><Relationship Type="http://schemas.openxmlformats.org/officeDocument/2006/relationships/notesSlide" Target="/ppt/notesSlides/notesSlide4.xml" Id="Rf841abd1dbd54f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418ce9a4bc49d6" /><Relationship Type="http://schemas.openxmlformats.org/officeDocument/2006/relationships/notesSlide" Target="/ppt/notesSlides/notesSlide5.xml" Id="Rb174a5c58a0543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4bba094c0a4ad4" /><Relationship Type="http://schemas.openxmlformats.org/officeDocument/2006/relationships/notesSlide" Target="/ppt/notesSlides/notesSlide6.xml" Id="R05f60297bacb45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72c6c6520e451a" /><Relationship Type="http://schemas.openxmlformats.org/officeDocument/2006/relationships/notesSlide" Target="/ppt/notesSlides/notesSlide7.xml" Id="R9e5e5060ccab45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98d74d48d34170" /><Relationship Type="http://schemas.openxmlformats.org/officeDocument/2006/relationships/notesSlide" Target="/ppt/notesSlides/notesSlide8.xml" Id="R9cb67e7c0948498f" /></Relationships>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9583E7-8763-4C41-B6A7-59ADDAC6FFC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4A2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4B30C6-DEF0-43D6-A7A7-1355953369E4}"/>
              </a:ext>
            </a:extLst>
          </p:cNvPr>
          <p:cNvSpPr>
            <a:spLocks xmlns:a="http://schemas.openxmlformats.org/drawingml/2006/main" noGrp="1"/>
          </p:cNvSpPr>
          <p:nvPr/>
        </p:nvSpPr>
        <p:spPr>
          <a:xfrm xmlns:a="http://schemas.openxmlformats.org/drawingml/2006/main">
            <a:off x="685800" y="167640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4200" b="1">
                <a:solidFill>
                  <a:srgbClr val="FFFFFF"/>
                </a:solidFill>
                <a:latin typeface="Aptos"/>
                <a:ea typeface="Aptos"/>
                <a:cs typeface="Aptos"/>
              </a:defRPr>
            </a:pPr>
            <a:r>
              <a:rPr sz="4200" b="1">
                <a:solidFill>
                  <a:srgbClr val="FFFFFF"/>
                </a:solidFill>
                <a:latin typeface="Aptos"/>
                <a:ea typeface="Aptos"/>
                <a:cs typeface="Aptos"/>
              </a:rPr>
              <a:t>Business workflows</a:t>
            </a:r>
          </a:p>
        </p:txBody>
      </p:sp>
      <p:sp>
        <p:nvSpPr>
          <p:cNvPr id="3" name="">
            <a:extLst xmlns:a="http://schemas.openxmlformats.org/drawingml/2006/main">
              <a:ext uri="{FF2B5EF4-FFF2-40B4-BE49-F238E27FC236}">
                <a16:creationId xmlns:a16="http://schemas.microsoft.com/office/drawing/2014/main" id="{E72A7BE5-5BDB-4B98-A1F6-BC53876CC3A9}"/>
              </a:ext>
            </a:extLst>
          </p:cNvPr>
          <p:cNvSpPr>
            <a:spLocks xmlns:a="http://schemas.openxmlformats.org/drawingml/2006/main" noGrp="1"/>
          </p:cNvSpPr>
          <p:nvPr/>
        </p:nvSpPr>
        <p:spPr>
          <a:xfrm xmlns:a="http://schemas.openxmlformats.org/drawingml/2006/main">
            <a:off x="723900" y="26670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0">
                <a:solidFill>
                  <a:srgbClr val="DDEEF2"/>
                </a:solidFill>
                <a:latin typeface="Aptos"/>
                <a:ea typeface="Aptos"/>
                <a:cs typeface="Aptos"/>
              </a:defRPr>
            </a:pPr>
            <a:r>
              <a:rPr sz="1950" b="0">
                <a:solidFill>
                  <a:srgbClr val="DDEEF2"/>
                </a:solidFill>
                <a:latin typeface="Aptos"/>
                <a:ea typeface="Aptos"/>
                <a:cs typeface="Aptos"/>
              </a:rPr>
              <a:t>Microsoft 365 · problem solving · teamwork</a:t>
            </a:r>
          </a:p>
        </p:txBody>
      </p:sp>
      <p:sp>
        <p:nvSpPr>
          <p:cNvPr id="4" name="">
            <a:extLst xmlns:a="http://schemas.openxmlformats.org/drawingml/2006/main">
              <a:ext uri="{FF2B5EF4-FFF2-40B4-BE49-F238E27FC236}">
                <a16:creationId xmlns:a16="http://schemas.microsoft.com/office/drawing/2014/main" id="{DFB4891E-4053-494F-8E45-576256D505BB}"/>
              </a:ext>
            </a:extLst>
          </p:cNvPr>
          <p:cNvSpPr>
            <a:spLocks xmlns:a="http://schemas.openxmlformats.org/drawingml/2006/main" noGrp="1"/>
          </p:cNvSpPr>
          <p:nvPr/>
        </p:nvSpPr>
        <p:spPr>
          <a:xfrm xmlns:a="http://schemas.openxmlformats.org/drawingml/2006/main">
            <a:off x="723900" y="3733800"/>
            <a:ext cx="733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0">
                <a:solidFill>
                  <a:srgbClr val="FFFFFF"/>
                </a:solidFill>
                <a:latin typeface="Aptos"/>
                <a:ea typeface="Aptos"/>
                <a:cs typeface="Aptos"/>
              </a:defRPr>
            </a:pPr>
            <a:r>
              <a:rPr sz="2100" b="0">
                <a:solidFill>
                  <a:srgbClr val="FFFFFF"/>
                </a:solidFill>
                <a:latin typeface="Aptos"/>
                <a:ea typeface="Aptos"/>
                <a:cs typeface="Aptos"/>
              </a:rPr>
              <a:t>A clear start helps every team do better work.</a:t>
            </a:r>
          </a:p>
        </p:txBody>
      </p:sp>
      <p:sp>
        <p:nvSpPr>
          <p:cNvPr id="5" name="">
            <a:extLst xmlns:a="http://schemas.openxmlformats.org/drawingml/2006/main">
              <a:ext uri="{FF2B5EF4-FFF2-40B4-BE49-F238E27FC236}">
                <a16:creationId xmlns:a16="http://schemas.microsoft.com/office/drawing/2014/main" id="{A7800371-DCB0-4C84-911F-0F18B6116FDA}"/>
              </a:ext>
            </a:extLst>
          </p:cNvPr>
          <p:cNvSpPr>
            <a:spLocks xmlns:a="http://schemas.openxmlformats.org/drawingml/2006/main" noGrp="1"/>
          </p:cNvSpPr>
          <p:nvPr/>
        </p:nvSpPr>
        <p:spPr>
          <a:xfrm xmlns:a="http://schemas.openxmlformats.org/drawingml/2006/main">
            <a:off x="8572500" y="1847850"/>
            <a:ext cx="2362200" cy="1466850"/>
          </a:xfrm>
          <a:prstGeom xmlns:a="http://schemas.openxmlformats.org/drawingml/2006/main" prst="roundRect">
            <a:avLst>
              <a:gd name="adj" fmla="val 5195"/>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TODAY</a:t>
            </a:r>
          </a:p>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Think, talk, build</a:t>
            </a:r>
          </a:p>
        </p:txBody>
      </p:sp>
      <p:sp>
        <p:nvSpPr>
          <p:cNvPr id="6" name="">
            <a:extLst xmlns:a="http://schemas.openxmlformats.org/drawingml/2006/main">
              <a:ext uri="{FF2B5EF4-FFF2-40B4-BE49-F238E27FC236}">
                <a16:creationId xmlns:a16="http://schemas.microsoft.com/office/drawing/2014/main" id="{480FD225-19DA-4144-BC65-9890D238E2F3}"/>
              </a:ext>
            </a:extLst>
          </p:cNvPr>
          <p:cNvSpPr>
            <a:spLocks xmlns:a="http://schemas.openxmlformats.org/drawingml/2006/main" noGrp="1"/>
          </p:cNvSpPr>
          <p:nvPr/>
        </p:nvSpPr>
        <p:spPr>
          <a:xfrm xmlns:a="http://schemas.openxmlformats.org/drawingml/2006/main">
            <a:off x="723900" y="6153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DDEEF2"/>
                </a:solidFill>
                <a:latin typeface="Aptos"/>
                <a:ea typeface="Aptos"/>
                <a:cs typeface="Aptos"/>
              </a:defRPr>
            </a:pPr>
            <a:r>
              <a:rPr sz="1125" b="0">
                <a:solidFill>
                  <a:srgbClr val="DDEEF2"/>
                </a:solidFill>
                <a:latin typeface="Aptos"/>
                <a:ea typeface="Aptos"/>
                <a:cs typeface="Aptos"/>
              </a:rPr>
              <a:t>Business course · student activity</a:t>
            </a:r>
          </a:p>
        </p:txBody>
      </p:sp>
    </p:spTree>
    <p:extLst>
      <p:ext uri="{BB962C8B-B14F-4D97-AF65-F5344CB8AC3E}">
        <p14:creationId xmlns:p14="http://schemas.microsoft.com/office/powerpoint/2010/main" val="1514386662"/>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1A790DC-FB0A-4923-B443-B6887D7F1A7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80FBC9-1DB0-4688-BAB2-B1F84874B76E}"/>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5C402197-D8F4-437A-B8C8-E3A533EA12AF}"/>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D20D8DE9-A8B9-4113-8B24-9207C97A9710}"/>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Today's opening routine</a:t>
            </a:r>
          </a:p>
        </p:txBody>
      </p:sp>
      <p:sp>
        <p:nvSpPr>
          <p:cNvPr id="5" name="">
            <a:extLst xmlns:a="http://schemas.openxmlformats.org/drawingml/2006/main">
              <a:ext uri="{FF2B5EF4-FFF2-40B4-BE49-F238E27FC236}">
                <a16:creationId xmlns:a16="http://schemas.microsoft.com/office/drawing/2014/main" id="{20C8D822-93C9-4BC5-B2C4-107A297EEB54}"/>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A predictable start gives everyone a way into the work.</a:t>
            </a:r>
          </a:p>
        </p:txBody>
      </p:sp>
      <p:sp>
        <p:nvSpPr>
          <p:cNvPr id="6" name="">
            <a:extLst xmlns:a="http://schemas.openxmlformats.org/drawingml/2006/main">
              <a:ext uri="{FF2B5EF4-FFF2-40B4-BE49-F238E27FC236}">
                <a16:creationId xmlns:a16="http://schemas.microsoft.com/office/drawing/2014/main" id="{83BB8DBA-E53C-4620-9F9B-C52D77C13BB2}"/>
              </a:ext>
            </a:extLst>
          </p:cNvPr>
          <p:cNvSpPr>
            <a:spLocks xmlns:a="http://schemas.openxmlformats.org/drawingml/2006/main" noGrp="1"/>
          </p:cNvSpPr>
          <p:nvPr/>
        </p:nvSpPr>
        <p:spPr>
          <a:xfrm xmlns:a="http://schemas.openxmlformats.org/drawingml/2006/main">
            <a:off x="609600" y="1981200"/>
            <a:ext cx="533400" cy="533400"/>
          </a:xfrm>
          <a:prstGeom xmlns:a="http://schemas.openxmlformats.org/drawingml/2006/main" prst="roundRect">
            <a:avLst>
              <a:gd name="adj" fmla="val 1428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A98A096E-4A1B-4DB7-B711-71B93026BBA0}"/>
              </a:ext>
            </a:extLst>
          </p:cNvPr>
          <p:cNvSpPr>
            <a:spLocks xmlns:a="http://schemas.openxmlformats.org/drawingml/2006/main" noGrp="1"/>
          </p:cNvSpPr>
          <p:nvPr/>
        </p:nvSpPr>
        <p:spPr>
          <a:xfrm xmlns:a="http://schemas.openxmlformats.org/drawingml/2006/main">
            <a:off x="609600" y="2724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See the agenda</a:t>
            </a:r>
          </a:p>
        </p:txBody>
      </p:sp>
      <p:sp>
        <p:nvSpPr>
          <p:cNvPr id="8" name="">
            <a:extLst xmlns:a="http://schemas.openxmlformats.org/drawingml/2006/main">
              <a:ext uri="{FF2B5EF4-FFF2-40B4-BE49-F238E27FC236}">
                <a16:creationId xmlns:a16="http://schemas.microsoft.com/office/drawing/2014/main" id="{EE7DAD5C-E2C0-40D9-96B9-800D1A1AE925}"/>
              </a:ext>
            </a:extLst>
          </p:cNvPr>
          <p:cNvSpPr>
            <a:spLocks xmlns:a="http://schemas.openxmlformats.org/drawingml/2006/main" noGrp="1"/>
          </p:cNvSpPr>
          <p:nvPr/>
        </p:nvSpPr>
        <p:spPr>
          <a:xfrm xmlns:a="http://schemas.openxmlformats.org/drawingml/2006/main">
            <a:off x="609600" y="31908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Know what is happening first</a:t>
            </a:r>
          </a:p>
        </p:txBody>
      </p:sp>
      <p:sp>
        <p:nvSpPr>
          <p:cNvPr id="9" name="">
            <a:extLst xmlns:a="http://schemas.openxmlformats.org/drawingml/2006/main">
              <a:ext uri="{FF2B5EF4-FFF2-40B4-BE49-F238E27FC236}">
                <a16:creationId xmlns:a16="http://schemas.microsoft.com/office/drawing/2014/main" id="{0B812D32-70BE-4EA6-BE7F-4FB07053E96F}"/>
              </a:ext>
            </a:extLst>
          </p:cNvPr>
          <p:cNvSpPr>
            <a:spLocks xmlns:a="http://schemas.openxmlformats.org/drawingml/2006/main" noGrp="1"/>
          </p:cNvSpPr>
          <p:nvPr/>
        </p:nvSpPr>
        <p:spPr>
          <a:xfrm xmlns:a="http://schemas.openxmlformats.org/drawingml/2006/main">
            <a:off x="1200150" y="2247900"/>
            <a:ext cx="15240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0" name="">
            <a:extLst xmlns:a="http://schemas.openxmlformats.org/drawingml/2006/main">
              <a:ext uri="{FF2B5EF4-FFF2-40B4-BE49-F238E27FC236}">
                <a16:creationId xmlns:a16="http://schemas.microsoft.com/office/drawing/2014/main" id="{559C004C-9C84-4CEE-B2DC-690BFB0C3DCE}"/>
              </a:ext>
            </a:extLst>
          </p:cNvPr>
          <p:cNvSpPr>
            <a:spLocks xmlns:a="http://schemas.openxmlformats.org/drawingml/2006/main" noGrp="1"/>
          </p:cNvSpPr>
          <p:nvPr/>
        </p:nvSpPr>
        <p:spPr>
          <a:xfrm xmlns:a="http://schemas.openxmlformats.org/drawingml/2006/main">
            <a:off x="2857500" y="1981200"/>
            <a:ext cx="533400" cy="533400"/>
          </a:xfrm>
          <a:prstGeom xmlns:a="http://schemas.openxmlformats.org/drawingml/2006/main" prst="roundRect">
            <a:avLst>
              <a:gd name="adj" fmla="val 14286"/>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70B2F288-5307-4620-987B-927C8A2ECB68}"/>
              </a:ext>
            </a:extLst>
          </p:cNvPr>
          <p:cNvSpPr>
            <a:spLocks xmlns:a="http://schemas.openxmlformats.org/drawingml/2006/main" noGrp="1"/>
          </p:cNvSpPr>
          <p:nvPr/>
        </p:nvSpPr>
        <p:spPr>
          <a:xfrm xmlns:a="http://schemas.openxmlformats.org/drawingml/2006/main">
            <a:off x="2857500" y="2724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Think or write</a:t>
            </a:r>
          </a:p>
        </p:txBody>
      </p:sp>
      <p:sp>
        <p:nvSpPr>
          <p:cNvPr id="12" name="">
            <a:extLst xmlns:a="http://schemas.openxmlformats.org/drawingml/2006/main">
              <a:ext uri="{FF2B5EF4-FFF2-40B4-BE49-F238E27FC236}">
                <a16:creationId xmlns:a16="http://schemas.microsoft.com/office/drawing/2014/main" id="{C9AB78CF-BE50-4D49-83D1-BEA2A10FF3E3}"/>
              </a:ext>
            </a:extLst>
          </p:cNvPr>
          <p:cNvSpPr>
            <a:spLocks xmlns:a="http://schemas.openxmlformats.org/drawingml/2006/main" noGrp="1"/>
          </p:cNvSpPr>
          <p:nvPr/>
        </p:nvSpPr>
        <p:spPr>
          <a:xfrm xmlns:a="http://schemas.openxmlformats.org/drawingml/2006/main">
            <a:off x="2857500" y="31908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Start privately</a:t>
            </a:r>
          </a:p>
        </p:txBody>
      </p:sp>
      <p:sp>
        <p:nvSpPr>
          <p:cNvPr id="13" name="">
            <a:extLst xmlns:a="http://schemas.openxmlformats.org/drawingml/2006/main">
              <a:ext uri="{FF2B5EF4-FFF2-40B4-BE49-F238E27FC236}">
                <a16:creationId xmlns:a16="http://schemas.microsoft.com/office/drawing/2014/main" id="{5262DB99-A735-48F6-B584-DE1CCE301909}"/>
              </a:ext>
            </a:extLst>
          </p:cNvPr>
          <p:cNvSpPr>
            <a:spLocks xmlns:a="http://schemas.openxmlformats.org/drawingml/2006/main" noGrp="1"/>
          </p:cNvSpPr>
          <p:nvPr/>
        </p:nvSpPr>
        <p:spPr>
          <a:xfrm xmlns:a="http://schemas.openxmlformats.org/drawingml/2006/main">
            <a:off x="3448050" y="2247900"/>
            <a:ext cx="15240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4" name="">
            <a:extLst xmlns:a="http://schemas.openxmlformats.org/drawingml/2006/main">
              <a:ext uri="{FF2B5EF4-FFF2-40B4-BE49-F238E27FC236}">
                <a16:creationId xmlns:a16="http://schemas.microsoft.com/office/drawing/2014/main" id="{3EE0F40B-54F2-4721-AF9E-0E30DB72478D}"/>
              </a:ext>
            </a:extLst>
          </p:cNvPr>
          <p:cNvSpPr>
            <a:spLocks xmlns:a="http://schemas.openxmlformats.org/drawingml/2006/main" noGrp="1"/>
          </p:cNvSpPr>
          <p:nvPr/>
        </p:nvSpPr>
        <p:spPr>
          <a:xfrm xmlns:a="http://schemas.openxmlformats.org/drawingml/2006/main">
            <a:off x="5105400" y="1981200"/>
            <a:ext cx="533400" cy="533400"/>
          </a:xfrm>
          <a:prstGeom xmlns:a="http://schemas.openxmlformats.org/drawingml/2006/main" prst="roundRect">
            <a:avLst>
              <a:gd name="adj" fmla="val 14286"/>
            </a:avLst>
          </a:prstGeom>
          <a:solidFill xmlns:a="http://schemas.openxmlformats.org/drawingml/2006/main">
            <a:srgbClr val="E76F51"/>
          </a:solidFill>
          <a:ln xmlns:a="http://schemas.openxmlformats.org/drawingml/2006/main" w="14288">
            <a:solidFill>
              <a:srgbClr val="E76F51"/>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968229D2-98D0-489C-9657-3FC5F337B7E9}"/>
              </a:ext>
            </a:extLst>
          </p:cNvPr>
          <p:cNvSpPr>
            <a:spLocks xmlns:a="http://schemas.openxmlformats.org/drawingml/2006/main" noGrp="1"/>
          </p:cNvSpPr>
          <p:nvPr/>
        </p:nvSpPr>
        <p:spPr>
          <a:xfrm xmlns:a="http://schemas.openxmlformats.org/drawingml/2006/main">
            <a:off x="5105400" y="2724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Talk with a partner</a:t>
            </a:r>
          </a:p>
        </p:txBody>
      </p:sp>
      <p:sp>
        <p:nvSpPr>
          <p:cNvPr id="16" name="">
            <a:extLst xmlns:a="http://schemas.openxmlformats.org/drawingml/2006/main">
              <a:ext uri="{FF2B5EF4-FFF2-40B4-BE49-F238E27FC236}">
                <a16:creationId xmlns:a16="http://schemas.microsoft.com/office/drawing/2014/main" id="{2BAD46FA-CAA5-4E50-AA3D-5E7D9162A571}"/>
              </a:ext>
            </a:extLst>
          </p:cNvPr>
          <p:cNvSpPr>
            <a:spLocks xmlns:a="http://schemas.openxmlformats.org/drawingml/2006/main" noGrp="1"/>
          </p:cNvSpPr>
          <p:nvPr/>
        </p:nvSpPr>
        <p:spPr>
          <a:xfrm xmlns:a="http://schemas.openxmlformats.org/drawingml/2006/main">
            <a:off x="5105400" y="31908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Compare one idea</a:t>
            </a:r>
          </a:p>
        </p:txBody>
      </p:sp>
      <p:sp>
        <p:nvSpPr>
          <p:cNvPr id="17" name="">
            <a:extLst xmlns:a="http://schemas.openxmlformats.org/drawingml/2006/main">
              <a:ext uri="{FF2B5EF4-FFF2-40B4-BE49-F238E27FC236}">
                <a16:creationId xmlns:a16="http://schemas.microsoft.com/office/drawing/2014/main" id="{7769AFD0-BE4C-4E5A-9CE2-C73C014EAB08}"/>
              </a:ext>
            </a:extLst>
          </p:cNvPr>
          <p:cNvSpPr>
            <a:spLocks xmlns:a="http://schemas.openxmlformats.org/drawingml/2006/main" noGrp="1"/>
          </p:cNvSpPr>
          <p:nvPr/>
        </p:nvSpPr>
        <p:spPr>
          <a:xfrm xmlns:a="http://schemas.openxmlformats.org/drawingml/2006/main">
            <a:off x="5695950" y="2247900"/>
            <a:ext cx="15240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8" name="">
            <a:extLst xmlns:a="http://schemas.openxmlformats.org/drawingml/2006/main">
              <a:ext uri="{FF2B5EF4-FFF2-40B4-BE49-F238E27FC236}">
                <a16:creationId xmlns:a16="http://schemas.microsoft.com/office/drawing/2014/main" id="{93A178E6-270F-4C62-9BCF-6509D5FAB85F}"/>
              </a:ext>
            </a:extLst>
          </p:cNvPr>
          <p:cNvSpPr>
            <a:spLocks xmlns:a="http://schemas.openxmlformats.org/drawingml/2006/main" noGrp="1"/>
          </p:cNvSpPr>
          <p:nvPr/>
        </p:nvSpPr>
        <p:spPr>
          <a:xfrm xmlns:a="http://schemas.openxmlformats.org/drawingml/2006/main">
            <a:off x="7353300" y="1981200"/>
            <a:ext cx="533400" cy="533400"/>
          </a:xfrm>
          <a:prstGeom xmlns:a="http://schemas.openxmlformats.org/drawingml/2006/main" prst="roundRect">
            <a:avLst>
              <a:gd name="adj" fmla="val 1428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8B923AB4-AA68-405C-90F4-CBD6DAC16EB7}"/>
              </a:ext>
            </a:extLst>
          </p:cNvPr>
          <p:cNvSpPr>
            <a:spLocks xmlns:a="http://schemas.openxmlformats.org/drawingml/2006/main" noGrp="1"/>
          </p:cNvSpPr>
          <p:nvPr/>
        </p:nvSpPr>
        <p:spPr>
          <a:xfrm xmlns:a="http://schemas.openxmlformats.org/drawingml/2006/main">
            <a:off x="7353300" y="2724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Decide together</a:t>
            </a:r>
          </a:p>
        </p:txBody>
      </p:sp>
      <p:sp>
        <p:nvSpPr>
          <p:cNvPr id="20" name="">
            <a:extLst xmlns:a="http://schemas.openxmlformats.org/drawingml/2006/main">
              <a:ext uri="{FF2B5EF4-FFF2-40B4-BE49-F238E27FC236}">
                <a16:creationId xmlns:a16="http://schemas.microsoft.com/office/drawing/2014/main" id="{E214CC72-ADAA-4DB2-89AB-2CBE5863CE64}"/>
              </a:ext>
            </a:extLst>
          </p:cNvPr>
          <p:cNvSpPr>
            <a:spLocks xmlns:a="http://schemas.openxmlformats.org/drawingml/2006/main" noGrp="1"/>
          </p:cNvSpPr>
          <p:nvPr/>
        </p:nvSpPr>
        <p:spPr>
          <a:xfrm xmlns:a="http://schemas.openxmlformats.org/drawingml/2006/main">
            <a:off x="7353300" y="31908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Choose one useful point</a:t>
            </a:r>
          </a:p>
        </p:txBody>
      </p:sp>
      <p:sp>
        <p:nvSpPr>
          <p:cNvPr id="21" name="">
            <a:extLst xmlns:a="http://schemas.openxmlformats.org/drawingml/2006/main">
              <a:ext uri="{FF2B5EF4-FFF2-40B4-BE49-F238E27FC236}">
                <a16:creationId xmlns:a16="http://schemas.microsoft.com/office/drawing/2014/main" id="{B745DBDD-0B70-4DEE-AA84-D6074797E57A}"/>
              </a:ext>
            </a:extLst>
          </p:cNvPr>
          <p:cNvSpPr>
            <a:spLocks xmlns:a="http://schemas.openxmlformats.org/drawingml/2006/main" noGrp="1"/>
          </p:cNvSpPr>
          <p:nvPr/>
        </p:nvSpPr>
        <p:spPr>
          <a:xfrm xmlns:a="http://schemas.openxmlformats.org/drawingml/2006/main">
            <a:off x="7943850" y="2247900"/>
            <a:ext cx="15240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22" name="">
            <a:extLst xmlns:a="http://schemas.openxmlformats.org/drawingml/2006/main">
              <a:ext uri="{FF2B5EF4-FFF2-40B4-BE49-F238E27FC236}">
                <a16:creationId xmlns:a16="http://schemas.microsoft.com/office/drawing/2014/main" id="{0555C043-EF34-496A-90D6-9092D1FB09A8}"/>
              </a:ext>
            </a:extLst>
          </p:cNvPr>
          <p:cNvSpPr>
            <a:spLocks xmlns:a="http://schemas.openxmlformats.org/drawingml/2006/main" noGrp="1"/>
          </p:cNvSpPr>
          <p:nvPr/>
        </p:nvSpPr>
        <p:spPr>
          <a:xfrm xmlns:a="http://schemas.openxmlformats.org/drawingml/2006/main">
            <a:off x="9601200" y="1981200"/>
            <a:ext cx="533400" cy="533400"/>
          </a:xfrm>
          <a:prstGeom xmlns:a="http://schemas.openxmlformats.org/drawingml/2006/main" prst="roundRect">
            <a:avLst>
              <a:gd name="adj" fmla="val 14286"/>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5</a:t>
            </a:r>
          </a:p>
        </p:txBody>
      </p:sp>
      <p:sp>
        <p:nvSpPr>
          <p:cNvPr id="23" name="">
            <a:extLst xmlns:a="http://schemas.openxmlformats.org/drawingml/2006/main">
              <a:ext uri="{FF2B5EF4-FFF2-40B4-BE49-F238E27FC236}">
                <a16:creationId xmlns:a16="http://schemas.microsoft.com/office/drawing/2014/main" id="{11910502-5B5E-493C-90A5-E23DD9063DF6}"/>
              </a:ext>
            </a:extLst>
          </p:cNvPr>
          <p:cNvSpPr>
            <a:spLocks xmlns:a="http://schemas.openxmlformats.org/drawingml/2006/main" noGrp="1"/>
          </p:cNvSpPr>
          <p:nvPr/>
        </p:nvSpPr>
        <p:spPr>
          <a:xfrm xmlns:a="http://schemas.openxmlformats.org/drawingml/2006/main">
            <a:off x="9601200" y="2724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Share one idea</a:t>
            </a:r>
          </a:p>
        </p:txBody>
      </p:sp>
      <p:sp>
        <p:nvSpPr>
          <p:cNvPr id="24" name="">
            <a:extLst xmlns:a="http://schemas.openxmlformats.org/drawingml/2006/main">
              <a:ext uri="{FF2B5EF4-FFF2-40B4-BE49-F238E27FC236}">
                <a16:creationId xmlns:a16="http://schemas.microsoft.com/office/drawing/2014/main" id="{6D7224C2-2B1E-476D-8571-CA5C046A10CC}"/>
              </a:ext>
            </a:extLst>
          </p:cNvPr>
          <p:cNvSpPr>
            <a:spLocks xmlns:a="http://schemas.openxmlformats.org/drawingml/2006/main" noGrp="1"/>
          </p:cNvSpPr>
          <p:nvPr/>
        </p:nvSpPr>
        <p:spPr>
          <a:xfrm xmlns:a="http://schemas.openxmlformats.org/drawingml/2006/main">
            <a:off x="9601200" y="31908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Connect back to class</a:t>
            </a:r>
          </a:p>
        </p:txBody>
      </p:sp>
      <p:sp>
        <p:nvSpPr>
          <p:cNvPr id="25" name="">
            <a:extLst xmlns:a="http://schemas.openxmlformats.org/drawingml/2006/main">
              <a:ext uri="{FF2B5EF4-FFF2-40B4-BE49-F238E27FC236}">
                <a16:creationId xmlns:a16="http://schemas.microsoft.com/office/drawing/2014/main" id="{3F8A98E1-D39E-4D3C-B3FE-9099EC2A9262}"/>
              </a:ext>
            </a:extLst>
          </p:cNvPr>
          <p:cNvSpPr>
            <a:spLocks xmlns:a="http://schemas.openxmlformats.org/drawingml/2006/main" noGrp="1"/>
          </p:cNvSpPr>
          <p:nvPr/>
        </p:nvSpPr>
        <p:spPr>
          <a:xfrm xmlns:a="http://schemas.openxmlformats.org/drawingml/2006/main">
            <a:off x="1619250" y="4619625"/>
            <a:ext cx="8953500" cy="742950"/>
          </a:xfrm>
          <a:prstGeom xmlns:a="http://schemas.openxmlformats.org/drawingml/2006/main" prst="roundRect">
            <a:avLst>
              <a:gd name="adj" fmla="val 10256"/>
            </a:avLst>
          </a:prstGeom>
          <a:solidFill xmlns:a="http://schemas.openxmlformats.org/drawingml/2006/main">
            <a:srgbClr val="E6F3EF"/>
          </a:solidFill>
          <a:ln xmlns:a="http://schemas.openxmlformats.org/drawingml/2006/main" w="14288">
            <a:solidFill>
              <a:srgbClr val="E6F3EF"/>
            </a:solidFill>
          </a:ln>
        </p:spPr>
        <p:txBody>
          <a:bodyPr xmlns:a="http://schemas.openxmlformats.org/drawingml/2006/main"/>
          <a:lstStyle xmlns:a="http://schemas.openxmlformats.org/drawingml/2006/main"/>
          <a:p xmlns:a="http://schemas.openxmlformats.org/drawingml/2006/main">
            <a:pPr>
              <a:defRPr sz="1875" b="1">
                <a:solidFill>
                  <a:srgbClr val="17324D"/>
                </a:solidFill>
                <a:latin typeface="Aptos"/>
                <a:ea typeface="Aptos"/>
                <a:cs typeface="Aptos"/>
              </a:defRPr>
            </a:pPr>
            <a:r>
              <a:rPr sz="1875" b="1">
                <a:solidFill>
                  <a:srgbClr val="17324D"/>
                </a:solidFill>
                <a:latin typeface="Aptos"/>
                <a:ea typeface="Aptos"/>
                <a:cs typeface="Aptos"/>
              </a:rPr>
              <a:t>You may write, sketch, rehearse, or speak. The learning goal stays the same.</a:t>
            </a:r>
          </a:p>
        </p:txBody>
      </p:sp>
    </p:spTree>
    <p:extLst>
      <p:ext uri="{BB962C8B-B14F-4D97-AF65-F5344CB8AC3E}">
        <p14:creationId xmlns:p14="http://schemas.microsoft.com/office/powerpoint/2010/main" val="1481362270"/>
      </p:ext>
    </p:extLst>
  </p:cSld>
</p:sld>
</file>

<file path=ppt/slides/slide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F13C397-0350-4D51-9B13-E82A83CFB36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214CB4-5D8C-4E02-B743-2DFC6F26CBD6}"/>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22478A6E-8E5D-410E-8478-2D16CAB5A675}"/>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D1C26F3B-B5D5-4261-95A1-6EB2ED1ECFC6}"/>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Marketing: customer choice</a:t>
            </a:r>
          </a:p>
        </p:txBody>
      </p:sp>
      <p:sp>
        <p:nvSpPr>
          <p:cNvPr id="5" name="">
            <a:extLst xmlns:a="http://schemas.openxmlformats.org/drawingml/2006/main">
              <a:ext uri="{FF2B5EF4-FFF2-40B4-BE49-F238E27FC236}">
                <a16:creationId xmlns:a16="http://schemas.microsoft.com/office/drawing/2014/main" id="{DF56523A-4B96-4576-BDE6-5209EB105DC8}"/>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A short opening question can start the class while attendance happens.</a:t>
            </a:r>
          </a:p>
        </p:txBody>
      </p:sp>
      <p:sp>
        <p:nvSpPr>
          <p:cNvPr id="6" name="">
            <a:extLst xmlns:a="http://schemas.openxmlformats.org/drawingml/2006/main">
              <a:ext uri="{FF2B5EF4-FFF2-40B4-BE49-F238E27FC236}">
                <a16:creationId xmlns:a16="http://schemas.microsoft.com/office/drawing/2014/main" id="{6A200BF3-8C08-4F79-B988-4B344E64CDF9}"/>
              </a:ext>
            </a:extLst>
          </p:cNvPr>
          <p:cNvSpPr>
            <a:spLocks xmlns:a="http://schemas.openxmlformats.org/drawingml/2006/main" noGrp="1"/>
          </p:cNvSpPr>
          <p:nvPr/>
        </p:nvSpPr>
        <p:spPr>
          <a:xfrm xmlns:a="http://schemas.openxmlformats.org/drawingml/2006/main">
            <a:off x="685800" y="1809750"/>
            <a:ext cx="5810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28575">
            <a:solidFill>
              <a:srgbClr val="2A9D8F"/>
            </a:solidFill>
          </a:ln>
        </p:spPr>
        <p:txBody>
          <a:bodyPr xmlns:a="http://schemas.openxmlformats.org/drawingml/2006/main"/>
          <a:lstStyle xmlns:a="http://schemas.openxmlformats.org/drawingml/2006/main"/>
          <a:p xmlns:a="http://schemas.openxmlformats.org/drawingml/2006/main">
            <a:pPr>
              <a:defRPr sz="2175" b="1">
                <a:solidFill>
                  <a:srgbClr val="17324D"/>
                </a:solidFill>
                <a:latin typeface="Aptos"/>
                <a:ea typeface="Aptos"/>
                <a:cs typeface="Aptos"/>
              </a:defRPr>
            </a:pPr>
            <a:r>
              <a:rPr sz="2175" b="1">
                <a:solidFill>
                  <a:srgbClr val="17324D"/>
                </a:solidFill>
                <a:latin typeface="Aptos"/>
                <a:ea typeface="Aptos"/>
                <a:cs typeface="Aptos"/>
              </a:rPr>
              <a:t>Two fictional cafés sell the same drink for the same price.</a:t>
            </a:r>
          </a:p>
          <a:p xmlns:a="http://schemas.openxmlformats.org/drawingml/2006/main">
            <a:r>
              <a:t/>
            </a:r>
          </a:p>
          <a:p xmlns:a="http://schemas.openxmlformats.org/drawingml/2006/main">
            <a:pPr>
              <a:defRPr sz="2175" b="1">
                <a:solidFill>
                  <a:srgbClr val="17324D"/>
                </a:solidFill>
                <a:latin typeface="Aptos"/>
                <a:ea typeface="Aptos"/>
                <a:cs typeface="Aptos"/>
              </a:defRPr>
            </a:pPr>
            <a:r>
              <a:rPr sz="2175" b="1">
                <a:solidFill>
                  <a:srgbClr val="17324D"/>
                </a:solidFill>
                <a:latin typeface="Aptos"/>
                <a:ea typeface="Aptos"/>
                <a:cs typeface="Aptos"/>
              </a:rPr>
              <a:t>Why might a customer choose one over the other?</a:t>
            </a:r>
          </a:p>
        </p:txBody>
      </p:sp>
      <p:sp>
        <p:nvSpPr>
          <p:cNvPr id="7" name="">
            <a:extLst xmlns:a="http://schemas.openxmlformats.org/drawingml/2006/main">
              <a:ext uri="{FF2B5EF4-FFF2-40B4-BE49-F238E27FC236}">
                <a16:creationId xmlns:a16="http://schemas.microsoft.com/office/drawing/2014/main" id="{DAC11FE0-00C0-4636-A569-D5D0D33C3454}"/>
              </a:ext>
            </a:extLst>
          </p:cNvPr>
          <p:cNvSpPr>
            <a:spLocks xmlns:a="http://schemas.openxmlformats.org/drawingml/2006/main" noGrp="1"/>
          </p:cNvSpPr>
          <p:nvPr/>
        </p:nvSpPr>
        <p:spPr>
          <a:xfrm xmlns:a="http://schemas.openxmlformats.org/drawingml/2006/main">
            <a:off x="7334250" y="18478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Possible lenses</a:t>
            </a:r>
          </a:p>
        </p:txBody>
      </p:sp>
      <p:sp>
        <p:nvSpPr>
          <p:cNvPr id="8" name="">
            <a:extLst xmlns:a="http://schemas.openxmlformats.org/drawingml/2006/main">
              <a:ext uri="{FF2B5EF4-FFF2-40B4-BE49-F238E27FC236}">
                <a16:creationId xmlns:a16="http://schemas.microsoft.com/office/drawing/2014/main" id="{A49CFA26-75A8-4C36-B0B9-18AC2D2DA6E8}"/>
              </a:ext>
            </a:extLst>
          </p:cNvPr>
          <p:cNvSpPr>
            <a:spLocks xmlns:a="http://schemas.openxmlformats.org/drawingml/2006/main" noGrp="1"/>
          </p:cNvSpPr>
          <p:nvPr/>
        </p:nvSpPr>
        <p:spPr>
          <a:xfrm xmlns:a="http://schemas.openxmlformats.org/drawingml/2006/main">
            <a:off x="7334250" y="2381250"/>
            <a:ext cx="2571750" cy="400050"/>
          </a:xfrm>
          <a:prstGeom xmlns:a="http://schemas.openxmlformats.org/drawingml/2006/main" prst="roundRect">
            <a:avLst>
              <a:gd name="adj" fmla="val 19048"/>
            </a:avLst>
          </a:prstGeom>
          <a:solidFill xmlns:a="http://schemas.openxmlformats.org/drawingml/2006/main">
            <a:srgbClr val="DDEEF2"/>
          </a:solidFill>
          <a:ln xmlns:a="http://schemas.openxmlformats.org/drawingml/2006/main" w="14288">
            <a:solidFill>
              <a:srgbClr val="DDEEF2"/>
            </a:solidFill>
          </a:ln>
        </p:spPr>
        <p:txBody>
          <a:bodyPr xmlns:a="http://schemas.openxmlformats.org/drawingml/2006/main"/>
          <a:lstStyle xmlns:a="http://schemas.openxmlformats.org/drawingml/2006/main"/>
          <a:p xmlns:a="http://schemas.openxmlformats.org/drawingml/2006/main">
            <a:pPr>
              <a:defRPr sz="1575" b="1">
                <a:solidFill>
                  <a:srgbClr val="17324D"/>
                </a:solidFill>
                <a:latin typeface="Aptos"/>
                <a:ea typeface="Aptos"/>
                <a:cs typeface="Aptos"/>
              </a:defRPr>
            </a:pPr>
            <a:r>
              <a:rPr sz="1575" b="1">
                <a:solidFill>
                  <a:srgbClr val="17324D"/>
                </a:solidFill>
                <a:latin typeface="Aptos"/>
                <a:ea typeface="Aptos"/>
                <a:cs typeface="Aptos"/>
              </a:rPr>
              <a:t>Convenience</a:t>
            </a:r>
          </a:p>
        </p:txBody>
      </p:sp>
      <p:sp>
        <p:nvSpPr>
          <p:cNvPr id="9" name="">
            <a:extLst xmlns:a="http://schemas.openxmlformats.org/drawingml/2006/main">
              <a:ext uri="{FF2B5EF4-FFF2-40B4-BE49-F238E27FC236}">
                <a16:creationId xmlns:a16="http://schemas.microsoft.com/office/drawing/2014/main" id="{BFC1A322-500E-4AF7-920F-70ACFBB8CFE3}"/>
              </a:ext>
            </a:extLst>
          </p:cNvPr>
          <p:cNvSpPr>
            <a:spLocks xmlns:a="http://schemas.openxmlformats.org/drawingml/2006/main" noGrp="1"/>
          </p:cNvSpPr>
          <p:nvPr/>
        </p:nvSpPr>
        <p:spPr>
          <a:xfrm xmlns:a="http://schemas.openxmlformats.org/drawingml/2006/main">
            <a:off x="7334250" y="2914650"/>
            <a:ext cx="2571750" cy="400050"/>
          </a:xfrm>
          <a:prstGeom xmlns:a="http://schemas.openxmlformats.org/drawingml/2006/main" prst="roundRect">
            <a:avLst>
              <a:gd name="adj" fmla="val 19048"/>
            </a:avLst>
          </a:prstGeom>
          <a:solidFill xmlns:a="http://schemas.openxmlformats.org/drawingml/2006/main">
            <a:srgbClr val="E6F3EF"/>
          </a:solidFill>
          <a:ln xmlns:a="http://schemas.openxmlformats.org/drawingml/2006/main" w="14288">
            <a:solidFill>
              <a:srgbClr val="E6F3EF"/>
            </a:solidFill>
          </a:ln>
        </p:spPr>
        <p:txBody>
          <a:bodyPr xmlns:a="http://schemas.openxmlformats.org/drawingml/2006/main"/>
          <a:lstStyle xmlns:a="http://schemas.openxmlformats.org/drawingml/2006/main"/>
          <a:p xmlns:a="http://schemas.openxmlformats.org/drawingml/2006/main">
            <a:pPr>
              <a:defRPr sz="1575" b="1">
                <a:solidFill>
                  <a:srgbClr val="17324D"/>
                </a:solidFill>
                <a:latin typeface="Aptos"/>
                <a:ea typeface="Aptos"/>
                <a:cs typeface="Aptos"/>
              </a:defRPr>
            </a:pPr>
            <a:r>
              <a:rPr sz="1575" b="1">
                <a:solidFill>
                  <a:srgbClr val="17324D"/>
                </a:solidFill>
                <a:latin typeface="Aptos"/>
                <a:ea typeface="Aptos"/>
                <a:cs typeface="Aptos"/>
              </a:rPr>
              <a:t>Service</a:t>
            </a:r>
          </a:p>
        </p:txBody>
      </p:sp>
      <p:sp>
        <p:nvSpPr>
          <p:cNvPr id="10" name="">
            <a:extLst xmlns:a="http://schemas.openxmlformats.org/drawingml/2006/main">
              <a:ext uri="{FF2B5EF4-FFF2-40B4-BE49-F238E27FC236}">
                <a16:creationId xmlns:a16="http://schemas.microsoft.com/office/drawing/2014/main" id="{C815E414-6093-403A-899C-E69C20112B5E}"/>
              </a:ext>
            </a:extLst>
          </p:cNvPr>
          <p:cNvSpPr>
            <a:spLocks xmlns:a="http://schemas.openxmlformats.org/drawingml/2006/main" noGrp="1"/>
          </p:cNvSpPr>
          <p:nvPr/>
        </p:nvSpPr>
        <p:spPr>
          <a:xfrm xmlns:a="http://schemas.openxmlformats.org/drawingml/2006/main">
            <a:off x="7334250" y="3448050"/>
            <a:ext cx="2571750" cy="400050"/>
          </a:xfrm>
          <a:prstGeom xmlns:a="http://schemas.openxmlformats.org/drawingml/2006/main" prst="roundRect">
            <a:avLst>
              <a:gd name="adj" fmla="val 19048"/>
            </a:avLst>
          </a:prstGeom>
          <a:solidFill xmlns:a="http://schemas.openxmlformats.org/drawingml/2006/main">
            <a:srgbClr val="DDEEF2"/>
          </a:solidFill>
          <a:ln xmlns:a="http://schemas.openxmlformats.org/drawingml/2006/main" w="14288">
            <a:solidFill>
              <a:srgbClr val="DDEEF2"/>
            </a:solidFill>
          </a:ln>
        </p:spPr>
        <p:txBody>
          <a:bodyPr xmlns:a="http://schemas.openxmlformats.org/drawingml/2006/main"/>
          <a:lstStyle xmlns:a="http://schemas.openxmlformats.org/drawingml/2006/main"/>
          <a:p xmlns:a="http://schemas.openxmlformats.org/drawingml/2006/main">
            <a:pPr>
              <a:defRPr sz="1575" b="1">
                <a:solidFill>
                  <a:srgbClr val="17324D"/>
                </a:solidFill>
                <a:latin typeface="Aptos"/>
                <a:ea typeface="Aptos"/>
                <a:cs typeface="Aptos"/>
              </a:defRPr>
            </a:pPr>
            <a:r>
              <a:rPr sz="1575" b="1">
                <a:solidFill>
                  <a:srgbClr val="17324D"/>
                </a:solidFill>
                <a:latin typeface="Aptos"/>
                <a:ea typeface="Aptos"/>
                <a:cs typeface="Aptos"/>
              </a:rPr>
              <a:t>Trust</a:t>
            </a:r>
          </a:p>
        </p:txBody>
      </p:sp>
      <p:sp>
        <p:nvSpPr>
          <p:cNvPr id="11" name="">
            <a:extLst xmlns:a="http://schemas.openxmlformats.org/drawingml/2006/main">
              <a:ext uri="{FF2B5EF4-FFF2-40B4-BE49-F238E27FC236}">
                <a16:creationId xmlns:a16="http://schemas.microsoft.com/office/drawing/2014/main" id="{B0F0D418-941F-44FA-8F1A-87D9249232CB}"/>
              </a:ext>
            </a:extLst>
          </p:cNvPr>
          <p:cNvSpPr>
            <a:spLocks xmlns:a="http://schemas.openxmlformats.org/drawingml/2006/main" noGrp="1"/>
          </p:cNvSpPr>
          <p:nvPr/>
        </p:nvSpPr>
        <p:spPr>
          <a:xfrm xmlns:a="http://schemas.openxmlformats.org/drawingml/2006/main">
            <a:off x="7334250" y="3981450"/>
            <a:ext cx="2571750" cy="400050"/>
          </a:xfrm>
          <a:prstGeom xmlns:a="http://schemas.openxmlformats.org/drawingml/2006/main" prst="roundRect">
            <a:avLst>
              <a:gd name="adj" fmla="val 19048"/>
            </a:avLst>
          </a:prstGeom>
          <a:solidFill xmlns:a="http://schemas.openxmlformats.org/drawingml/2006/main">
            <a:srgbClr val="E6F3EF"/>
          </a:solidFill>
          <a:ln xmlns:a="http://schemas.openxmlformats.org/drawingml/2006/main" w="14288">
            <a:solidFill>
              <a:srgbClr val="E6F3EF"/>
            </a:solidFill>
          </a:ln>
        </p:spPr>
        <p:txBody>
          <a:bodyPr xmlns:a="http://schemas.openxmlformats.org/drawingml/2006/main"/>
          <a:lstStyle xmlns:a="http://schemas.openxmlformats.org/drawingml/2006/main"/>
          <a:p xmlns:a="http://schemas.openxmlformats.org/drawingml/2006/main">
            <a:pPr>
              <a:defRPr sz="1575" b="1">
                <a:solidFill>
                  <a:srgbClr val="17324D"/>
                </a:solidFill>
                <a:latin typeface="Aptos"/>
                <a:ea typeface="Aptos"/>
                <a:cs typeface="Aptos"/>
              </a:defRPr>
            </a:pPr>
            <a:r>
              <a:rPr sz="1575" b="1">
                <a:solidFill>
                  <a:srgbClr val="17324D"/>
                </a:solidFill>
                <a:latin typeface="Aptos"/>
                <a:ea typeface="Aptos"/>
                <a:cs typeface="Aptos"/>
              </a:rPr>
              <a:t>Design</a:t>
            </a:r>
          </a:p>
        </p:txBody>
      </p:sp>
      <p:sp>
        <p:nvSpPr>
          <p:cNvPr id="12" name="">
            <a:extLst xmlns:a="http://schemas.openxmlformats.org/drawingml/2006/main">
              <a:ext uri="{FF2B5EF4-FFF2-40B4-BE49-F238E27FC236}">
                <a16:creationId xmlns:a16="http://schemas.microsoft.com/office/drawing/2014/main" id="{5D666CC7-F8E2-49F0-BC52-E5B51DD74663}"/>
              </a:ext>
            </a:extLst>
          </p:cNvPr>
          <p:cNvSpPr>
            <a:spLocks xmlns:a="http://schemas.openxmlformats.org/drawingml/2006/main" noGrp="1"/>
          </p:cNvSpPr>
          <p:nvPr/>
        </p:nvSpPr>
        <p:spPr>
          <a:xfrm xmlns:a="http://schemas.openxmlformats.org/drawingml/2006/main">
            <a:off x="7334250" y="4514850"/>
            <a:ext cx="2571750" cy="400050"/>
          </a:xfrm>
          <a:prstGeom xmlns:a="http://schemas.openxmlformats.org/drawingml/2006/main" prst="roundRect">
            <a:avLst>
              <a:gd name="adj" fmla="val 19048"/>
            </a:avLst>
          </a:prstGeom>
          <a:solidFill xmlns:a="http://schemas.openxmlformats.org/drawingml/2006/main">
            <a:srgbClr val="DDEEF2"/>
          </a:solidFill>
          <a:ln xmlns:a="http://schemas.openxmlformats.org/drawingml/2006/main" w="14288">
            <a:solidFill>
              <a:srgbClr val="DDEEF2"/>
            </a:solidFill>
          </a:ln>
        </p:spPr>
        <p:txBody>
          <a:bodyPr xmlns:a="http://schemas.openxmlformats.org/drawingml/2006/main"/>
          <a:lstStyle xmlns:a="http://schemas.openxmlformats.org/drawingml/2006/main"/>
          <a:p xmlns:a="http://schemas.openxmlformats.org/drawingml/2006/main">
            <a:pPr>
              <a:defRPr sz="1575" b="1">
                <a:solidFill>
                  <a:srgbClr val="17324D"/>
                </a:solidFill>
                <a:latin typeface="Aptos"/>
                <a:ea typeface="Aptos"/>
                <a:cs typeface="Aptos"/>
              </a:defRPr>
            </a:pPr>
            <a:r>
              <a:rPr sz="1575" b="1">
                <a:solidFill>
                  <a:srgbClr val="17324D"/>
                </a:solidFill>
                <a:latin typeface="Aptos"/>
                <a:ea typeface="Aptos"/>
                <a:cs typeface="Aptos"/>
              </a:rPr>
              <a:t>Experience</a:t>
            </a:r>
          </a:p>
        </p:txBody>
      </p:sp>
      <p:sp>
        <p:nvSpPr>
          <p:cNvPr id="13" name="">
            <a:extLst xmlns:a="http://schemas.openxmlformats.org/drawingml/2006/main">
              <a:ext uri="{FF2B5EF4-FFF2-40B4-BE49-F238E27FC236}">
                <a16:creationId xmlns:a16="http://schemas.microsoft.com/office/drawing/2014/main" id="{304FC86E-5A02-432F-A24F-B216088E240B}"/>
              </a:ext>
            </a:extLst>
          </p:cNvPr>
          <p:cNvSpPr>
            <a:spLocks xmlns:a="http://schemas.openxmlformats.org/drawingml/2006/main" noGrp="1"/>
          </p:cNvSpPr>
          <p:nvPr/>
        </p:nvSpPr>
        <p:spPr>
          <a:xfrm xmlns:a="http://schemas.openxmlformats.org/drawingml/2006/main">
            <a:off x="685800" y="4857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E76F51"/>
                </a:solidFill>
                <a:latin typeface="Aptos"/>
                <a:ea typeface="Aptos"/>
                <a:cs typeface="Aptos"/>
              </a:defRPr>
            </a:pPr>
            <a:r>
              <a:rPr sz="1650" b="1">
                <a:solidFill>
                  <a:srgbClr val="E76F51"/>
                </a:solidFill>
                <a:latin typeface="Aptos"/>
                <a:ea typeface="Aptos"/>
                <a:cs typeface="Aptos"/>
              </a:rPr>
              <a:t>2 min</a:t>
            </a:r>
          </a:p>
        </p:txBody>
      </p:sp>
      <p:sp>
        <p:nvSpPr>
          <p:cNvPr id="14" name="">
            <a:extLst xmlns:a="http://schemas.openxmlformats.org/drawingml/2006/main">
              <a:ext uri="{FF2B5EF4-FFF2-40B4-BE49-F238E27FC236}">
                <a16:creationId xmlns:a16="http://schemas.microsoft.com/office/drawing/2014/main" id="{FCAB61AA-6FD8-4BDA-BF87-EADCD5A31C3F}"/>
              </a:ext>
            </a:extLst>
          </p:cNvPr>
          <p:cNvSpPr>
            <a:spLocks xmlns:a="http://schemas.openxmlformats.org/drawingml/2006/main" noGrp="1"/>
          </p:cNvSpPr>
          <p:nvPr/>
        </p:nvSpPr>
        <p:spPr>
          <a:xfrm xmlns:a="http://schemas.openxmlformats.org/drawingml/2006/main">
            <a:off x="1619250" y="48577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quiet think/write</a:t>
            </a:r>
          </a:p>
        </p:txBody>
      </p:sp>
      <p:sp>
        <p:nvSpPr>
          <p:cNvPr id="15" name="">
            <a:extLst xmlns:a="http://schemas.openxmlformats.org/drawingml/2006/main">
              <a:ext uri="{FF2B5EF4-FFF2-40B4-BE49-F238E27FC236}">
                <a16:creationId xmlns:a16="http://schemas.microsoft.com/office/drawing/2014/main" id="{17E7D9E8-1D42-413A-9431-D8A8FA92E125}"/>
              </a:ext>
            </a:extLst>
          </p:cNvPr>
          <p:cNvSpPr>
            <a:spLocks xmlns:a="http://schemas.openxmlformats.org/drawingml/2006/main" noGrp="1"/>
          </p:cNvSpPr>
          <p:nvPr/>
        </p:nvSpPr>
        <p:spPr>
          <a:xfrm xmlns:a="http://schemas.openxmlformats.org/drawingml/2006/main">
            <a:off x="4286250" y="4857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E76F51"/>
                </a:solidFill>
                <a:latin typeface="Aptos"/>
                <a:ea typeface="Aptos"/>
                <a:cs typeface="Aptos"/>
              </a:defRPr>
            </a:pPr>
            <a:r>
              <a:rPr sz="1650" b="1">
                <a:solidFill>
                  <a:srgbClr val="E76F51"/>
                </a:solidFill>
                <a:latin typeface="Aptos"/>
                <a:ea typeface="Aptos"/>
                <a:cs typeface="Aptos"/>
              </a:rPr>
              <a:t>3 min</a:t>
            </a:r>
          </a:p>
        </p:txBody>
      </p:sp>
      <p:sp>
        <p:nvSpPr>
          <p:cNvPr id="16" name="">
            <a:extLst xmlns:a="http://schemas.openxmlformats.org/drawingml/2006/main">
              <a:ext uri="{FF2B5EF4-FFF2-40B4-BE49-F238E27FC236}">
                <a16:creationId xmlns:a16="http://schemas.microsoft.com/office/drawing/2014/main" id="{EF184FFD-6E1B-4CF5-9031-8101ECF64BF5}"/>
              </a:ext>
            </a:extLst>
          </p:cNvPr>
          <p:cNvSpPr>
            <a:spLocks xmlns:a="http://schemas.openxmlformats.org/drawingml/2006/main" noGrp="1"/>
          </p:cNvSpPr>
          <p:nvPr/>
        </p:nvSpPr>
        <p:spPr>
          <a:xfrm xmlns:a="http://schemas.openxmlformats.org/drawingml/2006/main">
            <a:off x="5219700" y="4857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partner list</a:t>
            </a:r>
          </a:p>
        </p:txBody>
      </p:sp>
      <p:sp>
        <p:nvSpPr>
          <p:cNvPr id="17" name="">
            <a:extLst xmlns:a="http://schemas.openxmlformats.org/drawingml/2006/main">
              <a:ext uri="{FF2B5EF4-FFF2-40B4-BE49-F238E27FC236}">
                <a16:creationId xmlns:a16="http://schemas.microsoft.com/office/drawing/2014/main" id="{E909B79C-6FD9-4FE6-A0C4-A030A9E4B43C}"/>
              </a:ext>
            </a:extLst>
          </p:cNvPr>
          <p:cNvSpPr>
            <a:spLocks xmlns:a="http://schemas.openxmlformats.org/drawingml/2006/main" noGrp="1"/>
          </p:cNvSpPr>
          <p:nvPr/>
        </p:nvSpPr>
        <p:spPr>
          <a:xfrm xmlns:a="http://schemas.openxmlformats.org/drawingml/2006/main">
            <a:off x="7334250" y="48577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E76F51"/>
                </a:solidFill>
                <a:latin typeface="Aptos"/>
                <a:ea typeface="Aptos"/>
                <a:cs typeface="Aptos"/>
              </a:defRPr>
            </a:pPr>
            <a:r>
              <a:rPr sz="1650" b="1">
                <a:solidFill>
                  <a:srgbClr val="E76F51"/>
                </a:solidFill>
                <a:latin typeface="Aptos"/>
                <a:ea typeface="Aptos"/>
                <a:cs typeface="Aptos"/>
              </a:rPr>
              <a:t>3 min</a:t>
            </a:r>
          </a:p>
        </p:txBody>
      </p:sp>
      <p:sp>
        <p:nvSpPr>
          <p:cNvPr id="18" name="">
            <a:extLst xmlns:a="http://schemas.openxmlformats.org/drawingml/2006/main">
              <a:ext uri="{FF2B5EF4-FFF2-40B4-BE49-F238E27FC236}">
                <a16:creationId xmlns:a16="http://schemas.microsoft.com/office/drawing/2014/main" id="{5C0F94FC-F2B5-44E6-97B9-61391653A4C4}"/>
              </a:ext>
            </a:extLst>
          </p:cNvPr>
          <p:cNvSpPr>
            <a:spLocks xmlns:a="http://schemas.openxmlformats.org/drawingml/2006/main" noGrp="1"/>
          </p:cNvSpPr>
          <p:nvPr/>
        </p:nvSpPr>
        <p:spPr>
          <a:xfrm xmlns:a="http://schemas.openxmlformats.org/drawingml/2006/main">
            <a:off x="8267700" y="4857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team choice</a:t>
            </a:r>
          </a:p>
        </p:txBody>
      </p:sp>
      <p:sp>
        <p:nvSpPr>
          <p:cNvPr id="19" name="">
            <a:extLst xmlns:a="http://schemas.openxmlformats.org/drawingml/2006/main">
              <a:ext uri="{FF2B5EF4-FFF2-40B4-BE49-F238E27FC236}">
                <a16:creationId xmlns:a16="http://schemas.microsoft.com/office/drawing/2014/main" id="{8D6FD5F0-D743-46A2-A6B5-BF2B461A0672}"/>
              </a:ext>
            </a:extLst>
          </p:cNvPr>
          <p:cNvSpPr>
            <a:spLocks xmlns:a="http://schemas.openxmlformats.org/drawingml/2006/main" noGrp="1"/>
          </p:cNvSpPr>
          <p:nvPr/>
        </p:nvSpPr>
        <p:spPr>
          <a:xfrm xmlns:a="http://schemas.openxmlformats.org/drawingml/2006/main">
            <a:off x="685800" y="565785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i="1">
                <a:solidFill>
                  <a:srgbClr val="17324D"/>
                </a:solidFill>
                <a:latin typeface="Aptos"/>
                <a:ea typeface="Aptos"/>
                <a:cs typeface="Aptos"/>
              </a:defRPr>
            </a:pPr>
            <a:r>
              <a:rPr sz="1725" b="0" i="1">
                <a:solidFill>
                  <a:srgbClr val="17324D"/>
                </a:solidFill>
                <a:latin typeface="Aptos"/>
                <a:ea typeface="Aptos"/>
                <a:cs typeface="Aptos"/>
              </a:rPr>
              <a:t>Finish with one sentence: “Our customer might choose ___ because ___.”</a:t>
            </a:r>
          </a:p>
        </p:txBody>
      </p:sp>
    </p:spTree>
    <p:extLst>
      <p:ext uri="{BB962C8B-B14F-4D97-AF65-F5344CB8AC3E}">
        <p14:creationId xmlns:p14="http://schemas.microsoft.com/office/powerpoint/2010/main" val="1814847451"/>
      </p:ext>
    </p:extLst>
  </p:cSld>
</p:sld>
</file>

<file path=ppt/slides/slide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E17F3D-57E2-4278-AE68-4109D004E2A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4AA006-5DF6-4CF3-AAE5-AA52225AE3D3}"/>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ABCF3AC8-E577-49F2-B670-54B96AA2C6E4}"/>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B971BDCB-61A7-4290-A4AE-68511DDF75E3}"/>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Office and business: a reliable workflow</a:t>
            </a:r>
          </a:p>
        </p:txBody>
      </p:sp>
      <p:sp>
        <p:nvSpPr>
          <p:cNvPr id="5" name="">
            <a:extLst xmlns:a="http://schemas.openxmlformats.org/drawingml/2006/main">
              <a:ext uri="{FF2B5EF4-FFF2-40B4-BE49-F238E27FC236}">
                <a16:creationId xmlns:a16="http://schemas.microsoft.com/office/drawing/2014/main" id="{2BF8DE72-0040-447A-989F-E96636118068}"/>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Good process helps us work independently without pretending we already know everything.</a:t>
            </a:r>
          </a:p>
        </p:txBody>
      </p:sp>
      <p:sp>
        <p:nvSpPr>
          <p:cNvPr id="6" name="">
            <a:extLst xmlns:a="http://schemas.openxmlformats.org/drawingml/2006/main">
              <a:ext uri="{FF2B5EF4-FFF2-40B4-BE49-F238E27FC236}">
                <a16:creationId xmlns:a16="http://schemas.microsoft.com/office/drawing/2014/main" id="{EE346B47-A982-4B58-BD93-5D39B2AD7420}"/>
              </a:ext>
            </a:extLst>
          </p:cNvPr>
          <p:cNvSpPr>
            <a:spLocks xmlns:a="http://schemas.openxmlformats.org/drawingml/2006/main" noGrp="1"/>
          </p:cNvSpPr>
          <p:nvPr/>
        </p:nvSpPr>
        <p:spPr>
          <a:xfrm xmlns:a="http://schemas.openxmlformats.org/drawingml/2006/main">
            <a:off x="685800" y="17907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7324D"/>
                </a:solidFill>
                <a:latin typeface="Aptos"/>
                <a:ea typeface="Aptos"/>
                <a:cs typeface="Aptos"/>
              </a:defRPr>
            </a:pPr>
            <a:r>
              <a:rPr sz="1875" b="1">
                <a:solidFill>
                  <a:srgbClr val="17324D"/>
                </a:solidFill>
                <a:latin typeface="Aptos"/>
                <a:ea typeface="Aptos"/>
                <a:cs typeface="Aptos"/>
              </a:rPr>
              <a:t>When a task is unfamiliar</a:t>
            </a:r>
          </a:p>
        </p:txBody>
      </p:sp>
      <p:sp>
        <p:nvSpPr>
          <p:cNvPr id="7" name="">
            <a:extLst xmlns:a="http://schemas.openxmlformats.org/drawingml/2006/main">
              <a:ext uri="{FF2B5EF4-FFF2-40B4-BE49-F238E27FC236}">
                <a16:creationId xmlns:a16="http://schemas.microsoft.com/office/drawing/2014/main" id="{26302DAD-ADF3-4521-8E88-52EE93D0B859}"/>
              </a:ext>
            </a:extLst>
          </p:cNvPr>
          <p:cNvSpPr>
            <a:spLocks xmlns:a="http://schemas.openxmlformats.org/drawingml/2006/main" noGrp="1"/>
          </p:cNvSpPr>
          <p:nvPr/>
        </p:nvSpPr>
        <p:spPr>
          <a:xfrm xmlns:a="http://schemas.openxmlformats.org/drawingml/2006/main">
            <a:off x="685800" y="2571750"/>
            <a:ext cx="2095500" cy="628650"/>
          </a:xfrm>
          <a:prstGeom xmlns:a="http://schemas.openxmlformats.org/drawingml/2006/main" prst="roundRect">
            <a:avLst>
              <a:gd name="adj" fmla="val 12121"/>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2100" b="1">
                <a:solidFill>
                  <a:srgbClr val="FFFFFF"/>
                </a:solidFill>
                <a:latin typeface="Aptos"/>
                <a:ea typeface="Aptos"/>
                <a:cs typeface="Aptos"/>
              </a:defRPr>
            </a:pPr>
            <a:r>
              <a:rPr sz="2100" b="1">
                <a:solidFill>
                  <a:srgbClr val="FFFFFF"/>
                </a:solidFill>
                <a:latin typeface="Aptos"/>
                <a:ea typeface="Aptos"/>
                <a:cs typeface="Aptos"/>
              </a:rPr>
              <a:t>Read</a:t>
            </a:r>
          </a:p>
        </p:txBody>
      </p:sp>
      <p:sp>
        <p:nvSpPr>
          <p:cNvPr id="8" name="">
            <a:extLst xmlns:a="http://schemas.openxmlformats.org/drawingml/2006/main">
              <a:ext uri="{FF2B5EF4-FFF2-40B4-BE49-F238E27FC236}">
                <a16:creationId xmlns:a16="http://schemas.microsoft.com/office/drawing/2014/main" id="{94CA1357-B239-4729-88FB-3940A07D6E89}"/>
              </a:ext>
            </a:extLst>
          </p:cNvPr>
          <p:cNvSpPr>
            <a:spLocks xmlns:a="http://schemas.openxmlformats.org/drawingml/2006/main" noGrp="1"/>
          </p:cNvSpPr>
          <p:nvPr/>
        </p:nvSpPr>
        <p:spPr>
          <a:xfrm xmlns:a="http://schemas.openxmlformats.org/drawingml/2006/main">
            <a:off x="685800" y="3352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Find the current step</a:t>
            </a:r>
          </a:p>
        </p:txBody>
      </p:sp>
      <p:sp>
        <p:nvSpPr>
          <p:cNvPr id="9" name="">
            <a:extLst xmlns:a="http://schemas.openxmlformats.org/drawingml/2006/main">
              <a:ext uri="{FF2B5EF4-FFF2-40B4-BE49-F238E27FC236}">
                <a16:creationId xmlns:a16="http://schemas.microsoft.com/office/drawing/2014/main" id="{BD67BC53-D9D5-41AF-B448-34BBB24A14F4}"/>
              </a:ext>
            </a:extLst>
          </p:cNvPr>
          <p:cNvSpPr>
            <a:spLocks xmlns:a="http://schemas.openxmlformats.org/drawingml/2006/main" noGrp="1"/>
          </p:cNvSpPr>
          <p:nvPr/>
        </p:nvSpPr>
        <p:spPr>
          <a:xfrm xmlns:a="http://schemas.openxmlformats.org/drawingml/2006/main">
            <a:off x="2838450" y="2886075"/>
            <a:ext cx="4953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0" name="">
            <a:extLst xmlns:a="http://schemas.openxmlformats.org/drawingml/2006/main">
              <a:ext uri="{FF2B5EF4-FFF2-40B4-BE49-F238E27FC236}">
                <a16:creationId xmlns:a16="http://schemas.microsoft.com/office/drawing/2014/main" id="{E79C37A1-6477-498E-AC08-08841DC3F847}"/>
              </a:ext>
            </a:extLst>
          </p:cNvPr>
          <p:cNvSpPr>
            <a:spLocks xmlns:a="http://schemas.openxmlformats.org/drawingml/2006/main" noGrp="1"/>
          </p:cNvSpPr>
          <p:nvPr/>
        </p:nvSpPr>
        <p:spPr>
          <a:xfrm xmlns:a="http://schemas.openxmlformats.org/drawingml/2006/main">
            <a:off x="3448050" y="2571750"/>
            <a:ext cx="2095500" cy="628650"/>
          </a:xfrm>
          <a:prstGeom xmlns:a="http://schemas.openxmlformats.org/drawingml/2006/main" prst="roundRect">
            <a:avLst>
              <a:gd name="adj" fmla="val 12121"/>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2100" b="1">
                <a:solidFill>
                  <a:srgbClr val="FFFFFF"/>
                </a:solidFill>
                <a:latin typeface="Aptos"/>
                <a:ea typeface="Aptos"/>
                <a:cs typeface="Aptos"/>
              </a:defRPr>
            </a:pPr>
            <a:r>
              <a:rPr sz="2100" b="1">
                <a:solidFill>
                  <a:srgbClr val="FFFFFF"/>
                </a:solidFill>
                <a:latin typeface="Aptos"/>
                <a:ea typeface="Aptos"/>
                <a:cs typeface="Aptos"/>
              </a:rPr>
              <a:t>Try</a:t>
            </a:r>
          </a:p>
        </p:txBody>
      </p:sp>
      <p:sp>
        <p:nvSpPr>
          <p:cNvPr id="11" name="">
            <a:extLst xmlns:a="http://schemas.openxmlformats.org/drawingml/2006/main">
              <a:ext uri="{FF2B5EF4-FFF2-40B4-BE49-F238E27FC236}">
                <a16:creationId xmlns:a16="http://schemas.microsoft.com/office/drawing/2014/main" id="{AB974A9C-244B-4A68-B1F9-EBF0DEA006B1}"/>
              </a:ext>
            </a:extLst>
          </p:cNvPr>
          <p:cNvSpPr>
            <a:spLocks xmlns:a="http://schemas.openxmlformats.org/drawingml/2006/main" noGrp="1"/>
          </p:cNvSpPr>
          <p:nvPr/>
        </p:nvSpPr>
        <p:spPr>
          <a:xfrm xmlns:a="http://schemas.openxmlformats.org/drawingml/2006/main">
            <a:off x="3448050" y="3352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Attempt it once</a:t>
            </a:r>
          </a:p>
        </p:txBody>
      </p:sp>
      <p:sp>
        <p:nvSpPr>
          <p:cNvPr id="12" name="">
            <a:extLst xmlns:a="http://schemas.openxmlformats.org/drawingml/2006/main">
              <a:ext uri="{FF2B5EF4-FFF2-40B4-BE49-F238E27FC236}">
                <a16:creationId xmlns:a16="http://schemas.microsoft.com/office/drawing/2014/main" id="{A1CBA57A-2A73-4A26-B861-8B41FFC54378}"/>
              </a:ext>
            </a:extLst>
          </p:cNvPr>
          <p:cNvSpPr>
            <a:spLocks xmlns:a="http://schemas.openxmlformats.org/drawingml/2006/main" noGrp="1"/>
          </p:cNvSpPr>
          <p:nvPr/>
        </p:nvSpPr>
        <p:spPr>
          <a:xfrm xmlns:a="http://schemas.openxmlformats.org/drawingml/2006/main">
            <a:off x="5600700" y="2886075"/>
            <a:ext cx="4953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3" name="">
            <a:extLst xmlns:a="http://schemas.openxmlformats.org/drawingml/2006/main">
              <a:ext uri="{FF2B5EF4-FFF2-40B4-BE49-F238E27FC236}">
                <a16:creationId xmlns:a16="http://schemas.microsoft.com/office/drawing/2014/main" id="{98D33189-D4B2-4AB6-85BC-EC4EBE31428B}"/>
              </a:ext>
            </a:extLst>
          </p:cNvPr>
          <p:cNvSpPr>
            <a:spLocks xmlns:a="http://schemas.openxmlformats.org/drawingml/2006/main" noGrp="1"/>
          </p:cNvSpPr>
          <p:nvPr/>
        </p:nvSpPr>
        <p:spPr>
          <a:xfrm xmlns:a="http://schemas.openxmlformats.org/drawingml/2006/main">
            <a:off x="6210300" y="2571750"/>
            <a:ext cx="2095500" cy="628650"/>
          </a:xfrm>
          <a:prstGeom xmlns:a="http://schemas.openxmlformats.org/drawingml/2006/main" prst="roundRect">
            <a:avLst>
              <a:gd name="adj" fmla="val 12121"/>
            </a:avLst>
          </a:prstGeom>
          <a:solidFill xmlns:a="http://schemas.openxmlformats.org/drawingml/2006/main">
            <a:srgbClr val="E76F51"/>
          </a:solidFill>
          <a:ln xmlns:a="http://schemas.openxmlformats.org/drawingml/2006/main" w="14288">
            <a:solidFill>
              <a:srgbClr val="E76F51"/>
            </a:solidFill>
          </a:ln>
        </p:spPr>
        <p:txBody>
          <a:bodyPr xmlns:a="http://schemas.openxmlformats.org/drawingml/2006/main"/>
          <a:lstStyle xmlns:a="http://schemas.openxmlformats.org/drawingml/2006/main"/>
          <a:p xmlns:a="http://schemas.openxmlformats.org/drawingml/2006/main">
            <a:pPr>
              <a:defRPr sz="2100" b="1">
                <a:solidFill>
                  <a:srgbClr val="FFFFFF"/>
                </a:solidFill>
                <a:latin typeface="Aptos"/>
                <a:ea typeface="Aptos"/>
                <a:cs typeface="Aptos"/>
              </a:defRPr>
            </a:pPr>
            <a:r>
              <a:rPr sz="2100" b="1">
                <a:solidFill>
                  <a:srgbClr val="FFFFFF"/>
                </a:solidFill>
                <a:latin typeface="Aptos"/>
                <a:ea typeface="Aptos"/>
                <a:cs typeface="Aptos"/>
              </a:rPr>
              <a:t>Ask a peer</a:t>
            </a:r>
          </a:p>
        </p:txBody>
      </p:sp>
      <p:sp>
        <p:nvSpPr>
          <p:cNvPr id="14" name="">
            <a:extLst xmlns:a="http://schemas.openxmlformats.org/drawingml/2006/main">
              <a:ext uri="{FF2B5EF4-FFF2-40B4-BE49-F238E27FC236}">
                <a16:creationId xmlns:a16="http://schemas.microsoft.com/office/drawing/2014/main" id="{CE547F69-8C82-4C30-8985-1FCA5A75A87B}"/>
              </a:ext>
            </a:extLst>
          </p:cNvPr>
          <p:cNvSpPr>
            <a:spLocks xmlns:a="http://schemas.openxmlformats.org/drawingml/2006/main" noGrp="1"/>
          </p:cNvSpPr>
          <p:nvPr/>
        </p:nvSpPr>
        <p:spPr>
          <a:xfrm xmlns:a="http://schemas.openxmlformats.org/drawingml/2006/main">
            <a:off x="6210300" y="3352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Compare what you see</a:t>
            </a:r>
          </a:p>
        </p:txBody>
      </p:sp>
      <p:sp>
        <p:nvSpPr>
          <p:cNvPr id="15" name="">
            <a:extLst xmlns:a="http://schemas.openxmlformats.org/drawingml/2006/main">
              <a:ext uri="{FF2B5EF4-FFF2-40B4-BE49-F238E27FC236}">
                <a16:creationId xmlns:a16="http://schemas.microsoft.com/office/drawing/2014/main" id="{114998C6-D178-4FF7-B9F2-13E187CB2394}"/>
              </a:ext>
            </a:extLst>
          </p:cNvPr>
          <p:cNvSpPr>
            <a:spLocks xmlns:a="http://schemas.openxmlformats.org/drawingml/2006/main" noGrp="1"/>
          </p:cNvSpPr>
          <p:nvPr/>
        </p:nvSpPr>
        <p:spPr>
          <a:xfrm xmlns:a="http://schemas.openxmlformats.org/drawingml/2006/main">
            <a:off x="8362950" y="2886075"/>
            <a:ext cx="49530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6" name="">
            <a:extLst xmlns:a="http://schemas.openxmlformats.org/drawingml/2006/main">
              <a:ext uri="{FF2B5EF4-FFF2-40B4-BE49-F238E27FC236}">
                <a16:creationId xmlns:a16="http://schemas.microsoft.com/office/drawing/2014/main" id="{85286264-64FB-4882-8838-B63EBA1410F0}"/>
              </a:ext>
            </a:extLst>
          </p:cNvPr>
          <p:cNvSpPr>
            <a:spLocks xmlns:a="http://schemas.openxmlformats.org/drawingml/2006/main" noGrp="1"/>
          </p:cNvSpPr>
          <p:nvPr/>
        </p:nvSpPr>
        <p:spPr>
          <a:xfrm xmlns:a="http://schemas.openxmlformats.org/drawingml/2006/main">
            <a:off x="8972550" y="2571750"/>
            <a:ext cx="2095500" cy="628650"/>
          </a:xfrm>
          <a:prstGeom xmlns:a="http://schemas.openxmlformats.org/drawingml/2006/main" prst="roundRect">
            <a:avLst>
              <a:gd name="adj" fmla="val 12121"/>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2100" b="1">
                <a:solidFill>
                  <a:srgbClr val="FFFFFF"/>
                </a:solidFill>
                <a:latin typeface="Aptos"/>
                <a:ea typeface="Aptos"/>
                <a:cs typeface="Aptos"/>
              </a:defRPr>
            </a:pPr>
            <a:r>
              <a:rPr sz="2100" b="1">
                <a:solidFill>
                  <a:srgbClr val="FFFFFF"/>
                </a:solidFill>
                <a:latin typeface="Aptos"/>
                <a:ea typeface="Aptos"/>
                <a:cs typeface="Aptos"/>
              </a:rPr>
              <a:t>Check</a:t>
            </a:r>
          </a:p>
        </p:txBody>
      </p:sp>
      <p:sp>
        <p:nvSpPr>
          <p:cNvPr id="17" name="">
            <a:extLst xmlns:a="http://schemas.openxmlformats.org/drawingml/2006/main">
              <a:ext uri="{FF2B5EF4-FFF2-40B4-BE49-F238E27FC236}">
                <a16:creationId xmlns:a16="http://schemas.microsoft.com/office/drawing/2014/main" id="{08E3154B-10FA-4BEF-9E75-2535DFD924E3}"/>
              </a:ext>
            </a:extLst>
          </p:cNvPr>
          <p:cNvSpPr>
            <a:spLocks xmlns:a="http://schemas.openxmlformats.org/drawingml/2006/main" noGrp="1"/>
          </p:cNvSpPr>
          <p:nvPr/>
        </p:nvSpPr>
        <p:spPr>
          <a:xfrm xmlns:a="http://schemas.openxmlformats.org/drawingml/2006/main">
            <a:off x="8972550" y="3352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Ask the teacher or verify</a:t>
            </a:r>
          </a:p>
        </p:txBody>
      </p:sp>
      <p:sp>
        <p:nvSpPr>
          <p:cNvPr id="18" name="">
            <a:extLst xmlns:a="http://schemas.openxmlformats.org/drawingml/2006/main">
              <a:ext uri="{FF2B5EF4-FFF2-40B4-BE49-F238E27FC236}">
                <a16:creationId xmlns:a16="http://schemas.microsoft.com/office/drawing/2014/main" id="{9D16CE89-5E65-41E3-A4D4-F5733232E949}"/>
              </a:ext>
            </a:extLst>
          </p:cNvPr>
          <p:cNvSpPr>
            <a:spLocks xmlns:a="http://schemas.openxmlformats.org/drawingml/2006/main" noGrp="1"/>
          </p:cNvSpPr>
          <p:nvPr/>
        </p:nvSpPr>
        <p:spPr>
          <a:xfrm xmlns:a="http://schemas.openxmlformats.org/drawingml/2006/main">
            <a:off x="2781300" y="4648200"/>
            <a:ext cx="6629400" cy="952500"/>
          </a:xfrm>
          <a:prstGeom xmlns:a="http://schemas.openxmlformats.org/drawingml/2006/main" prst="roundRect">
            <a:avLst>
              <a:gd name="adj" fmla="val 8000"/>
            </a:avLst>
          </a:prstGeom>
          <a:solidFill xmlns:a="http://schemas.openxmlformats.org/drawingml/2006/main">
            <a:srgbClr val="DDEEF2"/>
          </a:solidFill>
          <a:ln xmlns:a="http://schemas.openxmlformats.org/drawingml/2006/main" w="14288">
            <a:solidFill>
              <a:srgbClr val="DDEEF2"/>
            </a:solidFill>
          </a:ln>
        </p:spPr>
        <p:txBody>
          <a:bodyPr xmlns:a="http://schemas.openxmlformats.org/drawingml/2006/main"/>
          <a:lstStyle xmlns:a="http://schemas.openxmlformats.org/drawingml/2006/main"/>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Team question</a:t>
            </a:r>
          </a:p>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Which step helps you keep moving when you get stuck?</a:t>
            </a:r>
          </a:p>
        </p:txBody>
      </p:sp>
    </p:spTree>
    <p:extLst>
      <p:ext uri="{BB962C8B-B14F-4D97-AF65-F5344CB8AC3E}">
        <p14:creationId xmlns:p14="http://schemas.microsoft.com/office/powerpoint/2010/main" val="2118976147"/>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4ECE7C-734F-4D98-AF09-9D0064DF664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3D7234-BC09-4F20-8983-A16D4E200C3F}"/>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E9D2C6F7-7AF5-498F-856A-D02D3CBD0BF5}"/>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0A247347-7F98-4637-80AB-619FE6A84E81}"/>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Team-building: one goal, four roles</a:t>
            </a:r>
          </a:p>
        </p:txBody>
      </p:sp>
      <p:sp>
        <p:nvSpPr>
          <p:cNvPr id="5" name="">
            <a:extLst xmlns:a="http://schemas.openxmlformats.org/drawingml/2006/main">
              <a:ext uri="{FF2B5EF4-FFF2-40B4-BE49-F238E27FC236}">
                <a16:creationId xmlns:a16="http://schemas.microsoft.com/office/drawing/2014/main" id="{8A193011-07B1-4E2C-83C5-04416616DBB1}"/>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A role can make participation clearer without assigning a label to anyone.</a:t>
            </a:r>
          </a:p>
        </p:txBody>
      </p:sp>
      <p:sp>
        <p:nvSpPr>
          <p:cNvPr id="6" name="">
            <a:extLst xmlns:a="http://schemas.openxmlformats.org/drawingml/2006/main">
              <a:ext uri="{FF2B5EF4-FFF2-40B4-BE49-F238E27FC236}">
                <a16:creationId xmlns:a16="http://schemas.microsoft.com/office/drawing/2014/main" id="{0888E126-C7C7-4265-AA0D-CBD6EBECE395}"/>
              </a:ext>
            </a:extLst>
          </p:cNvPr>
          <p:cNvSpPr>
            <a:spLocks xmlns:a="http://schemas.openxmlformats.org/drawingml/2006/main" noGrp="1"/>
          </p:cNvSpPr>
          <p:nvPr/>
        </p:nvSpPr>
        <p:spPr>
          <a:xfrm xmlns:a="http://schemas.openxmlformats.org/drawingml/2006/main">
            <a:off x="685800" y="1809750"/>
            <a:ext cx="44577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28575">
            <a:solidFill>
              <a:srgbClr val="E76F51"/>
            </a:solidFill>
          </a:ln>
        </p:spPr>
        <p:txBody>
          <a:bodyPr xmlns:a="http://schemas.openxmlformats.org/drawingml/2006/main"/>
          <a:lstStyle xmlns:a="http://schemas.openxmlformats.org/drawingml/2006/main"/>
          <a:p xmlns:a="http://schemas.openxmlformats.org/drawingml/2006/main">
            <a:pPr>
              <a:defRPr sz="2175" b="1">
                <a:solidFill>
                  <a:srgbClr val="17324D"/>
                </a:solidFill>
                <a:latin typeface="Aptos"/>
                <a:ea typeface="Aptos"/>
                <a:cs typeface="Aptos"/>
              </a:defRPr>
            </a:pPr>
            <a:r>
              <a:rPr sz="2175" b="1">
                <a:solidFill>
                  <a:srgbClr val="17324D"/>
                </a:solidFill>
                <a:latin typeface="Aptos"/>
                <a:ea typeface="Aptos"/>
                <a:cs typeface="Aptos"/>
              </a:rPr>
              <a:t>Challenge</a:t>
            </a:r>
          </a:p>
          <a:p xmlns:a="http://schemas.openxmlformats.org/drawingml/2006/main">
            <a:pPr>
              <a:defRPr sz="2175" b="1">
                <a:solidFill>
                  <a:srgbClr val="17324D"/>
                </a:solidFill>
                <a:latin typeface="Aptos"/>
                <a:ea typeface="Aptos"/>
                <a:cs typeface="Aptos"/>
              </a:defRPr>
            </a:pPr>
            <a:r>
              <a:rPr sz="2175" b="1">
                <a:solidFill>
                  <a:srgbClr val="17324D"/>
                </a:solidFill>
                <a:latin typeface="Aptos"/>
                <a:ea typeface="Aptos"/>
                <a:cs typeface="Aptos"/>
              </a:rPr>
              <a:t>A new student is unsure how to begin today’s work.</a:t>
            </a:r>
          </a:p>
          <a:p xmlns:a="http://schemas.openxmlformats.org/drawingml/2006/main">
            <a:pPr>
              <a:defRPr sz="2175" b="1">
                <a:solidFill>
                  <a:srgbClr val="17324D"/>
                </a:solidFill>
                <a:latin typeface="Aptos"/>
                <a:ea typeface="Aptos"/>
                <a:cs typeface="Aptos"/>
              </a:defRPr>
            </a:pPr>
            <a:r>
              <a:rPr sz="2175" b="1">
                <a:solidFill>
                  <a:srgbClr val="17324D"/>
                </a:solidFill>
                <a:latin typeface="Aptos"/>
                <a:ea typeface="Aptos"/>
                <a:cs typeface="Aptos"/>
              </a:rPr>
              <a:t>Agree on the best first step.</a:t>
            </a:r>
          </a:p>
        </p:txBody>
      </p:sp>
      <p:sp>
        <p:nvSpPr>
          <p:cNvPr id="7" name="">
            <a:extLst xmlns:a="http://schemas.openxmlformats.org/drawingml/2006/main">
              <a:ext uri="{FF2B5EF4-FFF2-40B4-BE49-F238E27FC236}">
                <a16:creationId xmlns:a16="http://schemas.microsoft.com/office/drawing/2014/main" id="{FE44A2EC-BDEA-492F-9FC1-E0FD4182B006}"/>
              </a:ext>
            </a:extLst>
          </p:cNvPr>
          <p:cNvSpPr>
            <a:spLocks xmlns:a="http://schemas.openxmlformats.org/drawingml/2006/main" noGrp="1"/>
          </p:cNvSpPr>
          <p:nvPr/>
        </p:nvSpPr>
        <p:spPr>
          <a:xfrm xmlns:a="http://schemas.openxmlformats.org/drawingml/2006/main">
            <a:off x="6343650" y="18097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7324D"/>
                </a:solidFill>
                <a:latin typeface="Aptos"/>
                <a:ea typeface="Aptos"/>
                <a:cs typeface="Aptos"/>
              </a:defRPr>
            </a:pPr>
            <a:r>
              <a:rPr sz="1875" b="1">
                <a:solidFill>
                  <a:srgbClr val="17324D"/>
                </a:solidFill>
                <a:latin typeface="Aptos"/>
                <a:ea typeface="Aptos"/>
                <a:cs typeface="Aptos"/>
              </a:rPr>
              <a:t>Choose or share a role</a:t>
            </a:r>
          </a:p>
        </p:txBody>
      </p:sp>
      <p:sp>
        <p:nvSpPr>
          <p:cNvPr id="8" name="">
            <a:extLst xmlns:a="http://schemas.openxmlformats.org/drawingml/2006/main">
              <a:ext uri="{FF2B5EF4-FFF2-40B4-BE49-F238E27FC236}">
                <a16:creationId xmlns:a16="http://schemas.microsoft.com/office/drawing/2014/main" id="{33C07CE7-B888-4696-8624-8539ACECF61B}"/>
              </a:ext>
            </a:extLst>
          </p:cNvPr>
          <p:cNvSpPr>
            <a:spLocks xmlns:a="http://schemas.openxmlformats.org/drawingml/2006/main" noGrp="1"/>
          </p:cNvSpPr>
          <p:nvPr/>
        </p:nvSpPr>
        <p:spPr>
          <a:xfrm xmlns:a="http://schemas.openxmlformats.org/drawingml/2006/main">
            <a:off x="6343650" y="2381250"/>
            <a:ext cx="2076450" cy="457200"/>
          </a:xfrm>
          <a:prstGeom xmlns:a="http://schemas.openxmlformats.org/drawingml/2006/main" prst="roundRect">
            <a:avLst>
              <a:gd name="adj" fmla="val 16667"/>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Reader</a:t>
            </a:r>
          </a:p>
        </p:txBody>
      </p:sp>
      <p:sp>
        <p:nvSpPr>
          <p:cNvPr id="9" name="">
            <a:extLst xmlns:a="http://schemas.openxmlformats.org/drawingml/2006/main">
              <a:ext uri="{FF2B5EF4-FFF2-40B4-BE49-F238E27FC236}">
                <a16:creationId xmlns:a16="http://schemas.microsoft.com/office/drawing/2014/main" id="{C33A8010-394C-46DF-8D84-7C7987CF86F6}"/>
              </a:ext>
            </a:extLst>
          </p:cNvPr>
          <p:cNvSpPr>
            <a:spLocks xmlns:a="http://schemas.openxmlformats.org/drawingml/2006/main" noGrp="1"/>
          </p:cNvSpPr>
          <p:nvPr/>
        </p:nvSpPr>
        <p:spPr>
          <a:xfrm xmlns:a="http://schemas.openxmlformats.org/drawingml/2006/main">
            <a:off x="6343650" y="2933700"/>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keeps the prompt visible</a:t>
            </a:r>
          </a:p>
        </p:txBody>
      </p:sp>
      <p:sp>
        <p:nvSpPr>
          <p:cNvPr id="10" name="">
            <a:extLst xmlns:a="http://schemas.openxmlformats.org/drawingml/2006/main">
              <a:ext uri="{FF2B5EF4-FFF2-40B4-BE49-F238E27FC236}">
                <a16:creationId xmlns:a16="http://schemas.microsoft.com/office/drawing/2014/main" id="{1687912E-5300-4A6F-97DD-DE357CB0FADE}"/>
              </a:ext>
            </a:extLst>
          </p:cNvPr>
          <p:cNvSpPr>
            <a:spLocks xmlns:a="http://schemas.openxmlformats.org/drawingml/2006/main" noGrp="1"/>
          </p:cNvSpPr>
          <p:nvPr/>
        </p:nvSpPr>
        <p:spPr>
          <a:xfrm xmlns:a="http://schemas.openxmlformats.org/drawingml/2006/main">
            <a:off x="8724900" y="2381250"/>
            <a:ext cx="2076450" cy="457200"/>
          </a:xfrm>
          <a:prstGeom xmlns:a="http://schemas.openxmlformats.org/drawingml/2006/main" prst="roundRect">
            <a:avLst>
              <a:gd name="adj" fmla="val 16667"/>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Recorder</a:t>
            </a:r>
          </a:p>
        </p:txBody>
      </p:sp>
      <p:sp>
        <p:nvSpPr>
          <p:cNvPr id="11" name="">
            <a:extLst xmlns:a="http://schemas.openxmlformats.org/drawingml/2006/main">
              <a:ext uri="{FF2B5EF4-FFF2-40B4-BE49-F238E27FC236}">
                <a16:creationId xmlns:a16="http://schemas.microsoft.com/office/drawing/2014/main" id="{9C675EA3-CCB6-4C1C-B048-4DDEC4C6C208}"/>
              </a:ext>
            </a:extLst>
          </p:cNvPr>
          <p:cNvSpPr>
            <a:spLocks xmlns:a="http://schemas.openxmlformats.org/drawingml/2006/main" noGrp="1"/>
          </p:cNvSpPr>
          <p:nvPr/>
        </p:nvSpPr>
        <p:spPr>
          <a:xfrm xmlns:a="http://schemas.openxmlformats.org/drawingml/2006/main">
            <a:off x="8724900" y="2933700"/>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captures the team idea</a:t>
            </a:r>
          </a:p>
        </p:txBody>
      </p:sp>
      <p:sp>
        <p:nvSpPr>
          <p:cNvPr id="12" name="">
            <a:extLst xmlns:a="http://schemas.openxmlformats.org/drawingml/2006/main">
              <a:ext uri="{FF2B5EF4-FFF2-40B4-BE49-F238E27FC236}">
                <a16:creationId xmlns:a16="http://schemas.microsoft.com/office/drawing/2014/main" id="{50DB4CCE-1F55-477F-A8D7-5F7C0EAA3BF1}"/>
              </a:ext>
            </a:extLst>
          </p:cNvPr>
          <p:cNvSpPr>
            <a:spLocks xmlns:a="http://schemas.openxmlformats.org/drawingml/2006/main" noGrp="1"/>
          </p:cNvSpPr>
          <p:nvPr/>
        </p:nvSpPr>
        <p:spPr>
          <a:xfrm xmlns:a="http://schemas.openxmlformats.org/drawingml/2006/main">
            <a:off x="6343650" y="3505200"/>
            <a:ext cx="2076450" cy="457200"/>
          </a:xfrm>
          <a:prstGeom xmlns:a="http://schemas.openxmlformats.org/drawingml/2006/main" prst="roundRect">
            <a:avLst>
              <a:gd name="adj" fmla="val 16667"/>
            </a:avLst>
          </a:prstGeom>
          <a:solidFill xmlns:a="http://schemas.openxmlformats.org/drawingml/2006/main">
            <a:srgbClr val="E76F51"/>
          </a:solidFill>
          <a:ln xmlns:a="http://schemas.openxmlformats.org/drawingml/2006/main" w="14288">
            <a:solidFill>
              <a:srgbClr val="E76F51"/>
            </a:solidFill>
          </a:ln>
        </p:spPr>
        <p:txBody>
          <a:bodyPr xmlns:a="http://schemas.openxmlformats.org/drawingml/2006/main"/>
          <a:lstStyle xmlns:a="http://schemas.openxmlformats.org/drawingml/2006/main"/>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Timekeeper</a:t>
            </a:r>
          </a:p>
        </p:txBody>
      </p:sp>
      <p:sp>
        <p:nvSpPr>
          <p:cNvPr id="13" name="">
            <a:extLst xmlns:a="http://schemas.openxmlformats.org/drawingml/2006/main">
              <a:ext uri="{FF2B5EF4-FFF2-40B4-BE49-F238E27FC236}">
                <a16:creationId xmlns:a16="http://schemas.microsoft.com/office/drawing/2014/main" id="{72CB2F58-B518-404C-BDE4-72242BA36E8A}"/>
              </a:ext>
            </a:extLst>
          </p:cNvPr>
          <p:cNvSpPr>
            <a:spLocks xmlns:a="http://schemas.openxmlformats.org/drawingml/2006/main" noGrp="1"/>
          </p:cNvSpPr>
          <p:nvPr/>
        </p:nvSpPr>
        <p:spPr>
          <a:xfrm xmlns:a="http://schemas.openxmlformats.org/drawingml/2006/main">
            <a:off x="6343650" y="4057650"/>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gives a one-minute warning</a:t>
            </a:r>
          </a:p>
        </p:txBody>
      </p:sp>
      <p:sp>
        <p:nvSpPr>
          <p:cNvPr id="14" name="">
            <a:extLst xmlns:a="http://schemas.openxmlformats.org/drawingml/2006/main">
              <a:ext uri="{FF2B5EF4-FFF2-40B4-BE49-F238E27FC236}">
                <a16:creationId xmlns:a16="http://schemas.microsoft.com/office/drawing/2014/main" id="{3081E3FC-52DE-4942-AAA3-AC1EC6E4A251}"/>
              </a:ext>
            </a:extLst>
          </p:cNvPr>
          <p:cNvSpPr>
            <a:spLocks xmlns:a="http://schemas.openxmlformats.org/drawingml/2006/main" noGrp="1"/>
          </p:cNvSpPr>
          <p:nvPr/>
        </p:nvSpPr>
        <p:spPr>
          <a:xfrm xmlns:a="http://schemas.openxmlformats.org/drawingml/2006/main">
            <a:off x="8724900" y="3505200"/>
            <a:ext cx="2076450" cy="457200"/>
          </a:xfrm>
          <a:prstGeom xmlns:a="http://schemas.openxmlformats.org/drawingml/2006/main" prst="roundRect">
            <a:avLst>
              <a:gd name="adj" fmla="val 16667"/>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Reporter</a:t>
            </a:r>
          </a:p>
        </p:txBody>
      </p:sp>
      <p:sp>
        <p:nvSpPr>
          <p:cNvPr id="15" name="">
            <a:extLst xmlns:a="http://schemas.openxmlformats.org/drawingml/2006/main">
              <a:ext uri="{FF2B5EF4-FFF2-40B4-BE49-F238E27FC236}">
                <a16:creationId xmlns:a16="http://schemas.microsoft.com/office/drawing/2014/main" id="{81004785-1144-4E35-9759-AB73BB94109C}"/>
              </a:ext>
            </a:extLst>
          </p:cNvPr>
          <p:cNvSpPr>
            <a:spLocks xmlns:a="http://schemas.openxmlformats.org/drawingml/2006/main" noGrp="1"/>
          </p:cNvSpPr>
          <p:nvPr/>
        </p:nvSpPr>
        <p:spPr>
          <a:xfrm xmlns:a="http://schemas.openxmlformats.org/drawingml/2006/main">
            <a:off x="8724900" y="4057650"/>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243746"/>
                </a:solidFill>
                <a:latin typeface="Aptos"/>
                <a:ea typeface="Aptos"/>
                <a:cs typeface="Aptos"/>
              </a:defRPr>
            </a:pPr>
            <a:r>
              <a:rPr sz="1350" b="0">
                <a:solidFill>
                  <a:srgbClr val="243746"/>
                </a:solidFill>
                <a:latin typeface="Aptos"/>
                <a:ea typeface="Aptos"/>
                <a:cs typeface="Aptos"/>
              </a:rPr>
              <a:t>shares one sentence</a:t>
            </a:r>
          </a:p>
        </p:txBody>
      </p:sp>
      <p:sp>
        <p:nvSpPr>
          <p:cNvPr id="16" name="">
            <a:extLst xmlns:a="http://schemas.openxmlformats.org/drawingml/2006/main">
              <a:ext uri="{FF2B5EF4-FFF2-40B4-BE49-F238E27FC236}">
                <a16:creationId xmlns:a16="http://schemas.microsoft.com/office/drawing/2014/main" id="{19648704-7599-4B80-B2B1-B3352E0689F3}"/>
              </a:ext>
            </a:extLst>
          </p:cNvPr>
          <p:cNvSpPr>
            <a:spLocks xmlns:a="http://schemas.openxmlformats.org/drawingml/2006/main" noGrp="1"/>
          </p:cNvSpPr>
          <p:nvPr/>
        </p:nvSpPr>
        <p:spPr>
          <a:xfrm xmlns:a="http://schemas.openxmlformats.org/drawingml/2006/main">
            <a:off x="685800" y="485775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5 minutes, then one team answer, then one behavior that helped</a:t>
            </a:r>
          </a:p>
        </p:txBody>
      </p:sp>
      <p:sp>
        <p:nvSpPr>
          <p:cNvPr id="17" name="">
            <a:extLst xmlns:a="http://schemas.openxmlformats.org/drawingml/2006/main">
              <a:ext uri="{FF2B5EF4-FFF2-40B4-BE49-F238E27FC236}">
                <a16:creationId xmlns:a16="http://schemas.microsoft.com/office/drawing/2014/main" id="{FD27F515-B38E-44AD-93F0-4DA8DBB48FC9}"/>
              </a:ext>
            </a:extLst>
          </p:cNvPr>
          <p:cNvSpPr>
            <a:spLocks xmlns:a="http://schemas.openxmlformats.org/drawingml/2006/main" noGrp="1"/>
          </p:cNvSpPr>
          <p:nvPr/>
        </p:nvSpPr>
        <p:spPr>
          <a:xfrm xmlns:a="http://schemas.openxmlformats.org/drawingml/2006/main">
            <a:off x="685800" y="54292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243746"/>
                </a:solidFill>
                <a:latin typeface="Aptos"/>
                <a:ea typeface="Aptos"/>
                <a:cs typeface="Aptos"/>
              </a:defRPr>
            </a:pPr>
            <a:r>
              <a:rPr sz="1650" b="0">
                <a:solidFill>
                  <a:srgbClr val="243746"/>
                </a:solidFill>
                <a:latin typeface="Aptos"/>
                <a:ea typeface="Aptos"/>
                <a:cs typeface="Aptos"/>
              </a:rPr>
              <a:t>You can contribute by writing, pointing, talking, or helping the team listen.</a:t>
            </a:r>
          </a:p>
        </p:txBody>
      </p:sp>
    </p:spTree>
    <p:extLst>
      <p:ext uri="{BB962C8B-B14F-4D97-AF65-F5344CB8AC3E}">
        <p14:creationId xmlns:p14="http://schemas.microsoft.com/office/powerpoint/2010/main" val="1223065780"/>
      </p:ext>
    </p:extLst>
  </p:cSld>
</p:sld>
</file>

<file path=ppt/slides/slide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A973DFF-F5C7-4DC8-9A31-18F08007D93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61EA9B-613E-45D1-BB5D-66ED247E61E3}"/>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471810B5-2C76-4CD9-838A-732BEF952B94}"/>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A83DEA0E-2178-4876-B9EC-E8ABF69FB0E4}"/>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The CS connection</a:t>
            </a:r>
          </a:p>
        </p:txBody>
      </p:sp>
      <p:sp>
        <p:nvSpPr>
          <p:cNvPr id="5" name="">
            <a:extLst xmlns:a="http://schemas.openxmlformats.org/drawingml/2006/main">
              <a:ext uri="{FF2B5EF4-FFF2-40B4-BE49-F238E27FC236}">
                <a16:creationId xmlns:a16="http://schemas.microsoft.com/office/drawing/2014/main" id="{0C0E0DAF-E4EA-476C-BE6E-2398F519F702}"/>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We can use computer-science habits to make business work easier to understand.</a:t>
            </a:r>
          </a:p>
        </p:txBody>
      </p:sp>
      <p:sp>
        <p:nvSpPr>
          <p:cNvPr id="6" name="">
            <a:extLst xmlns:a="http://schemas.openxmlformats.org/drawingml/2006/main">
              <a:ext uri="{FF2B5EF4-FFF2-40B4-BE49-F238E27FC236}">
                <a16:creationId xmlns:a16="http://schemas.microsoft.com/office/drawing/2014/main" id="{49F44D5E-0A25-464E-9851-9A94D61492A4}"/>
              </a:ext>
            </a:extLst>
          </p:cNvPr>
          <p:cNvSpPr>
            <a:spLocks xmlns:a="http://schemas.openxmlformats.org/drawingml/2006/main" noGrp="1"/>
          </p:cNvSpPr>
          <p:nvPr/>
        </p:nvSpPr>
        <p:spPr>
          <a:xfrm xmlns:a="http://schemas.openxmlformats.org/drawingml/2006/main">
            <a:off x="800100" y="1952625"/>
            <a:ext cx="533400" cy="533400"/>
          </a:xfrm>
          <a:prstGeom xmlns:a="http://schemas.openxmlformats.org/drawingml/2006/main" prst="roundRect">
            <a:avLst>
              <a:gd name="adj" fmla="val 1428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4EADC334-6B5A-4B8E-BC8D-87BF5DDE4BF3}"/>
              </a:ext>
            </a:extLst>
          </p:cNvPr>
          <p:cNvSpPr>
            <a:spLocks xmlns:a="http://schemas.openxmlformats.org/drawingml/2006/main" noGrp="1"/>
          </p:cNvSpPr>
          <p:nvPr/>
        </p:nvSpPr>
        <p:spPr>
          <a:xfrm xmlns:a="http://schemas.openxmlformats.org/drawingml/2006/main">
            <a:off x="800100" y="27813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Define</a:t>
            </a:r>
          </a:p>
        </p:txBody>
      </p:sp>
      <p:sp>
        <p:nvSpPr>
          <p:cNvPr id="8" name="">
            <a:extLst xmlns:a="http://schemas.openxmlformats.org/drawingml/2006/main">
              <a:ext uri="{FF2B5EF4-FFF2-40B4-BE49-F238E27FC236}">
                <a16:creationId xmlns:a16="http://schemas.microsoft.com/office/drawing/2014/main" id="{1CE4E790-5BF2-4D38-91D1-D11036141255}"/>
              </a:ext>
            </a:extLst>
          </p:cNvPr>
          <p:cNvSpPr>
            <a:spLocks xmlns:a="http://schemas.openxmlformats.org/drawingml/2006/main" noGrp="1"/>
          </p:cNvSpPr>
          <p:nvPr/>
        </p:nvSpPr>
        <p:spPr>
          <a:xfrm xmlns:a="http://schemas.openxmlformats.org/drawingml/2006/main">
            <a:off x="800100" y="3238500"/>
            <a:ext cx="219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What is the task asking?</a:t>
            </a:r>
          </a:p>
        </p:txBody>
      </p:sp>
      <p:sp>
        <p:nvSpPr>
          <p:cNvPr id="9" name="">
            <a:extLst xmlns:a="http://schemas.openxmlformats.org/drawingml/2006/main">
              <a:ext uri="{FF2B5EF4-FFF2-40B4-BE49-F238E27FC236}">
                <a16:creationId xmlns:a16="http://schemas.microsoft.com/office/drawing/2014/main" id="{3FF22AAF-7CBF-4EAD-B428-772DD814613B}"/>
              </a:ext>
            </a:extLst>
          </p:cNvPr>
          <p:cNvSpPr>
            <a:spLocks xmlns:a="http://schemas.openxmlformats.org/drawingml/2006/main" noGrp="1"/>
          </p:cNvSpPr>
          <p:nvPr/>
        </p:nvSpPr>
        <p:spPr>
          <a:xfrm xmlns:a="http://schemas.openxmlformats.org/drawingml/2006/main">
            <a:off x="1390650" y="2219325"/>
            <a:ext cx="203835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0" name="">
            <a:extLst xmlns:a="http://schemas.openxmlformats.org/drawingml/2006/main">
              <a:ext uri="{FF2B5EF4-FFF2-40B4-BE49-F238E27FC236}">
                <a16:creationId xmlns:a16="http://schemas.microsoft.com/office/drawing/2014/main" id="{47D2A602-7860-4A2D-AD3B-2E7255E33B7A}"/>
              </a:ext>
            </a:extLst>
          </p:cNvPr>
          <p:cNvSpPr>
            <a:spLocks xmlns:a="http://schemas.openxmlformats.org/drawingml/2006/main" noGrp="1"/>
          </p:cNvSpPr>
          <p:nvPr/>
        </p:nvSpPr>
        <p:spPr>
          <a:xfrm xmlns:a="http://schemas.openxmlformats.org/drawingml/2006/main">
            <a:off x="3524250" y="1952625"/>
            <a:ext cx="533400" cy="533400"/>
          </a:xfrm>
          <a:prstGeom xmlns:a="http://schemas.openxmlformats.org/drawingml/2006/main" prst="roundRect">
            <a:avLst>
              <a:gd name="adj" fmla="val 14286"/>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16B7A73A-139C-49F8-A9A8-F182FBBB1ADE}"/>
              </a:ext>
            </a:extLst>
          </p:cNvPr>
          <p:cNvSpPr>
            <a:spLocks xmlns:a="http://schemas.openxmlformats.org/drawingml/2006/main" noGrp="1"/>
          </p:cNvSpPr>
          <p:nvPr/>
        </p:nvSpPr>
        <p:spPr>
          <a:xfrm xmlns:a="http://schemas.openxmlformats.org/drawingml/2006/main">
            <a:off x="3524250" y="27813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Break it down</a:t>
            </a:r>
          </a:p>
        </p:txBody>
      </p:sp>
      <p:sp>
        <p:nvSpPr>
          <p:cNvPr id="12" name="">
            <a:extLst xmlns:a="http://schemas.openxmlformats.org/drawingml/2006/main">
              <a:ext uri="{FF2B5EF4-FFF2-40B4-BE49-F238E27FC236}">
                <a16:creationId xmlns:a16="http://schemas.microsoft.com/office/drawing/2014/main" id="{834A9E83-8438-4F38-B83A-097CCF0A7B78}"/>
              </a:ext>
            </a:extLst>
          </p:cNvPr>
          <p:cNvSpPr>
            <a:spLocks xmlns:a="http://schemas.openxmlformats.org/drawingml/2006/main" noGrp="1"/>
          </p:cNvSpPr>
          <p:nvPr/>
        </p:nvSpPr>
        <p:spPr>
          <a:xfrm xmlns:a="http://schemas.openxmlformats.org/drawingml/2006/main">
            <a:off x="3524250" y="3238500"/>
            <a:ext cx="219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What is the next small step?</a:t>
            </a:r>
          </a:p>
        </p:txBody>
      </p:sp>
      <p:sp>
        <p:nvSpPr>
          <p:cNvPr id="13" name="">
            <a:extLst xmlns:a="http://schemas.openxmlformats.org/drawingml/2006/main">
              <a:ext uri="{FF2B5EF4-FFF2-40B4-BE49-F238E27FC236}">
                <a16:creationId xmlns:a16="http://schemas.microsoft.com/office/drawing/2014/main" id="{EBB0B85F-F17C-4E08-BA70-C51B7780DE65}"/>
              </a:ext>
            </a:extLst>
          </p:cNvPr>
          <p:cNvSpPr>
            <a:spLocks xmlns:a="http://schemas.openxmlformats.org/drawingml/2006/main" noGrp="1"/>
          </p:cNvSpPr>
          <p:nvPr/>
        </p:nvSpPr>
        <p:spPr>
          <a:xfrm xmlns:a="http://schemas.openxmlformats.org/drawingml/2006/main">
            <a:off x="4114800" y="2219325"/>
            <a:ext cx="203835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4" name="">
            <a:extLst xmlns:a="http://schemas.openxmlformats.org/drawingml/2006/main">
              <a:ext uri="{FF2B5EF4-FFF2-40B4-BE49-F238E27FC236}">
                <a16:creationId xmlns:a16="http://schemas.microsoft.com/office/drawing/2014/main" id="{8660826B-7255-4F1D-B39F-71547F3BF370}"/>
              </a:ext>
            </a:extLst>
          </p:cNvPr>
          <p:cNvSpPr>
            <a:spLocks xmlns:a="http://schemas.openxmlformats.org/drawingml/2006/main" noGrp="1"/>
          </p:cNvSpPr>
          <p:nvPr/>
        </p:nvSpPr>
        <p:spPr>
          <a:xfrm xmlns:a="http://schemas.openxmlformats.org/drawingml/2006/main">
            <a:off x="6248400" y="1952625"/>
            <a:ext cx="533400" cy="533400"/>
          </a:xfrm>
          <a:prstGeom xmlns:a="http://schemas.openxmlformats.org/drawingml/2006/main" prst="roundRect">
            <a:avLst>
              <a:gd name="adj" fmla="val 14286"/>
            </a:avLst>
          </a:prstGeom>
          <a:solidFill xmlns:a="http://schemas.openxmlformats.org/drawingml/2006/main">
            <a:srgbClr val="E76F51"/>
          </a:solidFill>
          <a:ln xmlns:a="http://schemas.openxmlformats.org/drawingml/2006/main" w="14288">
            <a:solidFill>
              <a:srgbClr val="E76F51"/>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1A2A2906-BEBC-44B4-AC8B-CBB234DE7F27}"/>
              </a:ext>
            </a:extLst>
          </p:cNvPr>
          <p:cNvSpPr>
            <a:spLocks xmlns:a="http://schemas.openxmlformats.org/drawingml/2006/main" noGrp="1"/>
          </p:cNvSpPr>
          <p:nvPr/>
        </p:nvSpPr>
        <p:spPr>
          <a:xfrm xmlns:a="http://schemas.openxmlformats.org/drawingml/2006/main">
            <a:off x="6248400" y="27813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Test</a:t>
            </a:r>
          </a:p>
        </p:txBody>
      </p:sp>
      <p:sp>
        <p:nvSpPr>
          <p:cNvPr id="16" name="">
            <a:extLst xmlns:a="http://schemas.openxmlformats.org/drawingml/2006/main">
              <a:ext uri="{FF2B5EF4-FFF2-40B4-BE49-F238E27FC236}">
                <a16:creationId xmlns:a16="http://schemas.microsoft.com/office/drawing/2014/main" id="{3660B1B1-398F-4040-ACE8-CE11E31BA1B0}"/>
              </a:ext>
            </a:extLst>
          </p:cNvPr>
          <p:cNvSpPr>
            <a:spLocks xmlns:a="http://schemas.openxmlformats.org/drawingml/2006/main" noGrp="1"/>
          </p:cNvSpPr>
          <p:nvPr/>
        </p:nvSpPr>
        <p:spPr>
          <a:xfrm xmlns:a="http://schemas.openxmlformats.org/drawingml/2006/main">
            <a:off x="6248400" y="3238500"/>
            <a:ext cx="219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Did this step work?</a:t>
            </a:r>
          </a:p>
        </p:txBody>
      </p:sp>
      <p:sp>
        <p:nvSpPr>
          <p:cNvPr id="17" name="">
            <a:extLst xmlns:a="http://schemas.openxmlformats.org/drawingml/2006/main">
              <a:ext uri="{FF2B5EF4-FFF2-40B4-BE49-F238E27FC236}">
                <a16:creationId xmlns:a16="http://schemas.microsoft.com/office/drawing/2014/main" id="{FA2F6266-9A95-429E-A551-9F5CF7452FBF}"/>
              </a:ext>
            </a:extLst>
          </p:cNvPr>
          <p:cNvSpPr>
            <a:spLocks xmlns:a="http://schemas.openxmlformats.org/drawingml/2006/main" noGrp="1"/>
          </p:cNvSpPr>
          <p:nvPr/>
        </p:nvSpPr>
        <p:spPr>
          <a:xfrm xmlns:a="http://schemas.openxmlformats.org/drawingml/2006/main">
            <a:off x="6838950" y="2219325"/>
            <a:ext cx="2038350" cy="0"/>
          </a:xfrm>
          <a:prstGeom xmlns:a="http://schemas.openxmlformats.org/drawingml/2006/main" prst="line">
            <a:avLst/>
          </a:prstGeom>
          <a:noFill xmlns:a="http://schemas.openxmlformats.org/drawingml/2006/main"/>
          <a:ln xmlns:a="http://schemas.openxmlformats.org/drawingml/2006/main" w="28575">
            <a:solidFill>
              <a:srgbClr val="C7D5DA"/>
            </a:solidFill>
          </a:ln>
        </p:spPr>
      </p:sp>
      <p:sp>
        <p:nvSpPr>
          <p:cNvPr id="18" name="">
            <a:extLst xmlns:a="http://schemas.openxmlformats.org/drawingml/2006/main">
              <a:ext uri="{FF2B5EF4-FFF2-40B4-BE49-F238E27FC236}">
                <a16:creationId xmlns:a16="http://schemas.microsoft.com/office/drawing/2014/main" id="{9523CE84-DFCA-4D3F-8A3A-1A9605771DC4}"/>
              </a:ext>
            </a:extLst>
          </p:cNvPr>
          <p:cNvSpPr>
            <a:spLocks xmlns:a="http://schemas.openxmlformats.org/drawingml/2006/main" noGrp="1"/>
          </p:cNvSpPr>
          <p:nvPr/>
        </p:nvSpPr>
        <p:spPr>
          <a:xfrm xmlns:a="http://schemas.openxmlformats.org/drawingml/2006/main">
            <a:off x="8972550" y="1952625"/>
            <a:ext cx="533400" cy="533400"/>
          </a:xfrm>
          <a:prstGeom xmlns:a="http://schemas.openxmlformats.org/drawingml/2006/main" prst="roundRect">
            <a:avLst>
              <a:gd name="adj" fmla="val 1428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1950" b="1">
                <a:solidFill>
                  <a:srgbClr val="FFFFFF"/>
                </a:solidFill>
                <a:latin typeface="Aptos"/>
                <a:ea typeface="Aptos"/>
                <a:cs typeface="Aptos"/>
              </a:defRPr>
            </a:pPr>
            <a:r>
              <a:rPr sz="1950"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E526847F-EA97-4FBD-8214-0122E4349334}"/>
              </a:ext>
            </a:extLst>
          </p:cNvPr>
          <p:cNvSpPr>
            <a:spLocks xmlns:a="http://schemas.openxmlformats.org/drawingml/2006/main" noGrp="1"/>
          </p:cNvSpPr>
          <p:nvPr/>
        </p:nvSpPr>
        <p:spPr>
          <a:xfrm xmlns:a="http://schemas.openxmlformats.org/drawingml/2006/main">
            <a:off x="8972550" y="27813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Improve</a:t>
            </a:r>
          </a:p>
        </p:txBody>
      </p:sp>
      <p:sp>
        <p:nvSpPr>
          <p:cNvPr id="20" name="">
            <a:extLst xmlns:a="http://schemas.openxmlformats.org/drawingml/2006/main">
              <a:ext uri="{FF2B5EF4-FFF2-40B4-BE49-F238E27FC236}">
                <a16:creationId xmlns:a16="http://schemas.microsoft.com/office/drawing/2014/main" id="{177E733F-EFED-475E-BEC4-534D769481C4}"/>
              </a:ext>
            </a:extLst>
          </p:cNvPr>
          <p:cNvSpPr>
            <a:spLocks xmlns:a="http://schemas.openxmlformats.org/drawingml/2006/main" noGrp="1"/>
          </p:cNvSpPr>
          <p:nvPr/>
        </p:nvSpPr>
        <p:spPr>
          <a:xfrm xmlns:a="http://schemas.openxmlformats.org/drawingml/2006/main">
            <a:off x="8972550" y="3238500"/>
            <a:ext cx="219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243746"/>
                </a:solidFill>
                <a:latin typeface="Aptos"/>
                <a:ea typeface="Aptos"/>
                <a:cs typeface="Aptos"/>
              </a:defRPr>
            </a:pPr>
            <a:r>
              <a:rPr sz="1500" b="0">
                <a:solidFill>
                  <a:srgbClr val="243746"/>
                </a:solidFill>
                <a:latin typeface="Aptos"/>
                <a:ea typeface="Aptos"/>
                <a:cs typeface="Aptos"/>
              </a:rPr>
              <a:t>What should change?</a:t>
            </a:r>
          </a:p>
        </p:txBody>
      </p:sp>
      <p:sp>
        <p:nvSpPr>
          <p:cNvPr id="21" name="">
            <a:extLst xmlns:a="http://schemas.openxmlformats.org/drawingml/2006/main">
              <a:ext uri="{FF2B5EF4-FFF2-40B4-BE49-F238E27FC236}">
                <a16:creationId xmlns:a16="http://schemas.microsoft.com/office/drawing/2014/main" id="{A9CB8938-D1B3-49BA-A7CC-158C8A6F9D5A}"/>
              </a:ext>
            </a:extLst>
          </p:cNvPr>
          <p:cNvSpPr>
            <a:spLocks xmlns:a="http://schemas.openxmlformats.org/drawingml/2006/main" noGrp="1"/>
          </p:cNvSpPr>
          <p:nvPr/>
        </p:nvSpPr>
        <p:spPr>
          <a:xfrm xmlns:a="http://schemas.openxmlformats.org/drawingml/2006/main">
            <a:off x="1371600" y="4667250"/>
            <a:ext cx="9429750" cy="990600"/>
          </a:xfrm>
          <a:prstGeom xmlns:a="http://schemas.openxmlformats.org/drawingml/2006/main" prst="roundRect">
            <a:avLst>
              <a:gd name="adj" fmla="val 7692"/>
            </a:avLst>
          </a:prstGeom>
          <a:solidFill xmlns:a="http://schemas.openxmlformats.org/drawingml/2006/main">
            <a:srgbClr val="E6F3EF"/>
          </a:solidFill>
          <a:ln xmlns:a="http://schemas.openxmlformats.org/drawingml/2006/main" w="14288">
            <a:solidFill>
              <a:srgbClr val="E6F3EF"/>
            </a:solidFill>
          </a:ln>
        </p:spPr>
        <p:txBody>
          <a:bodyPr xmlns:a="http://schemas.openxmlformats.org/drawingml/2006/main"/>
          <a:lstStyle xmlns:a="http://schemas.openxmlformats.org/drawingml/2006/main"/>
          <a:p xmlns:a="http://schemas.openxmlformats.org/drawingml/2006/main">
            <a:pPr>
              <a:defRPr sz="1875" b="1">
                <a:solidFill>
                  <a:srgbClr val="17324D"/>
                </a:solidFill>
                <a:latin typeface="Aptos"/>
                <a:ea typeface="Aptos"/>
                <a:cs typeface="Aptos"/>
              </a:defRPr>
            </a:pPr>
            <a:r>
              <a:rPr sz="1875" b="1">
                <a:solidFill>
                  <a:srgbClr val="17324D"/>
                </a:solidFill>
                <a:latin typeface="Aptos"/>
                <a:ea typeface="Aptos"/>
                <a:cs typeface="Aptos"/>
              </a:rPr>
              <a:t>Microsoft 365 gives us places to practice: organize in Word, examine information in Excel, explain an idea in PowerPoint, and share a version in Teams.</a:t>
            </a:r>
          </a:p>
        </p:txBody>
      </p:sp>
    </p:spTree>
    <p:extLst>
      <p:ext uri="{BB962C8B-B14F-4D97-AF65-F5344CB8AC3E}">
        <p14:creationId xmlns:p14="http://schemas.microsoft.com/office/powerpoint/2010/main" val="767232053"/>
      </p:ext>
    </p:extLst>
  </p:cSld>
</p:sld>
</file>

<file path=ppt/slides/slide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475637-98FC-42DA-9B93-AA6EC51B436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BAA590-0DD1-4D0D-A809-6340A58CAC59}"/>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ED487B66-D83D-4FC2-B639-8B1E7CCF1E96}"/>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C7209141-5935-4B83-A227-28A9B92F6C9A}"/>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Ways to participate</a:t>
            </a:r>
          </a:p>
        </p:txBody>
      </p:sp>
      <p:sp>
        <p:nvSpPr>
          <p:cNvPr id="5" name="">
            <a:extLst xmlns:a="http://schemas.openxmlformats.org/drawingml/2006/main">
              <a:ext uri="{FF2B5EF4-FFF2-40B4-BE49-F238E27FC236}">
                <a16:creationId xmlns:a16="http://schemas.microsoft.com/office/drawing/2014/main" id="{A411E80E-D5D2-4DD9-8260-DDC33E14E41B}"/>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Different entry points can lead to the same learning goal.</a:t>
            </a:r>
          </a:p>
        </p:txBody>
      </p:sp>
      <p:sp>
        <p:nvSpPr>
          <p:cNvPr id="6" name="">
            <a:extLst xmlns:a="http://schemas.openxmlformats.org/drawingml/2006/main">
              <a:ext uri="{FF2B5EF4-FFF2-40B4-BE49-F238E27FC236}">
                <a16:creationId xmlns:a16="http://schemas.microsoft.com/office/drawing/2014/main" id="{FB749DBD-347B-4627-9CA2-4AFBA122091C}"/>
              </a:ext>
            </a:extLst>
          </p:cNvPr>
          <p:cNvSpPr>
            <a:spLocks xmlns:a="http://schemas.openxmlformats.org/drawingml/2006/main" noGrp="1"/>
          </p:cNvSpPr>
          <p:nvPr/>
        </p:nvSpPr>
        <p:spPr>
          <a:xfrm xmlns:a="http://schemas.openxmlformats.org/drawingml/2006/main">
            <a:off x="742950" y="2095500"/>
            <a:ext cx="2133600" cy="742950"/>
          </a:xfrm>
          <a:prstGeom xmlns:a="http://schemas.openxmlformats.org/drawingml/2006/main" prst="roundRect">
            <a:avLst>
              <a:gd name="adj" fmla="val 1025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Write</a:t>
            </a:r>
          </a:p>
        </p:txBody>
      </p:sp>
      <p:sp>
        <p:nvSpPr>
          <p:cNvPr id="7" name="">
            <a:extLst xmlns:a="http://schemas.openxmlformats.org/drawingml/2006/main">
              <a:ext uri="{FF2B5EF4-FFF2-40B4-BE49-F238E27FC236}">
                <a16:creationId xmlns:a16="http://schemas.microsoft.com/office/drawing/2014/main" id="{32424381-24EA-4028-AC4F-02CE046310C0}"/>
              </a:ext>
            </a:extLst>
          </p:cNvPr>
          <p:cNvSpPr>
            <a:spLocks xmlns:a="http://schemas.openxmlformats.org/drawingml/2006/main" noGrp="1"/>
          </p:cNvSpPr>
          <p:nvPr/>
        </p:nvSpPr>
        <p:spPr>
          <a:xfrm xmlns:a="http://schemas.openxmlformats.org/drawingml/2006/main">
            <a:off x="742950" y="3086100"/>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keywords or a sentence</a:t>
            </a:r>
          </a:p>
        </p:txBody>
      </p:sp>
      <p:sp>
        <p:nvSpPr>
          <p:cNvPr id="8" name="">
            <a:extLst xmlns:a="http://schemas.openxmlformats.org/drawingml/2006/main">
              <a:ext uri="{FF2B5EF4-FFF2-40B4-BE49-F238E27FC236}">
                <a16:creationId xmlns:a16="http://schemas.microsoft.com/office/drawing/2014/main" id="{C677EBFF-2C6C-42B5-BDBF-0CA38F6062FC}"/>
              </a:ext>
            </a:extLst>
          </p:cNvPr>
          <p:cNvSpPr>
            <a:spLocks xmlns:a="http://schemas.openxmlformats.org/drawingml/2006/main" noGrp="1"/>
          </p:cNvSpPr>
          <p:nvPr/>
        </p:nvSpPr>
        <p:spPr>
          <a:xfrm xmlns:a="http://schemas.openxmlformats.org/drawingml/2006/main">
            <a:off x="3467100" y="2095500"/>
            <a:ext cx="2133600" cy="742950"/>
          </a:xfrm>
          <a:prstGeom xmlns:a="http://schemas.openxmlformats.org/drawingml/2006/main" prst="roundRect">
            <a:avLst>
              <a:gd name="adj" fmla="val 10256"/>
            </a:avLst>
          </a:prstGeom>
          <a:solidFill xmlns:a="http://schemas.openxmlformats.org/drawingml/2006/main">
            <a:srgbClr val="F4A261"/>
          </a:solidFill>
          <a:ln xmlns:a="http://schemas.openxmlformats.org/drawingml/2006/main" w="14288">
            <a:solidFill>
              <a:srgbClr val="F4A261"/>
            </a:solidFill>
          </a:ln>
        </p:spPr>
        <p:txBody>
          <a:bodyPr xmlns:a="http://schemas.openxmlformats.org/drawingml/2006/main"/>
          <a:lstStyle xmlns:a="http://schemas.openxmlformats.org/drawingml/2006/main"/>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Sketch</a:t>
            </a:r>
          </a:p>
        </p:txBody>
      </p:sp>
      <p:sp>
        <p:nvSpPr>
          <p:cNvPr id="9" name="">
            <a:extLst xmlns:a="http://schemas.openxmlformats.org/drawingml/2006/main">
              <a:ext uri="{FF2B5EF4-FFF2-40B4-BE49-F238E27FC236}">
                <a16:creationId xmlns:a16="http://schemas.microsoft.com/office/drawing/2014/main" id="{98159982-1F56-41FB-AAAF-117058173E74}"/>
              </a:ext>
            </a:extLst>
          </p:cNvPr>
          <p:cNvSpPr>
            <a:spLocks xmlns:a="http://schemas.openxmlformats.org/drawingml/2006/main" noGrp="1"/>
          </p:cNvSpPr>
          <p:nvPr/>
        </p:nvSpPr>
        <p:spPr>
          <a:xfrm xmlns:a="http://schemas.openxmlformats.org/drawingml/2006/main">
            <a:off x="3467100" y="3086100"/>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a quick idea or sequence</a:t>
            </a:r>
          </a:p>
        </p:txBody>
      </p:sp>
      <p:sp>
        <p:nvSpPr>
          <p:cNvPr id="10" name="">
            <a:extLst xmlns:a="http://schemas.openxmlformats.org/drawingml/2006/main">
              <a:ext uri="{FF2B5EF4-FFF2-40B4-BE49-F238E27FC236}">
                <a16:creationId xmlns:a16="http://schemas.microsoft.com/office/drawing/2014/main" id="{21DC0174-7465-4919-A39F-2600E248622C}"/>
              </a:ext>
            </a:extLst>
          </p:cNvPr>
          <p:cNvSpPr>
            <a:spLocks xmlns:a="http://schemas.openxmlformats.org/drawingml/2006/main" noGrp="1"/>
          </p:cNvSpPr>
          <p:nvPr/>
        </p:nvSpPr>
        <p:spPr>
          <a:xfrm xmlns:a="http://schemas.openxmlformats.org/drawingml/2006/main">
            <a:off x="6191250" y="2095500"/>
            <a:ext cx="2133600" cy="742950"/>
          </a:xfrm>
          <a:prstGeom xmlns:a="http://schemas.openxmlformats.org/drawingml/2006/main" prst="roundRect">
            <a:avLst>
              <a:gd name="adj" fmla="val 10256"/>
            </a:avLst>
          </a:prstGeom>
          <a:solidFill xmlns:a="http://schemas.openxmlformats.org/drawingml/2006/main">
            <a:srgbClr val="E76F51"/>
          </a:solidFill>
          <a:ln xmlns:a="http://schemas.openxmlformats.org/drawingml/2006/main" w="14288">
            <a:solidFill>
              <a:srgbClr val="E76F51"/>
            </a:solidFill>
          </a:ln>
        </p:spPr>
        <p:txBody>
          <a:bodyPr xmlns:a="http://schemas.openxmlformats.org/drawingml/2006/main"/>
          <a:lstStyle xmlns:a="http://schemas.openxmlformats.org/drawingml/2006/main"/>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Say</a:t>
            </a:r>
          </a:p>
        </p:txBody>
      </p:sp>
      <p:sp>
        <p:nvSpPr>
          <p:cNvPr id="11" name="">
            <a:extLst xmlns:a="http://schemas.openxmlformats.org/drawingml/2006/main">
              <a:ext uri="{FF2B5EF4-FFF2-40B4-BE49-F238E27FC236}">
                <a16:creationId xmlns:a16="http://schemas.microsoft.com/office/drawing/2014/main" id="{834DDC65-2DF8-4CED-BD8C-30C86597EA19}"/>
              </a:ext>
            </a:extLst>
          </p:cNvPr>
          <p:cNvSpPr>
            <a:spLocks xmlns:a="http://schemas.openxmlformats.org/drawingml/2006/main" noGrp="1"/>
          </p:cNvSpPr>
          <p:nvPr/>
        </p:nvSpPr>
        <p:spPr>
          <a:xfrm xmlns:a="http://schemas.openxmlformats.org/drawingml/2006/main">
            <a:off x="6191250" y="3086100"/>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your idea to a partner</a:t>
            </a:r>
          </a:p>
        </p:txBody>
      </p:sp>
      <p:sp>
        <p:nvSpPr>
          <p:cNvPr id="12" name="">
            <a:extLst xmlns:a="http://schemas.openxmlformats.org/drawingml/2006/main">
              <a:ext uri="{FF2B5EF4-FFF2-40B4-BE49-F238E27FC236}">
                <a16:creationId xmlns:a16="http://schemas.microsoft.com/office/drawing/2014/main" id="{7F043744-A7A1-4F82-A221-431D2A4F8F96}"/>
              </a:ext>
            </a:extLst>
          </p:cNvPr>
          <p:cNvSpPr>
            <a:spLocks xmlns:a="http://schemas.openxmlformats.org/drawingml/2006/main" noGrp="1"/>
          </p:cNvSpPr>
          <p:nvPr/>
        </p:nvSpPr>
        <p:spPr>
          <a:xfrm xmlns:a="http://schemas.openxmlformats.org/drawingml/2006/main">
            <a:off x="8915400" y="2095500"/>
            <a:ext cx="2133600" cy="742950"/>
          </a:xfrm>
          <a:prstGeom xmlns:a="http://schemas.openxmlformats.org/drawingml/2006/main" prst="roundRect">
            <a:avLst>
              <a:gd name="adj" fmla="val 10256"/>
            </a:avLst>
          </a:prstGeom>
          <a:solidFill xmlns:a="http://schemas.openxmlformats.org/drawingml/2006/main">
            <a:srgbClr val="2A9D8F"/>
          </a:solidFill>
          <a:ln xmlns:a="http://schemas.openxmlformats.org/drawingml/2006/main" w="14288">
            <a:solidFill>
              <a:srgbClr val="2A9D8F"/>
            </a:solidFill>
          </a:ln>
        </p:spPr>
        <p:txBody>
          <a:bodyPr xmlns:a="http://schemas.openxmlformats.org/drawingml/2006/main"/>
          <a:lstStyle xmlns:a="http://schemas.openxmlformats.org/drawingml/2006/main"/>
          <a:p xmlns:a="http://schemas.openxmlformats.org/drawingml/2006/main">
            <a:pPr>
              <a:defRPr sz="2325" b="1">
                <a:solidFill>
                  <a:srgbClr val="FFFFFF"/>
                </a:solidFill>
                <a:latin typeface="Aptos"/>
                <a:ea typeface="Aptos"/>
                <a:cs typeface="Aptos"/>
              </a:defRPr>
            </a:pPr>
            <a:r>
              <a:rPr sz="2325" b="1">
                <a:solidFill>
                  <a:srgbClr val="FFFFFF"/>
                </a:solidFill>
                <a:latin typeface="Aptos"/>
                <a:ea typeface="Aptos"/>
                <a:cs typeface="Aptos"/>
              </a:rPr>
              <a:t>Point</a:t>
            </a:r>
          </a:p>
        </p:txBody>
      </p:sp>
      <p:sp>
        <p:nvSpPr>
          <p:cNvPr id="13" name="">
            <a:extLst xmlns:a="http://schemas.openxmlformats.org/drawingml/2006/main">
              <a:ext uri="{FF2B5EF4-FFF2-40B4-BE49-F238E27FC236}">
                <a16:creationId xmlns:a16="http://schemas.microsoft.com/office/drawing/2014/main" id="{84670502-C43E-4440-BDFB-9436A72D57FE}"/>
              </a:ext>
            </a:extLst>
          </p:cNvPr>
          <p:cNvSpPr>
            <a:spLocks xmlns:a="http://schemas.openxmlformats.org/drawingml/2006/main" noGrp="1"/>
          </p:cNvSpPr>
          <p:nvPr/>
        </p:nvSpPr>
        <p:spPr>
          <a:xfrm xmlns:a="http://schemas.openxmlformats.org/drawingml/2006/main">
            <a:off x="8915400" y="3086100"/>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to the step your team chose</a:t>
            </a:r>
          </a:p>
        </p:txBody>
      </p:sp>
      <p:sp>
        <p:nvSpPr>
          <p:cNvPr id="14" name="">
            <a:extLst xmlns:a="http://schemas.openxmlformats.org/drawingml/2006/main">
              <a:ext uri="{FF2B5EF4-FFF2-40B4-BE49-F238E27FC236}">
                <a16:creationId xmlns:a16="http://schemas.microsoft.com/office/drawing/2014/main" id="{B623EE2B-B9F4-4552-8D4B-B1FBC460ED8D}"/>
              </a:ext>
            </a:extLst>
          </p:cNvPr>
          <p:cNvSpPr>
            <a:spLocks xmlns:a="http://schemas.openxmlformats.org/drawingml/2006/main" noGrp="1"/>
          </p:cNvSpPr>
          <p:nvPr/>
        </p:nvSpPr>
        <p:spPr>
          <a:xfrm xmlns:a="http://schemas.openxmlformats.org/drawingml/2006/main">
            <a:off x="1619250" y="4476750"/>
            <a:ext cx="8953500" cy="876300"/>
          </a:xfrm>
          <a:prstGeom xmlns:a="http://schemas.openxmlformats.org/drawingml/2006/main" prst="roundRect">
            <a:avLst>
              <a:gd name="adj" fmla="val 8696"/>
            </a:avLst>
          </a:prstGeom>
          <a:solidFill xmlns:a="http://schemas.openxmlformats.org/drawingml/2006/main">
            <a:srgbClr val="DDEEF2"/>
          </a:solidFill>
          <a:ln xmlns:a="http://schemas.openxmlformats.org/drawingml/2006/main" w="14288">
            <a:solidFill>
              <a:srgbClr val="DDEEF2"/>
            </a:solidFill>
          </a:ln>
        </p:spPr>
        <p:txBody>
          <a:bodyPr xmlns:a="http://schemas.openxmlformats.org/drawingml/2006/main"/>
          <a:lstStyle xmlns:a="http://schemas.openxmlformats.org/drawingml/2006/main"/>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Same goal: understand the idea, help the team, and connect it to the course.</a:t>
            </a:r>
          </a:p>
        </p:txBody>
      </p:sp>
      <p:sp>
        <p:nvSpPr>
          <p:cNvPr id="15" name="">
            <a:extLst xmlns:a="http://schemas.openxmlformats.org/drawingml/2006/main">
              <a:ext uri="{FF2B5EF4-FFF2-40B4-BE49-F238E27FC236}">
                <a16:creationId xmlns:a16="http://schemas.microsoft.com/office/drawing/2014/main" id="{E9AB1324-6436-4907-97B3-E0CD9295DAA0}"/>
              </a:ext>
            </a:extLst>
          </p:cNvPr>
          <p:cNvSpPr>
            <a:spLocks xmlns:a="http://schemas.openxmlformats.org/drawingml/2006/main" noGrp="1"/>
          </p:cNvSpPr>
          <p:nvPr/>
        </p:nvSpPr>
        <p:spPr>
          <a:xfrm xmlns:a="http://schemas.openxmlformats.org/drawingml/2006/main">
            <a:off x="4000500" y="5743575"/>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i="1">
                <a:solidFill>
                  <a:srgbClr val="17324D"/>
                </a:solidFill>
                <a:latin typeface="Aptos"/>
                <a:ea typeface="Aptos"/>
                <a:cs typeface="Aptos"/>
              </a:defRPr>
            </a:pPr>
            <a:r>
              <a:rPr sz="1800" b="0" i="1">
                <a:solidFill>
                  <a:srgbClr val="17324D"/>
                </a:solidFill>
                <a:latin typeface="Aptos"/>
                <a:ea typeface="Aptos"/>
                <a:cs typeface="Aptos"/>
              </a:rPr>
              <a:t>You can use more than one way.</a:t>
            </a:r>
          </a:p>
        </p:txBody>
      </p:sp>
    </p:spTree>
    <p:extLst>
      <p:ext uri="{BB962C8B-B14F-4D97-AF65-F5344CB8AC3E}">
        <p14:creationId xmlns:p14="http://schemas.microsoft.com/office/powerpoint/2010/main" val="1737021188"/>
      </p:ext>
    </p:extLst>
  </p:cSld>
</p:sld>
</file>

<file path=ppt/slides/slide8.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881744-847D-403B-8F39-94C5945E43B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0A6C0F-5915-4169-B0B9-CFCB03DCBB08}"/>
              </a:ext>
            </a:extLst>
          </p:cNvPr>
          <p:cNvSpPr>
            <a:spLocks xmlns:a="http://schemas.openxmlformats.org/drawingml/2006/main" noGrp="1"/>
          </p:cNvSpPr>
          <p:nvPr/>
        </p:nvSpPr>
        <p:spPr>
          <a:xfrm xmlns:a="http://schemas.openxmlformats.org/drawingml/2006/main">
            <a:off x="609600" y="64008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6D7B86"/>
                </a:solidFill>
                <a:latin typeface="Aptos"/>
                <a:ea typeface="Aptos"/>
                <a:cs typeface="Aptos"/>
              </a:defRPr>
            </a:pPr>
            <a:r>
              <a:rPr sz="975" b="1">
                <a:solidFill>
                  <a:srgbClr val="6D7B86"/>
                </a:solidFill>
                <a:latin typeface="Aptos"/>
                <a:ea typeface="Aptos"/>
                <a:cs typeface="Aptos"/>
              </a:rPr>
              <a:t>BUSINESS COURSE · MICROSOFT 365</a:t>
            </a:r>
          </a:p>
        </p:txBody>
      </p:sp>
      <p:sp>
        <p:nvSpPr>
          <p:cNvPr id="3" name="">
            <a:extLst xmlns:a="http://schemas.openxmlformats.org/drawingml/2006/main">
              <a:ext uri="{FF2B5EF4-FFF2-40B4-BE49-F238E27FC236}">
                <a16:creationId xmlns:a16="http://schemas.microsoft.com/office/drawing/2014/main" id="{1104D57F-A164-4234-91A1-444FDC2BA58E}"/>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6D7B86"/>
                </a:solidFill>
                <a:latin typeface="Aptos"/>
                <a:ea typeface="Aptos"/>
                <a:cs typeface="Aptos"/>
              </a:defRPr>
            </a:pPr>
            <a:r>
              <a:rPr sz="1125" b="1">
                <a:solidFill>
                  <a:srgbClr val="6D7B86"/>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DB41345C-39D5-435A-A079-F8786D8B40D8}"/>
              </a:ext>
            </a:extLst>
          </p:cNvPr>
          <p:cNvSpPr>
            <a:spLocks xmlns:a="http://schemas.openxmlformats.org/drawingml/2006/main" noGrp="1"/>
          </p:cNvSpPr>
          <p:nvPr/>
        </p:nvSpPr>
        <p:spPr>
          <a:xfrm xmlns:a="http://schemas.openxmlformats.org/drawingml/2006/main">
            <a:off x="609600" y="4953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000" b="1">
                <a:solidFill>
                  <a:srgbClr val="17324D"/>
                </a:solidFill>
                <a:latin typeface="Aptos"/>
                <a:ea typeface="Aptos"/>
                <a:cs typeface="Aptos"/>
              </a:defRPr>
            </a:pPr>
            <a:r>
              <a:rPr sz="3000" b="1">
                <a:solidFill>
                  <a:srgbClr val="17324D"/>
                </a:solidFill>
                <a:latin typeface="Aptos"/>
                <a:ea typeface="Aptos"/>
                <a:cs typeface="Aptos"/>
              </a:rPr>
              <a:t>Later: one useful Microsoft 365 artifact</a:t>
            </a:r>
          </a:p>
        </p:txBody>
      </p:sp>
      <p:sp>
        <p:nvSpPr>
          <p:cNvPr id="5" name="">
            <a:extLst xmlns:a="http://schemas.openxmlformats.org/drawingml/2006/main">
              <a:ext uri="{FF2B5EF4-FFF2-40B4-BE49-F238E27FC236}">
                <a16:creationId xmlns:a16="http://schemas.microsoft.com/office/drawing/2014/main" id="{58C4DC55-E501-4C07-BF5E-5AEABA484C06}"/>
              </a:ext>
            </a:extLst>
          </p:cNvPr>
          <p:cNvSpPr>
            <a:spLocks xmlns:a="http://schemas.openxmlformats.org/drawingml/2006/main" noGrp="1"/>
          </p:cNvSpPr>
          <p:nvPr/>
        </p:nvSpPr>
        <p:spPr>
          <a:xfrm xmlns:a="http://schemas.openxmlformats.org/drawingml/2006/main">
            <a:off x="628650" y="1066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6D7B86"/>
                </a:solidFill>
                <a:latin typeface="Aptos"/>
                <a:ea typeface="Aptos"/>
                <a:cs typeface="Aptos"/>
              </a:defRPr>
            </a:pPr>
            <a:r>
              <a:rPr sz="1500" b="0">
                <a:solidFill>
                  <a:srgbClr val="6D7B86"/>
                </a:solidFill>
                <a:latin typeface="Aptos"/>
                <a:ea typeface="Aptos"/>
                <a:cs typeface="Aptos"/>
              </a:rPr>
              <a:t>When your teacher says it is time to build, start with the message and then choose the tool.</a:t>
            </a:r>
          </a:p>
        </p:txBody>
      </p:sp>
      <p:sp>
        <p:nvSpPr>
          <p:cNvPr id="6" name="">
            <a:extLst xmlns:a="http://schemas.openxmlformats.org/drawingml/2006/main">
              <a:ext uri="{FF2B5EF4-FFF2-40B4-BE49-F238E27FC236}">
                <a16:creationId xmlns:a16="http://schemas.microsoft.com/office/drawing/2014/main" id="{68F4E250-F5A4-47E5-BA95-617EEF439395}"/>
              </a:ext>
            </a:extLst>
          </p:cNvPr>
          <p:cNvSpPr>
            <a:spLocks xmlns:a="http://schemas.openxmlformats.org/drawingml/2006/main" noGrp="1"/>
          </p:cNvSpPr>
          <p:nvPr/>
        </p:nvSpPr>
        <p:spPr>
          <a:xfrm xmlns:a="http://schemas.openxmlformats.org/drawingml/2006/main">
            <a:off x="800100" y="195262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One idea</a:t>
            </a:r>
          </a:p>
        </p:txBody>
      </p:sp>
      <p:sp>
        <p:nvSpPr>
          <p:cNvPr id="7" name="">
            <a:extLst xmlns:a="http://schemas.openxmlformats.org/drawingml/2006/main">
              <a:ext uri="{FF2B5EF4-FFF2-40B4-BE49-F238E27FC236}">
                <a16:creationId xmlns:a16="http://schemas.microsoft.com/office/drawing/2014/main" id="{7FCC45BE-769D-434F-8490-4E2E0EDD32CC}"/>
              </a:ext>
            </a:extLst>
          </p:cNvPr>
          <p:cNvSpPr>
            <a:spLocks xmlns:a="http://schemas.openxmlformats.org/drawingml/2006/main" noGrp="1"/>
          </p:cNvSpPr>
          <p:nvPr/>
        </p:nvSpPr>
        <p:spPr>
          <a:xfrm xmlns:a="http://schemas.openxmlformats.org/drawingml/2006/main">
            <a:off x="800100" y="23622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What should the audience understand?</a:t>
            </a:r>
          </a:p>
        </p:txBody>
      </p:sp>
      <p:sp>
        <p:nvSpPr>
          <p:cNvPr id="8" name="">
            <a:extLst xmlns:a="http://schemas.openxmlformats.org/drawingml/2006/main">
              <a:ext uri="{FF2B5EF4-FFF2-40B4-BE49-F238E27FC236}">
                <a16:creationId xmlns:a16="http://schemas.microsoft.com/office/drawing/2014/main" id="{B54B74BD-EE11-48A7-BD55-1EFE7EEDE2FE}"/>
              </a:ext>
            </a:extLst>
          </p:cNvPr>
          <p:cNvSpPr>
            <a:spLocks xmlns:a="http://schemas.openxmlformats.org/drawingml/2006/main" noGrp="1"/>
          </p:cNvSpPr>
          <p:nvPr/>
        </p:nvSpPr>
        <p:spPr>
          <a:xfrm xmlns:a="http://schemas.openxmlformats.org/drawingml/2006/main">
            <a:off x="3524250" y="19526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One structure</a:t>
            </a:r>
          </a:p>
        </p:txBody>
      </p:sp>
      <p:sp>
        <p:nvSpPr>
          <p:cNvPr id="9" name="">
            <a:extLst xmlns:a="http://schemas.openxmlformats.org/drawingml/2006/main">
              <a:ext uri="{FF2B5EF4-FFF2-40B4-BE49-F238E27FC236}">
                <a16:creationId xmlns:a16="http://schemas.microsoft.com/office/drawing/2014/main" id="{0FEC0247-0294-4D91-A1E3-582DF9FF252E}"/>
              </a:ext>
            </a:extLst>
          </p:cNvPr>
          <p:cNvSpPr>
            <a:spLocks xmlns:a="http://schemas.openxmlformats.org/drawingml/2006/main" noGrp="1"/>
          </p:cNvSpPr>
          <p:nvPr/>
        </p:nvSpPr>
        <p:spPr>
          <a:xfrm xmlns:a="http://schemas.openxmlformats.org/drawingml/2006/main">
            <a:off x="3524250" y="23622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What order makes the idea clear?</a:t>
            </a:r>
          </a:p>
        </p:txBody>
      </p:sp>
      <p:sp>
        <p:nvSpPr>
          <p:cNvPr id="10" name="">
            <a:extLst xmlns:a="http://schemas.openxmlformats.org/drawingml/2006/main">
              <a:ext uri="{FF2B5EF4-FFF2-40B4-BE49-F238E27FC236}">
                <a16:creationId xmlns:a16="http://schemas.microsoft.com/office/drawing/2014/main" id="{9B668E54-EBD8-4F7A-AE3C-875B4B3DCA39}"/>
              </a:ext>
            </a:extLst>
          </p:cNvPr>
          <p:cNvSpPr>
            <a:spLocks xmlns:a="http://schemas.openxmlformats.org/drawingml/2006/main" noGrp="1"/>
          </p:cNvSpPr>
          <p:nvPr/>
        </p:nvSpPr>
        <p:spPr>
          <a:xfrm xmlns:a="http://schemas.openxmlformats.org/drawingml/2006/main">
            <a:off x="6267450" y="195262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One check</a:t>
            </a:r>
          </a:p>
        </p:txBody>
      </p:sp>
      <p:sp>
        <p:nvSpPr>
          <p:cNvPr id="11" name="">
            <a:extLst xmlns:a="http://schemas.openxmlformats.org/drawingml/2006/main">
              <a:ext uri="{FF2B5EF4-FFF2-40B4-BE49-F238E27FC236}">
                <a16:creationId xmlns:a16="http://schemas.microsoft.com/office/drawing/2014/main" id="{F50A6E2B-B3F4-44FE-9425-1C403F1853F7}"/>
              </a:ext>
            </a:extLst>
          </p:cNvPr>
          <p:cNvSpPr>
            <a:spLocks xmlns:a="http://schemas.openxmlformats.org/drawingml/2006/main" noGrp="1"/>
          </p:cNvSpPr>
          <p:nvPr/>
        </p:nvSpPr>
        <p:spPr>
          <a:xfrm xmlns:a="http://schemas.openxmlformats.org/drawingml/2006/main">
            <a:off x="6267450" y="23622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Can someone else follow it?</a:t>
            </a:r>
          </a:p>
        </p:txBody>
      </p:sp>
      <p:sp>
        <p:nvSpPr>
          <p:cNvPr id="12" name="">
            <a:extLst xmlns:a="http://schemas.openxmlformats.org/drawingml/2006/main">
              <a:ext uri="{FF2B5EF4-FFF2-40B4-BE49-F238E27FC236}">
                <a16:creationId xmlns:a16="http://schemas.microsoft.com/office/drawing/2014/main" id="{69E2FD0E-7C88-4847-AE70-64B55BEDC770}"/>
              </a:ext>
            </a:extLst>
          </p:cNvPr>
          <p:cNvSpPr>
            <a:spLocks xmlns:a="http://schemas.openxmlformats.org/drawingml/2006/main" noGrp="1"/>
          </p:cNvSpPr>
          <p:nvPr/>
        </p:nvSpPr>
        <p:spPr>
          <a:xfrm xmlns:a="http://schemas.openxmlformats.org/drawingml/2006/main">
            <a:off x="8991600" y="195262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One revision</a:t>
            </a:r>
          </a:p>
        </p:txBody>
      </p:sp>
      <p:sp>
        <p:nvSpPr>
          <p:cNvPr id="13" name="">
            <a:extLst xmlns:a="http://schemas.openxmlformats.org/drawingml/2006/main">
              <a:ext uri="{FF2B5EF4-FFF2-40B4-BE49-F238E27FC236}">
                <a16:creationId xmlns:a16="http://schemas.microsoft.com/office/drawing/2014/main" id="{92171E59-2F0F-4EC4-A59A-FB7898B321B0}"/>
              </a:ext>
            </a:extLst>
          </p:cNvPr>
          <p:cNvSpPr>
            <a:spLocks xmlns:a="http://schemas.openxmlformats.org/drawingml/2006/main" noGrp="1"/>
          </p:cNvSpPr>
          <p:nvPr/>
        </p:nvSpPr>
        <p:spPr>
          <a:xfrm xmlns:a="http://schemas.openxmlformats.org/drawingml/2006/main">
            <a:off x="8991600" y="23622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243746"/>
                </a:solidFill>
                <a:latin typeface="Aptos"/>
                <a:ea typeface="Aptos"/>
                <a:cs typeface="Aptos"/>
              </a:defRPr>
            </a:pPr>
            <a:r>
              <a:rPr sz="1575" b="0">
                <a:solidFill>
                  <a:srgbClr val="243746"/>
                </a:solidFill>
                <a:latin typeface="Aptos"/>
                <a:ea typeface="Aptos"/>
                <a:cs typeface="Aptos"/>
              </a:rPr>
              <a:t>What would make it easier to use?</a:t>
            </a:r>
          </a:p>
        </p:txBody>
      </p:sp>
      <p:sp>
        <p:nvSpPr>
          <p:cNvPr id="14" name="">
            <a:extLst xmlns:a="http://schemas.openxmlformats.org/drawingml/2006/main">
              <a:ext uri="{FF2B5EF4-FFF2-40B4-BE49-F238E27FC236}">
                <a16:creationId xmlns:a16="http://schemas.microsoft.com/office/drawing/2014/main" id="{894633F4-FF9C-40FD-B2CE-853928D78068}"/>
              </a:ext>
            </a:extLst>
          </p:cNvPr>
          <p:cNvSpPr>
            <a:spLocks xmlns:a="http://schemas.openxmlformats.org/drawingml/2006/main" noGrp="1"/>
          </p:cNvSpPr>
          <p:nvPr/>
        </p:nvSpPr>
        <p:spPr>
          <a:xfrm xmlns:a="http://schemas.openxmlformats.org/drawingml/2006/main">
            <a:off x="1847850" y="4238625"/>
            <a:ext cx="8496300" cy="1200150"/>
          </a:xfrm>
          <a:prstGeom xmlns:a="http://schemas.openxmlformats.org/drawingml/2006/main" prst="roundRect">
            <a:avLst>
              <a:gd name="adj" fmla="val 6349"/>
            </a:avLst>
          </a:prstGeom>
          <a:solidFill xmlns:a="http://schemas.openxmlformats.org/drawingml/2006/main">
            <a:srgbClr val="17324D"/>
          </a:solidFill>
          <a:ln xmlns:a="http://schemas.openxmlformats.org/drawingml/2006/main" w="14288">
            <a:solidFill>
              <a:srgbClr val="17324D"/>
            </a:solidFill>
          </a:ln>
        </p:spPr>
        <p:txBody>
          <a:bodyPr xmlns:a="http://schemas.openxmlformats.org/drawingml/2006/main"/>
          <a:lstStyle xmlns:a="http://schemas.openxmlformats.org/drawingml/2006/main"/>
          <a:p xmlns:a="http://schemas.openxmlformats.org/drawingml/2006/main">
            <a:pPr>
              <a:defRPr sz="2250" b="1">
                <a:solidFill>
                  <a:srgbClr val="FFFFFF"/>
                </a:solidFill>
                <a:latin typeface="Aptos"/>
                <a:ea typeface="Aptos"/>
                <a:cs typeface="Aptos"/>
              </a:defRPr>
            </a:pPr>
            <a:r>
              <a:rPr sz="2250" b="1">
                <a:solidFill>
                  <a:srgbClr val="FFFFFF"/>
                </a:solidFill>
                <a:latin typeface="Aptos"/>
                <a:ea typeface="Aptos"/>
                <a:cs typeface="Aptos"/>
              </a:rPr>
              <a:t>Today: think and talk.</a:t>
            </a:r>
          </a:p>
          <a:p xmlns:a="http://schemas.openxmlformats.org/drawingml/2006/main">
            <a:pPr>
              <a:defRPr sz="2250" b="1">
                <a:solidFill>
                  <a:srgbClr val="FFFFFF"/>
                </a:solidFill>
                <a:latin typeface="Aptos"/>
                <a:ea typeface="Aptos"/>
                <a:cs typeface="Aptos"/>
              </a:defRPr>
            </a:pPr>
            <a:r>
              <a:rPr sz="2250" b="1">
                <a:solidFill>
                  <a:srgbClr val="FFFFFF"/>
                </a:solidFill>
                <a:latin typeface="Aptos"/>
                <a:ea typeface="Aptos"/>
                <a:cs typeface="Aptos"/>
              </a:rPr>
              <a:t>Later: build in Microsoft 365 when your teacher says.</a:t>
            </a:r>
          </a:p>
        </p:txBody>
      </p:sp>
    </p:spTree>
    <p:extLst>
      <p:ext uri="{BB962C8B-B14F-4D97-AF65-F5344CB8AC3E}">
        <p14:creationId xmlns:p14="http://schemas.microsoft.com/office/powerpoint/2010/main" val="1759850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2026-09-09T13:43:51.7370000Z</dcterms:created>
  <dcterms:modified xsi:type="dcterms:W3CDTF">2026-09-09T13:43:51.7370000Z</dcterms:modified>
</coreProperties>
</file>