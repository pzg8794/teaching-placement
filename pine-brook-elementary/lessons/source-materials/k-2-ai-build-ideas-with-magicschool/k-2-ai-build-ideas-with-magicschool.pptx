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1173968" cy="5852160"/>
          </a:xfrm>
          <a:prstGeom prst="roundRect">
            <a:avLst/>
          </a:prstGeom>
          <a:solidFill>
            <a:srgbClr val="D9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704088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5000" b="1">
                <a:solidFill>
                  <a:srgbClr val="172033"/>
                </a:solidFill>
                <a:latin typeface="Arial"/>
              </a:rPr>
              <a:t>AI Build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667512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600" b="1">
                <a:solidFill>
                  <a:srgbClr val="2563EB"/>
                </a:solidFill>
                <a:latin typeface="Arial"/>
              </a:rPr>
              <a:t>Ask. Choose. 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7040880" cy="1783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649224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300" b="1">
                <a:solidFill>
                  <a:srgbClr val="172033"/>
                </a:solidFill>
                <a:latin typeface="Arial"/>
              </a:rPr>
              <a:t>AI helps us get ideas.
We choose what to 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051560"/>
            <a:ext cx="2011680" cy="1417320"/>
          </a:xfrm>
          <a:prstGeom prst="roundRect">
            <a:avLst/>
          </a:prstGeom>
          <a:solidFill>
            <a:srgbClr val="BFE8A5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32520" y="1399031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08008" y="1399031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83496" y="1399031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0" y="1801367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36608" y="1801367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039112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Arial"/>
              </a:rPr>
              <a:t>materials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743200"/>
            <a:ext cx="2011680" cy="1417320"/>
          </a:xfrm>
          <a:prstGeom prst="roundRect">
            <a:avLst/>
          </a:prstGeom>
          <a:solidFill>
            <a:srgbClr val="FFD66B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59" y="3154680"/>
            <a:ext cx="1170432" cy="109728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59" y="3502152"/>
            <a:ext cx="1170432" cy="109728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48088" y="2971800"/>
            <a:ext cx="109728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730752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Arial"/>
              </a:rPr>
              <a:t>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rial"/>
              </a:rPr>
              <a:t>Today We Will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55680" cy="54864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9966960" cy="4480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3400" b="1">
                <a:solidFill>
                  <a:srgbClr val="172033"/>
                </a:solidFill>
                <a:latin typeface="Arial"/>
              </a:rPr>
              <a:t>- ask AI for ideas</a:t>
            </a:r>
          </a:p>
          <a:p>
            <a:pPr algn="l">
              <a:spcAft>
                <a:spcPts val="700"/>
              </a:spcAft>
            </a:pPr>
            <a:r>
              <a:rPr sz="3400" b="1">
                <a:solidFill>
                  <a:srgbClr val="172033"/>
                </a:solidFill>
                <a:latin typeface="Arial"/>
              </a:rPr>
              <a:t>- choose one idea</a:t>
            </a:r>
          </a:p>
          <a:p>
            <a:pPr algn="l">
              <a:spcAft>
                <a:spcPts val="700"/>
              </a:spcAft>
            </a:pPr>
            <a:r>
              <a:rPr sz="3400" b="1">
                <a:solidFill>
                  <a:srgbClr val="172033"/>
                </a:solidFill>
                <a:latin typeface="Arial"/>
              </a:rPr>
              <a:t>- build with our material</a:t>
            </a:r>
          </a:p>
          <a:p>
            <a:pPr algn="l">
              <a:spcAft>
                <a:spcPts val="700"/>
              </a:spcAft>
            </a:pPr>
            <a:r>
              <a:rPr sz="3400" b="1">
                <a:solidFill>
                  <a:srgbClr val="172033"/>
                </a:solidFill>
                <a:latin typeface="Arial"/>
              </a:rPr>
              <a:t>- share what we made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rial"/>
              </a:rPr>
              <a:t>What Is on Your Table?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55680" cy="54864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417320"/>
            <a:ext cx="2011680" cy="1417320"/>
          </a:xfrm>
          <a:prstGeom prst="roundRect">
            <a:avLst/>
          </a:prstGeom>
          <a:solidFill>
            <a:srgbClr val="BFE8A5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801368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1801368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94560" y="1801368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19456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65960" y="219456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04872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Arial"/>
              </a:rPr>
              <a:t>Zoobs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417320"/>
            <a:ext cx="2011680" cy="1417320"/>
          </a:xfrm>
          <a:prstGeom prst="roundRect">
            <a:avLst/>
          </a:prstGeom>
          <a:solidFill>
            <a:srgbClr val="FFD66B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764792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95928" y="1764792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1416" y="1764792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40" y="2167128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2167128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2404872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Arial"/>
              </a:rPr>
              <a:t>LEGO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1417320"/>
            <a:ext cx="2011680" cy="1417320"/>
          </a:xfrm>
          <a:prstGeom prst="roundRect">
            <a:avLst/>
          </a:prstGeom>
          <a:solidFill>
            <a:srgbClr val="FFB7A5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1828800"/>
            <a:ext cx="1170432" cy="109728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2176272"/>
            <a:ext cx="1170432" cy="109728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1645920"/>
            <a:ext cx="109728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2404872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Arial"/>
              </a:rPr>
              <a:t>Strawbees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1417320"/>
            <a:ext cx="2011680" cy="1417320"/>
          </a:xfrm>
          <a:prstGeom prst="roundRect">
            <a:avLst/>
          </a:prstGeom>
          <a:solidFill>
            <a:srgbClr val="D9EC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65592" y="1819656"/>
            <a:ext cx="1143000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65592" y="2167128"/>
            <a:ext cx="1143000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2404872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Arial"/>
              </a:rPr>
              <a:t>KEVA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2680" y="1417320"/>
            <a:ext cx="2011680" cy="1417320"/>
          </a:xfrm>
          <a:prstGeom prst="roundRect">
            <a:avLst/>
          </a:prstGeom>
          <a:solidFill>
            <a:srgbClr val="E5E7EB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78440" y="1764792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853928" y="1764792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329415" y="1764792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607040" y="2167128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082528" y="2167128"/>
            <a:ext cx="384048" cy="310896"/>
          </a:xfrm>
          <a:prstGeom prst="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2404872"/>
            <a:ext cx="20116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Arial"/>
              </a:rPr>
              <a:t>Other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749039"/>
            <a:ext cx="103327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4400" b="1">
                <a:solidFill>
                  <a:srgbClr val="172033"/>
                </a:solidFill>
                <a:latin typeface="Arial"/>
              </a:rPr>
              <a:t>Say: I have ______.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rial"/>
              </a:rPr>
              <a:t>Our AI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55680" cy="54864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60" cy="4343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2900" b="1">
                <a:solidFill>
                  <a:srgbClr val="172033"/>
                </a:solidFill>
                <a:latin typeface="Arial"/>
              </a:rPr>
              <a:t>- use the class link in Seesaw</a:t>
            </a:r>
          </a:p>
          <a:p>
            <a:pPr algn="l">
              <a:spcAft>
                <a:spcPts val="700"/>
              </a:spcAft>
            </a:pPr>
            <a:r>
              <a:rPr sz="2900" b="1">
                <a:solidFill>
                  <a:srgbClr val="172033"/>
                </a:solidFill>
                <a:latin typeface="Arial"/>
              </a:rPr>
              <a:t>- do not type your name</a:t>
            </a:r>
          </a:p>
          <a:p>
            <a:pPr algn="l">
              <a:spcAft>
                <a:spcPts val="700"/>
              </a:spcAft>
            </a:pPr>
            <a:r>
              <a:rPr sz="2900" b="1">
                <a:solidFill>
                  <a:srgbClr val="172033"/>
                </a:solidFill>
                <a:latin typeface="Arial"/>
              </a:rPr>
              <a:t>- do not type private information</a:t>
            </a:r>
          </a:p>
          <a:p>
            <a:pPr algn="l">
              <a:spcAft>
                <a:spcPts val="700"/>
              </a:spcAft>
            </a:pPr>
            <a:r>
              <a:rPr sz="2900" b="1">
                <a:solidFill>
                  <a:srgbClr val="172033"/>
                </a:solidFill>
                <a:latin typeface="Arial"/>
              </a:rPr>
              <a:t>- AI gives ideas</a:t>
            </a:r>
          </a:p>
          <a:p>
            <a:pPr algn="l">
              <a:spcAft>
                <a:spcPts val="700"/>
              </a:spcAft>
            </a:pPr>
            <a:r>
              <a:rPr sz="2900" b="1">
                <a:solidFill>
                  <a:srgbClr val="172033"/>
                </a:solidFill>
                <a:latin typeface="Arial"/>
              </a:rPr>
              <a:t>- we choose what to build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rial"/>
              </a:rPr>
              <a:t>Step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55680" cy="54864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61320" cy="3520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9829800" cy="2606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4400" b="1">
                <a:solidFill>
                  <a:srgbClr val="172033"/>
                </a:solidFill>
                <a:latin typeface="Arial"/>
              </a:rPr>
              <a:t>Open Seesaw.
Tap the MagicSchool link.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rial"/>
              </a:rPr>
              <a:t>Then wait for the teacher.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rial"/>
              </a:rPr>
              <a:t>Step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55680" cy="54864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61320" cy="3520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9829800" cy="2606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4400" b="1">
                <a:solidFill>
                  <a:srgbClr val="172033"/>
                </a:solidFill>
                <a:latin typeface="Arial"/>
              </a:rPr>
              <a:t>Look at your table.
Say: I have ____.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rial"/>
              </a:rPr>
              <a:t>Use the word for your building material.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rial"/>
              </a:rPr>
              <a:t>Copy This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55680" cy="54864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0652760" cy="3383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104120" cy="2697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rial"/>
              </a:rPr>
              <a:t>I have ____ at my table.
Please give me 3 easy things I can build.
Use simple 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66360"/>
            <a:ext cx="100126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Copy the words. Fill in the blank.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rial"/>
              </a:rPr>
              <a:t>If the AI Answer Is Too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55680" cy="54864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0652760" cy="3383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104120" cy="2697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rial"/>
              </a:rPr>
              <a:t>Make it easier.
Use short words.
Give me 3 simple ideas.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66360"/>
            <a:ext cx="100126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Copy the words. Fill in the blank.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rial"/>
              </a:rPr>
              <a:t>Pick One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55680" cy="54864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50976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3800" b="1">
                <a:solidFill>
                  <a:srgbClr val="172033"/>
                </a:solidFill>
                <a:latin typeface="Arial"/>
              </a:rPr>
              <a:t>- Can I build it?</a:t>
            </a:r>
          </a:p>
          <a:p>
            <a:pPr algn="l">
              <a:spcAft>
                <a:spcPts val="700"/>
              </a:spcAft>
            </a:pPr>
            <a:r>
              <a:rPr sz="3800" b="1">
                <a:solidFill>
                  <a:srgbClr val="172033"/>
                </a:solidFill>
                <a:latin typeface="Arial"/>
              </a:rPr>
              <a:t>- Do we like it?</a:t>
            </a:r>
          </a:p>
          <a:p>
            <a:pPr algn="l">
              <a:spcAft>
                <a:spcPts val="700"/>
              </a:spcAft>
            </a:pPr>
            <a:r>
              <a:rPr sz="3800" b="1">
                <a:solidFill>
                  <a:srgbClr val="172033"/>
                </a:solidFill>
                <a:latin typeface="Arial"/>
              </a:rPr>
              <a:t>- Can we start 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6636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2F7D32"/>
                </a:solidFill>
                <a:latin typeface="Arial"/>
              </a:rPr>
              <a:t>Choose one. It can be simple.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rial"/>
              </a:rPr>
              <a:t>Build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55680" cy="54864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606040" cy="1874519"/>
          </a:xfrm>
          <a:prstGeom prst="roundRect">
            <a:avLst/>
          </a:prstGeom>
          <a:solidFill>
            <a:srgbClr val="FFD66B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6060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6060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172033"/>
                </a:solidFill>
                <a:latin typeface="Arial"/>
              </a:rPr>
              <a:t>Choose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79" y="1828800"/>
            <a:ext cx="2606040" cy="1874519"/>
          </a:xfrm>
          <a:prstGeom prst="roundRect">
            <a:avLst/>
          </a:prstGeom>
          <a:solidFill>
            <a:srgbClr val="BFE8A5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2057400"/>
            <a:ext cx="26060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651760"/>
            <a:ext cx="26060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172033"/>
                </a:solidFill>
                <a:latin typeface="Arial"/>
              </a:rPr>
              <a:t>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2606040" cy="1874519"/>
          </a:xfrm>
          <a:prstGeom prst="roundRect">
            <a:avLst/>
          </a:prstGeom>
          <a:solidFill>
            <a:srgbClr val="FFB7A5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26060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26060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172033"/>
                </a:solidFill>
                <a:latin typeface="Arial"/>
              </a:rPr>
              <a:t>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828800"/>
            <a:ext cx="2606040" cy="1874519"/>
          </a:xfrm>
          <a:prstGeom prst="roundRect">
            <a:avLst/>
          </a:prstGeom>
          <a:solidFill>
            <a:srgbClr val="D9ECFF"/>
          </a:solidFill>
          <a:ln w="15875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057400"/>
            <a:ext cx="26060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651760"/>
            <a:ext cx="26060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172033"/>
                </a:solidFill>
                <a:latin typeface="Arial"/>
              </a:rPr>
              <a:t>Share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rial"/>
              </a:rPr>
              <a:t>If You Get Stuck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55680" cy="54864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0652760" cy="3383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104120" cy="2697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rial"/>
              </a:rPr>
              <a:t>Give me a new idea using ____.
Make it easier.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66360"/>
            <a:ext cx="100126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Copy the words. Fill in the blank.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rial"/>
              </a:rPr>
              <a:t>Share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55680" cy="54864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0652760" cy="3383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104120" cy="2697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rial"/>
              </a:rPr>
              <a:t>We built ____.
AI helped us ____.
We changed ____.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66360"/>
            <a:ext cx="100126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Arial"/>
              </a:rPr>
              <a:t>Copy the words. Fill in the blank.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rial"/>
              </a:rPr>
              <a:t>Teacher Notes: NYS CSDF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55680" cy="54864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72033"/>
                </a:solidFill>
                <a:latin typeface="Arial"/>
              </a:rPr>
              <a:t>Aligned K-1 standards with Grade 2 bridge: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881360" cy="3931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172033"/>
                </a:solidFill>
                <a:latin typeface="Arial"/>
              </a:rPr>
              <a:t>- K-1.IC.1, K-1.IC.2, K-1.IC.6</a:t>
            </a:r>
          </a:p>
          <a:p>
            <a:pPr algn="l">
              <a:spcAft>
                <a:spcPts val="700"/>
              </a:spcAft>
            </a:pPr>
            <a:r>
              <a:rPr sz="2000" b="1">
                <a:solidFill>
                  <a:srgbClr val="172033"/>
                </a:solidFill>
                <a:latin typeface="Arial"/>
              </a:rPr>
              <a:t>- K-1.CT.4, K-1.CT.6, K-1.CT.10</a:t>
            </a:r>
          </a:p>
          <a:p>
            <a:pPr algn="l">
              <a:spcAft>
                <a:spcPts val="700"/>
              </a:spcAft>
            </a:pPr>
            <a:r>
              <a:rPr sz="2000" b="1">
                <a:solidFill>
                  <a:srgbClr val="172033"/>
                </a:solidFill>
                <a:latin typeface="Arial"/>
              </a:rPr>
              <a:t>- K-1.CY.1</a:t>
            </a:r>
          </a:p>
          <a:p>
            <a:pPr algn="l">
              <a:spcAft>
                <a:spcPts val="700"/>
              </a:spcAft>
            </a:pPr>
            <a:r>
              <a:rPr sz="2000" b="1">
                <a:solidFill>
                  <a:srgbClr val="172033"/>
                </a:solidFill>
                <a:latin typeface="Arial"/>
              </a:rPr>
              <a:t>- K-1.DL.2, K-1.DL.3, K-1.DL.4, K-1.DL.7</a:t>
            </a:r>
          </a:p>
          <a:p>
            <a:pPr algn="l">
              <a:spcAft>
                <a:spcPts val="700"/>
              </a:spcAft>
            </a:pPr>
            <a:r>
              <a:rPr sz="2000" b="1">
                <a:solidFill>
                  <a:srgbClr val="172033"/>
                </a:solidFill>
                <a:latin typeface="Arial"/>
              </a:rPr>
              <a:t>- Grade 2 bridge: 2-3.IC.1, 2-3.CY.1, 2-3.DL.3, 2-3.NSD.3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rial"/>
              </a:rPr>
              <a:t>Teacher Notes: Inclusion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1155680" cy="54864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881360" cy="4800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2100" b="1">
                <a:solidFill>
                  <a:srgbClr val="172033"/>
                </a:solidFill>
                <a:latin typeface="Arial"/>
              </a:rPr>
              <a:t>- Use visual directions and repeated sentence frames.</a:t>
            </a:r>
          </a:p>
          <a:p>
            <a:pPr algn="l">
              <a:spcAft>
                <a:spcPts val="700"/>
              </a:spcAft>
            </a:pPr>
            <a:r>
              <a:rPr sz="2100" b="1">
                <a:solidFill>
                  <a:srgbClr val="172033"/>
                </a:solidFill>
                <a:latin typeface="Arial"/>
              </a:rPr>
              <a:t>- Students may copy, say, or partner-type prompts.</a:t>
            </a:r>
          </a:p>
          <a:p>
            <a:pPr algn="l">
              <a:spcAft>
                <a:spcPts val="700"/>
              </a:spcAft>
            </a:pPr>
            <a:r>
              <a:rPr sz="2100" b="1">
                <a:solidFill>
                  <a:srgbClr val="172033"/>
                </a:solidFill>
                <a:latin typeface="Arial"/>
              </a:rPr>
              <a:t>- Roles: typer, reader, builder, sharer.</a:t>
            </a:r>
          </a:p>
          <a:p>
            <a:pPr algn="l">
              <a:spcAft>
                <a:spcPts val="700"/>
              </a:spcAft>
            </a:pPr>
            <a:r>
              <a:rPr sz="2100" b="1">
                <a:solidFill>
                  <a:srgbClr val="172033"/>
                </a:solidFill>
                <a:latin typeface="Arial"/>
              </a:rPr>
              <a:t>- Accept a build, photo, pointing, oral share, or partner share.</a:t>
            </a:r>
          </a:p>
          <a:p>
            <a:pPr algn="l">
              <a:spcAft>
                <a:spcPts val="700"/>
              </a:spcAft>
            </a:pPr>
            <a:r>
              <a:rPr sz="2100" b="1">
                <a:solidFill>
                  <a:srgbClr val="172033"/>
                </a:solidFill>
                <a:latin typeface="Arial"/>
              </a:rPr>
              <a:t>- Short predictable prompts support early readers and multilingual learners.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