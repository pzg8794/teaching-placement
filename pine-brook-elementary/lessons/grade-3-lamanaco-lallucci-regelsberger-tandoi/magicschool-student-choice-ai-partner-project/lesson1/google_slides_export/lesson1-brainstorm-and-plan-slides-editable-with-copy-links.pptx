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zg8794.github.io/teaching-placement/lesson1-prompt-cards-copy.html#ig1" TargetMode="External"/><Relationship Id="rId3" Type="http://schemas.openxmlformats.org/officeDocument/2006/relationships/hyperlink" Target="https://pzg8794.github.io/teaching-placement/lesson1-prompt-cards-copy.html#ig2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zg8794.github.io/teaching-placement/lesson1-prompt-cards-copy.html#aa1" TargetMode="External"/><Relationship Id="rId3" Type="http://schemas.openxmlformats.org/officeDocument/2006/relationships/hyperlink" Target="https://pzg8794.github.io/teaching-placement/lesson1-prompt-cards-copy.html#aa2" TargetMode="External"/><Relationship Id="rId4" Type="http://schemas.openxmlformats.org/officeDocument/2006/relationships/hyperlink" Target="https://pzg8794.github.io/teaching-placement/lesson1-prompt-cards-copy.html#aa3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zg8794.github.io/teaching-placement/lesson1-prompt-cards-copy.html#ps1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zg8794.github.io/teaching-placement/lesson1-prompt-cards-copy.html#ts1" TargetMode="External"/><Relationship Id="rId3" Type="http://schemas.openxmlformats.org/officeDocument/2006/relationships/hyperlink" Target="https://pzg8794.github.io/teaching-placement/lesson1-prompt-cards-copy.html#ts2" TargetMode="External"/><Relationship Id="rId4" Type="http://schemas.openxmlformats.org/officeDocument/2006/relationships/hyperlink" Target="https://pzg8794.github.io/teaching-placement/lesson1-prompt-cards-copy.html#ts3" TargetMode="External"/><Relationship Id="rId5" Type="http://schemas.openxmlformats.org/officeDocument/2006/relationships/hyperlink" Target="https://pzg8794.github.io/teaching-placement/lesson1-prompt-cards-copy.html#ts4" TargetMode="External"/><Relationship Id="rId6" Type="http://schemas.openxmlformats.org/officeDocument/2006/relationships/hyperlink" Target="https://pzg8794.github.io/teaching-placement/lesson1-prompt-cards-copy.html#ts5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502920"/>
            <a:ext cx="11201400" cy="5852160"/>
          </a:xfrm>
          <a:prstGeom prst="roundRect">
            <a:avLst/>
          </a:prstGeom>
          <a:solidFill>
            <a:srgbClr val="E6F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594360"/>
            <a:ext cx="11201400" cy="73152"/>
          </a:xfrm>
          <a:prstGeom prst="rect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85800"/>
            <a:ext cx="112014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9728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F2937"/>
                </a:solidFill>
                <a:latin typeface="Arial"/>
              </a:rPr>
              <a:t>Lesson 1: Brainstorm and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34E4A"/>
                </a:solidFill>
                <a:latin typeface="Arial"/>
              </a:rPr>
              <a:t>Pick a topic. Check it. Plan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14600"/>
            <a:ext cx="621792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F2937"/>
                </a:solidFill>
                <a:latin typeface="Arial"/>
              </a:rPr>
              <a:t>AI helps us think. We stay in charge.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520440"/>
            <a:ext cx="1874519" cy="777240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72618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/>
              </a:rPr>
              <a:t>1
Idea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3520440"/>
            <a:ext cx="1874519" cy="77724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372618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/>
              </a:rPr>
              <a:t>2
Check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79" y="3520440"/>
            <a:ext cx="1874519" cy="7772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79" y="372618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/>
              </a:rPr>
              <a:t>3
Guide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325880"/>
            <a:ext cx="3383280" cy="393192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0" y="1691640"/>
            <a:ext cx="26517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15400" y="4297680"/>
            <a:ext cx="2194560" cy="502920"/>
          </a:xfrm>
          <a:prstGeom prst="roundRect">
            <a:avLst/>
          </a:prstGeom>
          <a:solidFill>
            <a:srgbClr val="99F6E4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5400" y="44074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Arial"/>
              </a:rPr>
              <a:t>topic +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937"/>
                </a:solidFill>
                <a:latin typeface="Arial"/>
              </a:rPr>
              <a:t>Today's Mission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43000"/>
            <a:ext cx="1069848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28016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Arial"/>
              </a:rPr>
              <a:t>By the end of Lesson 1, I will have: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100584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one topic I care about</a:t>
            </a:r>
          </a:p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one reason it connects to computer science</a:t>
            </a:r>
          </a:p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one project type</a:t>
            </a:r>
          </a:p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a guide with 3 to 5 parts, sections, or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4251960"/>
            <a:ext cx="2926080" cy="640080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4389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/>
              </a:rPr>
              <a:t>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4251960"/>
            <a:ext cx="2926080" cy="64008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4389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/>
              </a:rPr>
              <a:t>CS Link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4251960"/>
            <a:ext cx="2926080" cy="64008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4389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/>
              </a:rPr>
              <a:t>Guide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937"/>
                </a:solidFill>
                <a:latin typeface="Arial"/>
              </a:rPr>
              <a:t>Our AI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Do not type names or private information.</a:t>
            </a:r>
          </a:p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AI is a helper, not the boss.</a:t>
            </a:r>
          </a:p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AI can be wrong.</a:t>
            </a:r>
          </a:p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We choose what to keep or change.</a:t>
            </a:r>
          </a:p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The teacher can see class AI work.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234440"/>
            <a:ext cx="38404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18120" y="1600200"/>
            <a:ext cx="3200400" cy="7315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/>
              </a:rPr>
              <a:t>Keep school rules in the chat.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880360"/>
            <a:ext cx="3200400" cy="82296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/>
              </a:rPr>
              <a:t>Read the answer.
Think. Then decide.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4343400"/>
            <a:ext cx="3200400" cy="731520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4526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/>
              </a:rPr>
              <a:t>Never copy without checking.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937"/>
                </a:solidFill>
                <a:latin typeface="Arial"/>
              </a:rPr>
              <a:t>Use the Right Tool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3949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Arial"/>
              </a:rPr>
              <a:t>Idea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92024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Start here</a:t>
            </a:r>
          </a:p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Get possible topic ideas</a:t>
            </a:r>
          </a:p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Connect your interests to 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371600"/>
            <a:ext cx="53949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508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Arial"/>
              </a:rPr>
              <a:t>AI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Use after you have an idea</a:t>
            </a:r>
          </a:p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Check the CS connection</a:t>
            </a:r>
          </a:p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Make the topic smaller</a:t>
            </a:r>
          </a:p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Build a guide with 3 to 5 parts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34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F2937"/>
                </a:solidFill>
                <a:latin typeface="Arial"/>
              </a:rPr>
              <a:t>Idea Generator first. AI Assistant second.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937"/>
                </a:solidFill>
                <a:latin typeface="Arial"/>
              </a:rPr>
              <a:t>Our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00200"/>
            <a:ext cx="2514600" cy="1417320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259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/>
              </a:rPr>
              <a:t>1
Pick an interest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600200"/>
            <a:ext cx="2514600" cy="141732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21259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/>
              </a:rPr>
              <a:t>2
Use Idea Generator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00200"/>
            <a:ext cx="2514600" cy="1417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21259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/>
              </a:rPr>
              <a:t>3
Use AI Assistant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1600200"/>
            <a:ext cx="2514600" cy="1417320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21259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/>
              </a:rPr>
              <a:t>4
Record your guide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429000"/>
            <a:ext cx="10972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566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Arial"/>
              </a:rPr>
              <a:t>Remember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74903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F2937"/>
                </a:solidFill>
                <a:latin typeface="Arial"/>
              </a:rPr>
              <a:t>You do not need a finished project today. You need a strong topic and a strong guide.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937"/>
                </a:solidFill>
                <a:latin typeface="Arial"/>
              </a:rPr>
              <a:t>Prompt Cards: Idea Generator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109728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4630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Arial"/>
              </a:rPr>
              <a:t>Use Idea Generator for topic ideas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Arial"/>
              </a:rPr>
              <a:t>▶ </a:t>
            </a:r>
            <a:r>
              <a:rPr sz="2000" b="0">
                <a:solidFill>
                  <a:srgbClr val="1F2937"/>
                </a:solidFill>
                <a:latin typeface="Arial"/>
              </a:rPr>
              <a:t>My interest is ____. Give me 4 computer-science project ideas for grades 4-5.</a:t>
            </a:r>
          </a:p>
          <a:p>
            <a:pPr algn="l"/>
            <a:r>
              <a:rPr sz="2000" b="1">
                <a:solidFill>
                  <a:srgbClr val="0F766E"/>
                </a:solidFill>
                <a:latin typeface="Arial"/>
              </a:rPr>
              <a:t>▶ </a:t>
            </a:r>
            <a:r>
              <a:rPr sz="2000" b="0">
                <a:solidFill>
                  <a:srgbClr val="1F2937"/>
                </a:solidFill>
                <a:latin typeface="Arial"/>
              </a:rPr>
              <a:t>Help me turn my interest in ____ into a computer-science project topic.</a:t>
            </a:r>
          </a:p>
        </p:txBody>
      </p:sp>
      <p:sp>
        <p:nvSpPr>
          <p:cNvPr id="6" name="Rounded Rectangle 5">
            <a:hlinkClick r:id="rId2"/>
          </p:cNvPr>
          <p:cNvSpPr/>
          <p:nvPr/>
        </p:nvSpPr>
        <p:spPr>
          <a:xfrm>
            <a:off x="10744200" y="1920240"/>
            <a:ext cx="777240" cy="310896"/>
          </a:xfrm>
          <a:prstGeom prst="roundRect">
            <a:avLst/>
          </a:prstGeom>
          <a:solidFill>
            <a:srgbClr val="CCFBF1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34E4A"/>
                </a:solidFill>
                <a:latin typeface="Arial"/>
              </a:rPr>
              <a:t>Copy</a:t>
            </a:r>
          </a:p>
        </p:txBody>
      </p:sp>
      <p:sp>
        <p:nvSpPr>
          <p:cNvPr id="7" name="Rounded Rectangle 6">
            <a:hlinkClick r:id="rId3"/>
          </p:cNvPr>
          <p:cNvSpPr/>
          <p:nvPr/>
        </p:nvSpPr>
        <p:spPr>
          <a:xfrm>
            <a:off x="10744200" y="2487168"/>
            <a:ext cx="777240" cy="310896"/>
          </a:xfrm>
          <a:prstGeom prst="roundRect">
            <a:avLst/>
          </a:prstGeom>
          <a:solidFill>
            <a:srgbClr val="CCFBF1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34E4A"/>
                </a:solidFill>
                <a:latin typeface="Arial"/>
              </a:rPr>
              <a:t>Copy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26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F2937"/>
                </a:solidFill>
                <a:latin typeface="Arial"/>
              </a:rPr>
              <a:t>Pick 1 or 2 ideas worth checking.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937"/>
                </a:solidFill>
                <a:latin typeface="Arial"/>
              </a:rPr>
              <a:t>Prompt Cards: AI Assistant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109728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4630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Arial"/>
              </a:rPr>
              <a:t>Use AI Assistant for checking and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Arial"/>
              </a:rPr>
              <a:t>▶ </a:t>
            </a:r>
            <a:r>
              <a:rPr sz="1800" b="0">
                <a:solidFill>
                  <a:srgbClr val="1F2937"/>
                </a:solidFill>
                <a:latin typeface="Arial"/>
              </a:rPr>
              <a:t>My topic is ____. Is this really connected to computer science? Explain how.</a:t>
            </a:r>
          </a:p>
          <a:p>
            <a:pPr algn="l"/>
            <a:r>
              <a:rPr sz="1800" b="1">
                <a:solidFill>
                  <a:srgbClr val="0F766E"/>
                </a:solidFill>
                <a:latin typeface="Arial"/>
              </a:rPr>
              <a:t>▶ </a:t>
            </a:r>
            <a:r>
              <a:rPr sz="1800" b="0">
                <a:solidFill>
                  <a:srgbClr val="1F2937"/>
                </a:solidFill>
                <a:latin typeface="Arial"/>
              </a:rPr>
              <a:t>My topic is ____. Help me make it smaller and clearer for a short project.</a:t>
            </a:r>
          </a:p>
          <a:p>
            <a:pPr algn="l"/>
            <a:r>
              <a:rPr sz="1800" b="1">
                <a:solidFill>
                  <a:srgbClr val="0F766E"/>
                </a:solidFill>
                <a:latin typeface="Arial"/>
              </a:rPr>
              <a:t>▶ </a:t>
            </a:r>
            <a:r>
              <a:rPr sz="1800" b="0">
                <a:solidFill>
                  <a:srgbClr val="1F2937"/>
                </a:solidFill>
                <a:latin typeface="Arial"/>
              </a:rPr>
              <a:t>My topic is ____. Give me a high-level guide with 3 to 5 parts, sections, or questions I could use for my project.</a:t>
            </a:r>
          </a:p>
        </p:txBody>
      </p:sp>
      <p:sp>
        <p:nvSpPr>
          <p:cNvPr id="6" name="Rounded Rectangle 5">
            <a:hlinkClick r:id="rId2"/>
          </p:cNvPr>
          <p:cNvSpPr/>
          <p:nvPr/>
        </p:nvSpPr>
        <p:spPr>
          <a:xfrm>
            <a:off x="10744200" y="1901952"/>
            <a:ext cx="777240" cy="310896"/>
          </a:xfrm>
          <a:prstGeom prst="roundRect">
            <a:avLst/>
          </a:prstGeom>
          <a:solidFill>
            <a:srgbClr val="CCFBF1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34E4A"/>
                </a:solidFill>
                <a:latin typeface="Arial"/>
              </a:rPr>
              <a:t>Copy</a:t>
            </a:r>
          </a:p>
        </p:txBody>
      </p:sp>
      <p:sp>
        <p:nvSpPr>
          <p:cNvPr id="7" name="Rounded Rectangle 6">
            <a:hlinkClick r:id="rId3"/>
          </p:cNvPr>
          <p:cNvSpPr/>
          <p:nvPr/>
        </p:nvSpPr>
        <p:spPr>
          <a:xfrm>
            <a:off x="10744200" y="2432304"/>
            <a:ext cx="777240" cy="310896"/>
          </a:xfrm>
          <a:prstGeom prst="roundRect">
            <a:avLst/>
          </a:prstGeom>
          <a:solidFill>
            <a:srgbClr val="CCFBF1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34E4A"/>
                </a:solidFill>
                <a:latin typeface="Arial"/>
              </a:rPr>
              <a:t>Copy</a:t>
            </a:r>
          </a:p>
        </p:txBody>
      </p:sp>
      <p:sp>
        <p:nvSpPr>
          <p:cNvPr id="8" name="Rounded Rectangle 7">
            <a:hlinkClick r:id="rId4"/>
          </p:cNvPr>
          <p:cNvSpPr/>
          <p:nvPr/>
        </p:nvSpPr>
        <p:spPr>
          <a:xfrm>
            <a:off x="10744200" y="2962656"/>
            <a:ext cx="777240" cy="310896"/>
          </a:xfrm>
          <a:prstGeom prst="roundRect">
            <a:avLst/>
          </a:prstGeom>
          <a:solidFill>
            <a:srgbClr val="CCFBF1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34E4A"/>
                </a:solidFill>
                <a:latin typeface="Arial"/>
              </a:rPr>
              <a:t>Copy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00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F2937"/>
                </a:solidFill>
                <a:latin typeface="Arial"/>
              </a:rPr>
              <a:t>Choose a guide you agree with.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937"/>
                </a:solidFill>
                <a:latin typeface="Arial"/>
              </a:rPr>
              <a:t>What Not To Do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5577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54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Arial"/>
              </a:rPr>
              <a:t>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05740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read the answer</a:t>
            </a:r>
          </a:p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check if it fits your goal</a:t>
            </a:r>
          </a:p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pick the parts you agree with</a:t>
            </a:r>
          </a:p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ask for a better version if needed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17320"/>
            <a:ext cx="5577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554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Arial"/>
              </a:rPr>
              <a:t>Do Not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05740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copy the whole answer</a:t>
            </a:r>
          </a:p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accept the first answer right away</a:t>
            </a:r>
          </a:p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keep a topic that is too long/complex</a:t>
            </a:r>
          </a:p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choose a topic with no CS connection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937"/>
                </a:solidFill>
                <a:latin typeface="Arial"/>
              </a:rPr>
              <a:t>What Goes on Your Planning Sheet?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1155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766E"/>
                </a:solidFill>
                <a:latin typeface="Arial"/>
              </a:rPr>
              <a:t>▶ </a:t>
            </a:r>
            <a:r>
              <a:rPr sz="2400" b="0">
                <a:solidFill>
                  <a:srgbClr val="1F2937"/>
                </a:solidFill>
                <a:latin typeface="Arial"/>
              </a:rPr>
              <a:t>My topic:</a:t>
            </a:r>
          </a:p>
          <a:p>
            <a:pPr algn="l"/>
            <a:r>
              <a:rPr sz="2400" b="1">
                <a:solidFill>
                  <a:srgbClr val="0F766E"/>
                </a:solidFill>
                <a:latin typeface="Arial"/>
              </a:rPr>
              <a:t>▶ </a:t>
            </a:r>
            <a:r>
              <a:rPr sz="2400" b="0">
                <a:solidFill>
                  <a:srgbClr val="1F2937"/>
                </a:solidFill>
                <a:latin typeface="Arial"/>
              </a:rPr>
              <a:t>My CS connection:</a:t>
            </a:r>
          </a:p>
          <a:p>
            <a:pPr algn="l"/>
            <a:r>
              <a:rPr sz="2400" b="1">
                <a:solidFill>
                  <a:srgbClr val="0F766E"/>
                </a:solidFill>
                <a:latin typeface="Arial"/>
              </a:rPr>
              <a:t>▶ </a:t>
            </a:r>
            <a:r>
              <a:rPr sz="2400" b="0">
                <a:solidFill>
                  <a:srgbClr val="1F2937"/>
                </a:solidFill>
                <a:latin typeface="Arial"/>
              </a:rPr>
              <a:t>My project type:</a:t>
            </a:r>
          </a:p>
          <a:p>
            <a:pPr algn="l"/>
            <a:r>
              <a:rPr sz="2400" b="1">
                <a:solidFill>
                  <a:srgbClr val="0F766E"/>
                </a:solidFill>
                <a:latin typeface="Arial"/>
              </a:rPr>
              <a:t>▶ </a:t>
            </a:r>
            <a:r>
              <a:rPr sz="2400" b="0">
                <a:solidFill>
                  <a:srgbClr val="1F2937"/>
                </a:solidFill>
                <a:latin typeface="Arial"/>
              </a:rPr>
              <a:t>My guide with 3 to 5 parts, sections, or questions: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3611880"/>
            <a:ext cx="11155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749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Arial"/>
              </a:rPr>
              <a:t>Optional AI helper</a:t>
            </a:r>
          </a:p>
        </p:txBody>
      </p:sp>
      <p:sp>
        <p:nvSpPr>
          <p:cNvPr id="6" name="Rounded Rectangle 5">
            <a:hlinkClick r:id="rId2"/>
          </p:cNvPr>
          <p:cNvSpPr/>
          <p:nvPr/>
        </p:nvSpPr>
        <p:spPr>
          <a:xfrm>
            <a:off x="10835640" y="3767328"/>
            <a:ext cx="777240" cy="310896"/>
          </a:xfrm>
          <a:prstGeom prst="roundRect">
            <a:avLst/>
          </a:prstGeom>
          <a:solidFill>
            <a:srgbClr val="CCFBF1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34E4A"/>
                </a:solidFill>
                <a:latin typeface="Arial"/>
              </a:rPr>
              <a:t>Copy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77639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Arial"/>
              </a:rPr>
              <a:t>My topic is ____. My interest is ____. Help me fill out my planning sheet in the right format.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754880"/>
            <a:ext cx="11155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92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Arial"/>
              </a:rPr>
              <a:t>Teacher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166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Arial"/>
              </a:rPr>
              <a:t>Before Lesson 2, your topic and guide must be approved.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937"/>
                </a:solidFill>
                <a:latin typeface="Arial"/>
              </a:rPr>
              <a:t>If You Get Stuck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64008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463039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Arial"/>
              </a:rPr>
              <a:t>Troubleshoot in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5943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Name the problem.</a:t>
            </a:r>
          </a:p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Try one small change.</a:t>
            </a:r>
          </a:p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Use the matching prompt.</a:t>
            </a:r>
          </a:p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Read the answer. Keep only what helps you.</a:t>
            </a:r>
          </a:p>
          <a:p>
            <a:pPr algn="l"/>
            <a:r>
              <a:rPr sz="2200" b="1">
                <a:solidFill>
                  <a:srgbClr val="0F766E"/>
                </a:solidFill>
                <a:latin typeface="Arial"/>
              </a:rPr>
              <a:t>▶ </a:t>
            </a:r>
            <a:r>
              <a:rPr sz="2200" b="0">
                <a:solidFill>
                  <a:srgbClr val="1F2937"/>
                </a:solidFill>
                <a:latin typeface="Arial"/>
              </a:rPr>
              <a:t>Ask your partner or teacher.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325880"/>
            <a:ext cx="46634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1463039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Arial"/>
              </a:rPr>
              <a:t>Problem key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874519"/>
            <a:ext cx="4023360" cy="502920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9431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/>
              </a:rPr>
              <a:t>No topic yet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2514600"/>
            <a:ext cx="4023360" cy="5029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25831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/>
              </a:rPr>
              <a:t>Too big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3154680"/>
            <a:ext cx="4023360" cy="50292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32232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/>
              </a:rPr>
              <a:t>Too simple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3794760"/>
            <a:ext cx="4023360" cy="502920"/>
          </a:xfrm>
          <a:prstGeom prst="roundRect">
            <a:avLst/>
          </a:prstGeom>
          <a:solidFill>
            <a:srgbClr val="E6FFFB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38633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/>
              </a:rPr>
              <a:t>Don't like ideas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4434840"/>
            <a:ext cx="4023360" cy="50292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45034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/>
              </a:rPr>
              <a:t>Not sure it is 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937"/>
                </a:solidFill>
                <a:latin typeface="Arial"/>
              </a:rPr>
              <a:t>If You Get Stuck: Copy-Paste Prompts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1097280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4630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Arial"/>
              </a:rPr>
              <a:t>Copy one prompt and try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1874519"/>
            <a:ext cx="5257800" cy="1417320"/>
          </a:xfrm>
          <a:prstGeom prst="roundRect">
            <a:avLst/>
          </a:prstGeom>
          <a:solidFill>
            <a:srgbClr val="F9FAFB"/>
          </a:solidFill>
          <a:ln w="1016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>
            <a:hlinkClick r:id="rId2"/>
          </p:cNvPr>
          <p:cNvSpPr/>
          <p:nvPr/>
        </p:nvSpPr>
        <p:spPr>
          <a:xfrm>
            <a:off x="5349240" y="2002536"/>
            <a:ext cx="777240" cy="310896"/>
          </a:xfrm>
          <a:prstGeom prst="roundRect">
            <a:avLst/>
          </a:prstGeom>
          <a:solidFill>
            <a:srgbClr val="CCFBF1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34E4A"/>
                </a:solidFill>
                <a:latin typeface="Arial"/>
              </a:rPr>
              <a:t>Copy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011679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34E4A"/>
                </a:solidFill>
                <a:latin typeface="Arial"/>
              </a:rPr>
              <a:t>No topic yet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28600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rial"/>
              </a:rPr>
              <a:t>I do not know what topic to choose yet. My interests are: ____. Give me 8 different computer-science project topic ideas.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474720"/>
            <a:ext cx="5257800" cy="1417320"/>
          </a:xfrm>
          <a:prstGeom prst="roundRect">
            <a:avLst/>
          </a:prstGeom>
          <a:solidFill>
            <a:srgbClr val="F9FAFB"/>
          </a:solidFill>
          <a:ln w="1016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>
            <a:hlinkClick r:id="rId3"/>
          </p:cNvPr>
          <p:cNvSpPr/>
          <p:nvPr/>
        </p:nvSpPr>
        <p:spPr>
          <a:xfrm>
            <a:off x="5349240" y="3602736"/>
            <a:ext cx="777240" cy="310896"/>
          </a:xfrm>
          <a:prstGeom prst="roundRect">
            <a:avLst/>
          </a:prstGeom>
          <a:solidFill>
            <a:srgbClr val="CCFBF1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34E4A"/>
                </a:solidFill>
                <a:latin typeface="Arial"/>
              </a:rPr>
              <a:t>Copy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611879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34E4A"/>
                </a:solidFill>
                <a:latin typeface="Arial"/>
              </a:rPr>
              <a:t>Still stuck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88620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rial"/>
              </a:rPr>
              <a:t>I do not know what I like yet. Ask me 5 quick questions. Then give me 6 topic ideas connected to computer science.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5074920"/>
            <a:ext cx="5257800" cy="1417320"/>
          </a:xfrm>
          <a:prstGeom prst="roundRect">
            <a:avLst/>
          </a:prstGeom>
          <a:solidFill>
            <a:srgbClr val="F9FAFB"/>
          </a:solidFill>
          <a:ln w="1016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>
            <a:hlinkClick r:id="rId4"/>
          </p:cNvPr>
          <p:cNvSpPr/>
          <p:nvPr/>
        </p:nvSpPr>
        <p:spPr>
          <a:xfrm>
            <a:off x="5349240" y="5202936"/>
            <a:ext cx="777240" cy="310896"/>
          </a:xfrm>
          <a:prstGeom prst="roundRect">
            <a:avLst/>
          </a:prstGeom>
          <a:solidFill>
            <a:srgbClr val="CCFBF1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34E4A"/>
                </a:solidFill>
                <a:latin typeface="Arial"/>
              </a:rPr>
              <a:t>Copy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212080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34E4A"/>
                </a:solidFill>
                <a:latin typeface="Arial"/>
              </a:rPr>
              <a:t>Too big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48640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rial"/>
              </a:rPr>
              <a:t>My topic is ____. It feels too big or too complex. Help me make it smaller. Give me 3 smaller topic options.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1874519"/>
            <a:ext cx="5257800" cy="1417320"/>
          </a:xfrm>
          <a:prstGeom prst="roundRect">
            <a:avLst/>
          </a:prstGeom>
          <a:solidFill>
            <a:srgbClr val="F9FAFB"/>
          </a:solidFill>
          <a:ln w="1016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>
            <a:hlinkClick r:id="rId5"/>
          </p:cNvPr>
          <p:cNvSpPr/>
          <p:nvPr/>
        </p:nvSpPr>
        <p:spPr>
          <a:xfrm>
            <a:off x="10835640" y="2002536"/>
            <a:ext cx="777240" cy="310896"/>
          </a:xfrm>
          <a:prstGeom prst="roundRect">
            <a:avLst/>
          </a:prstGeom>
          <a:solidFill>
            <a:srgbClr val="CCFBF1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34E4A"/>
                </a:solidFill>
                <a:latin typeface="Arial"/>
              </a:rPr>
              <a:t>Copy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011679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34E4A"/>
                </a:solidFill>
                <a:latin typeface="Arial"/>
              </a:rPr>
              <a:t>Too simple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28600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rial"/>
              </a:rPr>
              <a:t>My topic is ____. It feels too simple. Help me make it more interesting (but still doable). Give me 3 upgraded topic versions.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3474720"/>
            <a:ext cx="5257800" cy="1417320"/>
          </a:xfrm>
          <a:prstGeom prst="roundRect">
            <a:avLst/>
          </a:prstGeom>
          <a:solidFill>
            <a:srgbClr val="F9FAFB"/>
          </a:solidFill>
          <a:ln w="1016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>
            <a:hlinkClick r:id="rId6"/>
          </p:cNvPr>
          <p:cNvSpPr/>
          <p:nvPr/>
        </p:nvSpPr>
        <p:spPr>
          <a:xfrm>
            <a:off x="10835640" y="3602736"/>
            <a:ext cx="777240" cy="310896"/>
          </a:xfrm>
          <a:prstGeom prst="roundRect">
            <a:avLst/>
          </a:prstGeom>
          <a:solidFill>
            <a:srgbClr val="CCFBF1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34E4A"/>
                </a:solidFill>
                <a:latin typeface="Arial"/>
              </a:rPr>
              <a:t>Copy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611879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34E4A"/>
                </a:solidFill>
                <a:latin typeface="Arial"/>
              </a:rPr>
              <a:t>Don't like ideas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88620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rial"/>
              </a:rPr>
              <a:t>I do not like these ideas: ____. Ask me 3 questions. Then give me 8 new topic ideas. Do NOT repeat the old ideas.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937"/>
                </a:solidFill>
                <a:latin typeface="Arial"/>
              </a:rPr>
              <a:t>Ready for Lesson 2?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17320"/>
            <a:ext cx="10332720" cy="7315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/>
              </a:rPr>
              <a:t>I have one topic.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10332720" cy="73152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/>
              </a:rPr>
              <a:t>I can explain the CS connection.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154680"/>
            <a:ext cx="10332720" cy="731520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/>
              </a:rPr>
              <a:t>I have a guide with 3 to 5 parts.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251960"/>
            <a:ext cx="10332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38912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34E4A"/>
                </a:solidFill>
                <a:latin typeface="Arial"/>
              </a:rPr>
              <a:t>Quick share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709160"/>
            <a:ext cx="9966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F2937"/>
                </a:solidFill>
                <a:latin typeface="Arial"/>
              </a:rPr>
              <a:t>My topic is…  My project will be…  My guide will help me by…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